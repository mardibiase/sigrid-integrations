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1652" r:id="rId5"/>
    <p:sldId id="11164" r:id="rId6"/>
    <p:sldId id="11487" r:id="rId7"/>
    <p:sldId id="112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management" id="{F882C068-ED6C-C445-9194-29C46CFF67E1}">
          <p14:sldIdLst/>
        </p14:section>
        <p14:section name="Front matter" id="{4A730639-607C-0E46-A965-5C2D2651664E}">
          <p14:sldIdLst/>
        </p14:section>
        <p14:section name="Motivation, approach, and scope" id="{197B8F47-BED0-504E-BB1B-F64823628C2D}">
          <p14:sldIdLst/>
        </p14:section>
        <p14:section name="Management summary" id="{D9EF5122-615A-9542-B326-670ECABDA81D}">
          <p14:sldIdLst/>
        </p14:section>
        <p14:section name="Key findings: Technoloy and Size" id="{ACB704DC-E86D-5548-94A3-25F5D1F52326}">
          <p14:sldIdLst/>
        </p14:section>
        <p14:section name="Key findings: Maintainability and TD" id="{B2CA7F42-F1AB-5A46-970A-69F30FE76E7C}">
          <p14:sldIdLst>
            <p14:sldId id="1652"/>
            <p14:sldId id="11164"/>
            <p14:sldId id="11487"/>
            <p14:sldId id="11284"/>
          </p14:sldIdLst>
        </p14:section>
        <p14:section name="Investment Outline and Valuation" id="{F50A02DE-128C-AB43-B6ED-7D393E180D0C}">
          <p14:sldIdLst/>
        </p14:section>
        <p14:section name="Key Findings: Architecture" id="{F795EBB8-35A2-FC47-890D-1C8AAD818130}">
          <p14:sldIdLst/>
        </p14:section>
        <p14:section name="Key findings: Open Source and IP" id="{25AB7AB3-B908-CB46-902F-B49D6C2E7673}">
          <p14:sldIdLst/>
        </p14:section>
        <p14:section name="Back matter" id="{3FD0872C-192F-5B46-895B-A626D88A156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C967"/>
    <a:srgbClr val="2A963D"/>
    <a:srgbClr val="EF981A"/>
    <a:srgbClr val="DB4A3D"/>
    <a:srgbClr val="F0089F"/>
    <a:srgbClr val="DAE2EB"/>
    <a:srgbClr val="F0F3F7"/>
    <a:srgbClr val="B3BECD"/>
    <a:srgbClr val="F8C740"/>
    <a:srgbClr val="57C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0"/>
    <p:restoredTop sz="94699"/>
  </p:normalViewPr>
  <p:slideViewPr>
    <p:cSldViewPr snapToGrid="0">
      <p:cViewPr varScale="1">
        <p:scale>
          <a:sx n="210" d="100"/>
          <a:sy n="210" d="100"/>
        </p:scale>
        <p:origin x="1208" y="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91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3.wdp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3.png"/><Relationship Id="rId7" Type="http://schemas.openxmlformats.org/officeDocument/2006/relationships/image" Target="../media/image15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emf"/><Relationship Id="rId5" Type="http://schemas.microsoft.com/office/2007/relationships/hdphoto" Target="../media/hdphoto3.wdp"/><Relationship Id="rId4" Type="http://schemas.openxmlformats.org/officeDocument/2006/relationships/image" Target="../media/image1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emf"/><Relationship Id="rId5" Type="http://schemas.microsoft.com/office/2007/relationships/hdphoto" Target="../media/hdphoto3.wdp"/><Relationship Id="rId4" Type="http://schemas.openxmlformats.org/officeDocument/2006/relationships/image" Target="../media/image1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FFACC5-ABF7-BE4A-8875-6A0F1CA1C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9873D30-1162-1841-BD41-C8ABAD8A1C4A}"/>
              </a:ext>
            </a:extLst>
          </p:cNvPr>
          <p:cNvSpPr/>
          <p:nvPr userDrawn="1"/>
        </p:nvSpPr>
        <p:spPr>
          <a:xfrm>
            <a:off x="535155" y="6481274"/>
            <a:ext cx="2274632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  <a:effectLst>
                <a:outerShdw blurRad="571500" dist="38100" dir="2700000" sx="105000" sy="105000" algn="tl" rotWithShape="0">
                  <a:schemeClr val="tx2"/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5648C43D-9536-3244-A506-6A5A308713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/>
              <a:t>Client name - System name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9341155-439A-954C-9C3F-3CD221DB26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presentation subject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779D46CA-D77B-744F-8CB5-2D8D9F9D21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6000" y="4119279"/>
            <a:ext cx="1450572" cy="215444"/>
          </a:xfrm>
          <a:prstGeom prst="rect">
            <a:avLst/>
          </a:prstGeom>
        </p:spPr>
        <p:txBody>
          <a:bodyPr wrap="none" lIns="7200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1400" b="1" i="0" spc="20" baseline="0">
                <a:solidFill>
                  <a:srgbClr val="E0C20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 b="1">
                <a:solidFill>
                  <a:srgbClr val="70CDD9"/>
                </a:solidFill>
              </a:defRPr>
            </a:lvl2pPr>
            <a:lvl3pPr marL="914400" indent="0">
              <a:buNone/>
              <a:defRPr sz="1100" b="1">
                <a:solidFill>
                  <a:srgbClr val="70CDD9"/>
                </a:solidFill>
              </a:defRPr>
            </a:lvl3pPr>
            <a:lvl4pPr marL="1371600" indent="0">
              <a:buNone/>
              <a:defRPr sz="1050" b="1">
                <a:solidFill>
                  <a:srgbClr val="70CDD9"/>
                </a:solidFill>
              </a:defRPr>
            </a:lvl4pPr>
            <a:lvl5pPr marL="1828800" indent="0">
              <a:buNone/>
              <a:defRPr sz="1050" b="1">
                <a:solidFill>
                  <a:srgbClr val="70CDD9"/>
                </a:solidFill>
              </a:defRPr>
            </a:lvl5pPr>
          </a:lstStyle>
          <a:p>
            <a:pPr lvl="0"/>
            <a:r>
              <a:rPr lang="en-US"/>
              <a:t>Insert presenters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1425B85-5500-F445-BBA8-3C4E27C602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5154" y="535609"/>
            <a:ext cx="2274632" cy="6744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830C36-79B9-AE43-A261-F60471A3461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2128" t="8983" r="10508"/>
          <a:stretch>
            <a:fillRect/>
          </a:stretch>
        </p:blipFill>
        <p:spPr>
          <a:xfrm>
            <a:off x="3251657" y="4080419"/>
            <a:ext cx="302955" cy="302955"/>
          </a:xfrm>
          <a:custGeom>
            <a:avLst/>
            <a:gdLst>
              <a:gd name="connsiteX0" fmla="*/ 137554 w 275108"/>
              <a:gd name="connsiteY0" fmla="*/ 0 h 275108"/>
              <a:gd name="connsiteX1" fmla="*/ 275108 w 275108"/>
              <a:gd name="connsiteY1" fmla="*/ 137554 h 275108"/>
              <a:gd name="connsiteX2" fmla="*/ 137554 w 275108"/>
              <a:gd name="connsiteY2" fmla="*/ 275108 h 275108"/>
              <a:gd name="connsiteX3" fmla="*/ 0 w 275108"/>
              <a:gd name="connsiteY3" fmla="*/ 137554 h 275108"/>
              <a:gd name="connsiteX4" fmla="*/ 137554 w 275108"/>
              <a:gd name="connsiteY4" fmla="*/ 0 h 27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108" h="275108">
                <a:moveTo>
                  <a:pt x="137554" y="0"/>
                </a:moveTo>
                <a:cubicBezTo>
                  <a:pt x="213523" y="0"/>
                  <a:pt x="275108" y="61585"/>
                  <a:pt x="275108" y="137554"/>
                </a:cubicBezTo>
                <a:cubicBezTo>
                  <a:pt x="275108" y="213523"/>
                  <a:pt x="213523" y="275108"/>
                  <a:pt x="137554" y="275108"/>
                </a:cubicBezTo>
                <a:cubicBezTo>
                  <a:pt x="61585" y="275108"/>
                  <a:pt x="0" y="213523"/>
                  <a:pt x="0" y="137554"/>
                </a:cubicBezTo>
                <a:cubicBezTo>
                  <a:pt x="0" y="61585"/>
                  <a:pt x="61585" y="0"/>
                  <a:pt x="137554" y="0"/>
                </a:cubicBezTo>
                <a:close/>
              </a:path>
            </a:pathLst>
          </a:custGeom>
          <a:effectLst>
            <a:outerShdw blurRad="254000" dist="38100" dir="2700000" algn="tl" rotWithShape="0">
              <a:schemeClr val="accent2">
                <a:alpha val="25000"/>
              </a:schemeClr>
            </a:outerShdw>
          </a:effectLst>
        </p:spPr>
      </p:pic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04561D11-806F-6D40-80EC-9ED0215E1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REPORT DATE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C04186B3-998B-C043-B7BF-699DE28158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29355" y="6536558"/>
            <a:ext cx="2391680" cy="247948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b="1" cap="all" spc="10" baseline="0" dirty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</a:lstStyle>
          <a:p>
            <a:pPr lvl="0"/>
            <a:r>
              <a:rPr lang="en-US"/>
              <a:t>&lt;Insert Quality Officer (if applicable)&gt;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A3AFD0-19EE-BC4C-B9D5-5A01EC4AAD6D}"/>
              </a:ext>
            </a:extLst>
          </p:cNvPr>
          <p:cNvGrpSpPr/>
          <p:nvPr userDrawn="1"/>
        </p:nvGrpSpPr>
        <p:grpSpPr>
          <a:xfrm>
            <a:off x="2011680" y="6924072"/>
            <a:ext cx="3843860" cy="466097"/>
            <a:chOff x="2011680" y="6924072"/>
            <a:chExt cx="3843860" cy="46609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59B6F3-2100-FA4D-9609-CE90AD7AEF81}"/>
                </a:ext>
              </a:extLst>
            </p:cNvPr>
            <p:cNvSpPr txBox="1"/>
            <p:nvPr userDrawn="1"/>
          </p:nvSpPr>
          <p:spPr>
            <a:xfrm>
              <a:off x="2011680" y="6990059"/>
              <a:ext cx="38438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When using the “quality officer” placeholder, make sure that the descriptive “</a:t>
              </a:r>
              <a:r>
                <a:rPr lang="en-US" sz="1000" b="1">
                  <a:solidFill>
                    <a:schemeClr val="bg1">
                      <a:lumMod val="65000"/>
                    </a:schemeClr>
                  </a:solidFill>
                </a:rPr>
                <a:t>QA performed by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” </a:t>
              </a:r>
              <a:r>
                <a:rPr lang="en-US" sz="1000" b="0">
                  <a:solidFill>
                    <a:schemeClr val="bg1">
                      <a:lumMod val="65000"/>
                    </a:schemeClr>
                  </a:solidFill>
                </a:rPr>
                <a:t>label is included 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on the slide.</a:t>
              </a:r>
            </a:p>
          </p:txBody>
        </p:sp>
        <p:sp>
          <p:nvSpPr>
            <p:cNvPr id="22" name="Triangle 21">
              <a:extLst>
                <a:ext uri="{FF2B5EF4-FFF2-40B4-BE49-F238E27FC236}">
                  <a16:creationId xmlns:a16="http://schemas.microsoft.com/office/drawing/2014/main" id="{DEE582A2-C36D-744E-98AC-92FF80CE117F}"/>
                </a:ext>
              </a:extLst>
            </p:cNvPr>
            <p:cNvSpPr/>
            <p:nvPr userDrawn="1"/>
          </p:nvSpPr>
          <p:spPr>
            <a:xfrm>
              <a:off x="3876938" y="6924072"/>
              <a:ext cx="112623" cy="792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1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299F4D-8D55-3048-8794-6B3A1830F8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4C3540-9E88-E045-966C-037F724642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F1F94CD-D014-E74F-B858-0B13D18C0344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04ABBC-53B3-CC4F-A0CA-BE90B47141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5154" y="535609"/>
            <a:ext cx="2274632" cy="674455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B02F14B-4E18-DC4A-96DC-3E37BE9AAE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C0AEA3-1106-7B4F-B04F-16E37A3A26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presentation subject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353229AF-D6F9-0646-A365-E00292265D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6000" y="4119279"/>
            <a:ext cx="1450572" cy="215444"/>
          </a:xfrm>
          <a:prstGeom prst="rect">
            <a:avLst/>
          </a:prstGeom>
        </p:spPr>
        <p:txBody>
          <a:bodyPr wrap="none" lIns="7200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1400" b="1" i="0" spc="20" baseline="0">
                <a:solidFill>
                  <a:srgbClr val="E0C20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 b="1">
                <a:solidFill>
                  <a:srgbClr val="70CDD9"/>
                </a:solidFill>
              </a:defRPr>
            </a:lvl2pPr>
            <a:lvl3pPr marL="914400" indent="0">
              <a:buNone/>
              <a:defRPr sz="1100" b="1">
                <a:solidFill>
                  <a:srgbClr val="70CDD9"/>
                </a:solidFill>
              </a:defRPr>
            </a:lvl3pPr>
            <a:lvl4pPr marL="1371600" indent="0">
              <a:buNone/>
              <a:defRPr sz="1050" b="1">
                <a:solidFill>
                  <a:srgbClr val="70CDD9"/>
                </a:solidFill>
              </a:defRPr>
            </a:lvl4pPr>
            <a:lvl5pPr marL="1828800" indent="0">
              <a:buNone/>
              <a:defRPr sz="1050" b="1">
                <a:solidFill>
                  <a:srgbClr val="70CDD9"/>
                </a:solidFill>
              </a:defRPr>
            </a:lvl5pPr>
          </a:lstStyle>
          <a:p>
            <a:pPr lvl="0"/>
            <a:r>
              <a:rPr lang="en-US"/>
              <a:t>Insert presenters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0BF322-9129-B548-AC3F-A9BE73CB4F2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2128" t="8983" r="10508"/>
          <a:stretch>
            <a:fillRect/>
          </a:stretch>
        </p:blipFill>
        <p:spPr>
          <a:xfrm>
            <a:off x="3251657" y="4080419"/>
            <a:ext cx="302955" cy="302955"/>
          </a:xfrm>
          <a:custGeom>
            <a:avLst/>
            <a:gdLst>
              <a:gd name="connsiteX0" fmla="*/ 137554 w 275108"/>
              <a:gd name="connsiteY0" fmla="*/ 0 h 275108"/>
              <a:gd name="connsiteX1" fmla="*/ 275108 w 275108"/>
              <a:gd name="connsiteY1" fmla="*/ 137554 h 275108"/>
              <a:gd name="connsiteX2" fmla="*/ 137554 w 275108"/>
              <a:gd name="connsiteY2" fmla="*/ 275108 h 275108"/>
              <a:gd name="connsiteX3" fmla="*/ 0 w 275108"/>
              <a:gd name="connsiteY3" fmla="*/ 137554 h 275108"/>
              <a:gd name="connsiteX4" fmla="*/ 137554 w 275108"/>
              <a:gd name="connsiteY4" fmla="*/ 0 h 27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108" h="275108">
                <a:moveTo>
                  <a:pt x="137554" y="0"/>
                </a:moveTo>
                <a:cubicBezTo>
                  <a:pt x="213523" y="0"/>
                  <a:pt x="275108" y="61585"/>
                  <a:pt x="275108" y="137554"/>
                </a:cubicBezTo>
                <a:cubicBezTo>
                  <a:pt x="275108" y="213523"/>
                  <a:pt x="213523" y="275108"/>
                  <a:pt x="137554" y="275108"/>
                </a:cubicBezTo>
                <a:cubicBezTo>
                  <a:pt x="61585" y="275108"/>
                  <a:pt x="0" y="213523"/>
                  <a:pt x="0" y="137554"/>
                </a:cubicBezTo>
                <a:cubicBezTo>
                  <a:pt x="0" y="61585"/>
                  <a:pt x="61585" y="0"/>
                  <a:pt x="137554" y="0"/>
                </a:cubicBezTo>
                <a:close/>
              </a:path>
            </a:pathLst>
          </a:custGeom>
          <a:effectLst>
            <a:outerShdw blurRad="254000" dist="38100" dir="2700000" algn="tl" rotWithShape="0">
              <a:schemeClr val="accent2">
                <a:alpha val="25000"/>
              </a:schemeClr>
            </a:outerShdw>
          </a:effectLst>
        </p:spPr>
      </p:pic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34913D7-AF39-8C43-A740-1E64D6AAE1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REPORT DATE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A816A00C-A5D3-CD42-AFCA-B7CD67772B8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29355" y="6536558"/>
            <a:ext cx="2391680" cy="247948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b="1" cap="all" spc="10" baseline="0" dirty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</a:lstStyle>
          <a:p>
            <a:pPr lvl="0"/>
            <a:r>
              <a:rPr lang="en-US"/>
              <a:t>&lt;Insert Quality Officer (if applicable)&gt;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EFD39A-3615-6F4B-9F52-E598878BE21A}"/>
              </a:ext>
            </a:extLst>
          </p:cNvPr>
          <p:cNvSpPr/>
          <p:nvPr userDrawn="1"/>
        </p:nvSpPr>
        <p:spPr>
          <a:xfrm>
            <a:off x="535155" y="6481274"/>
            <a:ext cx="2274632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  <a:effectLst>
                <a:outerShdw blurRad="571500" dist="38100" dir="2700000" sx="105000" sy="105000" algn="tl" rotWithShape="0">
                  <a:schemeClr val="tx2"/>
                </a:outerShdw>
              </a:effectLst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8218D7-500D-0D4F-BDA4-51C86D6827CB}"/>
              </a:ext>
            </a:extLst>
          </p:cNvPr>
          <p:cNvGrpSpPr/>
          <p:nvPr userDrawn="1"/>
        </p:nvGrpSpPr>
        <p:grpSpPr>
          <a:xfrm>
            <a:off x="2011680" y="6924072"/>
            <a:ext cx="3843860" cy="466097"/>
            <a:chOff x="2011680" y="6924072"/>
            <a:chExt cx="3843860" cy="46609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84095C-444C-3443-8243-BD00648996BA}"/>
                </a:ext>
              </a:extLst>
            </p:cNvPr>
            <p:cNvSpPr txBox="1"/>
            <p:nvPr userDrawn="1"/>
          </p:nvSpPr>
          <p:spPr>
            <a:xfrm>
              <a:off x="2011680" y="6990059"/>
              <a:ext cx="38438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When using the “quality officer” placeholder, make sure that the descriptive “</a:t>
              </a:r>
              <a:r>
                <a:rPr lang="en-US" sz="1000" b="1">
                  <a:solidFill>
                    <a:schemeClr val="bg1">
                      <a:lumMod val="65000"/>
                    </a:schemeClr>
                  </a:solidFill>
                </a:rPr>
                <a:t>QA performed by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” </a:t>
              </a:r>
              <a:r>
                <a:rPr lang="en-US" sz="1000" b="0">
                  <a:solidFill>
                    <a:schemeClr val="bg1">
                      <a:lumMod val="65000"/>
                    </a:schemeClr>
                  </a:solidFill>
                </a:rPr>
                <a:t>label is included 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on the slide.</a:t>
              </a:r>
            </a:p>
          </p:txBody>
        </p:sp>
        <p:sp>
          <p:nvSpPr>
            <p:cNvPr id="35" name="Triangle 34">
              <a:extLst>
                <a:ext uri="{FF2B5EF4-FFF2-40B4-BE49-F238E27FC236}">
                  <a16:creationId xmlns:a16="http://schemas.microsoft.com/office/drawing/2014/main" id="{633537A5-6675-0449-8710-3A51BEC6DE94}"/>
                </a:ext>
              </a:extLst>
            </p:cNvPr>
            <p:cNvSpPr/>
            <p:nvPr userDrawn="1"/>
          </p:nvSpPr>
          <p:spPr>
            <a:xfrm>
              <a:off x="3876938" y="6924072"/>
              <a:ext cx="112623" cy="792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Logis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00D7A3A-619C-3448-8F0C-A90FF6470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" y="-4140"/>
            <a:ext cx="12192067" cy="6870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CC44B6-9979-BD4D-ADF2-588C56880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C7BC2F-CAF6-2147-BA78-DD239A55C5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5154" y="535609"/>
            <a:ext cx="2274632" cy="674455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30CFA40-9BE9-474D-A967-C822423ED4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916676C-7A78-764D-BDC0-006DE11842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presentation subject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F2C8050-09C0-9D4A-BFB8-F1FF1EC6A5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6000" y="4119279"/>
            <a:ext cx="1450572" cy="215444"/>
          </a:xfrm>
          <a:prstGeom prst="rect">
            <a:avLst/>
          </a:prstGeom>
        </p:spPr>
        <p:txBody>
          <a:bodyPr wrap="none" lIns="7200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1400" b="1" i="0" spc="20" baseline="0">
                <a:solidFill>
                  <a:srgbClr val="E0C20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 b="1">
                <a:solidFill>
                  <a:srgbClr val="70CDD9"/>
                </a:solidFill>
              </a:defRPr>
            </a:lvl2pPr>
            <a:lvl3pPr marL="914400" indent="0">
              <a:buNone/>
              <a:defRPr sz="1100" b="1">
                <a:solidFill>
                  <a:srgbClr val="70CDD9"/>
                </a:solidFill>
              </a:defRPr>
            </a:lvl3pPr>
            <a:lvl4pPr marL="1371600" indent="0">
              <a:buNone/>
              <a:defRPr sz="1050" b="1">
                <a:solidFill>
                  <a:srgbClr val="70CDD9"/>
                </a:solidFill>
              </a:defRPr>
            </a:lvl4pPr>
            <a:lvl5pPr marL="1828800" indent="0">
              <a:buNone/>
              <a:defRPr sz="1050" b="1">
                <a:solidFill>
                  <a:srgbClr val="70CDD9"/>
                </a:solidFill>
              </a:defRPr>
            </a:lvl5pPr>
          </a:lstStyle>
          <a:p>
            <a:pPr lvl="0"/>
            <a:r>
              <a:rPr lang="en-US"/>
              <a:t>Insert presenters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E5C6D9-327D-234B-B878-52C6064F24B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2128" t="8983" r="10508"/>
          <a:stretch>
            <a:fillRect/>
          </a:stretch>
        </p:blipFill>
        <p:spPr>
          <a:xfrm>
            <a:off x="3251657" y="4080419"/>
            <a:ext cx="302955" cy="302955"/>
          </a:xfrm>
          <a:custGeom>
            <a:avLst/>
            <a:gdLst>
              <a:gd name="connsiteX0" fmla="*/ 137554 w 275108"/>
              <a:gd name="connsiteY0" fmla="*/ 0 h 275108"/>
              <a:gd name="connsiteX1" fmla="*/ 275108 w 275108"/>
              <a:gd name="connsiteY1" fmla="*/ 137554 h 275108"/>
              <a:gd name="connsiteX2" fmla="*/ 137554 w 275108"/>
              <a:gd name="connsiteY2" fmla="*/ 275108 h 275108"/>
              <a:gd name="connsiteX3" fmla="*/ 0 w 275108"/>
              <a:gd name="connsiteY3" fmla="*/ 137554 h 275108"/>
              <a:gd name="connsiteX4" fmla="*/ 137554 w 275108"/>
              <a:gd name="connsiteY4" fmla="*/ 0 h 27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108" h="275108">
                <a:moveTo>
                  <a:pt x="137554" y="0"/>
                </a:moveTo>
                <a:cubicBezTo>
                  <a:pt x="213523" y="0"/>
                  <a:pt x="275108" y="61585"/>
                  <a:pt x="275108" y="137554"/>
                </a:cubicBezTo>
                <a:cubicBezTo>
                  <a:pt x="275108" y="213523"/>
                  <a:pt x="213523" y="275108"/>
                  <a:pt x="137554" y="275108"/>
                </a:cubicBezTo>
                <a:cubicBezTo>
                  <a:pt x="61585" y="275108"/>
                  <a:pt x="0" y="213523"/>
                  <a:pt x="0" y="137554"/>
                </a:cubicBezTo>
                <a:cubicBezTo>
                  <a:pt x="0" y="61585"/>
                  <a:pt x="61585" y="0"/>
                  <a:pt x="137554" y="0"/>
                </a:cubicBezTo>
                <a:close/>
              </a:path>
            </a:pathLst>
          </a:custGeom>
          <a:effectLst>
            <a:outerShdw blurRad="254000" dist="38100" dir="2700000" algn="tl" rotWithShape="0">
              <a:schemeClr val="accent2">
                <a:alpha val="25000"/>
              </a:schemeClr>
            </a:outerShdw>
          </a:effectLst>
        </p:spPr>
      </p:pic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64EF5B-11A6-0C41-BD37-21200AE02A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REPORT DATE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60E220B7-AA02-744C-8933-4470E8331BD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29355" y="6536558"/>
            <a:ext cx="2391680" cy="247948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b="1" cap="all" spc="10" baseline="0" dirty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</a:lstStyle>
          <a:p>
            <a:pPr lvl="0"/>
            <a:r>
              <a:rPr lang="en-US"/>
              <a:t>&lt;Insert Quality Officer (if applicable)&gt;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2FAA76-3A17-1A44-83A9-3DB41D177BFF}"/>
              </a:ext>
            </a:extLst>
          </p:cNvPr>
          <p:cNvSpPr/>
          <p:nvPr userDrawn="1"/>
        </p:nvSpPr>
        <p:spPr>
          <a:xfrm>
            <a:off x="535155" y="6481274"/>
            <a:ext cx="2274632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  <a:effectLst>
                <a:outerShdw blurRad="571500" dist="38100" dir="2700000" sx="105000" sy="105000" algn="tl" rotWithShape="0">
                  <a:schemeClr val="tx2"/>
                </a:outerShdw>
              </a:effectLst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767875-833B-FE44-BB7C-9EE0A0697AEA}"/>
              </a:ext>
            </a:extLst>
          </p:cNvPr>
          <p:cNvGrpSpPr/>
          <p:nvPr userDrawn="1"/>
        </p:nvGrpSpPr>
        <p:grpSpPr>
          <a:xfrm>
            <a:off x="2011680" y="6924072"/>
            <a:ext cx="3843860" cy="466097"/>
            <a:chOff x="2011680" y="6924072"/>
            <a:chExt cx="3843860" cy="4660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998351F-088D-1947-9C18-0D95DE943365}"/>
                </a:ext>
              </a:extLst>
            </p:cNvPr>
            <p:cNvSpPr txBox="1"/>
            <p:nvPr userDrawn="1"/>
          </p:nvSpPr>
          <p:spPr>
            <a:xfrm>
              <a:off x="2011680" y="6990059"/>
              <a:ext cx="38438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When using the “quality officer” placeholder, make sure that the descriptive “</a:t>
              </a:r>
              <a:r>
                <a:rPr lang="en-US" sz="1000" b="1">
                  <a:solidFill>
                    <a:schemeClr val="bg1">
                      <a:lumMod val="65000"/>
                    </a:schemeClr>
                  </a:solidFill>
                </a:rPr>
                <a:t>QA performed by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” </a:t>
              </a:r>
              <a:r>
                <a:rPr lang="en-US" sz="1000" b="0">
                  <a:solidFill>
                    <a:schemeClr val="bg1">
                      <a:lumMod val="65000"/>
                    </a:schemeClr>
                  </a:solidFill>
                </a:rPr>
                <a:t>label is included 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on the slide.</a:t>
              </a:r>
            </a:p>
          </p:txBody>
        </p:sp>
        <p:sp>
          <p:nvSpPr>
            <p:cNvPr id="36" name="Triangle 35">
              <a:extLst>
                <a:ext uri="{FF2B5EF4-FFF2-40B4-BE49-F238E27FC236}">
                  <a16:creationId xmlns:a16="http://schemas.microsoft.com/office/drawing/2014/main" id="{16481EC7-A25C-E94B-8178-9303CF2EF922}"/>
                </a:ext>
              </a:extLst>
            </p:cNvPr>
            <p:cNvSpPr/>
            <p:nvPr userDrawn="1"/>
          </p:nvSpPr>
          <p:spPr>
            <a:xfrm>
              <a:off x="3876938" y="6924072"/>
              <a:ext cx="112623" cy="792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470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Energ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51B2CA9-5B35-C54A-92BF-D92025A672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83"/>
          <a:stretch/>
        </p:blipFill>
        <p:spPr>
          <a:xfrm>
            <a:off x="0" y="0"/>
            <a:ext cx="12192002" cy="6868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E4A83A-3771-7940-A5CE-4A57386FE6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C7BC2F-CAF6-2147-BA78-DD239A55C5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5154" y="535609"/>
            <a:ext cx="2274632" cy="674455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CD6264F-9E1A-E449-A6E1-2AA1F8B10B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768721D-25FF-B84B-BFD4-8B9B098AFF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presentation subject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5F95AC5-EE07-B243-AABC-5BEB60DCB8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6000" y="4119279"/>
            <a:ext cx="1450572" cy="215444"/>
          </a:xfrm>
          <a:prstGeom prst="rect">
            <a:avLst/>
          </a:prstGeom>
        </p:spPr>
        <p:txBody>
          <a:bodyPr wrap="none" lIns="7200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1400" b="1" i="0" spc="20" baseline="0">
                <a:solidFill>
                  <a:srgbClr val="E0C20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 b="1">
                <a:solidFill>
                  <a:srgbClr val="70CDD9"/>
                </a:solidFill>
              </a:defRPr>
            </a:lvl2pPr>
            <a:lvl3pPr marL="914400" indent="0">
              <a:buNone/>
              <a:defRPr sz="1100" b="1">
                <a:solidFill>
                  <a:srgbClr val="70CDD9"/>
                </a:solidFill>
              </a:defRPr>
            </a:lvl3pPr>
            <a:lvl4pPr marL="1371600" indent="0">
              <a:buNone/>
              <a:defRPr sz="1050" b="1">
                <a:solidFill>
                  <a:srgbClr val="70CDD9"/>
                </a:solidFill>
              </a:defRPr>
            </a:lvl4pPr>
            <a:lvl5pPr marL="1828800" indent="0">
              <a:buNone/>
              <a:defRPr sz="1050" b="1">
                <a:solidFill>
                  <a:srgbClr val="70CDD9"/>
                </a:solidFill>
              </a:defRPr>
            </a:lvl5pPr>
          </a:lstStyle>
          <a:p>
            <a:pPr lvl="0"/>
            <a:r>
              <a:rPr lang="en-US"/>
              <a:t>Insert presenters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A489EA8-0099-1E48-B547-C4B7DAEE52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2128" t="8983" r="10508"/>
          <a:stretch>
            <a:fillRect/>
          </a:stretch>
        </p:blipFill>
        <p:spPr>
          <a:xfrm>
            <a:off x="3251657" y="4080419"/>
            <a:ext cx="302955" cy="302955"/>
          </a:xfrm>
          <a:custGeom>
            <a:avLst/>
            <a:gdLst>
              <a:gd name="connsiteX0" fmla="*/ 137554 w 275108"/>
              <a:gd name="connsiteY0" fmla="*/ 0 h 275108"/>
              <a:gd name="connsiteX1" fmla="*/ 275108 w 275108"/>
              <a:gd name="connsiteY1" fmla="*/ 137554 h 275108"/>
              <a:gd name="connsiteX2" fmla="*/ 137554 w 275108"/>
              <a:gd name="connsiteY2" fmla="*/ 275108 h 275108"/>
              <a:gd name="connsiteX3" fmla="*/ 0 w 275108"/>
              <a:gd name="connsiteY3" fmla="*/ 137554 h 275108"/>
              <a:gd name="connsiteX4" fmla="*/ 137554 w 275108"/>
              <a:gd name="connsiteY4" fmla="*/ 0 h 27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108" h="275108">
                <a:moveTo>
                  <a:pt x="137554" y="0"/>
                </a:moveTo>
                <a:cubicBezTo>
                  <a:pt x="213523" y="0"/>
                  <a:pt x="275108" y="61585"/>
                  <a:pt x="275108" y="137554"/>
                </a:cubicBezTo>
                <a:cubicBezTo>
                  <a:pt x="275108" y="213523"/>
                  <a:pt x="213523" y="275108"/>
                  <a:pt x="137554" y="275108"/>
                </a:cubicBezTo>
                <a:cubicBezTo>
                  <a:pt x="61585" y="275108"/>
                  <a:pt x="0" y="213523"/>
                  <a:pt x="0" y="137554"/>
                </a:cubicBezTo>
                <a:cubicBezTo>
                  <a:pt x="0" y="61585"/>
                  <a:pt x="61585" y="0"/>
                  <a:pt x="137554" y="0"/>
                </a:cubicBezTo>
                <a:close/>
              </a:path>
            </a:pathLst>
          </a:custGeom>
          <a:effectLst>
            <a:outerShdw blurRad="254000" dist="38100" dir="2700000" algn="tl" rotWithShape="0">
              <a:schemeClr val="accent2">
                <a:alpha val="25000"/>
              </a:schemeClr>
            </a:outerShdw>
          </a:effectLst>
        </p:spPr>
      </p:pic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46C9171-D8B9-C84E-A0CB-9985BF61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REPORT DATE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545DB280-78C0-C448-A45D-5F295A3BA85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29355" y="6536558"/>
            <a:ext cx="2391680" cy="247948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b="1" cap="all" spc="10" baseline="0" dirty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</a:lstStyle>
          <a:p>
            <a:pPr lvl="0"/>
            <a:r>
              <a:rPr lang="en-US"/>
              <a:t>&lt;Insert Quality Officer (if applicable)&gt;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6D9839-9B72-E148-9BE8-5A1EB355B750}"/>
              </a:ext>
            </a:extLst>
          </p:cNvPr>
          <p:cNvSpPr/>
          <p:nvPr userDrawn="1"/>
        </p:nvSpPr>
        <p:spPr>
          <a:xfrm>
            <a:off x="535155" y="6481274"/>
            <a:ext cx="2274632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  <a:effectLst>
                <a:outerShdw blurRad="571500" dist="38100" dir="2700000" sx="105000" sy="105000" algn="tl" rotWithShape="0">
                  <a:schemeClr val="tx2"/>
                </a:outerShdw>
              </a:effectLst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D3DFEEB-7237-1A47-ADDC-E405ACBE973B}"/>
              </a:ext>
            </a:extLst>
          </p:cNvPr>
          <p:cNvGrpSpPr/>
          <p:nvPr userDrawn="1"/>
        </p:nvGrpSpPr>
        <p:grpSpPr>
          <a:xfrm>
            <a:off x="2011680" y="6924072"/>
            <a:ext cx="3843860" cy="466097"/>
            <a:chOff x="2011680" y="6924072"/>
            <a:chExt cx="3843860" cy="46609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400403-E0E3-2D40-AD7E-85259717E73C}"/>
                </a:ext>
              </a:extLst>
            </p:cNvPr>
            <p:cNvSpPr txBox="1"/>
            <p:nvPr userDrawn="1"/>
          </p:nvSpPr>
          <p:spPr>
            <a:xfrm>
              <a:off x="2011680" y="6990059"/>
              <a:ext cx="38438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When using the “quality officer” placeholder, make sure that the descriptive “</a:t>
              </a:r>
              <a:r>
                <a:rPr lang="en-US" sz="1000" b="1">
                  <a:solidFill>
                    <a:schemeClr val="bg1">
                      <a:lumMod val="65000"/>
                    </a:schemeClr>
                  </a:solidFill>
                </a:rPr>
                <a:t>QA performed by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” </a:t>
              </a:r>
              <a:r>
                <a:rPr lang="en-US" sz="1000" b="0">
                  <a:solidFill>
                    <a:schemeClr val="bg1">
                      <a:lumMod val="65000"/>
                    </a:schemeClr>
                  </a:solidFill>
                </a:rPr>
                <a:t>label is included 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on the slide.</a:t>
              </a:r>
            </a:p>
          </p:txBody>
        </p:sp>
        <p:sp>
          <p:nvSpPr>
            <p:cNvPr id="35" name="Triangle 34">
              <a:extLst>
                <a:ext uri="{FF2B5EF4-FFF2-40B4-BE49-F238E27FC236}">
                  <a16:creationId xmlns:a16="http://schemas.microsoft.com/office/drawing/2014/main" id="{3E9D89B1-AAA1-9743-8ED0-91D6CE4A4266}"/>
                </a:ext>
              </a:extLst>
            </p:cNvPr>
            <p:cNvSpPr/>
            <p:nvPr userDrawn="1"/>
          </p:nvSpPr>
          <p:spPr>
            <a:xfrm>
              <a:off x="3876938" y="6924072"/>
              <a:ext cx="112623" cy="792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843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Publ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694B38B-48FC-014A-844B-3DD68C838E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09"/>
          <a:stretch/>
        </p:blipFill>
        <p:spPr>
          <a:xfrm>
            <a:off x="0" y="-1"/>
            <a:ext cx="12192002" cy="6868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F0E145-03A0-074C-A578-218F7892E3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C7BC2F-CAF6-2147-BA78-DD239A55C5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5154" y="535609"/>
            <a:ext cx="2274632" cy="674455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8DF856A-5923-AA44-8259-731EBD0A54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D356070-EB38-6749-A5D9-89A262F772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presentation subject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C260100-A3CA-C447-B621-687F3E9E92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6000" y="4119279"/>
            <a:ext cx="1450572" cy="215444"/>
          </a:xfrm>
          <a:prstGeom prst="rect">
            <a:avLst/>
          </a:prstGeom>
        </p:spPr>
        <p:txBody>
          <a:bodyPr wrap="none" lIns="7200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1400" b="1" i="0" spc="20" baseline="0">
                <a:solidFill>
                  <a:srgbClr val="E0C20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 b="1">
                <a:solidFill>
                  <a:srgbClr val="70CDD9"/>
                </a:solidFill>
              </a:defRPr>
            </a:lvl2pPr>
            <a:lvl3pPr marL="914400" indent="0">
              <a:buNone/>
              <a:defRPr sz="1100" b="1">
                <a:solidFill>
                  <a:srgbClr val="70CDD9"/>
                </a:solidFill>
              </a:defRPr>
            </a:lvl3pPr>
            <a:lvl4pPr marL="1371600" indent="0">
              <a:buNone/>
              <a:defRPr sz="1050" b="1">
                <a:solidFill>
                  <a:srgbClr val="70CDD9"/>
                </a:solidFill>
              </a:defRPr>
            </a:lvl4pPr>
            <a:lvl5pPr marL="1828800" indent="0">
              <a:buNone/>
              <a:defRPr sz="1050" b="1">
                <a:solidFill>
                  <a:srgbClr val="70CDD9"/>
                </a:solidFill>
              </a:defRPr>
            </a:lvl5pPr>
          </a:lstStyle>
          <a:p>
            <a:pPr lvl="0"/>
            <a:r>
              <a:rPr lang="en-US"/>
              <a:t>Insert presenters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3BEBC9-4D08-1D4E-9716-AFB621648A9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2128" t="8983" r="10508"/>
          <a:stretch>
            <a:fillRect/>
          </a:stretch>
        </p:blipFill>
        <p:spPr>
          <a:xfrm>
            <a:off x="3251657" y="4080419"/>
            <a:ext cx="302955" cy="302955"/>
          </a:xfrm>
          <a:custGeom>
            <a:avLst/>
            <a:gdLst>
              <a:gd name="connsiteX0" fmla="*/ 137554 w 275108"/>
              <a:gd name="connsiteY0" fmla="*/ 0 h 275108"/>
              <a:gd name="connsiteX1" fmla="*/ 275108 w 275108"/>
              <a:gd name="connsiteY1" fmla="*/ 137554 h 275108"/>
              <a:gd name="connsiteX2" fmla="*/ 137554 w 275108"/>
              <a:gd name="connsiteY2" fmla="*/ 275108 h 275108"/>
              <a:gd name="connsiteX3" fmla="*/ 0 w 275108"/>
              <a:gd name="connsiteY3" fmla="*/ 137554 h 275108"/>
              <a:gd name="connsiteX4" fmla="*/ 137554 w 275108"/>
              <a:gd name="connsiteY4" fmla="*/ 0 h 27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108" h="275108">
                <a:moveTo>
                  <a:pt x="137554" y="0"/>
                </a:moveTo>
                <a:cubicBezTo>
                  <a:pt x="213523" y="0"/>
                  <a:pt x="275108" y="61585"/>
                  <a:pt x="275108" y="137554"/>
                </a:cubicBezTo>
                <a:cubicBezTo>
                  <a:pt x="275108" y="213523"/>
                  <a:pt x="213523" y="275108"/>
                  <a:pt x="137554" y="275108"/>
                </a:cubicBezTo>
                <a:cubicBezTo>
                  <a:pt x="61585" y="275108"/>
                  <a:pt x="0" y="213523"/>
                  <a:pt x="0" y="137554"/>
                </a:cubicBezTo>
                <a:cubicBezTo>
                  <a:pt x="0" y="61585"/>
                  <a:pt x="61585" y="0"/>
                  <a:pt x="137554" y="0"/>
                </a:cubicBezTo>
                <a:close/>
              </a:path>
            </a:pathLst>
          </a:custGeom>
          <a:effectLst>
            <a:outerShdw blurRad="254000" dist="38100" dir="2700000" algn="tl" rotWithShape="0">
              <a:schemeClr val="accent2">
                <a:alpha val="25000"/>
              </a:schemeClr>
            </a:outerShdw>
          </a:effectLst>
        </p:spPr>
      </p:pic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9ED6D2-29DD-4048-B0CF-744E956D32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REPORT DATE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14A6EA47-D1D0-8A42-8A3D-3106F125F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29355" y="6536558"/>
            <a:ext cx="2391680" cy="247948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b="1" cap="all" spc="10" baseline="0" dirty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</a:lstStyle>
          <a:p>
            <a:pPr lvl="0"/>
            <a:r>
              <a:rPr lang="en-US"/>
              <a:t>&lt;Insert Quality Officer (if applicable)&gt;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6904BF-29E1-FB41-8B5D-02A569A12259}"/>
              </a:ext>
            </a:extLst>
          </p:cNvPr>
          <p:cNvSpPr/>
          <p:nvPr userDrawn="1"/>
        </p:nvSpPr>
        <p:spPr>
          <a:xfrm>
            <a:off x="535155" y="6481274"/>
            <a:ext cx="2274632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  <a:effectLst>
                <a:outerShdw blurRad="571500" dist="38100" dir="2700000" sx="105000" sy="105000" algn="tl" rotWithShape="0">
                  <a:schemeClr val="tx2"/>
                </a:outerShdw>
              </a:effectLst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1E63D3-5ECB-D643-A3E1-8F5634FDA372}"/>
              </a:ext>
            </a:extLst>
          </p:cNvPr>
          <p:cNvGrpSpPr/>
          <p:nvPr userDrawn="1"/>
        </p:nvGrpSpPr>
        <p:grpSpPr>
          <a:xfrm>
            <a:off x="2011680" y="6924072"/>
            <a:ext cx="3843860" cy="466097"/>
            <a:chOff x="2011680" y="6924072"/>
            <a:chExt cx="3843860" cy="46609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0E92D76-8A86-7041-8F9B-378595425F2D}"/>
                </a:ext>
              </a:extLst>
            </p:cNvPr>
            <p:cNvSpPr txBox="1"/>
            <p:nvPr userDrawn="1"/>
          </p:nvSpPr>
          <p:spPr>
            <a:xfrm>
              <a:off x="2011680" y="6990059"/>
              <a:ext cx="38438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When using the “quality officer” placeholder, make sure that the descriptive “</a:t>
              </a:r>
              <a:r>
                <a:rPr lang="en-US" sz="1000" b="1">
                  <a:solidFill>
                    <a:schemeClr val="bg1">
                      <a:lumMod val="65000"/>
                    </a:schemeClr>
                  </a:solidFill>
                </a:rPr>
                <a:t>QA performed by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” </a:t>
              </a:r>
              <a:r>
                <a:rPr lang="en-US" sz="1000" b="0">
                  <a:solidFill>
                    <a:schemeClr val="bg1">
                      <a:lumMod val="65000"/>
                    </a:schemeClr>
                  </a:solidFill>
                </a:rPr>
                <a:t>label is included 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on the slide.</a:t>
              </a:r>
            </a:p>
          </p:txBody>
        </p:sp>
        <p:sp>
          <p:nvSpPr>
            <p:cNvPr id="39" name="Triangle 38">
              <a:extLst>
                <a:ext uri="{FF2B5EF4-FFF2-40B4-BE49-F238E27FC236}">
                  <a16:creationId xmlns:a16="http://schemas.microsoft.com/office/drawing/2014/main" id="{5830A3CF-DC0D-4748-8980-181ACE7EF93F}"/>
                </a:ext>
              </a:extLst>
            </p:cNvPr>
            <p:cNvSpPr/>
            <p:nvPr userDrawn="1"/>
          </p:nvSpPr>
          <p:spPr>
            <a:xfrm>
              <a:off x="3876938" y="6924072"/>
              <a:ext cx="112623" cy="792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56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Offi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F13119-09E4-7E49-8526-03199A00DE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659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047C0A-33FD-8246-B024-3FA1DE0317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C7BC2F-CAF6-2147-BA78-DD239A55C5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5154" y="535609"/>
            <a:ext cx="2274632" cy="674455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C35307B-8E32-4A48-9120-CD3EC5EF07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7C317C6-A693-CD41-9C08-A876E29F06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presentation subject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445E0D9-6970-A04B-8F17-CC1DF27DE5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6000" y="4119279"/>
            <a:ext cx="1450572" cy="215444"/>
          </a:xfrm>
          <a:prstGeom prst="rect">
            <a:avLst/>
          </a:prstGeom>
        </p:spPr>
        <p:txBody>
          <a:bodyPr wrap="none" lIns="7200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1400" b="1" i="0" spc="20" baseline="0">
                <a:solidFill>
                  <a:srgbClr val="E0C20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 b="1">
                <a:solidFill>
                  <a:srgbClr val="70CDD9"/>
                </a:solidFill>
              </a:defRPr>
            </a:lvl2pPr>
            <a:lvl3pPr marL="914400" indent="0">
              <a:buNone/>
              <a:defRPr sz="1100" b="1">
                <a:solidFill>
                  <a:srgbClr val="70CDD9"/>
                </a:solidFill>
              </a:defRPr>
            </a:lvl3pPr>
            <a:lvl4pPr marL="1371600" indent="0">
              <a:buNone/>
              <a:defRPr sz="1050" b="1">
                <a:solidFill>
                  <a:srgbClr val="70CDD9"/>
                </a:solidFill>
              </a:defRPr>
            </a:lvl4pPr>
            <a:lvl5pPr marL="1828800" indent="0">
              <a:buNone/>
              <a:defRPr sz="1050" b="1">
                <a:solidFill>
                  <a:srgbClr val="70CDD9"/>
                </a:solidFill>
              </a:defRPr>
            </a:lvl5pPr>
          </a:lstStyle>
          <a:p>
            <a:pPr lvl="0"/>
            <a:r>
              <a:rPr lang="en-US"/>
              <a:t>Insert presenters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1C9353-7883-6142-BA8A-4C6EC3E652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2128" t="8983" r="10508"/>
          <a:stretch>
            <a:fillRect/>
          </a:stretch>
        </p:blipFill>
        <p:spPr>
          <a:xfrm>
            <a:off x="3251657" y="4080419"/>
            <a:ext cx="302955" cy="302955"/>
          </a:xfrm>
          <a:custGeom>
            <a:avLst/>
            <a:gdLst>
              <a:gd name="connsiteX0" fmla="*/ 137554 w 275108"/>
              <a:gd name="connsiteY0" fmla="*/ 0 h 275108"/>
              <a:gd name="connsiteX1" fmla="*/ 275108 w 275108"/>
              <a:gd name="connsiteY1" fmla="*/ 137554 h 275108"/>
              <a:gd name="connsiteX2" fmla="*/ 137554 w 275108"/>
              <a:gd name="connsiteY2" fmla="*/ 275108 h 275108"/>
              <a:gd name="connsiteX3" fmla="*/ 0 w 275108"/>
              <a:gd name="connsiteY3" fmla="*/ 137554 h 275108"/>
              <a:gd name="connsiteX4" fmla="*/ 137554 w 275108"/>
              <a:gd name="connsiteY4" fmla="*/ 0 h 27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108" h="275108">
                <a:moveTo>
                  <a:pt x="137554" y="0"/>
                </a:moveTo>
                <a:cubicBezTo>
                  <a:pt x="213523" y="0"/>
                  <a:pt x="275108" y="61585"/>
                  <a:pt x="275108" y="137554"/>
                </a:cubicBezTo>
                <a:cubicBezTo>
                  <a:pt x="275108" y="213523"/>
                  <a:pt x="213523" y="275108"/>
                  <a:pt x="137554" y="275108"/>
                </a:cubicBezTo>
                <a:cubicBezTo>
                  <a:pt x="61585" y="275108"/>
                  <a:pt x="0" y="213523"/>
                  <a:pt x="0" y="137554"/>
                </a:cubicBezTo>
                <a:cubicBezTo>
                  <a:pt x="0" y="61585"/>
                  <a:pt x="61585" y="0"/>
                  <a:pt x="137554" y="0"/>
                </a:cubicBezTo>
                <a:close/>
              </a:path>
            </a:pathLst>
          </a:custGeom>
          <a:effectLst>
            <a:outerShdw blurRad="254000" dist="38100" dir="2700000" algn="tl" rotWithShape="0">
              <a:schemeClr val="accent2">
                <a:alpha val="25000"/>
              </a:schemeClr>
            </a:outerShdw>
          </a:effectLst>
        </p:spPr>
      </p:pic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2A93D3D-4074-914E-B43B-F0E1252461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REPORT DATE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A6678BE-825F-3842-96EE-3598030CC77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29355" y="6536558"/>
            <a:ext cx="2391680" cy="247948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b="1" cap="all" spc="10" baseline="0" dirty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</a:lstStyle>
          <a:p>
            <a:pPr lvl="0"/>
            <a:r>
              <a:rPr lang="en-US"/>
              <a:t>&lt;Insert Quality Officer (if applicable)&gt;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22E4D4-179C-BB49-81B9-25A171BF674C}"/>
              </a:ext>
            </a:extLst>
          </p:cNvPr>
          <p:cNvSpPr/>
          <p:nvPr userDrawn="1"/>
        </p:nvSpPr>
        <p:spPr>
          <a:xfrm>
            <a:off x="535155" y="6481274"/>
            <a:ext cx="2274632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  <a:effectLst>
                <a:outerShdw blurRad="571500" dist="38100" dir="2700000" sx="105000" sy="105000" algn="tl" rotWithShape="0">
                  <a:schemeClr val="tx2"/>
                </a:outerShdw>
              </a:effectLst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6F88C7-7EFE-A54B-8723-FE90887B066E}"/>
              </a:ext>
            </a:extLst>
          </p:cNvPr>
          <p:cNvGrpSpPr/>
          <p:nvPr userDrawn="1"/>
        </p:nvGrpSpPr>
        <p:grpSpPr>
          <a:xfrm>
            <a:off x="2011680" y="6924072"/>
            <a:ext cx="3843860" cy="466097"/>
            <a:chOff x="2011680" y="6924072"/>
            <a:chExt cx="3843860" cy="46609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01D53B4-5FFE-6B45-9278-9D38C2E524BF}"/>
                </a:ext>
              </a:extLst>
            </p:cNvPr>
            <p:cNvSpPr txBox="1"/>
            <p:nvPr userDrawn="1"/>
          </p:nvSpPr>
          <p:spPr>
            <a:xfrm>
              <a:off x="2011680" y="6990059"/>
              <a:ext cx="38438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When using the “quality officer” placeholder, make sure that the descriptive “</a:t>
              </a:r>
              <a:r>
                <a:rPr lang="en-US" sz="1000" b="1">
                  <a:solidFill>
                    <a:schemeClr val="bg1">
                      <a:lumMod val="65000"/>
                    </a:schemeClr>
                  </a:solidFill>
                </a:rPr>
                <a:t>QA performed by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” </a:t>
              </a:r>
              <a:r>
                <a:rPr lang="en-US" sz="1000" b="0">
                  <a:solidFill>
                    <a:schemeClr val="bg1">
                      <a:lumMod val="65000"/>
                    </a:schemeClr>
                  </a:solidFill>
                </a:rPr>
                <a:t>label is included 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on the slide.</a:t>
              </a:r>
            </a:p>
          </p:txBody>
        </p:sp>
        <p:sp>
          <p:nvSpPr>
            <p:cNvPr id="34" name="Triangle 33">
              <a:extLst>
                <a:ext uri="{FF2B5EF4-FFF2-40B4-BE49-F238E27FC236}">
                  <a16:creationId xmlns:a16="http://schemas.microsoft.com/office/drawing/2014/main" id="{D1BA3996-BE8C-F142-84E6-269795F90410}"/>
                </a:ext>
              </a:extLst>
            </p:cNvPr>
            <p:cNvSpPr/>
            <p:nvPr userDrawn="1"/>
          </p:nvSpPr>
          <p:spPr>
            <a:xfrm>
              <a:off x="3876938" y="6924072"/>
              <a:ext cx="112623" cy="792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639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C7BC2F-CAF6-2147-BA78-DD239A55C5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5154" y="535609"/>
            <a:ext cx="2274632" cy="67445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presentation subject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4AE0566-FE08-CF4B-96A7-3AB3299F8F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6000" y="4119279"/>
            <a:ext cx="1450572" cy="215444"/>
          </a:xfrm>
          <a:prstGeom prst="rect">
            <a:avLst/>
          </a:prstGeom>
        </p:spPr>
        <p:txBody>
          <a:bodyPr wrap="none" lIns="72000" tIns="0" rIns="72000" bIns="0">
            <a:spAutoFit/>
          </a:bodyPr>
          <a:lstStyle>
            <a:lvl1pPr marL="0" indent="0">
              <a:lnSpc>
                <a:spcPct val="100000"/>
              </a:lnSpc>
              <a:buNone/>
              <a:defRPr sz="1400" b="1" i="0" spc="20" baseline="0">
                <a:solidFill>
                  <a:srgbClr val="E0C20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 b="1">
                <a:solidFill>
                  <a:srgbClr val="70CDD9"/>
                </a:solidFill>
              </a:defRPr>
            </a:lvl2pPr>
            <a:lvl3pPr marL="914400" indent="0">
              <a:buNone/>
              <a:defRPr sz="1100" b="1">
                <a:solidFill>
                  <a:srgbClr val="70CDD9"/>
                </a:solidFill>
              </a:defRPr>
            </a:lvl3pPr>
            <a:lvl4pPr marL="1371600" indent="0">
              <a:buNone/>
              <a:defRPr sz="1050" b="1">
                <a:solidFill>
                  <a:srgbClr val="70CDD9"/>
                </a:solidFill>
              </a:defRPr>
            </a:lvl4pPr>
            <a:lvl5pPr marL="1828800" indent="0">
              <a:buNone/>
              <a:defRPr sz="1050" b="1">
                <a:solidFill>
                  <a:srgbClr val="70CDD9"/>
                </a:solidFill>
              </a:defRPr>
            </a:lvl5pPr>
          </a:lstStyle>
          <a:p>
            <a:pPr lvl="0"/>
            <a:r>
              <a:rPr lang="en-US"/>
              <a:t>Insert presenters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FB89EC-7C95-784D-A236-A1E6B99387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2128" t="8983" r="10508"/>
          <a:stretch>
            <a:fillRect/>
          </a:stretch>
        </p:blipFill>
        <p:spPr>
          <a:xfrm>
            <a:off x="3251657" y="4080419"/>
            <a:ext cx="302955" cy="302955"/>
          </a:xfrm>
          <a:custGeom>
            <a:avLst/>
            <a:gdLst>
              <a:gd name="connsiteX0" fmla="*/ 137554 w 275108"/>
              <a:gd name="connsiteY0" fmla="*/ 0 h 275108"/>
              <a:gd name="connsiteX1" fmla="*/ 275108 w 275108"/>
              <a:gd name="connsiteY1" fmla="*/ 137554 h 275108"/>
              <a:gd name="connsiteX2" fmla="*/ 137554 w 275108"/>
              <a:gd name="connsiteY2" fmla="*/ 275108 h 275108"/>
              <a:gd name="connsiteX3" fmla="*/ 0 w 275108"/>
              <a:gd name="connsiteY3" fmla="*/ 137554 h 275108"/>
              <a:gd name="connsiteX4" fmla="*/ 137554 w 275108"/>
              <a:gd name="connsiteY4" fmla="*/ 0 h 27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108" h="275108">
                <a:moveTo>
                  <a:pt x="137554" y="0"/>
                </a:moveTo>
                <a:cubicBezTo>
                  <a:pt x="213523" y="0"/>
                  <a:pt x="275108" y="61585"/>
                  <a:pt x="275108" y="137554"/>
                </a:cubicBezTo>
                <a:cubicBezTo>
                  <a:pt x="275108" y="213523"/>
                  <a:pt x="213523" y="275108"/>
                  <a:pt x="137554" y="275108"/>
                </a:cubicBezTo>
                <a:cubicBezTo>
                  <a:pt x="61585" y="275108"/>
                  <a:pt x="0" y="213523"/>
                  <a:pt x="0" y="137554"/>
                </a:cubicBezTo>
                <a:cubicBezTo>
                  <a:pt x="0" y="61585"/>
                  <a:pt x="61585" y="0"/>
                  <a:pt x="137554" y="0"/>
                </a:cubicBezTo>
                <a:close/>
              </a:path>
            </a:pathLst>
          </a:custGeom>
          <a:effectLst>
            <a:outerShdw blurRad="254000" dist="38100" dir="2700000" algn="tl" rotWithShape="0">
              <a:schemeClr val="accent2">
                <a:alpha val="25000"/>
              </a:schemeClr>
            </a:outerShdw>
          </a:effectLst>
        </p:spPr>
      </p:pic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REPORT DATE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B44ED07-830B-CA42-ABAD-68B7541A4D9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29355" y="6536558"/>
            <a:ext cx="2391680" cy="247948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b="1" cap="all" spc="10" baseline="0" dirty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</a:lstStyle>
          <a:p>
            <a:pPr lvl="0"/>
            <a:r>
              <a:rPr lang="en-US"/>
              <a:t>&lt;Insert Quality Officer (if applicable)&gt;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89E33A-225C-7249-975E-955031756923}"/>
              </a:ext>
            </a:extLst>
          </p:cNvPr>
          <p:cNvSpPr/>
          <p:nvPr userDrawn="1"/>
        </p:nvSpPr>
        <p:spPr>
          <a:xfrm>
            <a:off x="535155" y="6481274"/>
            <a:ext cx="2274632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  <a:effectLst>
                <a:outerShdw blurRad="571500" dist="38100" dir="2700000" sx="105000" sy="105000" algn="tl" rotWithShape="0">
                  <a:schemeClr val="tx2"/>
                </a:outerShdw>
              </a:effectLst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CF9CAF-BBF0-B64C-AE47-62181838EA85}"/>
              </a:ext>
            </a:extLst>
          </p:cNvPr>
          <p:cNvGrpSpPr/>
          <p:nvPr userDrawn="1"/>
        </p:nvGrpSpPr>
        <p:grpSpPr>
          <a:xfrm>
            <a:off x="2011680" y="6924072"/>
            <a:ext cx="3843860" cy="466097"/>
            <a:chOff x="2011680" y="6924072"/>
            <a:chExt cx="3843860" cy="46609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ECFB39-6FEE-3446-9B0B-58F567608E56}"/>
                </a:ext>
              </a:extLst>
            </p:cNvPr>
            <p:cNvSpPr txBox="1"/>
            <p:nvPr userDrawn="1"/>
          </p:nvSpPr>
          <p:spPr>
            <a:xfrm>
              <a:off x="2011680" y="6990059"/>
              <a:ext cx="38438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When using the “quality officer” placeholder, make sure that the descriptive “</a:t>
              </a:r>
              <a:r>
                <a:rPr lang="en-US" sz="1000" b="1">
                  <a:solidFill>
                    <a:schemeClr val="bg1">
                      <a:lumMod val="65000"/>
                    </a:schemeClr>
                  </a:solidFill>
                </a:rPr>
                <a:t>QA performed by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” </a:t>
              </a:r>
              <a:r>
                <a:rPr lang="en-US" sz="1000" b="0">
                  <a:solidFill>
                    <a:schemeClr val="bg1">
                      <a:lumMod val="65000"/>
                    </a:schemeClr>
                  </a:solidFill>
                </a:rPr>
                <a:t>label is included </a:t>
              </a:r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on the slide.</a:t>
              </a:r>
            </a:p>
          </p:txBody>
        </p:sp>
        <p:sp>
          <p:nvSpPr>
            <p:cNvPr id="36" name="Triangle 35">
              <a:extLst>
                <a:ext uri="{FF2B5EF4-FFF2-40B4-BE49-F238E27FC236}">
                  <a16:creationId xmlns:a16="http://schemas.microsoft.com/office/drawing/2014/main" id="{8B3F80E5-285C-FA42-ADFD-D1155E98F9AF}"/>
                </a:ext>
              </a:extLst>
            </p:cNvPr>
            <p:cNvSpPr/>
            <p:nvPr userDrawn="1"/>
          </p:nvSpPr>
          <p:spPr>
            <a:xfrm>
              <a:off x="3876938" y="6924072"/>
              <a:ext cx="112623" cy="792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FF4DFF-C440-8E46-BBAE-2057FC8C14BF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E0C2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FC9732-456F-6E47-896B-865297065BD9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rgbClr val="B2BECD"/>
                </a:solidFill>
              </a:rPr>
              <a:t>//</a:t>
            </a:r>
            <a:r>
              <a:rPr lang="en-US" sz="1000" spc="10">
                <a:solidFill>
                  <a:srgbClr val="B2BECD"/>
                </a:solidFill>
              </a:rPr>
              <a:t> SOFTWARE IMPROVEMENT GROUP</a:t>
            </a:r>
            <a:endParaRPr lang="en-US" sz="1000" b="1" spc="10">
              <a:solidFill>
                <a:srgbClr val="B2BECD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67F01F-7284-D440-A111-55667D54F3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76" y="253846"/>
            <a:ext cx="578757" cy="357468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slide title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E5771908-BB32-C84B-81CC-4556376E5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E202330-2F83-7148-995E-101EE0C39C59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64DEC668-5250-1B4C-B969-8FC04E1B6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A9C428-1541-C94A-80EE-1111372D8A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76" y="253846"/>
            <a:ext cx="578757" cy="3574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E202330-2F83-7148-995E-101EE0C39C59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528EF-6CE7-9345-82A1-021612861512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rgbClr val="AFB9C2"/>
                </a:solidFill>
              </a:rPr>
              <a:t>//</a:t>
            </a:r>
            <a:r>
              <a:rPr lang="en-US" sz="1000" spc="10">
                <a:solidFill>
                  <a:srgbClr val="AFB9C2"/>
                </a:solidFill>
              </a:rPr>
              <a:t> SOFTWARE IMPROVEMENT GROUP</a:t>
            </a:r>
            <a:endParaRPr lang="en-US" sz="1000" b="1" spc="10">
              <a:solidFill>
                <a:srgbClr val="AFB9C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5A64A1FE-97D7-7F4B-AF9A-F0D4DD021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A9C428-1541-C94A-80EE-1111372D8A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76" y="253846"/>
            <a:ext cx="578757" cy="35746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02330-2F83-7148-995E-101EE0C39C59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528EF-6CE7-9345-82A1-021612861512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1"/>
                </a:solidFill>
              </a:rPr>
              <a:t>//</a:t>
            </a:r>
            <a:r>
              <a:rPr lang="en-US" sz="1000" spc="10">
                <a:solidFill>
                  <a:schemeClr val="bg1"/>
                </a:solidFill>
              </a:rPr>
              <a:t> SOFTWARE IMPROVEMENT GROUP</a:t>
            </a:r>
            <a:endParaRPr lang="en-US" sz="1000" b="1" spc="10">
              <a:solidFill>
                <a:schemeClr val="bg1"/>
              </a:solidFill>
            </a:endParaRP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5A64A1FE-97D7-7F4B-AF9A-F0D4DD021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18C88B7-D3BE-4349-B2D6-C623AB3E34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76" y="253846"/>
            <a:ext cx="578757" cy="3574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517A02D-40EA-C945-BA7F-CC0A95EDE5B2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169961-F543-634D-9C77-91B7C702A941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rgbClr val="AFB9C2"/>
                </a:solidFill>
              </a:rPr>
              <a:t>//</a:t>
            </a:r>
            <a:r>
              <a:rPr lang="en-US" sz="1000" spc="10">
                <a:solidFill>
                  <a:srgbClr val="AFB9C2"/>
                </a:solidFill>
              </a:rPr>
              <a:t> SOFTWARE IMPROVEMENT GROUP</a:t>
            </a:r>
            <a:endParaRPr lang="en-US" sz="1000" b="1" spc="10">
              <a:solidFill>
                <a:srgbClr val="AFB9C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32" name="Footer Placeholder 5">
            <a:extLst>
              <a:ext uri="{FF2B5EF4-FFF2-40B4-BE49-F238E27FC236}">
                <a16:creationId xmlns:a16="http://schemas.microsoft.com/office/drawing/2014/main" id="{CBF15493-5784-1845-8AC5-793BCE681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02330-2F83-7148-995E-101EE0C39C59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528EF-6CE7-9345-82A1-021612861512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rgbClr val="B3BECD"/>
                </a:solidFill>
              </a:rPr>
              <a:t>//</a:t>
            </a:r>
            <a:r>
              <a:rPr lang="en-US" sz="1000" spc="10">
                <a:solidFill>
                  <a:srgbClr val="B3BECD"/>
                </a:solidFill>
              </a:rPr>
              <a:t> SOFTWARE IMPROVEMENT GROUP</a:t>
            </a:r>
            <a:endParaRPr lang="en-US" sz="1000" b="1" spc="10">
              <a:solidFill>
                <a:srgbClr val="B3BECD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64DEC668-5250-1B4C-B969-8FC04E1B6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D06A15-D24D-544C-B357-F33786C3C0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 contras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800" y="255600"/>
            <a:ext cx="578757" cy="35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F475654-E5EA-C347-AFF4-748A98F35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BC3699D-9ED9-0540-B481-E5C2D88F4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FDDBF01F-AE18-644D-A2A6-5C4807BD7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/>
              <a:t>Insert a picture here. </a:t>
            </a:r>
            <a:br>
              <a:rPr lang="en-US"/>
            </a:br>
            <a:r>
              <a:rPr lang="en-US"/>
              <a:t>The picture will be cropped to placeholder.</a:t>
            </a:r>
            <a:br>
              <a:rPr lang="en-US"/>
            </a:br>
            <a:r>
              <a:rPr lang="en-US"/>
              <a:t>The position can be set via picture settings.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4561A9EA-4DED-AC4D-80FC-9A4625DA4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Insert a picture here. </a:t>
            </a:r>
            <a:br>
              <a:rPr lang="en-US"/>
            </a:br>
            <a:r>
              <a:rPr lang="en-US"/>
              <a:t>The picture will be cropped to placeholder size.</a:t>
            </a:r>
            <a:br>
              <a:rPr lang="en-US"/>
            </a:br>
            <a:r>
              <a:rPr lang="en-US"/>
              <a:t>The position can be set via picture settings.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D8559BB9-A7EB-F247-B8EA-D763E5D60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ommend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FDDBF01F-AE18-644D-A2A6-5C4807BD7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CEBE7-B52C-9140-A467-08CD0B43DF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524" y="1366989"/>
            <a:ext cx="2615781" cy="977110"/>
          </a:xfrm>
          <a:prstGeom prst="roundRect">
            <a:avLst>
              <a:gd name="adj" fmla="val 3283"/>
            </a:avLst>
          </a:prstGeom>
          <a:gradFill>
            <a:gsLst>
              <a:gs pos="0">
                <a:schemeClr val="accent3">
                  <a:alpha val="40000"/>
                </a:schemeClr>
              </a:gs>
              <a:gs pos="30000">
                <a:schemeClr val="accent3"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62000" tIns="612000" rIns="162000" bIns="108000" rtlCol="0" anchor="t">
            <a:spAutoFit/>
          </a:bodyPr>
          <a:lstStyle>
            <a:lvl1pPr>
              <a:lnSpc>
                <a:spcPct val="100000"/>
              </a:lnSpc>
              <a:defRPr lang="en-US" sz="1400" dirty="0">
                <a:solidFill>
                  <a:schemeClr val="accent1"/>
                </a:solidFill>
              </a:defRPr>
            </a:lvl1pPr>
          </a:lstStyle>
          <a:p>
            <a:pPr marL="285750" lvl="0" indent="-285750"/>
            <a:r>
              <a:rPr lang="en-US"/>
              <a:t>Insert recommendations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76378E-55D1-2F47-B6DF-5B5DAA1F7D1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1958" y="1523441"/>
            <a:ext cx="2306912" cy="320292"/>
          </a:xfrm>
          <a:prstGeom prst="roundRect">
            <a:avLst/>
          </a:prstGeom>
          <a:solidFill>
            <a:schemeClr val="accent3"/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1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recommendation type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036FAA5D-52AA-F340-B536-4A266D8133A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8311" y="1366989"/>
            <a:ext cx="2615781" cy="977110"/>
          </a:xfrm>
          <a:prstGeom prst="roundRect">
            <a:avLst>
              <a:gd name="adj" fmla="val 3283"/>
            </a:avLst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62000" tIns="612000" rIns="162000" bIns="108000" rtlCol="0" anchor="t">
            <a:spAutoFit/>
          </a:bodyPr>
          <a:lstStyle>
            <a:lvl1pPr>
              <a:lnSpc>
                <a:spcPct val="100000"/>
              </a:lnSpc>
              <a:defRPr lang="en-US" sz="1400" dirty="0">
                <a:solidFill>
                  <a:schemeClr val="accent1"/>
                </a:solidFill>
              </a:defRPr>
            </a:lvl1pPr>
          </a:lstStyle>
          <a:p>
            <a:pPr marL="285750" lvl="0" indent="-285750"/>
            <a:r>
              <a:rPr lang="en-US"/>
              <a:t>Insert recommendations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BA8AC742-76A2-7D49-A610-B2D8482377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42745" y="1523441"/>
            <a:ext cx="2306912" cy="320292"/>
          </a:xfrm>
          <a:prstGeom prst="roundRect">
            <a:avLst/>
          </a:prstGeom>
          <a:solidFill>
            <a:srgbClr val="2A963D"/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1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recommendation type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70E27DA8-2B5F-5245-892C-C815639ECE8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9099" y="1366989"/>
            <a:ext cx="2615781" cy="977110"/>
          </a:xfrm>
          <a:prstGeom prst="roundRect">
            <a:avLst>
              <a:gd name="adj" fmla="val 3283"/>
            </a:avLst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62000" tIns="612000" rIns="162000" bIns="108000" rtlCol="0" anchor="t">
            <a:spAutoFit/>
          </a:bodyPr>
          <a:lstStyle>
            <a:lvl1pPr>
              <a:lnSpc>
                <a:spcPct val="100000"/>
              </a:lnSpc>
              <a:defRPr lang="en-US" sz="1400" dirty="0">
                <a:solidFill>
                  <a:schemeClr val="accent1"/>
                </a:solidFill>
              </a:defRPr>
            </a:lvl1pPr>
          </a:lstStyle>
          <a:p>
            <a:pPr marL="285750" lvl="0" indent="-285750"/>
            <a:r>
              <a:rPr lang="en-US"/>
              <a:t>Insert recommendations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C58A5155-7003-364C-AB1F-7635E0445B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13533" y="1523441"/>
            <a:ext cx="2306912" cy="320292"/>
          </a:xfrm>
          <a:prstGeom prst="roundRect">
            <a:avLst/>
          </a:prstGeom>
          <a:solidFill>
            <a:srgbClr val="75C878"/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1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recommendation type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9F987089-40FA-EA45-964C-0F32CB5870D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29886" y="1366989"/>
            <a:ext cx="2615781" cy="977110"/>
          </a:xfrm>
          <a:prstGeom prst="roundRect">
            <a:avLst>
              <a:gd name="adj" fmla="val 3283"/>
            </a:avLst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62000" tIns="612000" rIns="162000" bIns="108000" rtlCol="0" anchor="t">
            <a:spAutoFit/>
          </a:bodyPr>
          <a:lstStyle>
            <a:lvl1pPr>
              <a:lnSpc>
                <a:spcPct val="100000"/>
              </a:lnSpc>
              <a:defRPr lang="en-US" sz="1400" dirty="0">
                <a:solidFill>
                  <a:schemeClr val="accent1"/>
                </a:solidFill>
              </a:defRPr>
            </a:lvl1pPr>
          </a:lstStyle>
          <a:p>
            <a:pPr marL="285750" lvl="0" indent="-285750"/>
            <a:r>
              <a:rPr lang="en-US"/>
              <a:t>Insert recommendations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B1D7A30C-B11F-4D42-9FFF-925CBD1076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84320" y="1523441"/>
            <a:ext cx="2306912" cy="320292"/>
          </a:xfrm>
          <a:prstGeom prst="roundRect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1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recommendation type</a:t>
            </a:r>
          </a:p>
        </p:txBody>
      </p:sp>
    </p:spTree>
    <p:extLst>
      <p:ext uri="{BB962C8B-B14F-4D97-AF65-F5344CB8AC3E}">
        <p14:creationId xmlns:p14="http://schemas.microsoft.com/office/powerpoint/2010/main" val="2943630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8C74D7-8C01-1B43-8FCD-9BD04274FAB1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Sigsterren" pitchFamily="2" charset="0"/>
              </a:defRPr>
            </a:lvl1pPr>
          </a:lstStyle>
          <a:p>
            <a:pPr lvl="0"/>
            <a:r>
              <a:rPr lang="en-US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3D37C89B-81D8-3043-A798-0ADC847D7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8C74D7-8C01-1B43-8FCD-9BD04274FAB1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Sigsterren" pitchFamily="2" charset="0"/>
              </a:defRPr>
            </a:lvl1pPr>
          </a:lstStyle>
          <a:p>
            <a:pPr lvl="0"/>
            <a:r>
              <a:rPr lang="en-US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D1FF7A5A-BC87-6343-B67D-1C5E39183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itor recommend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A8232984-E644-3446-9DA0-50771B9C1FA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43051" y="2160881"/>
            <a:ext cx="10202616" cy="4025607"/>
          </a:xfrm>
          <a:prstGeom prst="rect">
            <a:avLst/>
          </a:prstGeom>
        </p:spPr>
        <p:txBody>
          <a:bodyPr wrap="none" lIns="396000" tIns="72000" bIns="108000"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Wingdings" pitchFamily="2" charset="2"/>
              <a:buNone/>
              <a:tabLst/>
              <a:defRPr sz="1600" b="0">
                <a:solidFill>
                  <a:schemeClr val="tx2"/>
                </a:solidFill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None/>
              <a:defRPr sz="1600">
                <a:solidFill>
                  <a:srgbClr val="163241"/>
                </a:solidFill>
              </a:defRPr>
            </a:lvl2pPr>
            <a:lvl3pPr marL="914400" indent="0">
              <a:lnSpc>
                <a:spcPct val="114000"/>
              </a:lnSpc>
              <a:spcBef>
                <a:spcPts val="1000"/>
              </a:spcBef>
              <a:buNone/>
              <a:defRPr sz="1600">
                <a:solidFill>
                  <a:srgbClr val="163241"/>
                </a:solidFill>
              </a:defRPr>
            </a:lvl3pPr>
            <a:lvl4pPr marL="1371600" indent="0">
              <a:lnSpc>
                <a:spcPct val="114000"/>
              </a:lnSpc>
              <a:spcBef>
                <a:spcPts val="1000"/>
              </a:spcBef>
              <a:buNone/>
              <a:defRPr sz="1600">
                <a:solidFill>
                  <a:srgbClr val="163241"/>
                </a:solidFill>
              </a:defRPr>
            </a:lvl4pPr>
            <a:lvl5pPr marL="1828800" indent="0">
              <a:lnSpc>
                <a:spcPct val="114000"/>
              </a:lnSpc>
              <a:spcBef>
                <a:spcPts val="1000"/>
              </a:spcBef>
              <a:buNone/>
              <a:defRPr sz="1600">
                <a:solidFill>
                  <a:srgbClr val="163241"/>
                </a:solidFill>
              </a:defRPr>
            </a:lvl5pPr>
          </a:lstStyle>
          <a:p>
            <a:pPr lvl="0"/>
            <a:r>
              <a:rPr lang="en-US"/>
              <a:t>Insert goals here (headers in bold)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pic>
        <p:nvPicPr>
          <p:cNvPr id="8" name="Picture 7" descr="ico_status report-01.eps">
            <a:extLst>
              <a:ext uri="{FF2B5EF4-FFF2-40B4-BE49-F238E27FC236}">
                <a16:creationId xmlns:a16="http://schemas.microsoft.com/office/drawing/2014/main" id="{F14A6CD3-F23E-5741-B09E-84A95A00B2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AFB9BF">
                <a:tint val="45000"/>
                <a:satMod val="400000"/>
              </a:srgbClr>
            </a:duotone>
            <a:lum bright="-15000" contrast="-6000"/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453" y="1209917"/>
            <a:ext cx="811394" cy="81139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CE4EB8-AE55-6E4F-BFA2-AA85E536A788}"/>
              </a:ext>
            </a:extLst>
          </p:cNvPr>
          <p:cNvSpPr txBox="1"/>
          <p:nvPr userDrawn="1"/>
        </p:nvSpPr>
        <p:spPr>
          <a:xfrm>
            <a:off x="1543051" y="1366987"/>
            <a:ext cx="10202616" cy="511431"/>
          </a:xfrm>
          <a:prstGeom prst="rect">
            <a:avLst/>
          </a:prstGeom>
          <a:solidFill>
            <a:schemeClr val="tx2"/>
          </a:solidFill>
        </p:spPr>
        <p:txBody>
          <a:bodyPr wrap="square" lIns="39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chemeClr val="bg1"/>
                </a:solidFill>
              </a:rPr>
              <a:t>Towards the next session SIG recommends to focus on the following goals: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15F297B-FAE8-344B-8EFB-2F3BE63EF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5EA33FD2-4F1D-6E4A-97BB-55BF958D9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80965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A9C428-1541-C94A-80EE-1111372D8A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76" y="253846"/>
            <a:ext cx="578757" cy="3574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slide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528EF-6CE7-9345-82A1-021612861512}"/>
              </a:ext>
            </a:extLst>
          </p:cNvPr>
          <p:cNvSpPr/>
          <p:nvPr userDrawn="1"/>
        </p:nvSpPr>
        <p:spPr>
          <a:xfrm>
            <a:off x="535154" y="6481274"/>
            <a:ext cx="2184955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rgbClr val="B2BECD"/>
                </a:solidFill>
              </a:rPr>
              <a:t>//</a:t>
            </a:r>
            <a:r>
              <a:rPr lang="en-US" sz="1000" spc="10">
                <a:solidFill>
                  <a:srgbClr val="B2BECD"/>
                </a:solidFill>
              </a:rPr>
              <a:t> SOFTWARE IMPROVEMENT GROUP</a:t>
            </a:r>
            <a:endParaRPr lang="en-US" sz="1000" b="1" spc="10">
              <a:solidFill>
                <a:srgbClr val="B2BEC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43D9BE-75D5-6E41-91C6-BF158133B3CB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Your</a:t>
            </a:r>
            <a:r>
              <a:rPr lang="en-US" sz="2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delivery team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5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2E86253-7D5C-C440-9DE6-456597099579}"/>
              </a:ext>
            </a:extLst>
          </p:cNvPr>
          <p:cNvSpPr txBox="1">
            <a:spLocks/>
          </p:cNvSpPr>
          <p:nvPr userDrawn="1"/>
        </p:nvSpPr>
        <p:spPr>
          <a:xfrm>
            <a:off x="6794634" y="1504098"/>
            <a:ext cx="3867062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</a:t>
            </a:r>
            <a:r>
              <a:rPr lang="en-US" sz="2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 in touch with 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F4A153-AC57-1747-99C9-916E538A29B6}"/>
              </a:ext>
            </a:extLst>
          </p:cNvPr>
          <p:cNvSpPr/>
          <p:nvPr userDrawn="1"/>
        </p:nvSpPr>
        <p:spPr>
          <a:xfrm>
            <a:off x="6097729" y="2172785"/>
            <a:ext cx="403107" cy="4031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A6E7944-D215-E44A-A91C-E93FAAF950A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100000"/>
          </a:blip>
          <a:stretch>
            <a:fillRect/>
          </a:stretch>
        </p:blipFill>
        <p:spPr>
          <a:xfrm>
            <a:off x="6121482" y="2214244"/>
            <a:ext cx="355600" cy="30226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2E4C3C5-CE52-1142-B5EA-71E6E473FFC7}"/>
              </a:ext>
            </a:extLst>
          </p:cNvPr>
          <p:cNvSpPr/>
          <p:nvPr userDrawn="1"/>
        </p:nvSpPr>
        <p:spPr>
          <a:xfrm>
            <a:off x="6095998" y="2713111"/>
            <a:ext cx="403107" cy="4031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B992EEE-55C7-F94E-A395-24C1D442325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 bright="100000"/>
          </a:blip>
          <a:stretch>
            <a:fillRect/>
          </a:stretch>
        </p:blipFill>
        <p:spPr>
          <a:xfrm>
            <a:off x="6118104" y="2755942"/>
            <a:ext cx="355600" cy="3022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9175" y="856376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BC4869E-75E4-4E48-8890-D1BDC0176C8F}"/>
              </a:ext>
            </a:extLst>
          </p:cNvPr>
          <p:cNvSpPr txBox="1">
            <a:spLocks/>
          </p:cNvSpPr>
          <p:nvPr userDrawn="1"/>
        </p:nvSpPr>
        <p:spPr>
          <a:xfrm>
            <a:off x="6792060" y="2800553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1800" b="0" i="0">
                <a:solidFill>
                  <a:schemeClr val="tx2"/>
                </a:solidFill>
                <a:latin typeface="+mn-lt"/>
                <a:cs typeface="Calibri Light" panose="020F0302020204030204" pitchFamily="34" charset="0"/>
              </a:rPr>
              <a:t>+31 (0) 20 314 09 53  </a:t>
            </a:r>
            <a:endParaRPr lang="en-US" sz="1800" b="0" i="0">
              <a:solidFill>
                <a:schemeClr val="tx2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E5F9A281-898E-0144-8AF7-69085D73EEF6}"/>
              </a:ext>
            </a:extLst>
          </p:cNvPr>
          <p:cNvSpPr txBox="1">
            <a:spLocks/>
          </p:cNvSpPr>
          <p:nvPr userDrawn="1"/>
        </p:nvSpPr>
        <p:spPr>
          <a:xfrm>
            <a:off x="6792060" y="2263855"/>
            <a:ext cx="4040042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1800" b="0" i="0">
                <a:solidFill>
                  <a:schemeClr val="tx2"/>
                </a:solidFill>
                <a:latin typeface="+mn-lt"/>
                <a:cs typeface="Calibri Light" panose="020F0302020204030204" pitchFamily="34" charset="0"/>
              </a:rPr>
              <a:t>www.</a:t>
            </a:r>
            <a:r>
              <a:rPr lang="en-US" sz="1800" b="1" i="0">
                <a:solidFill>
                  <a:schemeClr val="tx2"/>
                </a:solidFill>
                <a:latin typeface="+mn-lt"/>
                <a:cs typeface="Calibri Light" panose="020F0302020204030204" pitchFamily="34" charset="0"/>
              </a:rPr>
              <a:t>softwareimprovementgroup</a:t>
            </a:r>
            <a:r>
              <a:rPr lang="en-US" sz="1800" b="0" i="0">
                <a:solidFill>
                  <a:schemeClr val="tx2"/>
                </a:solidFill>
                <a:latin typeface="+mn-lt"/>
                <a:cs typeface="Calibri Light" panose="020F0302020204030204" pitchFamily="34" charset="0"/>
              </a:rPr>
              <a:t>.com</a:t>
            </a:r>
            <a:endParaRPr lang="en-US" sz="1800" b="0" i="0">
              <a:solidFill>
                <a:schemeClr val="tx2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Lead consultant 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4145938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Supporting consultant name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416912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Consultant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8E083C-74D7-F74D-AB9F-127D23959D17}"/>
              </a:ext>
            </a:extLst>
          </p:cNvPr>
          <p:cNvSpPr txBox="1"/>
          <p:nvPr userDrawn="1"/>
        </p:nvSpPr>
        <p:spPr>
          <a:xfrm>
            <a:off x="1935666" y="2478208"/>
            <a:ext cx="2872596" cy="2016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400">
                <a:solidFill>
                  <a:srgbClr val="B3BECD"/>
                </a:solidFill>
              </a:rPr>
              <a:t>Lead consultant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Account manager 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44E87C-BE29-FE44-A21D-706094E9E65C}"/>
              </a:ext>
            </a:extLst>
          </p:cNvPr>
          <p:cNvSpPr txBox="1"/>
          <p:nvPr userDrawn="1"/>
        </p:nvSpPr>
        <p:spPr>
          <a:xfrm>
            <a:off x="1935666" y="3283639"/>
            <a:ext cx="2872596" cy="2016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400">
                <a:solidFill>
                  <a:srgbClr val="B3BECD"/>
                </a:solidFill>
              </a:rPr>
              <a:t>Account manager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744243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Supporting consultant name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501521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Consultant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348052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Supporting consultant name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19026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Consultant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566CCB86-A9A3-B645-9CB7-3DBF845C9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>
                    <a:alpha val="85000"/>
                  </a:schemeClr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1" name="Content Placeholder 7">
            <a:extLst>
              <a:ext uri="{FF2B5EF4-FFF2-40B4-BE49-F238E27FC236}">
                <a16:creationId xmlns:a16="http://schemas.microsoft.com/office/drawing/2014/main" id="{96251664-223C-2C4C-8615-6C822F1FEDD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100000" contrast="6000"/>
            <a:alphaModFix amt="60000"/>
          </a:blip>
          <a:stretch>
            <a:fillRect/>
          </a:stretch>
        </p:blipFill>
        <p:spPr>
          <a:xfrm>
            <a:off x="3070300" y="6548061"/>
            <a:ext cx="261097" cy="22193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B187CD1C-F4E5-D54C-A58D-D0F73D4F2EEF}"/>
              </a:ext>
            </a:extLst>
          </p:cNvPr>
          <p:cNvSpPr/>
          <p:nvPr userDrawn="1"/>
        </p:nvSpPr>
        <p:spPr>
          <a:xfrm>
            <a:off x="3381200" y="6481274"/>
            <a:ext cx="1227425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0" spc="10">
                <a:solidFill>
                  <a:srgbClr val="B2BECD"/>
                </a:solidFill>
              </a:rPr>
              <a:t>QA PERFORMED BY</a:t>
            </a:r>
            <a:endParaRPr lang="en-US" sz="1000" b="1" spc="10">
              <a:solidFill>
                <a:srgbClr val="B2BECD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70236-574A-5143-AD45-DD7A5A66488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1528" y="6534258"/>
            <a:ext cx="1548822" cy="247948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b="1" cap="all" spc="10" baseline="0" dirty="0">
                <a:solidFill>
                  <a:schemeClr val="bg1">
                    <a:alpha val="85000"/>
                  </a:schemeClr>
                </a:solidFill>
              </a:defRPr>
            </a:lvl1pPr>
          </a:lstStyle>
          <a:p>
            <a:pPr lvl="0"/>
            <a:r>
              <a:rPr lang="en-US"/>
              <a:t>&lt;Insert Quality Officer&gt;</a:t>
            </a:r>
          </a:p>
        </p:txBody>
      </p:sp>
    </p:spTree>
    <p:extLst>
      <p:ext uri="{BB962C8B-B14F-4D97-AF65-F5344CB8AC3E}">
        <p14:creationId xmlns:p14="http://schemas.microsoft.com/office/powerpoint/2010/main" val="19656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A9C428-1541-C94A-80EE-1111372D8A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76" y="253846"/>
            <a:ext cx="578757" cy="3574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slide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528EF-6CE7-9345-82A1-021612861512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rgbClr val="B2BECD"/>
                </a:solidFill>
              </a:rPr>
              <a:t>//</a:t>
            </a:r>
            <a:r>
              <a:rPr lang="en-US" sz="1000" spc="10">
                <a:solidFill>
                  <a:srgbClr val="B2BECD"/>
                </a:solidFill>
              </a:rPr>
              <a:t> SOFTWARE IMPROVEMENT GROUP</a:t>
            </a:r>
            <a:endParaRPr lang="en-US" sz="1000" b="1" spc="10">
              <a:solidFill>
                <a:srgbClr val="B2BEC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43D9BE-75D5-6E41-91C6-BF158133B3CB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2E86253-7D5C-C440-9DE6-456597099579}"/>
              </a:ext>
            </a:extLst>
          </p:cNvPr>
          <p:cNvSpPr txBox="1">
            <a:spLocks/>
          </p:cNvSpPr>
          <p:nvPr userDrawn="1"/>
        </p:nvSpPr>
        <p:spPr>
          <a:xfrm>
            <a:off x="6794634" y="1504098"/>
            <a:ext cx="3867062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</a:t>
            </a:r>
            <a:r>
              <a:rPr lang="en-US" sz="2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 in touch with 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F4A153-AC57-1747-99C9-916E538A29B6}"/>
              </a:ext>
            </a:extLst>
          </p:cNvPr>
          <p:cNvSpPr/>
          <p:nvPr userDrawn="1"/>
        </p:nvSpPr>
        <p:spPr>
          <a:xfrm>
            <a:off x="6097729" y="2172785"/>
            <a:ext cx="403107" cy="4031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A6E7944-D215-E44A-A91C-E93FAAF950A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100000"/>
          </a:blip>
          <a:stretch>
            <a:fillRect/>
          </a:stretch>
        </p:blipFill>
        <p:spPr>
          <a:xfrm>
            <a:off x="6121482" y="2214244"/>
            <a:ext cx="355600" cy="30226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2E4C3C5-CE52-1142-B5EA-71E6E473FFC7}"/>
              </a:ext>
            </a:extLst>
          </p:cNvPr>
          <p:cNvSpPr/>
          <p:nvPr userDrawn="1"/>
        </p:nvSpPr>
        <p:spPr>
          <a:xfrm>
            <a:off x="6095998" y="2713111"/>
            <a:ext cx="403107" cy="4031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B992EEE-55C7-F94E-A395-24C1D442325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 bright="100000"/>
          </a:blip>
          <a:stretch>
            <a:fillRect/>
          </a:stretch>
        </p:blipFill>
        <p:spPr>
          <a:xfrm>
            <a:off x="6118104" y="2755942"/>
            <a:ext cx="355600" cy="3022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BC4869E-75E4-4E48-8890-D1BDC0176C8F}"/>
              </a:ext>
            </a:extLst>
          </p:cNvPr>
          <p:cNvSpPr txBox="1">
            <a:spLocks/>
          </p:cNvSpPr>
          <p:nvPr userDrawn="1"/>
        </p:nvSpPr>
        <p:spPr>
          <a:xfrm>
            <a:off x="6792060" y="2800553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1800" b="0" i="0">
                <a:solidFill>
                  <a:schemeClr val="tx2"/>
                </a:solidFill>
                <a:latin typeface="+mn-lt"/>
                <a:cs typeface="Calibri Light" panose="020F0302020204030204" pitchFamily="34" charset="0"/>
              </a:rPr>
              <a:t>+31 (0) 20 314 09 53  </a:t>
            </a:r>
            <a:endParaRPr lang="en-US" sz="1800" b="0" i="0">
              <a:solidFill>
                <a:schemeClr val="tx2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E5F9A281-898E-0144-8AF7-69085D73EEF6}"/>
              </a:ext>
            </a:extLst>
          </p:cNvPr>
          <p:cNvSpPr txBox="1">
            <a:spLocks/>
          </p:cNvSpPr>
          <p:nvPr userDrawn="1"/>
        </p:nvSpPr>
        <p:spPr>
          <a:xfrm>
            <a:off x="6792060" y="2263855"/>
            <a:ext cx="4040042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1800" b="0" i="0">
                <a:solidFill>
                  <a:schemeClr val="tx2"/>
                </a:solidFill>
                <a:latin typeface="+mn-lt"/>
                <a:cs typeface="Calibri Light" panose="020F0302020204030204" pitchFamily="34" charset="0"/>
              </a:rPr>
              <a:t>www.</a:t>
            </a:r>
            <a:r>
              <a:rPr lang="en-US" sz="1800" b="1" i="0">
                <a:solidFill>
                  <a:schemeClr val="tx2"/>
                </a:solidFill>
                <a:latin typeface="+mn-lt"/>
                <a:cs typeface="Calibri Light" panose="020F0302020204030204" pitchFamily="34" charset="0"/>
              </a:rPr>
              <a:t>softwareimprovementgroup</a:t>
            </a:r>
            <a:r>
              <a:rPr lang="en-US" sz="1800" b="0" i="0">
                <a:solidFill>
                  <a:schemeClr val="tx2"/>
                </a:solidFill>
                <a:latin typeface="+mn-lt"/>
                <a:cs typeface="Calibri Light" panose="020F0302020204030204" pitchFamily="34" charset="0"/>
              </a:rPr>
              <a:t>.com</a:t>
            </a:r>
            <a:endParaRPr lang="en-US" sz="1800" b="0" i="0">
              <a:solidFill>
                <a:schemeClr val="tx2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9873D30-1162-1841-BD41-C8ABAD8A1C4A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556584-6B7F-7C4D-9773-60B6FDC6379B}"/>
              </a:ext>
            </a:extLst>
          </p:cNvPr>
          <p:cNvGrpSpPr/>
          <p:nvPr userDrawn="1"/>
        </p:nvGrpSpPr>
        <p:grpSpPr>
          <a:xfrm>
            <a:off x="2696902" y="3083320"/>
            <a:ext cx="6798198" cy="1316395"/>
            <a:chOff x="2696902" y="3091773"/>
            <a:chExt cx="6798198" cy="131639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D6B61E9-4712-8543-AACF-FA6AC9410F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958684" y="3091773"/>
              <a:ext cx="2274632" cy="6744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13C89BE-5AB1-2B43-821F-2ABF2B5FA6E3}"/>
                </a:ext>
              </a:extLst>
            </p:cNvPr>
            <p:cNvSpPr/>
            <p:nvPr userDrawn="1"/>
          </p:nvSpPr>
          <p:spPr>
            <a:xfrm>
              <a:off x="6648515" y="3466618"/>
              <a:ext cx="584801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r>
                <a:rPr lang="en-US" sz="1500" b="1" spc="10">
                  <a:solidFill>
                    <a:srgbClr val="E0C204"/>
                  </a:solidFill>
                </a:rPr>
                <a:t>.com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DC4905D-FB97-2044-B05E-844E5E254F90}"/>
                </a:ext>
              </a:extLst>
            </p:cNvPr>
            <p:cNvSpPr/>
            <p:nvPr userDrawn="1"/>
          </p:nvSpPr>
          <p:spPr>
            <a:xfrm>
              <a:off x="2696902" y="4036028"/>
              <a:ext cx="6798198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pPr algn="ctr"/>
              <a:r>
                <a:rPr lang="en-US" sz="1400" b="1" spc="50" baseline="0">
                  <a:solidFill>
                    <a:schemeClr val="bg1"/>
                  </a:solidFill>
                </a:rPr>
                <a:t>GETTING SOFTWARE RIGHT </a:t>
              </a:r>
              <a:r>
                <a:rPr lang="en-US" sz="1400" b="1" spc="50" baseline="0">
                  <a:solidFill>
                    <a:schemeClr val="bg2">
                      <a:alpha val="65000"/>
                    </a:schemeClr>
                  </a:solidFill>
                </a:rPr>
                <a:t>FOR A HEALTHIER DIGITAL WORLD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243BF-DEED-5F4A-80E6-1545CA49B5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11301" y="3978153"/>
              <a:ext cx="4861367" cy="0"/>
            </a:xfrm>
            <a:prstGeom prst="line">
              <a:avLst/>
            </a:prstGeom>
            <a:ln w="19050">
              <a:solidFill>
                <a:schemeClr val="bg1">
                  <a:alpha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299F4D-8D55-3048-8794-6B3A1830F8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C90CD8-D9A9-C346-AF68-016A634326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F1F94CD-D014-E74F-B858-0B13D18C0344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635CA6-88AE-5240-8210-7C82EAC9A34F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6228E6-102E-BF4F-A502-60D91D71412A}"/>
              </a:ext>
            </a:extLst>
          </p:cNvPr>
          <p:cNvGrpSpPr/>
          <p:nvPr userDrawn="1"/>
        </p:nvGrpSpPr>
        <p:grpSpPr>
          <a:xfrm>
            <a:off x="2696902" y="3083320"/>
            <a:ext cx="6798198" cy="1316395"/>
            <a:chOff x="2696902" y="3091773"/>
            <a:chExt cx="6798198" cy="131639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1D9293E-73D7-FE43-AC5E-3F50FC7B5F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958684" y="3091773"/>
              <a:ext cx="2274632" cy="67445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72120C6-587B-254A-98C3-31BE5241CD7F}"/>
                </a:ext>
              </a:extLst>
            </p:cNvPr>
            <p:cNvSpPr/>
            <p:nvPr userDrawn="1"/>
          </p:nvSpPr>
          <p:spPr>
            <a:xfrm>
              <a:off x="6648515" y="3466618"/>
              <a:ext cx="584801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r>
                <a:rPr lang="en-US" sz="1500" b="1" spc="10">
                  <a:solidFill>
                    <a:srgbClr val="E0C204"/>
                  </a:solidFill>
                </a:rPr>
                <a:t>.com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D8E852-3C6A-8746-96ED-2E3917FE641D}"/>
                </a:ext>
              </a:extLst>
            </p:cNvPr>
            <p:cNvSpPr/>
            <p:nvPr userDrawn="1"/>
          </p:nvSpPr>
          <p:spPr>
            <a:xfrm>
              <a:off x="2696902" y="4036028"/>
              <a:ext cx="6798198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pPr algn="ctr"/>
              <a:r>
                <a:rPr lang="en-US" sz="1400" b="1" spc="50" baseline="0">
                  <a:solidFill>
                    <a:schemeClr val="bg1"/>
                  </a:solidFill>
                </a:rPr>
                <a:t>GETTING SOFTWARE RIGHT </a:t>
              </a:r>
              <a:r>
                <a:rPr lang="en-US" sz="1400" b="1" spc="50" baseline="0">
                  <a:solidFill>
                    <a:schemeClr val="bg2">
                      <a:alpha val="65000"/>
                    </a:schemeClr>
                  </a:solidFill>
                </a:rPr>
                <a:t>FOR A HEALTHIER DIGITAL WORLD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3515F2E-8FB8-B049-8FA0-DB1D67CD27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11301" y="3978153"/>
              <a:ext cx="4861367" cy="0"/>
            </a:xfrm>
            <a:prstGeom prst="line">
              <a:avLst/>
            </a:prstGeom>
            <a:ln w="19050">
              <a:solidFill>
                <a:schemeClr val="bg1">
                  <a:alpha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20625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Logis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37E93B-EFFE-9D4B-B24E-8A050CDBA9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" y="-4140"/>
            <a:ext cx="12192067" cy="6870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ECC082-95FB-424D-B21E-A13B03E0FD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42D293-4CB9-B84A-B241-D3B41FF16E27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891AEF-52A5-FD4A-9D8E-88821AEEEC9D}"/>
              </a:ext>
            </a:extLst>
          </p:cNvPr>
          <p:cNvGrpSpPr/>
          <p:nvPr userDrawn="1"/>
        </p:nvGrpSpPr>
        <p:grpSpPr>
          <a:xfrm>
            <a:off x="2696902" y="3083320"/>
            <a:ext cx="6798198" cy="1316395"/>
            <a:chOff x="2696902" y="3091773"/>
            <a:chExt cx="6798198" cy="131639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ACE4298-B629-8F4B-A930-B47F3A9FC7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958684" y="3091773"/>
              <a:ext cx="2274632" cy="6744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5744586-8E0E-7B41-9E04-DFCDDE8D5BD8}"/>
                </a:ext>
              </a:extLst>
            </p:cNvPr>
            <p:cNvSpPr/>
            <p:nvPr userDrawn="1"/>
          </p:nvSpPr>
          <p:spPr>
            <a:xfrm>
              <a:off x="6648515" y="3466618"/>
              <a:ext cx="584801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r>
                <a:rPr lang="en-US" sz="1500" b="1" spc="10">
                  <a:solidFill>
                    <a:srgbClr val="E0C204"/>
                  </a:solidFill>
                </a:rPr>
                <a:t>.com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080C483-0935-D44D-BD03-278B77AB6DFD}"/>
                </a:ext>
              </a:extLst>
            </p:cNvPr>
            <p:cNvSpPr/>
            <p:nvPr userDrawn="1"/>
          </p:nvSpPr>
          <p:spPr>
            <a:xfrm>
              <a:off x="2696902" y="4036028"/>
              <a:ext cx="6798198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pPr algn="ctr"/>
              <a:r>
                <a:rPr lang="en-US" sz="1400" b="1" spc="50" baseline="0">
                  <a:solidFill>
                    <a:schemeClr val="bg1"/>
                  </a:solidFill>
                </a:rPr>
                <a:t>GETTING SOFTWARE RIGHT </a:t>
              </a:r>
              <a:r>
                <a:rPr lang="en-US" sz="1400" b="1" spc="50" baseline="0">
                  <a:solidFill>
                    <a:schemeClr val="bg2">
                      <a:alpha val="65000"/>
                    </a:schemeClr>
                  </a:solidFill>
                </a:rPr>
                <a:t>FOR A HEALTHIER DIGITAL WORLD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C66D2F-5726-CB44-AA87-AA234D34A4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11301" y="3978153"/>
              <a:ext cx="4861367" cy="0"/>
            </a:xfrm>
            <a:prstGeom prst="line">
              <a:avLst/>
            </a:prstGeom>
            <a:ln w="19050">
              <a:solidFill>
                <a:schemeClr val="bg1">
                  <a:alpha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64766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Energ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985657-B5EC-2240-B8FB-9EB723A19D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83"/>
          <a:stretch/>
        </p:blipFill>
        <p:spPr>
          <a:xfrm>
            <a:off x="0" y="0"/>
            <a:ext cx="12192002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D41CEE-BA07-E64A-BB7C-D9DE008C1E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375338-699C-AA41-B70B-03102FF8701B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A231A1-31C8-4943-9ADB-F87AE0F767B8}"/>
              </a:ext>
            </a:extLst>
          </p:cNvPr>
          <p:cNvGrpSpPr/>
          <p:nvPr userDrawn="1"/>
        </p:nvGrpSpPr>
        <p:grpSpPr>
          <a:xfrm>
            <a:off x="2696902" y="3083320"/>
            <a:ext cx="6798198" cy="1316395"/>
            <a:chOff x="2696902" y="3091773"/>
            <a:chExt cx="6798198" cy="131639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0F315A8-3EB0-DD4B-AB7D-F19A8FBB20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958684" y="3091773"/>
              <a:ext cx="2274632" cy="6744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7C857A-832B-9F44-9231-F1BD868A546C}"/>
                </a:ext>
              </a:extLst>
            </p:cNvPr>
            <p:cNvSpPr/>
            <p:nvPr userDrawn="1"/>
          </p:nvSpPr>
          <p:spPr>
            <a:xfrm>
              <a:off x="6648515" y="3466618"/>
              <a:ext cx="584801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r>
                <a:rPr lang="en-US" sz="1500" b="1" spc="10">
                  <a:solidFill>
                    <a:srgbClr val="E0C204"/>
                  </a:solidFill>
                </a:rPr>
                <a:t>.com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EA7F0DD-DF3D-7245-82C0-5D18B4ABB86F}"/>
                </a:ext>
              </a:extLst>
            </p:cNvPr>
            <p:cNvSpPr/>
            <p:nvPr userDrawn="1"/>
          </p:nvSpPr>
          <p:spPr>
            <a:xfrm>
              <a:off x="2696902" y="4036028"/>
              <a:ext cx="6798198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pPr algn="ctr"/>
              <a:r>
                <a:rPr lang="en-US" sz="1400" b="1" spc="50" baseline="0">
                  <a:solidFill>
                    <a:schemeClr val="bg1"/>
                  </a:solidFill>
                </a:rPr>
                <a:t>GETTING SOFTWARE RIGHT </a:t>
              </a:r>
              <a:r>
                <a:rPr lang="en-US" sz="1400" b="1" spc="50" baseline="0">
                  <a:solidFill>
                    <a:schemeClr val="bg2">
                      <a:alpha val="65000"/>
                    </a:schemeClr>
                  </a:solidFill>
                </a:rPr>
                <a:t>FOR A HEALTHIER DIGITAL WORLD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D037D1-BC85-E04E-850F-445A628825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11301" y="3978153"/>
              <a:ext cx="4861367" cy="0"/>
            </a:xfrm>
            <a:prstGeom prst="line">
              <a:avLst/>
            </a:prstGeom>
            <a:ln w="19050">
              <a:solidFill>
                <a:schemeClr val="bg1">
                  <a:alpha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13313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Publ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985657-B5EC-2240-B8FB-9EB723A19D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09"/>
          <a:stretch/>
        </p:blipFill>
        <p:spPr>
          <a:xfrm>
            <a:off x="0" y="-1"/>
            <a:ext cx="12192002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E35764-4BBE-C449-8054-B848CD7805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51CE60-9BD7-AB4F-93D3-DD5E000A46FF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1FBD94-1B8E-9E41-889C-11BEC8B15075}"/>
              </a:ext>
            </a:extLst>
          </p:cNvPr>
          <p:cNvGrpSpPr/>
          <p:nvPr userDrawn="1"/>
        </p:nvGrpSpPr>
        <p:grpSpPr>
          <a:xfrm>
            <a:off x="2696902" y="3083320"/>
            <a:ext cx="6798198" cy="1316395"/>
            <a:chOff x="2696902" y="3091773"/>
            <a:chExt cx="6798198" cy="131639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302D077-16DA-9C4B-8D35-899DEAE808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958684" y="3091773"/>
              <a:ext cx="2274632" cy="6744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CDCDE2-86B2-274D-92D4-098AD6343D05}"/>
                </a:ext>
              </a:extLst>
            </p:cNvPr>
            <p:cNvSpPr/>
            <p:nvPr userDrawn="1"/>
          </p:nvSpPr>
          <p:spPr>
            <a:xfrm>
              <a:off x="6648515" y="3466618"/>
              <a:ext cx="584801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r>
                <a:rPr lang="en-US" sz="1500" b="1" spc="10">
                  <a:solidFill>
                    <a:srgbClr val="E0C204"/>
                  </a:solidFill>
                </a:rPr>
                <a:t>.com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7C03C3-0F8E-DA4E-966A-260B78262B0C}"/>
                </a:ext>
              </a:extLst>
            </p:cNvPr>
            <p:cNvSpPr/>
            <p:nvPr userDrawn="1"/>
          </p:nvSpPr>
          <p:spPr>
            <a:xfrm>
              <a:off x="2696902" y="4036028"/>
              <a:ext cx="6798198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pPr algn="ctr"/>
              <a:r>
                <a:rPr lang="en-US" sz="1400" b="1" spc="50" baseline="0">
                  <a:solidFill>
                    <a:schemeClr val="bg1"/>
                  </a:solidFill>
                </a:rPr>
                <a:t>GETTING SOFTWARE RIGHT </a:t>
              </a:r>
              <a:r>
                <a:rPr lang="en-US" sz="1400" b="1" spc="50" baseline="0">
                  <a:solidFill>
                    <a:schemeClr val="bg2">
                      <a:alpha val="65000"/>
                    </a:schemeClr>
                  </a:solidFill>
                </a:rPr>
                <a:t>FOR A HEALTHIER DIGITAL WORLD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673E17-4063-D44C-8F28-A7296EDB8D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11301" y="3978153"/>
              <a:ext cx="4861367" cy="0"/>
            </a:xfrm>
            <a:prstGeom prst="line">
              <a:avLst/>
            </a:prstGeom>
            <a:ln w="19050">
              <a:solidFill>
                <a:schemeClr val="bg1">
                  <a:alpha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05055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Offi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F13119-09E4-7E49-8526-03199A00DE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65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BA1BFE-12C8-2C4F-B4FB-965317C173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F07CBC-0F76-0B40-B579-CF734DA2DB7C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A78182-596D-E847-83CC-4EF001C3AFAE}"/>
              </a:ext>
            </a:extLst>
          </p:cNvPr>
          <p:cNvGrpSpPr/>
          <p:nvPr userDrawn="1"/>
        </p:nvGrpSpPr>
        <p:grpSpPr>
          <a:xfrm>
            <a:off x="2696902" y="3083320"/>
            <a:ext cx="6798198" cy="1316395"/>
            <a:chOff x="2696902" y="3091773"/>
            <a:chExt cx="6798198" cy="131639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5524F47-2345-204A-BE0B-C259FCC9D0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958684" y="3091773"/>
              <a:ext cx="2274632" cy="6744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A58F25-E0BA-C141-8BEC-6BE8A60F08D4}"/>
                </a:ext>
              </a:extLst>
            </p:cNvPr>
            <p:cNvSpPr/>
            <p:nvPr userDrawn="1"/>
          </p:nvSpPr>
          <p:spPr>
            <a:xfrm>
              <a:off x="6648515" y="3466618"/>
              <a:ext cx="584801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r>
                <a:rPr lang="en-US" sz="1500" b="1" spc="10">
                  <a:solidFill>
                    <a:srgbClr val="E0C204"/>
                  </a:solidFill>
                </a:rPr>
                <a:t>.com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A1F3CE7-D5A2-1947-A3BA-71401E72BA92}"/>
                </a:ext>
              </a:extLst>
            </p:cNvPr>
            <p:cNvSpPr/>
            <p:nvPr userDrawn="1"/>
          </p:nvSpPr>
          <p:spPr>
            <a:xfrm>
              <a:off x="2696902" y="4036028"/>
              <a:ext cx="6798198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pPr algn="ctr"/>
              <a:r>
                <a:rPr lang="en-US" sz="1400" b="1" spc="50" baseline="0">
                  <a:solidFill>
                    <a:schemeClr val="bg1"/>
                  </a:solidFill>
                </a:rPr>
                <a:t>GETTING SOFTWARE RIGHT </a:t>
              </a:r>
              <a:r>
                <a:rPr lang="en-US" sz="1400" b="1" spc="50" baseline="0">
                  <a:solidFill>
                    <a:schemeClr val="bg2">
                      <a:alpha val="65000"/>
                    </a:schemeClr>
                  </a:solidFill>
                </a:rPr>
                <a:t>FOR A HEALTHIER DIGITAL WORLD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9135F44-8831-5341-9B3D-3D7DBDCCB81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11301" y="3978153"/>
              <a:ext cx="4861367" cy="0"/>
            </a:xfrm>
            <a:prstGeom prst="line">
              <a:avLst/>
            </a:prstGeom>
            <a:ln w="19050">
              <a:solidFill>
                <a:schemeClr val="bg1">
                  <a:alpha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0114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590965-8317-DE45-9266-77C8642AB8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383"/>
            <a:ext cx="12192000" cy="6870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6B33DE-4ADE-8E4A-A83D-3F087384B0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086631-4FA4-B242-9192-724383AE1525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6C4E48-AD8B-2B4E-B786-4068B916A5D2}"/>
              </a:ext>
            </a:extLst>
          </p:cNvPr>
          <p:cNvGrpSpPr/>
          <p:nvPr userDrawn="1"/>
        </p:nvGrpSpPr>
        <p:grpSpPr>
          <a:xfrm>
            <a:off x="2696902" y="3083320"/>
            <a:ext cx="6798198" cy="1316395"/>
            <a:chOff x="2696902" y="3091773"/>
            <a:chExt cx="6798198" cy="131639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D0FEC9E-A0B6-8A46-94D8-3B901313F3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958684" y="3091773"/>
              <a:ext cx="2274632" cy="67445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B119CA-DF5D-1A4F-AED0-2BDBA87CF0B7}"/>
                </a:ext>
              </a:extLst>
            </p:cNvPr>
            <p:cNvSpPr/>
            <p:nvPr userDrawn="1"/>
          </p:nvSpPr>
          <p:spPr>
            <a:xfrm>
              <a:off x="6648515" y="3466618"/>
              <a:ext cx="584801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r>
                <a:rPr lang="en-US" sz="1500" b="1" spc="10">
                  <a:solidFill>
                    <a:srgbClr val="E0C204"/>
                  </a:solidFill>
                </a:rPr>
                <a:t>.com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84C2282-E41E-3D44-9BA8-EE3F3601C7A5}"/>
                </a:ext>
              </a:extLst>
            </p:cNvPr>
            <p:cNvSpPr/>
            <p:nvPr userDrawn="1"/>
          </p:nvSpPr>
          <p:spPr>
            <a:xfrm>
              <a:off x="2696902" y="4036028"/>
              <a:ext cx="6798198" cy="3721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tlCol="0" anchor="ctr"/>
            <a:lstStyle/>
            <a:p>
              <a:pPr algn="ctr"/>
              <a:r>
                <a:rPr lang="en-US" sz="1400" b="1" spc="50" baseline="0">
                  <a:solidFill>
                    <a:schemeClr val="bg1"/>
                  </a:solidFill>
                </a:rPr>
                <a:t>GETTING SOFTWARE RIGHT </a:t>
              </a:r>
              <a:r>
                <a:rPr lang="en-US" sz="1400" b="1" spc="50" baseline="0">
                  <a:solidFill>
                    <a:schemeClr val="bg2">
                      <a:alpha val="65000"/>
                    </a:schemeClr>
                  </a:solidFill>
                </a:rPr>
                <a:t>FOR A HEALTHIER DIGITAL WORLD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34F7CDC-3416-A640-A14D-A0150F9F72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11301" y="3978153"/>
              <a:ext cx="4861367" cy="0"/>
            </a:xfrm>
            <a:prstGeom prst="line">
              <a:avLst/>
            </a:prstGeom>
            <a:ln w="19050">
              <a:solidFill>
                <a:schemeClr val="bg1">
                  <a:alpha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5753F6F-83CC-614C-924B-2F2D2EBD9438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chemeClr val="bg2">
                    <a:alpha val="90000"/>
                  </a:schemeClr>
                </a:solidFill>
              </a:rPr>
              <a:t>//</a:t>
            </a:r>
            <a:r>
              <a:rPr lang="en-US" sz="1000" spc="10">
                <a:solidFill>
                  <a:schemeClr val="bg2">
                    <a:alpha val="90000"/>
                  </a:schemeClr>
                </a:solidFill>
              </a:rPr>
              <a:t> SOFTWARE IMPROVEMENT GROUP</a:t>
            </a:r>
            <a:endParaRPr lang="en-US" sz="1000" b="1" spc="10">
              <a:solidFill>
                <a:schemeClr val="bg2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5512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ve levels – Main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1389AAB-7EAB-2BCE-EF27-38E7BCB93625}"/>
              </a:ext>
            </a:extLst>
          </p:cNvPr>
          <p:cNvSpPr/>
          <p:nvPr userDrawn="1"/>
        </p:nvSpPr>
        <p:spPr>
          <a:xfrm>
            <a:off x="540685" y="2101058"/>
            <a:ext cx="11068220" cy="77633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F13346-4B42-9F09-0053-A9BED105047A}"/>
              </a:ext>
            </a:extLst>
          </p:cNvPr>
          <p:cNvSpPr/>
          <p:nvPr userDrawn="1"/>
        </p:nvSpPr>
        <p:spPr>
          <a:xfrm>
            <a:off x="525694" y="2026652"/>
            <a:ext cx="11098199" cy="853915"/>
          </a:xfrm>
          <a:prstGeom prst="rect">
            <a:avLst/>
          </a:prstGeom>
          <a:gradFill>
            <a:gsLst>
              <a:gs pos="90000">
                <a:srgbClr val="F7F9FC">
                  <a:alpha val="0"/>
                </a:srgbClr>
              </a:gs>
              <a:gs pos="11000">
                <a:schemeClr val="bg2">
                  <a:alpha val="0"/>
                </a:schemeClr>
              </a:gs>
              <a:gs pos="3000">
                <a:schemeClr val="bg2"/>
              </a:gs>
              <a:gs pos="97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C024B4-A888-6074-86D4-D86B016E0171}"/>
              </a:ext>
            </a:extLst>
          </p:cNvPr>
          <p:cNvCxnSpPr>
            <a:cxnSpLocks/>
          </p:cNvCxnSpPr>
          <p:nvPr userDrawn="1"/>
        </p:nvCxnSpPr>
        <p:spPr>
          <a:xfrm>
            <a:off x="540689" y="2877393"/>
            <a:ext cx="11068215" cy="0"/>
          </a:xfrm>
          <a:prstGeom prst="line">
            <a:avLst/>
          </a:prstGeom>
          <a:ln w="19050" cmpd="sng">
            <a:solidFill>
              <a:srgbClr val="C4CCD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02330-2F83-7148-995E-101EE0C39C59}"/>
              </a:ext>
            </a:extLst>
          </p:cNvPr>
          <p:cNvSpPr/>
          <p:nvPr userDrawn="1"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64DEC668-5250-1B4C-B969-8FC04E1B6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3013020"/>
            <a:ext cx="7135680" cy="330498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19D16-1B43-83B4-AAC8-3F62CE8DD7EA}"/>
              </a:ext>
            </a:extLst>
          </p:cNvPr>
          <p:cNvSpPr/>
          <p:nvPr userDrawn="1"/>
        </p:nvSpPr>
        <p:spPr bwMode="auto">
          <a:xfrm rot="5400000">
            <a:off x="1548588" y="957613"/>
            <a:ext cx="195321" cy="2211125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7916A-C3C6-004B-AECE-7FDC1C99337B}"/>
              </a:ext>
            </a:extLst>
          </p:cNvPr>
          <p:cNvSpPr/>
          <p:nvPr userDrawn="1"/>
        </p:nvSpPr>
        <p:spPr bwMode="auto">
          <a:xfrm rot="5400000">
            <a:off x="3758269" y="959055"/>
            <a:ext cx="195321" cy="2208241"/>
          </a:xfrm>
          <a:prstGeom prst="rect">
            <a:avLst/>
          </a:prstGeom>
          <a:solidFill>
            <a:srgbClr val="DAE2E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1625B-745E-62D9-BD2A-55957EA061A3}"/>
              </a:ext>
            </a:extLst>
          </p:cNvPr>
          <p:cNvSpPr/>
          <p:nvPr userDrawn="1"/>
        </p:nvSpPr>
        <p:spPr bwMode="auto">
          <a:xfrm rot="5400000">
            <a:off x="8182546" y="951652"/>
            <a:ext cx="195321" cy="2223047"/>
          </a:xfrm>
          <a:prstGeom prst="rect">
            <a:avLst/>
          </a:prstGeom>
          <a:solidFill>
            <a:srgbClr val="697C8E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A4D38-4E21-D4C5-440B-8F86DC2718F7}"/>
              </a:ext>
            </a:extLst>
          </p:cNvPr>
          <p:cNvSpPr/>
          <p:nvPr userDrawn="1"/>
        </p:nvSpPr>
        <p:spPr bwMode="auto">
          <a:xfrm rot="5400000">
            <a:off x="10398054" y="959190"/>
            <a:ext cx="195321" cy="2207971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7F30B0-F038-9819-805C-8B583196DFC5}"/>
              </a:ext>
            </a:extLst>
          </p:cNvPr>
          <p:cNvSpPr/>
          <p:nvPr userDrawn="1"/>
        </p:nvSpPr>
        <p:spPr bwMode="auto">
          <a:xfrm rot="5400000">
            <a:off x="5966706" y="958857"/>
            <a:ext cx="195321" cy="2208636"/>
          </a:xfrm>
          <a:prstGeom prst="rect">
            <a:avLst/>
          </a:prstGeom>
          <a:solidFill>
            <a:srgbClr val="B3BECD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9642B4-94D7-E002-5F8F-4B21E3C2B65C}"/>
              </a:ext>
            </a:extLst>
          </p:cNvPr>
          <p:cNvGrpSpPr/>
          <p:nvPr userDrawn="1"/>
        </p:nvGrpSpPr>
        <p:grpSpPr>
          <a:xfrm>
            <a:off x="11006327" y="810077"/>
            <a:ext cx="594110" cy="850933"/>
            <a:chOff x="10569980" y="810077"/>
            <a:chExt cx="594110" cy="85093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4E37F83-14A0-0B68-AAEB-CA6647EFED37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711BE83-E5FD-6BD3-812A-5637E13953A8}"/>
                </a:ext>
              </a:extLst>
            </p:cNvPr>
            <p:cNvSpPr/>
            <p:nvPr/>
          </p:nvSpPr>
          <p:spPr>
            <a:xfrm>
              <a:off x="10569980" y="810137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DCB0456-FBFD-F1A5-7BB5-98B8476CCA93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tx2"/>
                </a:gs>
                <a:gs pos="55000">
                  <a:srgbClr val="394D60"/>
                </a:gs>
                <a:gs pos="0">
                  <a:srgbClr val="3F5771"/>
                </a:gs>
                <a:gs pos="13000">
                  <a:schemeClr val="tx2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C247D5E-E670-34AF-DF42-421FD37A7527}"/>
              </a:ext>
            </a:extLst>
          </p:cNvPr>
          <p:cNvSpPr txBox="1"/>
          <p:nvPr userDrawn="1"/>
        </p:nvSpPr>
        <p:spPr>
          <a:xfrm>
            <a:off x="1021363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>
                <a:solidFill>
                  <a:schemeClr val="tx1">
                    <a:alpha val="50000"/>
                  </a:schemeClr>
                </a:solidFill>
              </a:rPr>
              <a:t>SNAPSHOT 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8B723-3138-94E0-50D1-42ABD67C94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98721" y="871382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</a:t>
            </a:r>
            <a:endParaRPr lang="en-NL"/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71B52DB1-1BF8-95E7-0DE2-99D8E78CA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098721" y="1030633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MMM</a:t>
            </a:r>
            <a:endParaRPr lang="en-NL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7469CFBD-4AB0-5FB5-93CB-E2192E5AD3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98721" y="1189883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err="1"/>
              <a:t>YYYY</a:t>
            </a:r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3AC85-C0F9-B46B-348B-4B11984EC5E1}"/>
              </a:ext>
            </a:extLst>
          </p:cNvPr>
          <p:cNvSpPr/>
          <p:nvPr userDrawn="1"/>
        </p:nvSpPr>
        <p:spPr>
          <a:xfrm>
            <a:off x="543839" y="2188488"/>
            <a:ext cx="2210009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rgbClr val="B3BECD"/>
                </a:solidFill>
                <a:latin typeface="Sigsterren"/>
                <a:cs typeface="Sigsterren"/>
              </a:rPr>
              <a:t>HIIII</a:t>
            </a:r>
            <a:endParaRPr lang="en-GB" sz="1400">
              <a:solidFill>
                <a:srgbClr val="B3BECD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D2BA3-6863-8915-EEE5-38EF562641E3}"/>
              </a:ext>
            </a:extLst>
          </p:cNvPr>
          <p:cNvSpPr/>
          <p:nvPr userDrawn="1"/>
        </p:nvSpPr>
        <p:spPr>
          <a:xfrm>
            <a:off x="2748924" y="2185760"/>
            <a:ext cx="2209087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rgbClr val="B3BECD"/>
                </a:solidFill>
                <a:latin typeface="Sigsterren"/>
                <a:cs typeface="Sigsterren"/>
              </a:rPr>
              <a:t>HHIII</a:t>
            </a:r>
            <a:endParaRPr lang="en-GB" sz="1400">
              <a:solidFill>
                <a:srgbClr val="B3BECD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205139-0A17-D664-05C0-54D53A944BDA}"/>
              </a:ext>
            </a:extLst>
          </p:cNvPr>
          <p:cNvSpPr/>
          <p:nvPr userDrawn="1"/>
        </p:nvSpPr>
        <p:spPr>
          <a:xfrm>
            <a:off x="4956896" y="2183032"/>
            <a:ext cx="221382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rgbClr val="B3BECD"/>
                </a:solidFill>
                <a:latin typeface="Sigsterren"/>
                <a:cs typeface="Sigsterren"/>
              </a:rPr>
              <a:t>HHHII</a:t>
            </a:r>
            <a:endParaRPr lang="en-GB" sz="1400">
              <a:solidFill>
                <a:srgbClr val="B3BECD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367BEC-37DC-3116-8A37-73B187EE071A}"/>
              </a:ext>
            </a:extLst>
          </p:cNvPr>
          <p:cNvSpPr/>
          <p:nvPr userDrawn="1"/>
        </p:nvSpPr>
        <p:spPr>
          <a:xfrm>
            <a:off x="7181055" y="2191551"/>
            <a:ext cx="221067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rgbClr val="697C8E"/>
                </a:solidFill>
                <a:latin typeface="Sigsterren"/>
                <a:cs typeface="Sigsterren"/>
              </a:rPr>
              <a:t>HHHHI</a:t>
            </a:r>
            <a:endParaRPr lang="en-GB" sz="1400">
              <a:solidFill>
                <a:srgbClr val="697C8E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E551A6-ABB3-F7C9-4D66-48E5CACFAA61}"/>
              </a:ext>
            </a:extLst>
          </p:cNvPr>
          <p:cNvSpPr/>
          <p:nvPr userDrawn="1"/>
        </p:nvSpPr>
        <p:spPr>
          <a:xfrm>
            <a:off x="9402060" y="2191551"/>
            <a:ext cx="219383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chemeClr val="accent1"/>
                </a:solidFill>
                <a:latin typeface="Sigsterren"/>
                <a:cs typeface="Sigsterren"/>
              </a:rPr>
              <a:t>HHHHH</a:t>
            </a:r>
            <a:endParaRPr lang="en-GB" sz="1400">
              <a:solidFill>
                <a:schemeClr val="accent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D34E97-9069-8EB5-D476-4767C60B9DCB}"/>
              </a:ext>
            </a:extLst>
          </p:cNvPr>
          <p:cNvSpPr txBox="1"/>
          <p:nvPr userDrawn="1"/>
        </p:nvSpPr>
        <p:spPr>
          <a:xfrm>
            <a:off x="381410" y="2387321"/>
            <a:ext cx="11429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0000"/>
                    <a:lumOff val="40000"/>
                  </a:schemeClr>
                </a:solidFill>
              </a:rPr>
              <a:t>0.5		             1.5		                           2.5		        3.5		                      4.5			   5.5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349FA0-813B-F1FB-15A1-2F51541BD669}"/>
              </a:ext>
            </a:extLst>
          </p:cNvPr>
          <p:cNvSpPr txBox="1"/>
          <p:nvPr userDrawn="1"/>
        </p:nvSpPr>
        <p:spPr>
          <a:xfrm>
            <a:off x="5471355" y="2462115"/>
            <a:ext cx="1189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000" b="1" cap="small">
                <a:solidFill>
                  <a:srgbClr val="85929D"/>
                </a:solidFill>
              </a:rPr>
              <a:t>MARKET-AVERAGE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FB1209-72DE-2C48-B685-6B5419CD68FB}"/>
              </a:ext>
            </a:extLst>
          </p:cNvPr>
          <p:cNvCxnSpPr>
            <a:cxnSpLocks/>
          </p:cNvCxnSpPr>
          <p:nvPr userDrawn="1"/>
        </p:nvCxnSpPr>
        <p:spPr>
          <a:xfrm flipV="1">
            <a:off x="7788343" y="3092712"/>
            <a:ext cx="0" cy="2605671"/>
          </a:xfrm>
          <a:prstGeom prst="line">
            <a:avLst/>
          </a:prstGeom>
          <a:ln w="19050" cmpd="sng">
            <a:solidFill>
              <a:srgbClr val="C7CCC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9EB7DA5-A189-5E80-A40E-0D5A616174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44525619"/>
              </p:ext>
            </p:extLst>
          </p:nvPr>
        </p:nvGraphicFramePr>
        <p:xfrm>
          <a:off x="543838" y="2137271"/>
          <a:ext cx="11047550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5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17443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24459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17733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24169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30723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11179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96CDAE8-7781-588D-787F-5341C2540339}"/>
              </a:ext>
            </a:extLst>
          </p:cNvPr>
          <p:cNvSpPr/>
          <p:nvPr userDrawn="1"/>
        </p:nvSpPr>
        <p:spPr>
          <a:xfrm>
            <a:off x="537472" y="1946275"/>
            <a:ext cx="11062598" cy="233800"/>
          </a:xfrm>
          <a:prstGeom prst="roundRect">
            <a:avLst>
              <a:gd name="adj" fmla="val 24201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err="1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37BF9B2-1645-5B9F-1FFC-28D76C8C78E8}"/>
              </a:ext>
            </a:extLst>
          </p:cNvPr>
          <p:cNvSpPr/>
          <p:nvPr userDrawn="1"/>
        </p:nvSpPr>
        <p:spPr>
          <a:xfrm>
            <a:off x="537472" y="1920940"/>
            <a:ext cx="11062598" cy="233800"/>
          </a:xfrm>
          <a:prstGeom prst="roundRect">
            <a:avLst>
              <a:gd name="adj" fmla="val 24201"/>
            </a:avLst>
          </a:prstGeom>
          <a:noFill/>
          <a:ln w="38100">
            <a:solidFill>
              <a:schemeClr val="bg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err="1">
              <a:solidFill>
                <a:schemeClr val="bg1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4A0693-D200-6EF1-A143-74668BA406B3}"/>
              </a:ext>
            </a:extLst>
          </p:cNvPr>
          <p:cNvCxnSpPr/>
          <p:nvPr userDrawn="1"/>
        </p:nvCxnSpPr>
        <p:spPr>
          <a:xfrm>
            <a:off x="7168686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05382CA-3D46-3383-CE61-96754CBCB2DC}"/>
              </a:ext>
            </a:extLst>
          </p:cNvPr>
          <p:cNvCxnSpPr/>
          <p:nvPr userDrawn="1"/>
        </p:nvCxnSpPr>
        <p:spPr>
          <a:xfrm>
            <a:off x="9391731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02FFCB-A60C-1ABB-22DD-D81A4F233622}"/>
              </a:ext>
            </a:extLst>
          </p:cNvPr>
          <p:cNvCxnSpPr/>
          <p:nvPr userDrawn="1"/>
        </p:nvCxnSpPr>
        <p:spPr>
          <a:xfrm>
            <a:off x="4960051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6512980-BEE5-E7F0-720E-A747745DDB11}"/>
              </a:ext>
            </a:extLst>
          </p:cNvPr>
          <p:cNvCxnSpPr/>
          <p:nvPr userDrawn="1"/>
        </p:nvCxnSpPr>
        <p:spPr>
          <a:xfrm>
            <a:off x="2751812" y="171146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FD5B0F4-1A06-1D76-C351-F35CEC5B2D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696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Ignore or delete.</a:t>
            </a:r>
            <a:endParaRPr lang="en-NL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B45C554-BC58-F501-2AFB-377EF5E1A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25641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86184D8-48AE-84C4-D2D0-BD148A626F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8227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2F7945-8C5F-3982-B444-D1FDBBCD99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48188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98ABF9CF-BBFE-4E06-9E06-4F52587081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65426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D1F54-467C-F6F4-B066-0E8FD46045A1}"/>
              </a:ext>
            </a:extLst>
          </p:cNvPr>
          <p:cNvSpPr txBox="1"/>
          <p:nvPr userDrawn="1"/>
        </p:nvSpPr>
        <p:spPr>
          <a:xfrm>
            <a:off x="884809" y="-256756"/>
            <a:ext cx="10304572" cy="24622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lvl="0"/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▲ </a:t>
            </a:r>
            <a:r>
              <a:rPr lang="en-GB" sz="1000" b="1">
                <a:solidFill>
                  <a:schemeClr val="tx1">
                    <a:lumMod val="60000"/>
                    <a:lumOff val="40000"/>
                  </a:schemeClr>
                </a:solidFill>
              </a:rPr>
              <a:t>Dummy placeholders, </a:t>
            </a:r>
            <a:r>
              <a:rPr lang="en-GB"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due to use of star ratings for level descriptions. I</a:t>
            </a:r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gnore them, they are not visible on the slide (t</a:t>
            </a:r>
            <a:r>
              <a:rPr lang="en-GB"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hese placeholders are necessary</a:t>
            </a:r>
            <a:r>
              <a:rPr lang="en-GB" sz="1000" b="1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for compatibility with other templates). ▲</a:t>
            </a:r>
            <a:endParaRPr lang="en-NL" sz="1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E1901AC2-680E-4CD9-7DE1-234CE548C4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875" y="914509"/>
            <a:ext cx="1168590" cy="257763"/>
          </a:xfrm>
        </p:spPr>
        <p:txBody>
          <a:bodyPr wrap="none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Insert model name</a:t>
            </a:r>
            <a:endParaRPr lang="en-NL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B21183-F5CA-24B5-B8D6-DFE3A10DA671}"/>
              </a:ext>
            </a:extLst>
          </p:cNvPr>
          <p:cNvCxnSpPr>
            <a:cxnSpLocks/>
          </p:cNvCxnSpPr>
          <p:nvPr userDrawn="1"/>
        </p:nvCxnSpPr>
        <p:spPr>
          <a:xfrm>
            <a:off x="10247651" y="999720"/>
            <a:ext cx="0" cy="98830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131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94A2A75-3145-2B40-BD84-D3A76CD6FFA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3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microsoft.com/office/2007/relationships/hdphoto" Target="../media/hdphoto1.wdp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hyperlink" Target="https://wiki.sig.eu/confluence/x/JoDbC" TargetMode="Externa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37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6EF80B-B6A3-2447-B6E4-0807B649FC52}"/>
              </a:ext>
            </a:extLst>
          </p:cNvPr>
          <p:cNvSpPr/>
          <p:nvPr userDrawn="1"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B8A355-71EB-0D4B-90E7-5DC899B26006}"/>
              </a:ext>
            </a:extLst>
          </p:cNvPr>
          <p:cNvSpPr/>
          <p:nvPr userDrawn="1"/>
        </p:nvSpPr>
        <p:spPr>
          <a:xfrm>
            <a:off x="535154" y="6481274"/>
            <a:ext cx="4841077" cy="37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tlCol="0" anchor="ctr"/>
          <a:lstStyle/>
          <a:p>
            <a:r>
              <a:rPr lang="en-US" sz="1000" b="1" spc="10">
                <a:solidFill>
                  <a:srgbClr val="B3BECD"/>
                </a:solidFill>
              </a:rPr>
              <a:t>//</a:t>
            </a:r>
            <a:r>
              <a:rPr lang="en-US" sz="1000" spc="10">
                <a:solidFill>
                  <a:srgbClr val="B3BECD"/>
                </a:solidFill>
              </a:rPr>
              <a:t> SOFTWARE IMPROVEMENT GROUP</a:t>
            </a:r>
            <a:endParaRPr lang="en-US" sz="1000" b="1" spc="10">
              <a:solidFill>
                <a:srgbClr val="B3BECD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rtlCol="0" anchor="ctr">
            <a:spAutoFit/>
          </a:bodyPr>
          <a:lstStyle>
            <a:lvl1pPr>
              <a:defRPr lang="en-US" sz="1000" b="1" cap="all" spc="10" baseline="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3FD7F2C-6354-A44D-9696-841E18D4FB06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hq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rightnessContrast bright="-8000" contras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800" y="255600"/>
            <a:ext cx="578757" cy="35746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71" r:id="rId3"/>
    <p:sldLayoutId id="2147483700" r:id="rId4"/>
    <p:sldLayoutId id="2147483701" r:id="rId5"/>
    <p:sldLayoutId id="2147483702" r:id="rId6"/>
    <p:sldLayoutId id="2147483703" r:id="rId7"/>
    <p:sldLayoutId id="2147483662" r:id="rId8"/>
    <p:sldLayoutId id="2147483673" r:id="rId9"/>
    <p:sldLayoutId id="2147483713" r:id="rId10"/>
    <p:sldLayoutId id="2147483714" r:id="rId11"/>
    <p:sldLayoutId id="2147483668" r:id="rId12"/>
    <p:sldLayoutId id="2147483720" r:id="rId13"/>
    <p:sldLayoutId id="2147483719" r:id="rId14"/>
    <p:sldLayoutId id="2147483661" r:id="rId15"/>
    <p:sldLayoutId id="2147483664" r:id="rId16"/>
    <p:sldLayoutId id="2147483692" r:id="rId17"/>
    <p:sldLayoutId id="2147483693" r:id="rId18"/>
    <p:sldLayoutId id="2147483690" r:id="rId19"/>
    <p:sldLayoutId id="2147483691" r:id="rId20"/>
    <p:sldLayoutId id="2147483723" r:id="rId21"/>
    <p:sldLayoutId id="2147483697" r:id="rId22"/>
    <p:sldLayoutId id="2147483715" r:id="rId23"/>
    <p:sldLayoutId id="2147483680" r:id="rId24"/>
    <p:sldLayoutId id="2147483716" r:id="rId25"/>
    <p:sldLayoutId id="2147483717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24" r:id="rId34"/>
    <p:sldLayoutId id="2147483725" r:id="rId3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2344C9-4DF8-888C-E386-5F7CF5A90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20" name="Text Placeholder 219">
            <a:extLst>
              <a:ext uri="{FF2B5EF4-FFF2-40B4-BE49-F238E27FC236}">
                <a16:creationId xmlns:a16="http://schemas.microsoft.com/office/drawing/2014/main" id="{00A717DA-DAF2-CAA1-EA44-F96119C020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NL"/>
              <a:t>Findings</a:t>
            </a:r>
            <a:r>
              <a:rPr lang="nl-NL" dirty="0"/>
              <a:t> - </a:t>
            </a:r>
            <a:r>
              <a:rPr lang="nl-NL" dirty="0" err="1"/>
              <a:t>maintainability</a:t>
            </a:r>
            <a:endParaRPr lang="en-NL"/>
          </a:p>
        </p:txBody>
      </p:sp>
      <p:sp>
        <p:nvSpPr>
          <p:cNvPr id="219" name="Title 218">
            <a:extLst>
              <a:ext uri="{FF2B5EF4-FFF2-40B4-BE49-F238E27FC236}">
                <a16:creationId xmlns:a16="http://schemas.microsoft.com/office/drawing/2014/main" id="{81A0B100-9255-B9B3-FB75-7D8481E0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SYSTEM_NAME</a:t>
            </a:r>
            <a:r>
              <a:rPr lang="nl-NL" dirty="0"/>
              <a:t> scores </a:t>
            </a:r>
            <a:r>
              <a:rPr lang="nl-NL" dirty="0" err="1"/>
              <a:t>MAINT</a:t>
            </a:r>
            <a:r>
              <a:rPr lang="nl-NL" err="1"/>
              <a:t>_</a:t>
            </a:r>
            <a:r>
              <a:rPr lang="nl-NL"/>
              <a:t>INDICATION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maintainability</a:t>
            </a:r>
            <a:r>
              <a:rPr lang="nl-NL" dirty="0"/>
              <a:t>, @@but shows room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improvement</a:t>
            </a:r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03FAA-8831-A561-22BE-0BD6A7F10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26" name="Text Placeholder 225">
            <a:extLst>
              <a:ext uri="{FF2B5EF4-FFF2-40B4-BE49-F238E27FC236}">
                <a16:creationId xmlns:a16="http://schemas.microsoft.com/office/drawing/2014/main" id="{FB22F9B3-4547-04E1-D239-8DDD0D9556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NL"/>
              <a:t>01</a:t>
            </a:r>
          </a:p>
        </p:txBody>
      </p:sp>
      <p:sp>
        <p:nvSpPr>
          <p:cNvPr id="227" name="Text Placeholder 226">
            <a:extLst>
              <a:ext uri="{FF2B5EF4-FFF2-40B4-BE49-F238E27FC236}">
                <a16:creationId xmlns:a16="http://schemas.microsoft.com/office/drawing/2014/main" id="{FAAA969D-31E3-621C-FDF8-31749FD317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NL"/>
              <a:t>DEC</a:t>
            </a:r>
          </a:p>
        </p:txBody>
      </p:sp>
      <p:sp>
        <p:nvSpPr>
          <p:cNvPr id="228" name="Text Placeholder 227">
            <a:extLst>
              <a:ext uri="{FF2B5EF4-FFF2-40B4-BE49-F238E27FC236}">
                <a16:creationId xmlns:a16="http://schemas.microsoft.com/office/drawing/2014/main" id="{6875D777-0302-90E7-7B00-67C7D94486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NL"/>
              <a:t>2023</a:t>
            </a:r>
          </a:p>
        </p:txBody>
      </p:sp>
      <p:sp>
        <p:nvSpPr>
          <p:cNvPr id="221" name="Text Placeholder 220">
            <a:extLst>
              <a:ext uri="{FF2B5EF4-FFF2-40B4-BE49-F238E27FC236}">
                <a16:creationId xmlns:a16="http://schemas.microsoft.com/office/drawing/2014/main" id="{D4753102-29AF-71C5-724A-938F8A485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2" name="Text Placeholder 221">
            <a:extLst>
              <a:ext uri="{FF2B5EF4-FFF2-40B4-BE49-F238E27FC236}">
                <a16:creationId xmlns:a16="http://schemas.microsoft.com/office/drawing/2014/main" id="{112BC55F-876B-F175-0A81-D56FEE3AC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3" name="Text Placeholder 222">
            <a:extLst>
              <a:ext uri="{FF2B5EF4-FFF2-40B4-BE49-F238E27FC236}">
                <a16:creationId xmlns:a16="http://schemas.microsoft.com/office/drawing/2014/main" id="{06A016B0-CA85-481A-1CD2-DE64897687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4" name="Text Placeholder 223">
            <a:extLst>
              <a:ext uri="{FF2B5EF4-FFF2-40B4-BE49-F238E27FC236}">
                <a16:creationId xmlns:a16="http://schemas.microsoft.com/office/drawing/2014/main" id="{8918AB29-C999-2398-FB62-CD600B4855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5E7F6B39-A5EF-94AB-2702-F3E643831B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9" name="Text Placeholder 228">
            <a:extLst>
              <a:ext uri="{FF2B5EF4-FFF2-40B4-BE49-F238E27FC236}">
                <a16:creationId xmlns:a16="http://schemas.microsoft.com/office/drawing/2014/main" id="{D6184AC1-2E4A-66F7-C655-6901112147F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51220" y="914509"/>
            <a:ext cx="984245" cy="257763"/>
          </a:xfrm>
        </p:spPr>
        <p:txBody>
          <a:bodyPr/>
          <a:lstStyle/>
          <a:p>
            <a:r>
              <a:rPr lang="en-GB"/>
              <a:t>Maintainability</a:t>
            </a:r>
            <a:endParaRPr lang="en-NL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0227ECC-F4D1-7273-A4F6-58B0F444DF23}"/>
              </a:ext>
            </a:extLst>
          </p:cNvPr>
          <p:cNvGrpSpPr/>
          <p:nvPr/>
        </p:nvGrpSpPr>
        <p:grpSpPr>
          <a:xfrm>
            <a:off x="4995617" y="1568465"/>
            <a:ext cx="373034" cy="430054"/>
            <a:chOff x="5730574" y="2099850"/>
            <a:chExt cx="373034" cy="43005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A6F0A6-4311-08D2-8340-B7A7C7FB136C}"/>
                </a:ext>
              </a:extLst>
            </p:cNvPr>
            <p:cNvSpPr>
              <a:spLocks/>
            </p:cNvSpPr>
            <p:nvPr/>
          </p:nvSpPr>
          <p:spPr>
            <a:xfrm>
              <a:off x="5730574" y="2099850"/>
              <a:ext cx="373034" cy="2881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36000" rIns="72000" bIns="36000" rtlCol="0" anchor="b">
              <a:noAutofit/>
            </a:bodyPr>
            <a:lstStyle/>
            <a:p>
              <a:pPr algn="ctr"/>
              <a:r>
                <a:rPr lang="en-US" sz="1400" b="1"/>
                <a:t>2.6</a:t>
              </a:r>
            </a:p>
          </p:txBody>
        </p:sp>
        <p:sp>
          <p:nvSpPr>
            <p:cNvPr id="52" name="Pentagon 51">
              <a:extLst>
                <a:ext uri="{FF2B5EF4-FFF2-40B4-BE49-F238E27FC236}">
                  <a16:creationId xmlns:a16="http://schemas.microsoft.com/office/drawing/2014/main" id="{D6282190-CB5E-00CF-1108-FD64568BF250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36" name="Group 52">
            <a:extLst>
              <a:ext uri="{FF2B5EF4-FFF2-40B4-BE49-F238E27FC236}">
                <a16:creationId xmlns:a16="http://schemas.microsoft.com/office/drawing/2014/main" id="{CEEF6B38-33C1-7E86-53F1-3C2F6EBBC26A}"/>
              </a:ext>
            </a:extLst>
          </p:cNvPr>
          <p:cNvGraphicFramePr>
            <a:graphicFrameLocks noGrp="1"/>
          </p:cNvGraphicFramePr>
          <p:nvPr/>
        </p:nvGraphicFramePr>
        <p:xfrm>
          <a:off x="7984632" y="3243718"/>
          <a:ext cx="3620504" cy="24808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944864601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HHHII</a:t>
                      </a: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2.9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endParaRPr kumimoji="0" lang="en-US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HHHHI</a:t>
                      </a: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3.7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HHHII</a:t>
                      </a: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2.9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HHHII</a:t>
                      </a: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2.5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HHIII</a:t>
                      </a: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2.3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HIIII</a:t>
                      </a: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1.3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HHHII</a:t>
                      </a: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2.5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HHHII</a:t>
                      </a: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3.0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sp>
        <p:nvSpPr>
          <p:cNvPr id="7" name="Hexagon 6">
            <a:extLst>
              <a:ext uri="{FF2B5EF4-FFF2-40B4-BE49-F238E27FC236}">
                <a16:creationId xmlns:a16="http://schemas.microsoft.com/office/drawing/2014/main" id="{12A431EB-4456-D771-D55B-4916EF798198}"/>
              </a:ext>
            </a:extLst>
          </p:cNvPr>
          <p:cNvSpPr/>
          <p:nvPr/>
        </p:nvSpPr>
        <p:spPr>
          <a:xfrm>
            <a:off x="624575" y="3233176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dirty="0">
                <a:solidFill>
                  <a:srgbClr val="1E354B"/>
                </a:solidFill>
              </a:rPr>
              <a:t>Analyzability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E354B"/>
                </a:solidFill>
                <a:latin typeface="Calibri" panose="020F0502020204030204"/>
              </a:rPr>
              <a:t>3.2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Sigsterren" pitchFamily="2" charset="0"/>
                <a:ea typeface="+mn-ea"/>
                <a:cs typeface="+mn-cs"/>
              </a:rPr>
              <a:t>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  <a:ea typeface="+mn-ea"/>
              <a:cs typeface="+mn-cs"/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5900BFC5-34EE-6A80-AD8D-92E0F420E3BF}"/>
              </a:ext>
            </a:extLst>
          </p:cNvPr>
          <p:cNvSpPr/>
          <p:nvPr/>
        </p:nvSpPr>
        <p:spPr>
          <a:xfrm>
            <a:off x="2993167" y="3233176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Modifiability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Sigsterren" pitchFamily="2" charset="0"/>
                <a:ea typeface="+mn-ea"/>
                <a:cs typeface="+mn-cs"/>
              </a:rPr>
              <a:t>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  <a:ea typeface="+mn-ea"/>
              <a:cs typeface="+mn-cs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FFBF2001-8043-81DA-6920-2792C8EF3527}"/>
              </a:ext>
            </a:extLst>
          </p:cNvPr>
          <p:cNvSpPr/>
          <p:nvPr/>
        </p:nvSpPr>
        <p:spPr>
          <a:xfrm>
            <a:off x="1804152" y="3882690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Testability</a:t>
            </a:r>
          </a:p>
          <a:p>
            <a:pPr algn="ctr"/>
            <a:r>
              <a:rPr lang="en-US" sz="1200" dirty="0">
                <a:solidFill>
                  <a:srgbClr val="1E354B"/>
                </a:solidFill>
              </a:rPr>
              <a:t>2.6 </a:t>
            </a:r>
            <a:r>
              <a:rPr lang="en-US" sz="1200" dirty="0">
                <a:solidFill>
                  <a:srgbClr val="1E354B"/>
                </a:solidFill>
                <a:latin typeface="Sigsterren" pitchFamily="2" charset="0"/>
              </a:rPr>
              <a:t>H</a:t>
            </a:r>
            <a:endParaRPr lang="en-US" sz="1050" dirty="0">
              <a:solidFill>
                <a:srgbClr val="1E354B"/>
              </a:solidFill>
              <a:latin typeface="Sigsterren" pitchFamily="2" charset="0"/>
            </a:endParaRP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3EE2D64A-9E31-AE0C-E0A9-831DB6010D05}"/>
              </a:ext>
            </a:extLst>
          </p:cNvPr>
          <p:cNvSpPr/>
          <p:nvPr/>
        </p:nvSpPr>
        <p:spPr>
          <a:xfrm>
            <a:off x="635274" y="4625507"/>
            <a:ext cx="1427142" cy="1299028"/>
          </a:xfrm>
          <a:prstGeom prst="hexagon">
            <a:avLst/>
          </a:prstGeom>
          <a:solidFill>
            <a:srgbClr val="EF98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Modularity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2.3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Sigsterren" pitchFamily="2" charset="0"/>
                <a:ea typeface="+mn-ea"/>
                <a:cs typeface="+mn-cs"/>
              </a:rPr>
              <a:t>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  <a:ea typeface="+mn-ea"/>
              <a:cs typeface="+mn-cs"/>
            </a:endParaRP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47B1EA31-1A25-7844-898B-6F8797BA7895}"/>
              </a:ext>
            </a:extLst>
          </p:cNvPr>
          <p:cNvSpPr/>
          <p:nvPr/>
        </p:nvSpPr>
        <p:spPr>
          <a:xfrm>
            <a:off x="2955173" y="4625507"/>
            <a:ext cx="1427142" cy="1299028"/>
          </a:xfrm>
          <a:prstGeom prst="hexagon">
            <a:avLst/>
          </a:prstGeom>
          <a:solidFill>
            <a:srgbClr val="F8C7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Reusability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2.6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Sigsterren" pitchFamily="2" charset="0"/>
                <a:ea typeface="+mn-ea"/>
                <a:cs typeface="+mn-cs"/>
              </a:rPr>
              <a:t>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1BCE0B-D0EB-79BF-8AAF-0444ACE4C589}"/>
              </a:ext>
            </a:extLst>
          </p:cNvPr>
          <p:cNvSpPr/>
          <p:nvPr/>
        </p:nvSpPr>
        <p:spPr>
          <a:xfrm>
            <a:off x="-1122646" y="674642"/>
            <a:ext cx="2768629" cy="119300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We need a conclusion of sorts. What does this mean?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20861-DD0F-D566-06AC-40B24CCB06F1}"/>
              </a:ext>
            </a:extLst>
          </p:cNvPr>
          <p:cNvSpPr txBox="1"/>
          <p:nvPr/>
        </p:nvSpPr>
        <p:spPr>
          <a:xfrm>
            <a:off x="4566274" y="3344081"/>
            <a:ext cx="30374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SYSTEM_NAME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scores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MAINT_RELATIVE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maintainability. @@indicating average cost and time-to-market for overall maintenance efforts. @@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630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148743-6952-3E41-9EAE-79445DBE18D5}"/>
              </a:ext>
            </a:extLst>
          </p:cNvPr>
          <p:cNvSpPr/>
          <p:nvPr/>
        </p:nvSpPr>
        <p:spPr>
          <a:xfrm>
            <a:off x="540685" y="1890851"/>
            <a:ext cx="11068220" cy="77633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80031D-8002-E744-BAAA-BC5222DA882B}"/>
              </a:ext>
            </a:extLst>
          </p:cNvPr>
          <p:cNvSpPr/>
          <p:nvPr/>
        </p:nvSpPr>
        <p:spPr>
          <a:xfrm>
            <a:off x="525694" y="1816445"/>
            <a:ext cx="11098199" cy="853915"/>
          </a:xfrm>
          <a:prstGeom prst="rect">
            <a:avLst/>
          </a:prstGeom>
          <a:gradFill>
            <a:gsLst>
              <a:gs pos="90000">
                <a:srgbClr val="F7F9FC">
                  <a:alpha val="0"/>
                </a:srgbClr>
              </a:gs>
              <a:gs pos="11000">
                <a:schemeClr val="bg2">
                  <a:alpha val="0"/>
                </a:schemeClr>
              </a:gs>
              <a:gs pos="3000">
                <a:schemeClr val="bg2"/>
              </a:gs>
              <a:gs pos="97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E03BCE-1464-0645-91D3-820AAE81B8B6}"/>
              </a:ext>
            </a:extLst>
          </p:cNvPr>
          <p:cNvSpPr/>
          <p:nvPr/>
        </p:nvSpPr>
        <p:spPr>
          <a:xfrm>
            <a:off x="0" y="6485860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8A220B-CADA-304A-81AB-5E5350C66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25AB7FEC-3C4E-3747-B264-B25107669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Findings – architecture quality 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3F01D3E4-9AF7-134E-86FD-74CBA979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13000"/>
              </a:lnSpc>
            </a:pPr>
            <a:r>
              <a:rPr lang="en-US" sz="2000" b="1" dirty="0" err="1">
                <a:solidFill>
                  <a:schemeClr val="tx2"/>
                </a:solidFill>
              </a:rPr>
              <a:t>SYSTEM_NAME</a:t>
            </a:r>
            <a:r>
              <a:rPr lang="en-US" sz="2000" b="1" dirty="0">
                <a:solidFill>
                  <a:schemeClr val="tx2"/>
                </a:solidFill>
              </a:rPr>
              <a:t> scores </a:t>
            </a:r>
            <a:r>
              <a:rPr lang="en-US" sz="2000" b="1" dirty="0" err="1">
                <a:solidFill>
                  <a:schemeClr val="tx2"/>
                </a:solidFill>
              </a:rPr>
              <a:t>ARCH_RELATIVE</a:t>
            </a:r>
            <a:r>
              <a:rPr lang="en-US" sz="2000" b="1" dirty="0">
                <a:solidFill>
                  <a:schemeClr val="tx2"/>
                </a:solidFill>
              </a:rPr>
              <a:t> (</a:t>
            </a:r>
            <a:r>
              <a:rPr lang="en-US" sz="2000" b="1" dirty="0" err="1">
                <a:solidFill>
                  <a:schemeClr val="tx2"/>
                </a:solidFill>
              </a:rPr>
              <a:t>ARCH_RATING</a:t>
            </a:r>
            <a:r>
              <a:rPr lang="en-US" dirty="0" err="1">
                <a:latin typeface="Sigsterren" pitchFamily="2" charset="0"/>
              </a:rPr>
              <a:t>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Sigsterren" pitchFamily="2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</a:rPr>
              <a:t>for Architecture Quality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2143F-E94F-1F46-BCC8-F24742D8E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53A69D-5850-064B-9D98-63B4E85002D6}"/>
              </a:ext>
            </a:extLst>
          </p:cNvPr>
          <p:cNvSpPr/>
          <p:nvPr/>
        </p:nvSpPr>
        <p:spPr bwMode="auto">
          <a:xfrm rot="5400000">
            <a:off x="1548588" y="747406"/>
            <a:ext cx="195321" cy="2211125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154D7DA-B6A3-D942-A52D-6155C32505BF}"/>
              </a:ext>
            </a:extLst>
          </p:cNvPr>
          <p:cNvSpPr/>
          <p:nvPr/>
        </p:nvSpPr>
        <p:spPr>
          <a:xfrm>
            <a:off x="543839" y="1944661"/>
            <a:ext cx="2210009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rgbClr val="C5CCD5"/>
                </a:solidFill>
                <a:latin typeface="Sigsterren"/>
                <a:cs typeface="Sigsterren"/>
              </a:rPr>
              <a:t>HIIII</a:t>
            </a:r>
            <a:endParaRPr lang="en-GB" sz="1400">
              <a:solidFill>
                <a:srgbClr val="C5CCD5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AEF5B18-A22E-6343-80E5-093226C827C2}"/>
              </a:ext>
            </a:extLst>
          </p:cNvPr>
          <p:cNvSpPr/>
          <p:nvPr/>
        </p:nvSpPr>
        <p:spPr bwMode="auto">
          <a:xfrm rot="5400000">
            <a:off x="3758269" y="748848"/>
            <a:ext cx="195321" cy="2208241"/>
          </a:xfrm>
          <a:prstGeom prst="rect">
            <a:avLst/>
          </a:prstGeom>
          <a:solidFill>
            <a:srgbClr val="F09819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23583C2-7594-FB4E-9EFE-2945BE5C3270}"/>
              </a:ext>
            </a:extLst>
          </p:cNvPr>
          <p:cNvSpPr/>
          <p:nvPr/>
        </p:nvSpPr>
        <p:spPr bwMode="auto">
          <a:xfrm rot="5400000">
            <a:off x="8182546" y="741445"/>
            <a:ext cx="195321" cy="2223047"/>
          </a:xfrm>
          <a:prstGeom prst="rect">
            <a:avLst/>
          </a:prstGeom>
          <a:solidFill>
            <a:srgbClr val="57C968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1F2ABEA-AB21-6942-81B5-0EE77F28BD5C}"/>
              </a:ext>
            </a:extLst>
          </p:cNvPr>
          <p:cNvSpPr/>
          <p:nvPr/>
        </p:nvSpPr>
        <p:spPr bwMode="auto">
          <a:xfrm rot="5400000">
            <a:off x="10398054" y="748983"/>
            <a:ext cx="195321" cy="2207971"/>
          </a:xfrm>
          <a:prstGeom prst="rect">
            <a:avLst/>
          </a:prstGeom>
          <a:solidFill>
            <a:srgbClr val="2C963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1167323-04D1-624D-AA3F-325DB698FE8C}"/>
              </a:ext>
            </a:extLst>
          </p:cNvPr>
          <p:cNvSpPr/>
          <p:nvPr/>
        </p:nvSpPr>
        <p:spPr>
          <a:xfrm>
            <a:off x="2748924" y="1941933"/>
            <a:ext cx="2209087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rgbClr val="9AA6B0"/>
                </a:solidFill>
                <a:latin typeface="Sigsterren"/>
                <a:cs typeface="Sigsterren"/>
              </a:rPr>
              <a:t>HHIII</a:t>
            </a:r>
            <a:endParaRPr lang="en-GB" sz="1400">
              <a:solidFill>
                <a:srgbClr val="9AA6B0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805C056-85E7-EC47-8F2C-9FFBD30C699B}"/>
              </a:ext>
            </a:extLst>
          </p:cNvPr>
          <p:cNvSpPr/>
          <p:nvPr/>
        </p:nvSpPr>
        <p:spPr>
          <a:xfrm>
            <a:off x="4956896" y="1939205"/>
            <a:ext cx="221382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rgbClr val="6E7F8B"/>
                </a:solidFill>
                <a:latin typeface="Sigsterren"/>
                <a:cs typeface="Sigsterren"/>
              </a:rPr>
              <a:t>HHHII</a:t>
            </a:r>
            <a:endParaRPr lang="en-GB" sz="1400">
              <a:solidFill>
                <a:srgbClr val="6E7F8B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DF8940-DBDE-D04A-9416-03F980EE69A6}"/>
              </a:ext>
            </a:extLst>
          </p:cNvPr>
          <p:cNvSpPr/>
          <p:nvPr/>
        </p:nvSpPr>
        <p:spPr>
          <a:xfrm>
            <a:off x="7181055" y="1947724"/>
            <a:ext cx="221067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rgbClr val="425966"/>
                </a:solidFill>
                <a:latin typeface="Sigsterren"/>
                <a:cs typeface="Sigsterren"/>
              </a:rPr>
              <a:t>HHHHI</a:t>
            </a:r>
            <a:endParaRPr lang="en-GB" sz="1400">
              <a:solidFill>
                <a:srgbClr val="425966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0972461-B2E3-3A46-92A9-AEE23A81F3B9}"/>
              </a:ext>
            </a:extLst>
          </p:cNvPr>
          <p:cNvSpPr/>
          <p:nvPr/>
        </p:nvSpPr>
        <p:spPr>
          <a:xfrm>
            <a:off x="9402060" y="1947724"/>
            <a:ext cx="219383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>
                <a:solidFill>
                  <a:srgbClr val="173240"/>
                </a:solidFill>
                <a:latin typeface="Sigsterren"/>
                <a:cs typeface="Sigsterren"/>
              </a:rPr>
              <a:t>HHHHH</a:t>
            </a:r>
            <a:endParaRPr lang="en-GB" sz="1400">
              <a:solidFill>
                <a:srgbClr val="173240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FB0B4A-6F6E-BF47-8527-15F1086A865F}"/>
              </a:ext>
            </a:extLst>
          </p:cNvPr>
          <p:cNvSpPr/>
          <p:nvPr/>
        </p:nvSpPr>
        <p:spPr bwMode="auto">
          <a:xfrm rot="5400000">
            <a:off x="5966706" y="748650"/>
            <a:ext cx="195321" cy="2208636"/>
          </a:xfrm>
          <a:prstGeom prst="rect">
            <a:avLst/>
          </a:prstGeom>
          <a:solidFill>
            <a:srgbClr val="F8C64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96768F9-6045-AE49-B24D-F61166D3EB6D}"/>
              </a:ext>
            </a:extLst>
          </p:cNvPr>
          <p:cNvSpPr txBox="1"/>
          <p:nvPr/>
        </p:nvSpPr>
        <p:spPr>
          <a:xfrm>
            <a:off x="381410" y="2177114"/>
            <a:ext cx="11429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0000"/>
                    <a:lumOff val="40000"/>
                  </a:schemeClr>
                </a:solidFill>
              </a:rPr>
              <a:t>0.5		             1.5		                           2.5		        3.5		                      4.5			   5.5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45F6BC3-0EC2-7742-9CCE-F275883089E5}"/>
              </a:ext>
            </a:extLst>
          </p:cNvPr>
          <p:cNvSpPr txBox="1"/>
          <p:nvPr/>
        </p:nvSpPr>
        <p:spPr>
          <a:xfrm>
            <a:off x="5471355" y="2251908"/>
            <a:ext cx="1189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000" b="1" cap="small">
                <a:solidFill>
                  <a:srgbClr val="85929D"/>
                </a:solidFill>
              </a:rPr>
              <a:t>MARKET-AVERAGE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0A3DFED-AEF8-2B48-A242-97EAC1EC9E77}"/>
              </a:ext>
            </a:extLst>
          </p:cNvPr>
          <p:cNvCxnSpPr/>
          <p:nvPr/>
        </p:nvCxnSpPr>
        <p:spPr>
          <a:xfrm>
            <a:off x="4960051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EFB4D89-3B68-844D-9BCE-97B6664582B2}"/>
              </a:ext>
            </a:extLst>
          </p:cNvPr>
          <p:cNvCxnSpPr/>
          <p:nvPr/>
        </p:nvCxnSpPr>
        <p:spPr>
          <a:xfrm>
            <a:off x="542723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634D086-5422-2B4D-B0DA-75470D69BF18}"/>
              </a:ext>
            </a:extLst>
          </p:cNvPr>
          <p:cNvCxnSpPr/>
          <p:nvPr/>
        </p:nvCxnSpPr>
        <p:spPr>
          <a:xfrm>
            <a:off x="2751812" y="1501261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9B24B0A-42B5-9D43-B1B4-4891FD4D24FB}"/>
              </a:ext>
            </a:extLst>
          </p:cNvPr>
          <p:cNvCxnSpPr/>
          <p:nvPr/>
        </p:nvCxnSpPr>
        <p:spPr>
          <a:xfrm>
            <a:off x="11599702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288335-AA5C-8049-8C30-11DD52E4CE4F}"/>
              </a:ext>
            </a:extLst>
          </p:cNvPr>
          <p:cNvCxnSpPr>
            <a:cxnSpLocks/>
          </p:cNvCxnSpPr>
          <p:nvPr/>
        </p:nvCxnSpPr>
        <p:spPr>
          <a:xfrm>
            <a:off x="540689" y="2667186"/>
            <a:ext cx="11068215" cy="0"/>
          </a:xfrm>
          <a:prstGeom prst="line">
            <a:avLst/>
          </a:prstGeom>
          <a:ln w="19050" cmpd="sng">
            <a:solidFill>
              <a:srgbClr val="C4CCD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2CB44-B742-314A-8BD1-F77760810CC6}"/>
              </a:ext>
            </a:extLst>
          </p:cNvPr>
          <p:cNvCxnSpPr/>
          <p:nvPr/>
        </p:nvCxnSpPr>
        <p:spPr>
          <a:xfrm>
            <a:off x="7168686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6551C5D-577A-B242-A077-085BBF0F9CF1}"/>
              </a:ext>
            </a:extLst>
          </p:cNvPr>
          <p:cNvCxnSpPr/>
          <p:nvPr/>
        </p:nvCxnSpPr>
        <p:spPr>
          <a:xfrm>
            <a:off x="9391731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07D88E2-A714-4442-8CAB-278792CDA698}"/>
              </a:ext>
            </a:extLst>
          </p:cNvPr>
          <p:cNvGrpSpPr/>
          <p:nvPr/>
        </p:nvGrpSpPr>
        <p:grpSpPr>
          <a:xfrm>
            <a:off x="5860604" y="1256023"/>
            <a:ext cx="392906" cy="538322"/>
            <a:chOff x="5720628" y="1991582"/>
            <a:chExt cx="392906" cy="538322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65E9EFF-1361-6C4B-A578-9931A723E5EC}"/>
                </a:ext>
              </a:extLst>
            </p:cNvPr>
            <p:cNvSpPr/>
            <p:nvPr/>
          </p:nvSpPr>
          <p:spPr>
            <a:xfrm>
              <a:off x="5720628" y="1991582"/>
              <a:ext cx="392906" cy="392906"/>
            </a:xfrm>
            <a:prstGeom prst="rect">
              <a:avLst/>
            </a:prstGeom>
            <a:gradFill>
              <a:gsLst>
                <a:gs pos="0">
                  <a:srgbClr val="6076BA"/>
                </a:gs>
                <a:gs pos="100000">
                  <a:srgbClr val="AA98C3"/>
                </a:gs>
              </a:gsLst>
              <a:lin ang="2700000" scaled="0"/>
            </a:gra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b="1" dirty="0" err="1"/>
                <a:t>MARKER_ARCH_RATING</a:t>
              </a:r>
              <a:endParaRPr lang="en-US" sz="1600" b="1" dirty="0"/>
            </a:p>
          </p:txBody>
        </p:sp>
        <p:sp>
          <p:nvSpPr>
            <p:cNvPr id="101" name="Pentagon 100">
              <a:extLst>
                <a:ext uri="{FF2B5EF4-FFF2-40B4-BE49-F238E27FC236}">
                  <a16:creationId xmlns:a16="http://schemas.microsoft.com/office/drawing/2014/main" id="{69444AF9-F134-CB44-B4A1-AD9EA6C48B83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rgbClr val="A396C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D5C319F-00F9-D84E-9758-0206A067742F}"/>
              </a:ext>
            </a:extLst>
          </p:cNvPr>
          <p:cNvGrpSpPr/>
          <p:nvPr/>
        </p:nvGrpSpPr>
        <p:grpSpPr>
          <a:xfrm>
            <a:off x="11006327" y="810077"/>
            <a:ext cx="594110" cy="850933"/>
            <a:chOff x="10569980" y="810077"/>
            <a:chExt cx="594110" cy="850933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7A71700-E7F8-F045-988D-31CE9EE100F4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8952E0C5-7D84-894C-9033-F1BE52A32BA6}"/>
                </a:ext>
              </a:extLst>
            </p:cNvPr>
            <p:cNvSpPr/>
            <p:nvPr/>
          </p:nvSpPr>
          <p:spPr>
            <a:xfrm>
              <a:off x="10569980" y="810137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36719CF2-01EC-8046-823F-BB3A6315099E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tx2"/>
                </a:gs>
                <a:gs pos="55000">
                  <a:srgbClr val="394D60"/>
                </a:gs>
                <a:gs pos="0">
                  <a:srgbClr val="3F5771"/>
                </a:gs>
                <a:gs pos="13000">
                  <a:schemeClr val="tx2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063D054-D822-7C4A-AE2D-EF657B0A353A}"/>
              </a:ext>
            </a:extLst>
          </p:cNvPr>
          <p:cNvSpPr txBox="1"/>
          <p:nvPr/>
        </p:nvSpPr>
        <p:spPr>
          <a:xfrm>
            <a:off x="10647927" y="863629"/>
            <a:ext cx="1353769" cy="53918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ARCH_DATE_DAY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ARCH_DATE_MONTH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dirty="0" err="1">
                <a:solidFill>
                  <a:srgbClr val="B3BECD"/>
                </a:solidFill>
              </a:rPr>
              <a:t>ARCH_DATE_YEAR</a:t>
            </a:r>
            <a:endParaRPr lang="en-US" sz="1200" dirty="0">
              <a:solidFill>
                <a:srgbClr val="B3BECD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3AA5BC7-B715-604A-9B9D-83B2DC4945D4}"/>
              </a:ext>
            </a:extLst>
          </p:cNvPr>
          <p:cNvSpPr txBox="1"/>
          <p:nvPr/>
        </p:nvSpPr>
        <p:spPr>
          <a:xfrm>
            <a:off x="1021363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>
                <a:solidFill>
                  <a:schemeClr val="tx1">
                    <a:alpha val="50000"/>
                  </a:schemeClr>
                </a:solidFill>
              </a:rPr>
              <a:t>SNAPSHOT DATE</a:t>
            </a:r>
          </a:p>
        </p:txBody>
      </p:sp>
      <p:graphicFrame>
        <p:nvGraphicFramePr>
          <p:cNvPr id="14" name="Group 52">
            <a:extLst>
              <a:ext uri="{FF2B5EF4-FFF2-40B4-BE49-F238E27FC236}">
                <a16:creationId xmlns:a16="http://schemas.microsoft.com/office/drawing/2014/main" id="{48544E3C-8AC7-A154-122B-7281D42AE324}"/>
              </a:ext>
            </a:extLst>
          </p:cNvPr>
          <p:cNvGraphicFramePr>
            <a:graphicFrameLocks noGrp="1"/>
          </p:cNvGraphicFramePr>
          <p:nvPr/>
        </p:nvGraphicFramePr>
        <p:xfrm>
          <a:off x="8124539" y="3092432"/>
          <a:ext cx="3589609" cy="23488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7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10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1502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Component Cohesion</a:t>
                      </a:r>
                      <a:endParaRPr kumimoji="0" lang="en-US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Reuse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STARS_CODE_REUSE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ARCH_RATING_CODE_REUSE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9963878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Technology Prevalence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STARS_TECHNOLOGY_PREVALENCE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ARCH_RATING_TECHNOLOGY_PREVALENCE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217488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GB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+mn-cs"/>
                        </a:rPr>
                        <a:t>Knowledge distribution</a:t>
                      </a:r>
                      <a:endParaRPr kumimoji="0" lang="en-US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STARS_KNOWLEDGE_DISTRIBUTION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ARCH_RATING_KNOWLEDGE_DISTRIBUTION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0053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2674231"/>
                  </a:ext>
                </a:extLst>
              </a:tr>
            </a:tbl>
          </a:graphicData>
        </a:graphic>
      </p:graphicFrame>
      <p:sp>
        <p:nvSpPr>
          <p:cNvPr id="3" name="Hexagon 2">
            <a:extLst>
              <a:ext uri="{FF2B5EF4-FFF2-40B4-BE49-F238E27FC236}">
                <a16:creationId xmlns:a16="http://schemas.microsoft.com/office/drawing/2014/main" id="{D5CD9305-CCE9-EA52-C836-9AE14A1102F2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Knowledge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gsterren" pitchFamily="2" charset="0"/>
                <a:ea typeface="+mn-ea"/>
                <a:cs typeface="+mn-cs"/>
              </a:rPr>
              <a:t>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gsterren" pitchFamily="2" charset="0"/>
              <a:ea typeface="+mn-ea"/>
              <a:cs typeface="+mn-cs"/>
            </a:endParaRP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D204D0A0-23BA-8D4D-D1F0-AD503F0745FC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dirty="0">
                <a:solidFill>
                  <a:srgbClr val="1E354B"/>
                </a:solidFill>
              </a:rPr>
              <a:t>Communication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Sigsterren" pitchFamily="2" charset="0"/>
                <a:ea typeface="+mn-ea"/>
                <a:cs typeface="+mn-cs"/>
              </a:rPr>
              <a:t>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  <a:ea typeface="+mn-ea"/>
              <a:cs typeface="+mn-cs"/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BB2CEEEE-E9A9-1416-5AAD-D972DDBE5A93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dirty="0" err="1">
                <a:solidFill>
                  <a:srgbClr val="1E354B"/>
                </a:solidFill>
              </a:rPr>
              <a:t>COLOR_ARCH_RATING_STRUCTURE</a:t>
            </a:r>
            <a:r>
              <a:rPr lang="en-US" sz="1200" dirty="0">
                <a:solidFill>
                  <a:srgbClr val="1E354B"/>
                </a:solidFill>
              </a:rPr>
              <a:t> </a:t>
            </a:r>
            <a:r>
              <a:rPr lang="en-US" sz="1200" dirty="0">
                <a:solidFill>
                  <a:srgbClr val="1E354B"/>
                </a:solidFill>
                <a:latin typeface="Sigsterren" pitchFamily="2" charset="0"/>
              </a:rPr>
              <a:t>H</a:t>
            </a:r>
            <a:endParaRPr lang="en-US" sz="1050" dirty="0">
              <a:solidFill>
                <a:srgbClr val="1E354B"/>
              </a:solidFill>
              <a:latin typeface="Sigsterren" pitchFamily="2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E28EB117-3C52-28E2-1D2F-E7E5DFD59278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Evolution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Sigsterren" pitchFamily="2" charset="0"/>
                <a:ea typeface="+mn-ea"/>
                <a:cs typeface="+mn-cs"/>
              </a:rPr>
              <a:t>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0235E037-9510-428B-E797-FFDB9B2A8BDD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Data Access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Sigsterren" pitchFamily="2" charset="0"/>
                <a:ea typeface="+mn-ea"/>
                <a:cs typeface="+mn-cs"/>
              </a:rPr>
              <a:t>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  <a:ea typeface="+mn-ea"/>
              <a:cs typeface="+mn-cs"/>
            </a:endParaRP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44A085BF-41DC-A529-9DF1-2914BA7DD84E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Technology Stack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Sigsterren" pitchFamily="2" charset="0"/>
                <a:ea typeface="+mn-ea"/>
                <a:cs typeface="+mn-cs"/>
              </a:rPr>
              <a:t>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1F2AFB-EAF2-8111-7E68-A65CE0E1EAC5}"/>
              </a:ext>
            </a:extLst>
          </p:cNvPr>
          <p:cNvSpPr/>
          <p:nvPr/>
        </p:nvSpPr>
        <p:spPr>
          <a:xfrm>
            <a:off x="-1251193" y="40456"/>
            <a:ext cx="2768629" cy="119300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We need a conclusion of sorts. What does this mean?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F41BB-98C2-A0F0-E38F-BD2708718FCB}"/>
              </a:ext>
            </a:extLst>
          </p:cNvPr>
          <p:cNvSpPr txBox="1"/>
          <p:nvPr/>
        </p:nvSpPr>
        <p:spPr>
          <a:xfrm>
            <a:off x="4734767" y="3050651"/>
            <a:ext cx="30374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SYSTEM_NAME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scores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ARCH_RELATIVE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architecture.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ARCH_OBSERVATION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algn="ctr"/>
            <a:endParaRPr lang="en-US" sz="1600" dirty="0">
              <a:solidFill>
                <a:srgbClr val="173241"/>
              </a:solidFill>
              <a:latin typeface="Calibri" panose="020F0502020204030204"/>
            </a:endParaRPr>
          </a:p>
          <a:p>
            <a:pPr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@@This indicates indicating average flexibility and velocity in which foundational changes can be made to the system.@@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7994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F31452C-B3D9-1038-BB21-62811C4725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US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46800" r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900" b="0" kern="1200" spc="10" baseline="0" smtClean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nl-NL" smtClean="0"/>
              <a:pPr/>
              <a:t>3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2ABE9537-2474-CB72-4CD2-D6BF8E47988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44F12F7C-9DB0-657F-A81E-735C0C29E0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C5EE91AE-11FA-1A68-A1E8-575C013C35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3B0BB6DE-F9BD-C66C-D421-8E3BAD0FE81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70BAD8BE-2A12-EED7-FD50-C1FF0D365C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EE98C068-7851-45FA-AAE8-67EE9DE026E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1DFFAF80-52FE-D4A7-F5E4-DFB61764D8B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22D41B46-1942-24E5-FC5B-4328B03C9E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42F6366D-DC92-6885-7485-47391D57A2A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DBED97C-64A6-F1E9-6286-0AE2F95B2F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38B1884E-8E64-72F8-AA1F-25D78B3364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98767728-5011-4A34-6AF6-3B7C723FFA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D38129AA-1AB0-74D5-018F-DA3766FA3B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FBFFBB85-433F-9BC8-39FB-75C211D410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90DEE42-2D3C-9A67-EEF7-232D7B680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CD095135-2B75-0B51-2469-16FB8A4B52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5987608C-65F7-5C2A-5AFD-5F95525032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 err="1">
                  <a:solidFill>
                    <a:schemeClr val="bg1"/>
                  </a:solidFill>
                  <a:latin typeface="Sigsterren"/>
                  <a:cs typeface="Sigsterren"/>
                </a:rPr>
                <a:t>HIIII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14D09FDD-489D-A603-8B54-4E1A9369D7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 err="1">
                  <a:solidFill>
                    <a:schemeClr val="bg1"/>
                  </a:solidFill>
                  <a:latin typeface="Sigsterren"/>
                  <a:cs typeface="Sigsterren"/>
                </a:rPr>
                <a:t>HHIII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A01A300A-17C2-3D92-0489-2B7A8ADDE4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 err="1">
                  <a:solidFill>
                    <a:schemeClr val="bg1"/>
                  </a:solidFill>
                  <a:latin typeface="Sigsterren"/>
                  <a:cs typeface="Sigsterren"/>
                </a:rPr>
                <a:t>HHHII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C10110C7-09E9-A691-F954-6EC82FC64C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 err="1">
                  <a:solidFill>
                    <a:schemeClr val="bg1"/>
                  </a:solidFill>
                  <a:latin typeface="Sigsterren"/>
                  <a:cs typeface="Sigsterren"/>
                </a:rPr>
                <a:t>HHHHI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AAB31541-9390-4CBE-45E2-DEA4BB0A29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 err="1">
                  <a:solidFill>
                    <a:schemeClr val="bg1"/>
                  </a:solidFill>
                  <a:latin typeface="Sigsterren"/>
                  <a:cs typeface="Sigsterren"/>
                </a:rPr>
                <a:t>HHHHH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90974A92-1672-9C57-E8D8-7611868DC76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F8254C84-81E5-D958-FD0B-59179D3D68E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6707D2DA-762A-0CCD-B8FE-C739046271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C499C2AB-6BBA-9E4D-93FB-029C5BFEADC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1829D3F2-58BF-A381-6433-7406D5BC80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/>
        </p:nvGraphicFramePr>
        <p:xfrm>
          <a:off x="8571496" y="3035953"/>
          <a:ext cx="3116504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gsterren" pitchFamily="2" charset="0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gsterren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DATE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_DAY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12A243-95C9-33D1-E79C-86E15E6540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err="1"/>
              <a:t>OSH_TOTAL_HIGH_RISK</a:t>
            </a:r>
            <a:endParaRPr lang="en-US" dirty="0"/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err="1"/>
              <a:t>OSH_TOTAL_MEDIUM_RISK</a:t>
            </a:r>
            <a:endParaRPr lang="en-US" dirty="0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err="1"/>
              <a:t>OSH_TOTAL_LOW_RISK</a:t>
            </a:r>
            <a:endParaRPr lang="en-US" dirty="0"/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err="1"/>
              <a:t>OSH_TOTAL_NO_RISK</a:t>
            </a:r>
            <a:endParaRPr lang="en-US" dirty="0"/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err="1"/>
              <a:t>OSH_TOTAL_CRITICAL_RISK</a:t>
            </a:r>
            <a:endParaRPr lang="en-US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0" name="Tijdelijke aanduiding voor voettekst 9">
            <a:extLst>
              <a:ext uri="{FF2B5EF4-FFF2-40B4-BE49-F238E27FC236}">
                <a16:creationId xmlns:a16="http://schemas.microsoft.com/office/drawing/2014/main" id="{85CC0D40-EB66-D793-CEA6-7AF5F045B2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8C590-52C4-FD9D-BA2E-7DA3B20805D6}"/>
              </a:ext>
            </a:extLst>
          </p:cNvPr>
          <p:cNvSpPr txBox="1"/>
          <p:nvPr/>
        </p:nvSpPr>
        <p:spPr>
          <a:xfrm>
            <a:off x="11068163" y="-374999"/>
            <a:ext cx="1104939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 err="1">
                <a:solidFill>
                  <a:schemeClr val="tx2"/>
                </a:solidFill>
              </a:rPr>
              <a:t>OSH_SLIDE</a:t>
            </a:r>
            <a:endParaRPr lang="en-US" sz="1600" noProof="0" dirty="0">
              <a:solidFill>
                <a:schemeClr val="tx2"/>
              </a:solidFill>
            </a:endParaRPr>
          </a:p>
        </p:txBody>
      </p:sp>
      <p:graphicFrame>
        <p:nvGraphicFramePr>
          <p:cNvPr id="2" name="CHART_1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/>
        </p:nvGraphicFramePr>
        <p:xfrm>
          <a:off x="2993512" y="2846744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2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/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1104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96689D-5BCF-48B2-B576-763F6B37ED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316FA7-25C7-4AF5-AAF1-B7A3D637F848}">
  <ds:schemaRefs>
    <ds:schemaRef ds:uri="bc8ba18a-4a58-4ad2-bfc0-6516af8e7dc2"/>
    <ds:schemaRef ds:uri="fa937df2-abe2-4d38-b5f4-c228acba382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7474A01-A33B-4882-9CB9-6806B6AA4EAA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50418</TotalTime>
  <Words>623</Words>
  <Application>Microsoft Macintosh PowerPoint</Application>
  <PresentationFormat>Widescreen</PresentationFormat>
  <Paragraphs>161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☞NOIR PRO MEDIUM</vt:lpstr>
      <vt:lpstr>Arial</vt:lpstr>
      <vt:lpstr>Azeret Mono</vt:lpstr>
      <vt:lpstr>Calibri</vt:lpstr>
      <vt:lpstr>Calibri Bold</vt:lpstr>
      <vt:lpstr>Calibri Light</vt:lpstr>
      <vt:lpstr>Calibri Regular</vt:lpstr>
      <vt:lpstr>Noir Pro Semi Bold</vt:lpstr>
      <vt:lpstr>Sigsterren</vt:lpstr>
      <vt:lpstr>TheSans B5 Plain</vt:lpstr>
      <vt:lpstr>TheSansMono M5</vt:lpstr>
      <vt:lpstr>Wingdings</vt:lpstr>
      <vt:lpstr>Office Theme</vt:lpstr>
      <vt:lpstr>SYSTEM_NAME scores MAINT_INDICATION for maintainability, @@but shows room for improvement</vt:lpstr>
      <vt:lpstr>SYSTEM_NAME scores ARCH_RELATIVE (ARCH_RATINGH) for Architecture Quality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51</cp:revision>
  <cp:lastPrinted>2020-07-02T15:41:27Z</cp:lastPrinted>
  <dcterms:created xsi:type="dcterms:W3CDTF">2023-12-13T20:06:27Z</dcterms:created>
  <dcterms:modified xsi:type="dcterms:W3CDTF">2025-12-23T13:47:28Z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