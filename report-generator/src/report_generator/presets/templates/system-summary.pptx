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3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8" r:id="rId5"/>
  </p:sldMasterIdLst>
  <p:notesMasterIdLst>
    <p:notesMasterId r:id="rId24"/>
  </p:notesMasterIdLst>
  <p:handoutMasterIdLst>
    <p:handoutMasterId r:id="rId25"/>
  </p:handoutMasterIdLst>
  <p:sldIdLst>
    <p:sldId id="1973" r:id="rId6"/>
    <p:sldId id="2010" r:id="rId7"/>
    <p:sldId id="11394" r:id="rId8"/>
    <p:sldId id="2011" r:id="rId9"/>
    <p:sldId id="11482" r:id="rId10"/>
    <p:sldId id="11330" r:id="rId11"/>
    <p:sldId id="1988" r:id="rId12"/>
    <p:sldId id="2016" r:id="rId13"/>
    <p:sldId id="1824" r:id="rId14"/>
    <p:sldId id="11430" r:id="rId15"/>
    <p:sldId id="11483" r:id="rId16"/>
    <p:sldId id="11484" r:id="rId17"/>
    <p:sldId id="11481" r:id="rId18"/>
    <p:sldId id="11485" r:id="rId19"/>
    <p:sldId id="11486" r:id="rId20"/>
    <p:sldId id="2184" r:id="rId21"/>
    <p:sldId id="11487" r:id="rId22"/>
    <p:sldId id="11488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 report" id="{018B3868-9EFD-2243-8203-AC471A43D12D}">
          <p14:sldIdLst>
            <p14:sldId id="1973"/>
            <p14:sldId id="2010"/>
            <p14:sldId id="11394"/>
            <p14:sldId id="2011"/>
          </p14:sldIdLst>
        </p14:section>
        <p14:section name="Cost Estimation Model" id="{27B7B39D-A53A-0E42-877A-CE78F793FEC4}">
          <p14:sldIdLst>
            <p14:sldId id="11482"/>
            <p14:sldId id="11330"/>
          </p14:sldIdLst>
        </p14:section>
        <p14:section name="Maintainability" id="{E6B43949-8A3C-084E-A0B9-37E6D4E40B4B}">
          <p14:sldIdLst>
            <p14:sldId id="1988"/>
            <p14:sldId id="2016"/>
            <p14:sldId id="1824"/>
            <p14:sldId id="11430"/>
            <p14:sldId id="11483"/>
            <p14:sldId id="11484"/>
          </p14:sldIdLst>
        </p14:section>
        <p14:section name="Architecture Quality" id="{BBE5D966-65D3-0247-846C-E3C2E3364341}">
          <p14:sldIdLst>
            <p14:sldId id="11481"/>
            <p14:sldId id="11485"/>
            <p14:sldId id="11486"/>
          </p14:sldIdLst>
        </p14:section>
        <p14:section name="Open Source Health" id="{304C7872-545A-A54B-B7F2-E55D10D25BD1}">
          <p14:sldIdLst>
            <p14:sldId id="2184"/>
            <p14:sldId id="11487"/>
            <p14:sldId id="1148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5735"/>
    <a:srgbClr val="E98C36"/>
    <a:srgbClr val="BFC855"/>
    <a:srgbClr val="BDC855"/>
    <a:srgbClr val="F8C716"/>
    <a:srgbClr val="F9C816"/>
    <a:srgbClr val="083595"/>
    <a:srgbClr val="093AA0"/>
    <a:srgbClr val="083695"/>
    <a:srgbClr val="0020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23"/>
    <p:restoredTop sz="96763"/>
  </p:normalViewPr>
  <p:slideViewPr>
    <p:cSldViewPr snapToGrid="0" snapToObjects="1" showGuides="1">
      <p:cViewPr varScale="1">
        <p:scale>
          <a:sx n="161" d="100"/>
          <a:sy n="161" d="100"/>
        </p:scale>
        <p:origin x="400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notesMaster" Target="notesMasters/notesMaster1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viewProps" Target="viewProps.xml"/><Relationship Id="rId30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baseline="0" dirty="0"/>
                      <a:t> [</a:t>
                    </a:r>
                    <a:r>
                      <a:rPr lang="en-US" baseline="0" dirty="0" err="1"/>
                      <a:t>SYSTEM_NAME</a:t>
                    </a:r>
                    <a:r>
                      <a:rPr lang="en-US" baseline="0" dirty="0"/>
                      <a:t>]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Sheet1!$B$2</c:f>
              <c:numCache>
                <c:formatCode>General</c:formatCode>
                <c:ptCount val="1"/>
                <c:pt idx="0">
                  <c:v>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Sheet1!$C$2:$C$2</c15:f>
                <c15:dlblRangeCache>
                  <c:ptCount val="1"/>
                  <c:pt idx="0">
                    <c:v>System 1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</c:f>
              <c:numCache>
                <c:formatCode>General</c:formatCode>
                <c:ptCount val="1"/>
                <c:pt idx="0">
                  <c:v>35</c:v>
                </c:pt>
              </c:numCache>
            </c:numRef>
          </c:xVal>
          <c:yVal>
            <c:numRef>
              <c:f>Sheet1!$C$2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4"/>
    </mc:Choice>
    <mc:Fallback>
      <c:style val="4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Volume in Person Months</c:v>
                </c:pt>
              </c:strCache>
            </c:strRef>
          </c:tx>
          <c:spPr>
            <a:solidFill>
              <a:schemeClr val="accent2"/>
            </a:solidFill>
            <a:ln w="19050">
              <a:noFill/>
            </a:ln>
            <a:effectLst>
              <a:outerShdw blurRad="241300" dist="38100" dir="2700000" algn="tl" rotWithShape="0">
                <a:prstClr val="black">
                  <a:alpha val="15000"/>
                </a:prstClr>
              </a:outerShdw>
            </a:effectLst>
          </c:spPr>
          <c:invertIfNegative val="0"/>
          <c:dPt>
            <c:idx val="0"/>
            <c:invertIfNegative val="0"/>
            <c:bubble3D val="0"/>
            <c:explosion val="6"/>
            <c:spPr>
              <a:solidFill>
                <a:schemeClr val="tx2"/>
              </a:solidFill>
              <a:ln w="19050">
                <a:noFill/>
              </a:ln>
              <a:effectLst>
                <a:outerShdw blurRad="241300" dist="38100" dir="2700000" algn="tl" rotWithShape="0">
                  <a:prstClr val="black">
                    <a:alpha val="15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CB6A-254C-B03A-9EF9758E229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2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/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Sheet1!$A$2:$A$6</c:f>
              <c:strCache>
                <c:ptCount val="5"/>
                <c:pt idx="0">
                  <c:v>Technology 1</c:v>
                </c:pt>
                <c:pt idx="1">
                  <c:v>Technology 2</c:v>
                </c:pt>
                <c:pt idx="2">
                  <c:v>Technology 3</c:v>
                </c:pt>
                <c:pt idx="3">
                  <c:v>Technology 4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0.55000000000000004</c:v>
                </c:pt>
                <c:pt idx="1">
                  <c:v>0.15</c:v>
                </c:pt>
                <c:pt idx="2">
                  <c:v>0.1</c:v>
                </c:pt>
                <c:pt idx="3">
                  <c:v>0.08</c:v>
                </c:pt>
                <c:pt idx="4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B6A-254C-B03A-9EF9758E229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axId val="476387520"/>
        <c:axId val="477616192"/>
      </c:barChart>
      <c:catAx>
        <c:axId val="47638752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477616192"/>
        <c:crosses val="autoZero"/>
        <c:auto val="1"/>
        <c:lblAlgn val="ctr"/>
        <c:lblOffset val="100"/>
        <c:noMultiLvlLbl val="0"/>
      </c:catAx>
      <c:valAx>
        <c:axId val="477616192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crossAx val="47638752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77F4-8A4B-8FCE-EB828520119B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77F4-8A4B-8FCE-EB828520119B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77F4-8A4B-8FCE-EB828520119B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7F4-8A4B-8FCE-EB828520119B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ctr"/>
            <c:showLegendKey val="0"/>
            <c:showVal val="0"/>
            <c:showCatName val="1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Java</c:v>
                </c:pt>
                <c:pt idx="1">
                  <c:v>C#</c:v>
                </c:pt>
                <c:pt idx="2">
                  <c:v>CSS</c:v>
                </c:pt>
                <c:pt idx="3">
                  <c:v>Typescript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77F4-8A4B-8FCE-EB82852011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080532533357349E-2"/>
          <c:y val="9.4658855447728937E-2"/>
          <c:w val="0.87463248862865584"/>
          <c:h val="0.810682289104542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</c:v>
                </c:pt>
                <c:pt idx="1">
                  <c:v>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D1-4C45-9583-F7A397E3842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DAD1-4C45-9583-F7A397E38424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AD1-4C45-9583-F7A397E38424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6</c:v>
                </c:pt>
                <c:pt idx="1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AD1-4C45-9583-F7A397E3842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/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DAD1-4C45-9583-F7A397E38424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DAD1-4C45-9583-F7A397E38424}"/>
              </c:ext>
            </c:extLst>
          </c:dPt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5</c:v>
                </c:pt>
                <c:pt idx="1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DAD1-4C45-9583-F7A397E3842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/>
            </a:solidFill>
            <a:ln>
              <a:noFill/>
            </a:ln>
            <a:effectLst/>
          </c:spPr>
          <c:invertIfNegative val="0"/>
          <c:cat>
            <c:strRef>
              <c:f>Sheet1!$A$2:$A$3</c:f>
              <c:strCache>
                <c:ptCount val="2"/>
                <c:pt idx="0">
                  <c:v>Vulnerability risk</c:v>
                </c:pt>
                <c:pt idx="1">
                  <c:v>Freshness risk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5</c:v>
                </c:pt>
                <c:pt idx="1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DAD1-4C45-9583-F7A397E3842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</c:scaling>
        <c:delete val="1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324475308641975E-2"/>
          <c:y val="5.5420651472336685E-2"/>
          <c:w val="0.87405833333333338"/>
          <c:h val="0.64701837089031744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Critical risk</c:v>
                </c:pt>
              </c:strCache>
            </c:strRef>
          </c:tx>
          <c:spPr>
            <a:solidFill>
              <a:srgbClr val="910813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E17-EF47-AE5E-E9A0329BD1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 risk</c:v>
                </c:pt>
              </c:strCache>
            </c:strRef>
          </c:tx>
          <c:spPr>
            <a:solidFill>
              <a:srgbClr val="CF4731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2-CE17-EF47-AE5E-E9A0329BD14C}"/>
              </c:ext>
            </c:extLst>
          </c:dPt>
          <c:dPt>
            <c:idx val="3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CE17-EF47-AE5E-E9A0329BD14C}"/>
              </c:ext>
            </c:extLst>
          </c:dPt>
          <c:dPt>
            <c:idx val="4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CF4731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40</c:v>
                </c:pt>
                <c:pt idx="1">
                  <c:v>79</c:v>
                </c:pt>
                <c:pt idx="2">
                  <c:v>6</c:v>
                </c:pt>
                <c:pt idx="3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CE17-EF47-AE5E-E9A0329BD14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risk</c:v>
                </c:pt>
              </c:strCache>
            </c:strRef>
          </c:tx>
          <c:spPr>
            <a:solidFill>
              <a:srgbClr val="E78E17">
                <a:alpha val="50000"/>
              </a:srgbClr>
            </a:solidFill>
            <a:ln>
              <a:noFill/>
            </a:ln>
            <a:effectLst/>
          </c:spPr>
          <c:invertIfNegative val="0"/>
          <c:dPt>
            <c:idx val="2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E17-EF47-AE5E-E9A0329BD14C}"/>
              </c:ext>
            </c:extLst>
          </c:dPt>
          <c:dPt>
            <c:idx val="5"/>
            <c:invertIfNegative val="0"/>
            <c:bubble3D val="0"/>
            <c:spPr>
              <a:solidFill>
                <a:srgbClr val="E78E17">
                  <a:alpha val="50000"/>
                </a:srgb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E17-EF47-AE5E-E9A0329BD14C}"/>
              </c:ext>
            </c:extLst>
          </c:dPt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18</c:v>
                </c:pt>
                <c:pt idx="1">
                  <c:v>0</c:v>
                </c:pt>
                <c:pt idx="2">
                  <c:v>0</c:v>
                </c:pt>
                <c:pt idx="3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CE17-EF47-AE5E-E9A0329BD14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Low risk</c:v>
                </c:pt>
              </c:strCache>
            </c:strRef>
          </c:tx>
          <c:spPr>
            <a:solidFill>
              <a:srgbClr val="EBC937">
                <a:alpha val="50000"/>
              </a:srgb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Freshness risk</c:v>
                </c:pt>
                <c:pt idx="1">
                  <c:v>Stability risk</c:v>
                </c:pt>
                <c:pt idx="2">
                  <c:v>Management risk</c:v>
                </c:pt>
                <c:pt idx="3">
                  <c:v>Activity risk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F-CE17-EF47-AE5E-E9A0329BD1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1358545104"/>
        <c:axId val="1358370032"/>
      </c:barChart>
      <c:catAx>
        <c:axId val="1358545104"/>
        <c:scaling>
          <c:orientation val="maxMin"/>
        </c:scaling>
        <c:delete val="1"/>
        <c:axPos val="l"/>
        <c:numFmt formatCode="General" sourceLinked="1"/>
        <c:majorTickMark val="none"/>
        <c:minorTickMark val="none"/>
        <c:tickLblPos val="nextTo"/>
        <c:crossAx val="1358370032"/>
        <c:crosses val="autoZero"/>
        <c:auto val="1"/>
        <c:lblAlgn val="ctr"/>
        <c:lblOffset val="100"/>
        <c:noMultiLvlLbl val="0"/>
      </c:catAx>
      <c:valAx>
        <c:axId val="1358370032"/>
        <c:scaling>
          <c:orientation val="minMax"/>
          <c:max val="150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60000"/>
                  <a:lumOff val="40000"/>
                  <a:alpha val="35000"/>
                </a:schemeClr>
              </a:solidFill>
              <a:prstDash val="solid"/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358545104"/>
        <c:crosses val="max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84692252680288804"/>
          <c:w val="1"/>
          <c:h val="0.15219445442551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0000"/>
                  <a:lumOff val="40000"/>
                </a:schemeClr>
              </a:solidFill>
              <a:latin typeface="+mn-lt"/>
              <a:ea typeface="+mn-ea"/>
              <a:cs typeface="+mn-cs"/>
            </a:defRPr>
          </a:pPr>
          <a:endParaRPr lang="en-NL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5">
  <a:schemeClr val="accent2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1/29/26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58F8-93FA-B1DD-C5DA-AC908975C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4346B-6A9F-6AE5-3193-28E052250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AB62E8-61D5-6300-EAA0-D706FB69D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B13C8B-54D4-EAAF-EE74-BE6DEB1DF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8942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650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8AEBBE0C-2740-493E-2D03-D2829B97AB1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799600" y="4104000"/>
            <a:ext cx="5767200" cy="280800"/>
          </a:xfrm>
          <a:prstGeom prst="rect">
            <a:avLst/>
          </a:prstGeom>
          <a:effectLst/>
        </p:spPr>
        <p:txBody>
          <a:bodyPr wrap="square" tIns="46800" rIns="180000" bIns="46800">
            <a:noAutofit/>
          </a:bodyPr>
          <a:lstStyle>
            <a:lvl1pPr marL="0" indent="0" algn="r">
              <a:buNone/>
              <a:defRPr sz="1200" b="0" cap="none" baseline="0">
                <a:solidFill>
                  <a:srgbClr val="F8C716"/>
                </a:solidFill>
                <a:effectLst/>
                <a:latin typeface="Azeret Mono" pitchFamily="2" charset="77"/>
                <a:cs typeface="Azeret Mono" pitchFamily="2" charset="77"/>
              </a:defRPr>
            </a:lvl1pPr>
            <a:lvl2pPr>
              <a:defRPr sz="1400" b="1">
                <a:solidFill>
                  <a:schemeClr val="bg1"/>
                </a:solidFill>
              </a:defRPr>
            </a:lvl2pPr>
            <a:lvl3pPr>
              <a:defRPr sz="1400" b="1">
                <a:solidFill>
                  <a:schemeClr val="bg1"/>
                </a:solidFill>
              </a:defRPr>
            </a:lvl3pPr>
            <a:lvl4pPr>
              <a:defRPr sz="1400" b="1">
                <a:solidFill>
                  <a:schemeClr val="bg1"/>
                </a:solidFill>
              </a:defRPr>
            </a:lvl4pPr>
            <a:lvl5pPr>
              <a:defRPr sz="1400" b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report date (# &lt;full month name&gt; 20##)</a:t>
            </a:r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OSH system resul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raphic 18">
            <a:extLst>
              <a:ext uri="{FF2B5EF4-FFF2-40B4-BE49-F238E27FC236}">
                <a16:creationId xmlns:a16="http://schemas.microsoft.com/office/drawing/2014/main" id="{4803D971-BBE6-A649-8B31-9455C887E2E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08465" y="3915896"/>
            <a:ext cx="228600" cy="228600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AC4218B1-EADF-C24A-80B5-E0C1A5B39C1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08465" y="3472522"/>
            <a:ext cx="228600" cy="2286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7FA05DD7-2ECA-4D48-A21C-8DFA7DFADE3A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608465" y="4775539"/>
            <a:ext cx="228600" cy="228600"/>
          </a:xfrm>
          <a:prstGeom prst="rect">
            <a:avLst/>
          </a:prstGeom>
        </p:spPr>
      </p:pic>
      <p:pic>
        <p:nvPicPr>
          <p:cNvPr id="25" name="Graphic 24">
            <a:extLst>
              <a:ext uri="{FF2B5EF4-FFF2-40B4-BE49-F238E27FC236}">
                <a16:creationId xmlns:a16="http://schemas.microsoft.com/office/drawing/2014/main" id="{00F4E791-EF53-DC4D-BF37-A43BAC72066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608465" y="3056253"/>
            <a:ext cx="228600" cy="228600"/>
          </a:xfrm>
          <a:prstGeom prst="rect">
            <a:avLst/>
          </a:prstGeom>
        </p:spPr>
      </p:pic>
      <p:sp>
        <p:nvSpPr>
          <p:cNvPr id="28" name="Oval 27">
            <a:extLst>
              <a:ext uri="{FF2B5EF4-FFF2-40B4-BE49-F238E27FC236}">
                <a16:creationId xmlns:a16="http://schemas.microsoft.com/office/drawing/2014/main" id="{5D59DCD9-95CA-2849-8561-B2216ED23288}"/>
              </a:ext>
            </a:extLst>
          </p:cNvPr>
          <p:cNvSpPr/>
          <p:nvPr/>
        </p:nvSpPr>
        <p:spPr>
          <a:xfrm>
            <a:off x="183655" y="2350901"/>
            <a:ext cx="5405506" cy="688946"/>
          </a:xfrm>
          <a:prstGeom prst="ellipse">
            <a:avLst/>
          </a:prstGeom>
          <a:solidFill>
            <a:srgbClr val="000000">
              <a:alpha val="15021"/>
            </a:srgbClr>
          </a:solidFill>
          <a:ln>
            <a:noFill/>
          </a:ln>
          <a:effectLst>
            <a:softEdge rad="2667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6731D74-9128-1544-855C-A1FEBA1CA2CF}"/>
              </a:ext>
            </a:extLst>
          </p:cNvPr>
          <p:cNvSpPr/>
          <p:nvPr/>
        </p:nvSpPr>
        <p:spPr>
          <a:xfrm>
            <a:off x="273504" y="1814254"/>
            <a:ext cx="5472121" cy="97288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21ED1E9-7DDE-7349-A824-0A8F7F613A5A}"/>
              </a:ext>
            </a:extLst>
          </p:cNvPr>
          <p:cNvSpPr txBox="1"/>
          <p:nvPr userDrawn="1"/>
        </p:nvSpPr>
        <p:spPr>
          <a:xfrm>
            <a:off x="287680" y="1404912"/>
            <a:ext cx="4469780" cy="357085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4000"/>
              </a:lnSpc>
            </a:pPr>
            <a:r>
              <a:rPr lang="en-US" sz="1600" b="0" i="0" dirty="0">
                <a:solidFill>
                  <a:schemeClr val="tx1"/>
                </a:solidFill>
                <a:latin typeface="☞NOIR PRO MEDIUM" pitchFamily="2" charset="0"/>
              </a:rPr>
              <a:t>Risks in external dependencies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56613CA-FC98-E948-8B09-66C076B53E70}"/>
              </a:ext>
            </a:extLst>
          </p:cNvPr>
          <p:cNvCxnSpPr>
            <a:cxnSpLocks/>
          </p:cNvCxnSpPr>
          <p:nvPr/>
        </p:nvCxnSpPr>
        <p:spPr>
          <a:xfrm>
            <a:off x="2377457" y="2242127"/>
            <a:ext cx="720000" cy="0"/>
          </a:xfrm>
          <a:prstGeom prst="line">
            <a:avLst/>
          </a:prstGeom>
          <a:ln w="57150" cap="rnd">
            <a:solidFill>
              <a:srgbClr val="DB4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AutoShape 5">
            <a:extLst>
              <a:ext uri="{FF2B5EF4-FFF2-40B4-BE49-F238E27FC236}">
                <a16:creationId xmlns:a16="http://schemas.microsoft.com/office/drawing/2014/main" id="{9C79926D-A7E4-AB44-88CA-35B39C0B0F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4627" y="2320450"/>
            <a:ext cx="649538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DB493D"/>
                </a:solidFill>
                <a:cs typeface="TheSansMono M5"/>
              </a:rPr>
              <a:t>high risk</a:t>
            </a:r>
          </a:p>
        </p:txBody>
      </p:sp>
      <p:sp>
        <p:nvSpPr>
          <p:cNvPr id="37" name="AutoShape 5">
            <a:extLst>
              <a:ext uri="{FF2B5EF4-FFF2-40B4-BE49-F238E27FC236}">
                <a16:creationId xmlns:a16="http://schemas.microsoft.com/office/drawing/2014/main" id="{A0F466DD-E497-0B47-9C89-D4A346F11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3984" y="2318493"/>
            <a:ext cx="888385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EF981A"/>
                </a:solidFill>
                <a:cs typeface="TheSansMono M5"/>
              </a:rPr>
              <a:t>medium risk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D061AE6C-EBE9-4F46-A618-ED7896ACA29D}"/>
              </a:ext>
            </a:extLst>
          </p:cNvPr>
          <p:cNvCxnSpPr>
            <a:cxnSpLocks/>
          </p:cNvCxnSpPr>
          <p:nvPr/>
        </p:nvCxnSpPr>
        <p:spPr>
          <a:xfrm>
            <a:off x="3216635" y="2242127"/>
            <a:ext cx="720000" cy="0"/>
          </a:xfrm>
          <a:prstGeom prst="line">
            <a:avLst/>
          </a:prstGeom>
          <a:ln w="57150" cap="rnd">
            <a:solidFill>
              <a:srgbClr val="EF981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AutoShape 5">
            <a:extLst>
              <a:ext uri="{FF2B5EF4-FFF2-40B4-BE49-F238E27FC236}">
                <a16:creationId xmlns:a16="http://schemas.microsoft.com/office/drawing/2014/main" id="{EA2FDCAB-455C-4E49-AF74-1E4FA9011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4025" y="2313682"/>
            <a:ext cx="61529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F8C740"/>
                </a:solidFill>
                <a:cs typeface="TheSansMono M5"/>
              </a:rPr>
              <a:t>low risk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D80D8D2-64AB-5B45-9E98-3024038CA8F5}"/>
              </a:ext>
            </a:extLst>
          </p:cNvPr>
          <p:cNvCxnSpPr>
            <a:cxnSpLocks/>
          </p:cNvCxnSpPr>
          <p:nvPr/>
        </p:nvCxnSpPr>
        <p:spPr>
          <a:xfrm>
            <a:off x="4050584" y="2242127"/>
            <a:ext cx="720000" cy="0"/>
          </a:xfrm>
          <a:prstGeom prst="line">
            <a:avLst/>
          </a:prstGeom>
          <a:ln w="57150" cap="rnd">
            <a:solidFill>
              <a:srgbClr val="F8C74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AutoShape 5">
            <a:extLst>
              <a:ext uri="{FF2B5EF4-FFF2-40B4-BE49-F238E27FC236}">
                <a16:creationId xmlns:a16="http://schemas.microsoft.com/office/drawing/2014/main" id="{83EAF45F-0735-074F-B8DE-661963E387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78660" y="2318108"/>
            <a:ext cx="697627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>
              <a:defRPr/>
            </a:pPr>
            <a:r>
              <a:rPr lang="en-US" sz="1100" b="1" dirty="0">
                <a:solidFill>
                  <a:srgbClr val="57C968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✓</a:t>
            </a:r>
            <a:r>
              <a:rPr lang="en-US" sz="1200" dirty="0">
                <a:solidFill>
                  <a:srgbClr val="57C968"/>
                </a:solidFill>
              </a:rPr>
              <a:t> </a:t>
            </a:r>
            <a:r>
              <a:rPr lang="en-US" sz="1200" spc="-50" noProof="1">
                <a:solidFill>
                  <a:srgbClr val="57C968"/>
                </a:solidFill>
                <a:cs typeface="TheSansMono M5"/>
              </a:rPr>
              <a:t>no risk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99335F77-CBBF-B24B-8F0A-85FCA257B10A}"/>
              </a:ext>
            </a:extLst>
          </p:cNvPr>
          <p:cNvCxnSpPr>
            <a:cxnSpLocks/>
          </p:cNvCxnSpPr>
          <p:nvPr/>
        </p:nvCxnSpPr>
        <p:spPr>
          <a:xfrm>
            <a:off x="4884540" y="2242127"/>
            <a:ext cx="720000" cy="0"/>
          </a:xfrm>
          <a:prstGeom prst="line">
            <a:avLst/>
          </a:prstGeom>
          <a:ln w="57150" cap="rnd">
            <a:solidFill>
              <a:srgbClr val="57C96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Freeform 47">
            <a:extLst>
              <a:ext uri="{FF2B5EF4-FFF2-40B4-BE49-F238E27FC236}">
                <a16:creationId xmlns:a16="http://schemas.microsoft.com/office/drawing/2014/main" id="{91356441-694B-B541-8959-E690A83565FC}"/>
              </a:ext>
            </a:extLst>
          </p:cNvPr>
          <p:cNvSpPr/>
          <p:nvPr userDrawn="1"/>
        </p:nvSpPr>
        <p:spPr>
          <a:xfrm>
            <a:off x="373537" y="1870675"/>
            <a:ext cx="1078883" cy="721276"/>
          </a:xfrm>
          <a:custGeom>
            <a:avLst/>
            <a:gdLst>
              <a:gd name="connsiteX0" fmla="*/ 28050 w 1078883"/>
              <a:gd name="connsiteY0" fmla="*/ 0 h 721276"/>
              <a:gd name="connsiteX1" fmla="*/ 915239 w 1078883"/>
              <a:gd name="connsiteY1" fmla="*/ 0 h 721276"/>
              <a:gd name="connsiteX2" fmla="*/ 1078883 w 1078883"/>
              <a:gd name="connsiteY2" fmla="*/ 364710 h 721276"/>
              <a:gd name="connsiteX3" fmla="*/ 918893 w 1078883"/>
              <a:gd name="connsiteY3" fmla="*/ 721276 h 721276"/>
              <a:gd name="connsiteX4" fmla="*/ 28050 w 1078883"/>
              <a:gd name="connsiteY4" fmla="*/ 721276 h 721276"/>
              <a:gd name="connsiteX5" fmla="*/ 0 w 1078883"/>
              <a:gd name="connsiteY5" fmla="*/ 693226 h 721276"/>
              <a:gd name="connsiteX6" fmla="*/ 0 w 1078883"/>
              <a:gd name="connsiteY6" fmla="*/ 28050 h 721276"/>
              <a:gd name="connsiteX7" fmla="*/ 28050 w 1078883"/>
              <a:gd name="connsiteY7" fmla="*/ 0 h 7212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78883" h="721276">
                <a:moveTo>
                  <a:pt x="28050" y="0"/>
                </a:moveTo>
                <a:lnTo>
                  <a:pt x="915239" y="0"/>
                </a:lnTo>
                <a:lnTo>
                  <a:pt x="1078883" y="364710"/>
                </a:lnTo>
                <a:lnTo>
                  <a:pt x="918893" y="721276"/>
                </a:lnTo>
                <a:lnTo>
                  <a:pt x="28050" y="721276"/>
                </a:lnTo>
                <a:cubicBezTo>
                  <a:pt x="12558" y="721276"/>
                  <a:pt x="0" y="708718"/>
                  <a:pt x="0" y="693226"/>
                </a:cubicBezTo>
                <a:lnTo>
                  <a:pt x="0" y="28050"/>
                </a:lnTo>
                <a:cubicBezTo>
                  <a:pt x="0" y="12558"/>
                  <a:pt x="12558" y="0"/>
                  <a:pt x="28050" y="0"/>
                </a:cubicBezTo>
                <a:close/>
              </a:path>
            </a:pathLst>
          </a:custGeom>
          <a:gradFill>
            <a:gsLst>
              <a:gs pos="100000">
                <a:srgbClr val="88ADF5"/>
              </a:gs>
              <a:gs pos="76000">
                <a:schemeClr val="accent3">
                  <a:alpha val="25000"/>
                </a:schemeClr>
              </a:gs>
              <a:gs pos="0">
                <a:schemeClr val="accent3">
                  <a:alpha val="0"/>
                </a:schemeClr>
              </a:gs>
            </a:gsLst>
            <a:lin ang="2700000" scaled="0"/>
          </a:gradFill>
          <a:ln w="9525">
            <a:solidFill>
              <a:schemeClr val="accent3">
                <a:alpha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50" name="AutoShape 5">
            <a:extLst>
              <a:ext uri="{FF2B5EF4-FFF2-40B4-BE49-F238E27FC236}">
                <a16:creationId xmlns:a16="http://schemas.microsoft.com/office/drawing/2014/main" id="{A85B6768-8DD0-3840-98FF-EA35442768A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73537" y="2159794"/>
            <a:ext cx="946336" cy="338554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square" lIns="36000" tIns="0" rIns="36000" bIns="0">
            <a:spAutoFit/>
          </a:bodyPr>
          <a:lstStyle/>
          <a:p>
            <a:pPr algn="ctr">
              <a:defRPr/>
            </a:pP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external</a:t>
            </a:r>
            <a:b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1100" dirty="0">
                <a:solidFill>
                  <a:schemeClr val="accent2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dependencies</a:t>
            </a:r>
            <a:endParaRPr lang="en-US" sz="1200" spc="-50" noProof="1">
              <a:solidFill>
                <a:schemeClr val="accent2"/>
              </a:solidFill>
              <a:cs typeface="TheSansMono M5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F23A31-FB0D-E745-BDFB-363075187412}"/>
              </a:ext>
            </a:extLst>
          </p:cNvPr>
          <p:cNvSpPr txBox="1"/>
          <p:nvPr userDrawn="1"/>
        </p:nvSpPr>
        <p:spPr>
          <a:xfrm>
            <a:off x="373537" y="5569608"/>
            <a:ext cx="2549071" cy="28943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200" dirty="0">
                <a:solidFill>
                  <a:schemeClr val="tx1">
                    <a:alpha val="50000"/>
                  </a:schemeClr>
                </a:solidFill>
              </a:rPr>
              <a:t>Number of dependencies: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C627EA2-AE44-A843-8263-F7C250ED20AD}"/>
              </a:ext>
            </a:extLst>
          </p:cNvPr>
          <p:cNvSpPr txBox="1"/>
          <p:nvPr userDrawn="1"/>
        </p:nvSpPr>
        <p:spPr>
          <a:xfrm>
            <a:off x="131435" y="2846815"/>
            <a:ext cx="2448628" cy="2628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vulnerability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legal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freshness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stability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algn="r">
              <a:lnSpc>
                <a:spcPct val="235000"/>
              </a:lnSpc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management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  <a:p>
            <a:pPr marL="0" marR="0" lvl="0" indent="0" algn="r" defTabSz="914400" rtl="0" eaLnBrk="1" fontAlgn="auto" latinLnBrk="0" hangingPunct="1">
              <a:lnSpc>
                <a:spcPct val="2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chemeClr val="tx1"/>
                </a:solidFill>
              </a:rPr>
              <a:t>Libraries with </a:t>
            </a:r>
            <a:r>
              <a:rPr lang="en-US" sz="1200" b="1" dirty="0">
                <a:solidFill>
                  <a:schemeClr val="tx1"/>
                </a:solidFill>
              </a:rPr>
              <a:t>activity </a:t>
            </a:r>
            <a:r>
              <a:rPr lang="en-US" sz="1200" dirty="0">
                <a:solidFill>
                  <a:schemeClr val="tx1"/>
                </a:solidFill>
              </a:rPr>
              <a:t>risk</a:t>
            </a:r>
          </a:p>
        </p:txBody>
      </p:sp>
      <p:sp>
        <p:nvSpPr>
          <p:cNvPr id="55" name="Content Placeholder 2">
            <a:extLst>
              <a:ext uri="{FF2B5EF4-FFF2-40B4-BE49-F238E27FC236}">
                <a16:creationId xmlns:a16="http://schemas.microsoft.com/office/drawing/2014/main" id="{C8989BBF-287E-B847-9CAC-6DA102EFBD4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20006" y="1421846"/>
            <a:ext cx="5614794" cy="4896154"/>
          </a:xfrm>
        </p:spPr>
        <p:txBody>
          <a:bodyPr>
            <a:noAutofit/>
          </a:bodyPr>
          <a:lstStyle>
            <a:lvl1pPr marL="285750" indent="-279400">
              <a:buFont typeface="Arial" panose="020B0604020202020204" pitchFamily="34" charset="0"/>
              <a:buChar char="•"/>
              <a:tabLst/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56" name="Text Placeholder 2">
            <a:extLst>
              <a:ext uri="{FF2B5EF4-FFF2-40B4-BE49-F238E27FC236}">
                <a16:creationId xmlns:a16="http://schemas.microsoft.com/office/drawing/2014/main" id="{8FE26B8D-BD73-4444-8D0F-1248DE1DD5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40738" y="1894014"/>
            <a:ext cx="83510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chemeClr val="accent2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EDC22544-D9BC-B244-939B-9E83862D4E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66159" y="1894014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DC4A3D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0" name="Text Placeholder 2">
            <a:extLst>
              <a:ext uri="{FF2B5EF4-FFF2-40B4-BE49-F238E27FC236}">
                <a16:creationId xmlns:a16="http://schemas.microsoft.com/office/drawing/2014/main" id="{BB9C82F9-0A2D-9945-BB70-9C7924044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1887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09A19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1" name="Text Placeholder 2">
            <a:extLst>
              <a:ext uri="{FF2B5EF4-FFF2-40B4-BE49-F238E27FC236}">
                <a16:creationId xmlns:a16="http://schemas.microsoft.com/office/drawing/2014/main" id="{4F6EE5E4-7412-804B-AB0B-2612A9AEF19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023661" y="1894014"/>
            <a:ext cx="760514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F8C81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62" name="Text Placeholder 2">
            <a:extLst>
              <a:ext uri="{FF2B5EF4-FFF2-40B4-BE49-F238E27FC236}">
                <a16:creationId xmlns:a16="http://schemas.microsoft.com/office/drawing/2014/main" id="{20222DCE-C402-BC42-9510-1717F16DF89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42179" y="1894014"/>
            <a:ext cx="776867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57C968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3B0C8CF-791F-18E5-4333-1B6A84495D38}"/>
              </a:ext>
            </a:extLst>
          </p:cNvPr>
          <p:cNvCxnSpPr>
            <a:cxnSpLocks/>
          </p:cNvCxnSpPr>
          <p:nvPr userDrawn="1"/>
        </p:nvCxnSpPr>
        <p:spPr>
          <a:xfrm>
            <a:off x="1540363" y="2237012"/>
            <a:ext cx="720000" cy="0"/>
          </a:xfrm>
          <a:prstGeom prst="line">
            <a:avLst/>
          </a:prstGeom>
          <a:ln w="57150" cap="rnd">
            <a:solidFill>
              <a:srgbClr val="91071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5">
            <a:extLst>
              <a:ext uri="{FF2B5EF4-FFF2-40B4-BE49-F238E27FC236}">
                <a16:creationId xmlns:a16="http://schemas.microsoft.com/office/drawing/2014/main" id="{D8BC2DDE-6625-F621-EC94-783A87A7B4F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507263" y="2315335"/>
            <a:ext cx="770084" cy="184666"/>
          </a:xfrm>
          <a:prstGeom prst="foldedCorner">
            <a:avLst>
              <a:gd name="adj" fmla="val 0"/>
            </a:avLst>
          </a:prstGeom>
          <a:noFill/>
          <a:ln w="6350" cmpd="sng">
            <a:noFill/>
            <a:round/>
            <a:headEnd/>
            <a:tailEnd/>
          </a:ln>
          <a:effectLst/>
        </p:spPr>
        <p:txBody>
          <a:bodyPr wrap="none" tIns="0" bIns="0">
            <a:spAutoFit/>
          </a:bodyPr>
          <a:lstStyle/>
          <a:p>
            <a:pPr algn="ctr" eaLnBrk="1" hangingPunct="1">
              <a:spcAft>
                <a:spcPts val="0"/>
              </a:spcAft>
              <a:defRPr/>
            </a:pPr>
            <a:r>
              <a:rPr lang="en-US" sz="1200" spc="-50" noProof="1">
                <a:solidFill>
                  <a:srgbClr val="910714"/>
                </a:solidFill>
                <a:cs typeface="TheSansMono M5"/>
              </a:rPr>
              <a:t>critical risk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CAAE3B6A-A32C-2E31-61A0-D3B86C8941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29065" y="1888899"/>
            <a:ext cx="734436" cy="265112"/>
          </a:xfrm>
        </p:spPr>
        <p:txBody>
          <a:bodyPr lIns="0" rIns="0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600" b="1">
                <a:solidFill>
                  <a:srgbClr val="910614"/>
                </a:solidFill>
                <a:latin typeface="Noir Pro Semi Bold" pitchFamily="2" charset="0"/>
                <a:cs typeface="Azeret Mono" pitchFamily="2" charset="77"/>
              </a:defRPr>
            </a:lvl1pPr>
            <a:lvl2pPr marL="270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2pPr>
            <a:lvl3pPr marL="522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3pPr>
            <a:lvl4pPr marL="774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4pPr>
            <a:lvl5pPr marL="1026000" indent="0">
              <a:buFont typeface="Arial" panose="020B0604020202020204" pitchFamily="34" charset="0"/>
              <a:buNone/>
              <a:defRPr b="1">
                <a:solidFill>
                  <a:schemeClr val="bg2"/>
                </a:solidFill>
              </a:defRPr>
            </a:lvl5pPr>
          </a:lstStyle>
          <a:p>
            <a:pPr lvl="0"/>
            <a:r>
              <a:rPr lang="en-US" dirty="0"/>
              <a:t>&lt;#&gt;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85F2A81F-5932-87E7-D36E-A48D21EE92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894A2A75-3145-2B40-BD84-D3A76CD6FFAD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C4399855-F056-C1EA-96E3-8F6B2FE87A89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5AD1E1-E49C-07DA-9E88-2A64DC9326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vert="horz" wrap="none" lIns="0" tIns="28800" rIns="144000" bIns="28800" rtlCol="0" anchor="ctr" anchorCtr="0">
            <a:spAutoFit/>
          </a:bodyPr>
          <a:lstStyle>
            <a:lvl1pPr marL="0" indent="0"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lvl="0" indent="-230400"/>
            <a:r>
              <a:rPr lang="en-US"/>
              <a:t>Click to edit Master text styles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3C657A4-EEB4-0690-E4D3-B51FF0CFAE25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598967" y="4332165"/>
            <a:ext cx="247597" cy="247597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299DC8D9-DC6F-6B68-C30E-D89F7A9C4313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alphaModFix amt="80000"/>
            <a:lum bright="-10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608465" y="5199916"/>
            <a:ext cx="228600" cy="22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9750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3DFEFF2-832D-3790-5F9D-5A5E200E718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2596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6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  <p:sldLayoutId id="2147483793" r:id="rId5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/>
              <a:t>Confidential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698175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9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7" Type="http://schemas.openxmlformats.org/officeDocument/2006/relationships/image" Target="../media/image23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2.png"/><Relationship Id="rId5" Type="http://schemas.openxmlformats.org/officeDocument/2006/relationships/image" Target="../media/image21.sv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7.svg"/><Relationship Id="rId5" Type="http://schemas.openxmlformats.org/officeDocument/2006/relationships/image" Target="../media/image26.png"/><Relationship Id="rId4" Type="http://schemas.openxmlformats.org/officeDocument/2006/relationships/image" Target="../media/image2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9.emf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sv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25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33.sv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noProof="0" dirty="0" err="1"/>
              <a:t>CUSTOMER_NAME</a:t>
            </a:r>
            <a:r>
              <a:rPr lang="en-US" noProof="0" dirty="0"/>
              <a:t> – </a:t>
            </a:r>
            <a:r>
              <a:rPr lang="en-US" noProof="0" dirty="0" err="1"/>
              <a:t>SYSTEM_NAME</a:t>
            </a:r>
            <a:endParaRPr lang="en-US" noProof="0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noProof="0" dirty="0"/>
              <a:t>Sigrid System Report</a:t>
            </a:r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96608443-E271-3AA0-6885-D7332E922BE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noProof="0" dirty="0" err="1"/>
              <a:t>MAINT_DATE_DAY</a:t>
            </a:r>
            <a:r>
              <a:rPr lang="en-US" noProof="0" dirty="0"/>
              <a:t> </a:t>
            </a:r>
            <a:r>
              <a:rPr lang="en-US" noProof="0" dirty="0" err="1"/>
              <a:t>MAINT_DATE_MONTH_FULL</a:t>
            </a:r>
            <a:r>
              <a:rPr lang="en-US" noProof="0" dirty="0"/>
              <a:t> </a:t>
            </a:r>
            <a:r>
              <a:rPr lang="en-US" noProof="0" dirty="0" err="1"/>
              <a:t>MAINT_DATE_YEAR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F1FBE-0EE4-1DE9-784A-DD4670182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EB7C8C91-AAEE-88A6-BA81-7A5C3377C9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8BE9C0E-8A97-0BC2-7291-A030EA223EC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2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A08CBCE-48E4-6A13-C16A-38E5FB270E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49B50A75-CF21-9538-EE61-6C987C97917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750390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79A0E4AB-1835-F9FC-08F8-B7688DC89C2B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5939B06D-D176-9339-9185-77C476E3E6E7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FF5BD665-CAB7-E865-0251-67BCDB5AE518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17B7A7D5-B584-1F9B-B4CC-9B65AD7A8E8D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6074CCE0-0194-F0EA-B27E-943120422D60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0EF87031-3EF5-F01F-D64D-85C7CFBA18AE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00B23D67-C548-2B66-EA13-9434D6FD697D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BBBD1C3A-7C78-085E-9AAC-1418416B2E1B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FC69EDAD-457C-318D-A7E6-DA9C35F4FAE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F1E7B407-491E-C161-9E2F-BB358CDF7912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C89DA33C-62C3-28D0-7E83-E5BCB3EC0D72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26" name="Afgeronde rechthoek 27">
            <a:extLst>
              <a:ext uri="{FF2B5EF4-FFF2-40B4-BE49-F238E27FC236}">
                <a16:creationId xmlns:a16="http://schemas.microsoft.com/office/drawing/2014/main" id="{11022F4E-7F91-B0CF-1E9A-F01F9CA23077}"/>
              </a:ext>
            </a:extLst>
          </p:cNvPr>
          <p:cNvSpPr/>
          <p:nvPr/>
        </p:nvSpPr>
        <p:spPr>
          <a:xfrm>
            <a:off x="4467599" y="76123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20168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62927-47E6-44AC-6848-2A522D68C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201DDDD2-DA8F-47F7-F1AB-C656B7F764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663129" cy="228145"/>
          </a:xfrm>
        </p:spPr>
        <p:txBody>
          <a:bodyPr/>
          <a:lstStyle/>
          <a:p>
            <a:r>
              <a:rPr lang="en-US" noProof="0" dirty="0"/>
              <a:t>Management summary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A49DECDC-D2A6-44D4-EAD9-E018E7E62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 noProof="0" dirty="0">
                <a:latin typeface="Noir Pro Medium"/>
              </a:rPr>
              <a:t>System "</a:t>
            </a:r>
            <a:r>
              <a:rPr lang="en-US" noProof="0" dirty="0" err="1"/>
              <a:t>SYSTEM_NAME</a:t>
            </a:r>
            <a:r>
              <a:rPr lang="en-US" noProof="0" dirty="0">
                <a:latin typeface="Noir Pro Medium"/>
              </a:rPr>
              <a:t>" technical quality: management summary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2B1AA20-5D92-4ACB-8694-AFA2A56D3948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941175" y="6550025"/>
            <a:ext cx="250825" cy="236538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</p:spPr>
        <p:txBody>
          <a:bodyPr wrap="none" lIns="0" tIns="36000" rtlCol="0" anchor="ctr">
            <a:spAutoFit/>
          </a:bodyPr>
          <a:lstStyle>
            <a:defPPr>
              <a:defRPr lang="en-US"/>
            </a:defPPr>
            <a:lvl1pPr marL="0" algn="r" defTabSz="914400" rtl="0" eaLnBrk="1" latinLnBrk="0" hangingPunct="1">
              <a:defRPr lang="en-US" sz="1000" b="1" kern="1200" spc="10" smtClean="0">
                <a:solidFill>
                  <a:srgbClr val="B2BECD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242BD21-9B61-2246-BCB1-4BE5E1BEBE1C}" type="slidenum">
              <a:rPr lang="en-US" noProof="0" smtClean="0"/>
              <a:pPr/>
              <a:t>3</a:t>
            </a:fld>
            <a:endParaRPr lang="en-US" noProof="0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D9C1E99-12FA-EBBB-8F43-FD9A6A738FB3}"/>
              </a:ext>
            </a:extLst>
          </p:cNvPr>
          <p:cNvSpPr/>
          <p:nvPr/>
        </p:nvSpPr>
        <p:spPr>
          <a:xfrm>
            <a:off x="381600" y="1465144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Maintainability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B659F6A8-A673-0A9C-A1B3-F382F0434C4C}"/>
              </a:ext>
            </a:extLst>
          </p:cNvPr>
          <p:cNvSpPr/>
          <p:nvPr/>
        </p:nvSpPr>
        <p:spPr>
          <a:xfrm>
            <a:off x="381600" y="2428035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Technology choice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1B6F40A-D941-D662-B986-01AE8191B15D}"/>
              </a:ext>
            </a:extLst>
          </p:cNvPr>
          <p:cNvSpPr/>
          <p:nvPr/>
        </p:nvSpPr>
        <p:spPr>
          <a:xfrm>
            <a:off x="381600" y="3390926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Test code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C5697C66-3A15-D459-3D27-F256D4839B51}"/>
              </a:ext>
            </a:extLst>
          </p:cNvPr>
          <p:cNvSpPr/>
          <p:nvPr/>
        </p:nvSpPr>
        <p:spPr>
          <a:xfrm>
            <a:off x="381600" y="4353817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</a:rPr>
              <a:t>Architecture Quality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B5A0131-A470-60F6-4CE8-D7B7746B9737}"/>
              </a:ext>
            </a:extLst>
          </p:cNvPr>
          <p:cNvSpPr/>
          <p:nvPr/>
        </p:nvSpPr>
        <p:spPr>
          <a:xfrm>
            <a:off x="381600" y="5316709"/>
            <a:ext cx="1779709" cy="900222"/>
          </a:xfrm>
          <a:prstGeom prst="roundRect">
            <a:avLst>
              <a:gd name="adj" fmla="val 19109"/>
            </a:avLst>
          </a:prstGeom>
          <a:gradFill flip="none" rotWithShape="1">
            <a:gsLst>
              <a:gs pos="0">
                <a:schemeClr val="bg1"/>
              </a:gs>
              <a:gs pos="100000">
                <a:srgbClr val="F4F8FF">
                  <a:alpha val="63066"/>
                </a:srgbClr>
              </a:gs>
            </a:gsLst>
            <a:lin ang="0" scaled="1"/>
            <a:tileRect/>
          </a:gradFill>
          <a:ln w="3175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6600000" scaled="0"/>
            </a:gradFill>
          </a:ln>
          <a:effectLst>
            <a:outerShdw blurRad="50800" dist="50800" dir="5400000" algn="ctr" rotWithShape="0">
              <a:srgbClr val="000000">
                <a:alpha val="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72000" rIns="108000" bIns="72000" rtlCol="0" anchor="ctr" anchorCtr="0"/>
          <a:lstStyle/>
          <a:p>
            <a:pPr algn="ctr"/>
            <a:r>
              <a:rPr lang="en-US" sz="1600" noProof="0" dirty="0">
                <a:solidFill>
                  <a:schemeClr val="accent2"/>
                </a:solidFill>
                <a:ea typeface="+mn-lt"/>
                <a:cs typeface="+mn-lt"/>
              </a:rPr>
              <a:t>Open source health</a:t>
            </a:r>
            <a:endParaRPr lang="en-US" sz="1600" noProof="0" dirty="0">
              <a:solidFill>
                <a:schemeClr val="accent2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214DA1-21AC-CB54-8885-268F55934D9A}"/>
              </a:ext>
            </a:extLst>
          </p:cNvPr>
          <p:cNvSpPr txBox="1"/>
          <p:nvPr/>
        </p:nvSpPr>
        <p:spPr>
          <a:xfrm>
            <a:off x="2549236" y="1556170"/>
            <a:ext cx="9210962" cy="809261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400" noProof="0" dirty="0">
                <a:ea typeface="+mn-lt"/>
                <a:cs typeface="+mn-lt"/>
              </a:rPr>
              <a:t>The system scores </a:t>
            </a:r>
            <a:r>
              <a:rPr lang="en-US" sz="1400" noProof="0" dirty="0" err="1">
                <a:ea typeface="+mn-lt"/>
                <a:cs typeface="+mn-lt"/>
              </a:rPr>
              <a:t>MAINT_RELATIVE</a:t>
            </a:r>
            <a:r>
              <a:rPr lang="en-US" sz="1400" noProof="0" dirty="0">
                <a:ea typeface="+mn-lt"/>
                <a:cs typeface="+mn-lt"/>
              </a:rPr>
              <a:t> the market average with </a:t>
            </a:r>
            <a:r>
              <a:rPr lang="en-US" sz="1400" b="1" noProof="0" dirty="0" err="1">
                <a:solidFill>
                  <a:schemeClr val="accent2"/>
                </a:solidFill>
              </a:rPr>
              <a:t>MAINT_RATING</a:t>
            </a:r>
            <a:r>
              <a:rPr lang="en-US" sz="1400" b="1" noProof="0" dirty="0">
                <a:solidFill>
                  <a:schemeClr val="accent2"/>
                </a:solidFill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Sigsterren" pitchFamily="2" charset="0"/>
              </a:rPr>
              <a:t>MAINT_STARS</a:t>
            </a:r>
            <a:r>
              <a:rPr lang="en-US" sz="1400" b="1" noProof="0" dirty="0">
                <a:solidFill>
                  <a:schemeClr val="accent2"/>
                </a:solidFill>
              </a:rPr>
              <a:t>) </a:t>
            </a:r>
            <a:r>
              <a:rPr lang="en-US" sz="1400" noProof="0" dirty="0">
                <a:ea typeface="+mn-lt"/>
                <a:cs typeface="+mn-lt"/>
              </a:rPr>
              <a:t>on the SIG maintainability model. This indicates </a:t>
            </a:r>
            <a:r>
              <a:rPr lang="en-US" sz="1400" noProof="0" dirty="0" err="1">
                <a:ea typeface="+mn-lt"/>
                <a:cs typeface="+mn-lt"/>
              </a:rPr>
              <a:t>MAINT_INDICATION</a:t>
            </a:r>
            <a:r>
              <a:rPr lang="en-US" sz="1400" noProof="0" dirty="0">
                <a:ea typeface="+mn-lt"/>
                <a:cs typeface="+mn-lt"/>
              </a:rPr>
              <a:t> maintenance costs and time to market for functional changes. </a:t>
            </a:r>
            <a:r>
              <a:rPr lang="en-US" sz="1400" noProof="0" dirty="0" err="1">
                <a:ea typeface="+mn-lt"/>
                <a:cs typeface="+mn-lt"/>
              </a:rPr>
              <a:t>MAINT_OBSERVATION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064188-8D2E-E6DB-CEA1-90C74176B0E2}"/>
              </a:ext>
            </a:extLst>
          </p:cNvPr>
          <p:cNvSpPr txBox="1"/>
          <p:nvPr/>
        </p:nvSpPr>
        <p:spPr>
          <a:xfrm>
            <a:off x="2549236" y="2594716"/>
            <a:ext cx="9210962" cy="52322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is </a:t>
            </a:r>
            <a:r>
              <a:rPr lang="en-US" sz="1400" noProof="0" dirty="0" err="1"/>
              <a:t>SYSTEM_PY</a:t>
            </a:r>
            <a:r>
              <a:rPr lang="en-US" sz="1400" noProof="0" dirty="0"/>
              <a:t> PY (</a:t>
            </a:r>
            <a:r>
              <a:rPr lang="en-US" sz="1400" noProof="0" dirty="0" err="1"/>
              <a:t>SYSTEM_LOC_FORMAT_COMMA</a:t>
            </a:r>
            <a:r>
              <a:rPr lang="en-US" sz="1400" noProof="0" dirty="0"/>
              <a:t> LOC) large. </a:t>
            </a:r>
            <a:r>
              <a:rPr lang="en-US" sz="1400" noProof="0" dirty="0" err="1"/>
              <a:t>TECH_SUMMARY</a:t>
            </a:r>
            <a:r>
              <a:rPr lang="en-US" sz="1400" noProof="0" dirty="0"/>
              <a:t> Its main technology is TECH_1_NAME.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79A5C80-18ED-D98C-0E78-B31D0C0E8B8E}"/>
              </a:ext>
            </a:extLst>
          </p:cNvPr>
          <p:cNvSpPr txBox="1"/>
          <p:nvPr/>
        </p:nvSpPr>
        <p:spPr>
          <a:xfrm>
            <a:off x="2549236" y="3579427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has a test/code ratio of </a:t>
            </a:r>
            <a:r>
              <a:rPr lang="en-US" sz="1400" noProof="0" dirty="0" err="1"/>
              <a:t>TEST_CODE_RATIO</a:t>
            </a:r>
            <a:r>
              <a:rPr lang="en-US" sz="1400" noProof="0" dirty="0"/>
              <a:t>. This indicates </a:t>
            </a:r>
            <a:r>
              <a:rPr lang="en-US" sz="1400" noProof="0" dirty="0" err="1"/>
              <a:t>TEST_CODE_SUMMARY</a:t>
            </a:r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31767D0-0BD3-1B3E-29E4-4BF186AA0949}"/>
              </a:ext>
            </a:extLst>
          </p:cNvPr>
          <p:cNvSpPr txBox="1"/>
          <p:nvPr/>
        </p:nvSpPr>
        <p:spPr>
          <a:xfrm>
            <a:off x="2549236" y="4396144"/>
            <a:ext cx="9210962" cy="738664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/>
              <a:t>The system rates </a:t>
            </a:r>
            <a:r>
              <a:rPr lang="en-US" sz="1400" b="1" noProof="0" dirty="0" err="1">
                <a:solidFill>
                  <a:schemeClr val="accent2"/>
                </a:solidFill>
                <a:ea typeface="+mn-lt"/>
                <a:cs typeface="+mn-lt"/>
              </a:rPr>
              <a:t>ARCH_RATING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 stars (</a:t>
            </a:r>
            <a:r>
              <a:rPr lang="en-US" sz="1400" b="1" noProof="0" dirty="0" err="1">
                <a:solidFill>
                  <a:schemeClr val="accent2"/>
                </a:solidFill>
                <a:latin typeface="Sigsterren" pitchFamily="2" charset="0"/>
                <a:ea typeface="+mn-lt"/>
                <a:cs typeface="+mn-lt"/>
              </a:rPr>
              <a:t>ARCH_STARS</a:t>
            </a:r>
            <a:r>
              <a:rPr lang="en-US" sz="1400" b="1" noProof="0" dirty="0">
                <a:solidFill>
                  <a:schemeClr val="accent2"/>
                </a:solidFill>
                <a:ea typeface="+mn-lt"/>
                <a:cs typeface="+mn-lt"/>
              </a:rPr>
              <a:t>)</a:t>
            </a:r>
            <a:r>
              <a:rPr lang="en-US" sz="1400" b="1" noProof="0" dirty="0"/>
              <a:t> </a:t>
            </a:r>
            <a:r>
              <a:rPr lang="en-US" sz="1400" noProof="0" dirty="0"/>
              <a:t>on the SIG Architecture Quality model, </a:t>
            </a:r>
            <a:r>
              <a:rPr lang="en-US" sz="1400" noProof="0" dirty="0" err="1"/>
              <a:t>ARCH_AT_BELOW</a:t>
            </a:r>
            <a:r>
              <a:rPr lang="en-US" sz="1400" noProof="0" dirty="0"/>
              <a:t> the market average. </a:t>
            </a:r>
            <a:r>
              <a:rPr lang="en-US" sz="1400" noProof="0" dirty="0" err="1"/>
              <a:t>ARCH_WORST_METRIC_REMARK</a:t>
            </a:r>
            <a:endParaRPr lang="en-US" sz="1400" noProof="0" dirty="0"/>
          </a:p>
          <a:p>
            <a:endParaRPr lang="en-US" sz="1400" noProof="0" dirty="0">
              <a:ea typeface="+mn-lt"/>
              <a:cs typeface="+mn-lt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9E68C-FA1E-7A85-89ED-807D0028D6CD}"/>
              </a:ext>
            </a:extLst>
          </p:cNvPr>
          <p:cNvSpPr txBox="1"/>
          <p:nvPr/>
        </p:nvSpPr>
        <p:spPr>
          <a:xfrm>
            <a:off x="2549236" y="5309422"/>
            <a:ext cx="9210962" cy="307777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r>
              <a:rPr lang="en-US" sz="1400" noProof="0" dirty="0" err="1"/>
              <a:t>OSH_RISK_SUMMARY</a:t>
            </a:r>
            <a:r>
              <a:rPr lang="en-US" sz="1400" noProof="0" dirty="0"/>
              <a:t>.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14C37A4-1787-88B8-87EC-3BC4E6617034}"/>
              </a:ext>
            </a:extLst>
          </p:cNvPr>
          <p:cNvCxnSpPr>
            <a:cxnSpLocks/>
          </p:cNvCxnSpPr>
          <p:nvPr/>
        </p:nvCxnSpPr>
        <p:spPr>
          <a:xfrm flipH="1">
            <a:off x="2707067" y="2428035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6DF079F-BE0F-B539-6133-ADDCFA9385E8}"/>
              </a:ext>
            </a:extLst>
          </p:cNvPr>
          <p:cNvCxnSpPr>
            <a:cxnSpLocks/>
          </p:cNvCxnSpPr>
          <p:nvPr/>
        </p:nvCxnSpPr>
        <p:spPr>
          <a:xfrm flipH="1">
            <a:off x="2707067" y="3331283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F180A7-BAC8-2121-6EB8-9B376B75A7AC}"/>
              </a:ext>
            </a:extLst>
          </p:cNvPr>
          <p:cNvCxnSpPr>
            <a:cxnSpLocks/>
          </p:cNvCxnSpPr>
          <p:nvPr/>
        </p:nvCxnSpPr>
        <p:spPr>
          <a:xfrm flipH="1">
            <a:off x="2707067" y="4290288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E24B4CB-EC74-75E7-077A-96C2F71EE536}"/>
              </a:ext>
            </a:extLst>
          </p:cNvPr>
          <p:cNvCxnSpPr>
            <a:cxnSpLocks/>
          </p:cNvCxnSpPr>
          <p:nvPr/>
        </p:nvCxnSpPr>
        <p:spPr>
          <a:xfrm flipH="1">
            <a:off x="2707067" y="5260444"/>
            <a:ext cx="9053131" cy="0"/>
          </a:xfrm>
          <a:prstGeom prst="line">
            <a:avLst/>
          </a:prstGeom>
          <a:ln w="12700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100000">
                  <a:schemeClr val="accent3"/>
                </a:gs>
              </a:gsLst>
              <a:lin ang="0" scaled="1"/>
              <a:tileRect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452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CF9DD-0462-016F-8E23-2DB264387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CC222B10-C35A-E1BF-3C6F-DEEE0250026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FD8EBEE6-089D-3692-A341-C90A7CEA81E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AE936A79-6AD8-007A-80E2-F8397B01E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Outline of topics</a:t>
            </a:r>
          </a:p>
        </p:txBody>
      </p:sp>
      <p:sp>
        <p:nvSpPr>
          <p:cNvPr id="5" name="Tijdelijke aanduiding voor inhoud 4">
            <a:extLst>
              <a:ext uri="{FF2B5EF4-FFF2-40B4-BE49-F238E27FC236}">
                <a16:creationId xmlns:a16="http://schemas.microsoft.com/office/drawing/2014/main" id="{25467FEE-6B64-E34F-E27E-DF526B047085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658057"/>
          </a:xfrm>
        </p:spPr>
        <p:txBody>
          <a:bodyPr/>
          <a:lstStyle/>
          <a:p>
            <a:r>
              <a:rPr lang="en-US" noProof="0" dirty="0"/>
              <a:t>Summary</a:t>
            </a:r>
          </a:p>
          <a:p>
            <a:r>
              <a:rPr lang="en-US" noProof="0" dirty="0"/>
              <a:t>Key findings</a:t>
            </a:r>
          </a:p>
          <a:p>
            <a:endParaRPr lang="en-US" noProof="0" dirty="0"/>
          </a:p>
          <a:p>
            <a:pPr marL="0" indent="0">
              <a:buNone/>
            </a:pPr>
            <a:endParaRPr lang="en-US" noProof="0" dirty="0"/>
          </a:p>
          <a:p>
            <a:pPr marL="0" indent="0">
              <a:buNone/>
            </a:pPr>
            <a:endParaRPr lang="en-US" sz="200" noProof="0" dirty="0"/>
          </a:p>
          <a:p>
            <a:pPr marL="0" indent="0">
              <a:buNone/>
            </a:pPr>
            <a:endParaRPr lang="en-US" sz="800" noProof="0" dirty="0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3A2FF08D-E383-A4D7-D0D5-04C5B7D9BE55}"/>
              </a:ext>
            </a:extLst>
          </p:cNvPr>
          <p:cNvGrpSpPr/>
          <p:nvPr/>
        </p:nvGrpSpPr>
        <p:grpSpPr>
          <a:xfrm>
            <a:off x="4467601" y="1994958"/>
            <a:ext cx="8637048" cy="2061327"/>
            <a:chOff x="1187436" y="2607314"/>
            <a:chExt cx="8637048" cy="2061327"/>
          </a:xfrm>
        </p:grpSpPr>
        <p:sp>
          <p:nvSpPr>
            <p:cNvPr id="7" name="Rectangle 2">
              <a:extLst>
                <a:ext uri="{FF2B5EF4-FFF2-40B4-BE49-F238E27FC236}">
                  <a16:creationId xmlns:a16="http://schemas.microsoft.com/office/drawing/2014/main" id="{88C42531-C38E-90CC-55B2-1CA03B964DCC}"/>
                </a:ext>
              </a:extLst>
            </p:cNvPr>
            <p:cNvSpPr/>
            <p:nvPr/>
          </p:nvSpPr>
          <p:spPr>
            <a:xfrm>
              <a:off x="1187436" y="2607314"/>
              <a:ext cx="7567200" cy="1739263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21C615A6-2657-F686-ACB4-31C3780AC53F}"/>
                </a:ext>
              </a:extLst>
            </p:cNvPr>
            <p:cNvSpPr/>
            <p:nvPr/>
          </p:nvSpPr>
          <p:spPr>
            <a:xfrm>
              <a:off x="2402756" y="278573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9" name="Rectangle 10">
              <a:extLst>
                <a:ext uri="{FF2B5EF4-FFF2-40B4-BE49-F238E27FC236}">
                  <a16:creationId xmlns:a16="http://schemas.microsoft.com/office/drawing/2014/main" id="{9E8041A3-4CF8-83F0-839C-439C8A2903BA}"/>
                </a:ext>
              </a:extLst>
            </p:cNvPr>
            <p:cNvSpPr/>
            <p:nvPr/>
          </p:nvSpPr>
          <p:spPr>
            <a:xfrm>
              <a:off x="2402756" y="3306726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" name="Rectangle 11">
              <a:extLst>
                <a:ext uri="{FF2B5EF4-FFF2-40B4-BE49-F238E27FC236}">
                  <a16:creationId xmlns:a16="http://schemas.microsoft.com/office/drawing/2014/main" id="{1E4A6A55-D491-B64E-8117-725CFD0054C7}"/>
                </a:ext>
              </a:extLst>
            </p:cNvPr>
            <p:cNvSpPr/>
            <p:nvPr/>
          </p:nvSpPr>
          <p:spPr>
            <a:xfrm>
              <a:off x="2402756" y="3827720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5" name="TextBox 6">
              <a:extLst>
                <a:ext uri="{FF2B5EF4-FFF2-40B4-BE49-F238E27FC236}">
                  <a16:creationId xmlns:a16="http://schemas.microsoft.com/office/drawing/2014/main" id="{9FBD725A-A3B4-2FE9-5308-553FDD9CC914}"/>
                </a:ext>
              </a:extLst>
            </p:cNvPr>
            <p:cNvSpPr txBox="1"/>
            <p:nvPr/>
          </p:nvSpPr>
          <p:spPr>
            <a:xfrm>
              <a:off x="2828599" y="2796359"/>
              <a:ext cx="19709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Cost estimation</a:t>
              </a:r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24F69592-6EC4-3A3F-03CA-A0EB53B047AF}"/>
                </a:ext>
              </a:extLst>
            </p:cNvPr>
            <p:cNvSpPr txBox="1"/>
            <p:nvPr/>
          </p:nvSpPr>
          <p:spPr>
            <a:xfrm>
              <a:off x="2827099" y="3831388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Architecture quality</a:t>
              </a:r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37D4889B-9E40-C9DF-1B1F-087D453F8571}"/>
                </a:ext>
              </a:extLst>
            </p:cNvPr>
            <p:cNvSpPr txBox="1"/>
            <p:nvPr/>
          </p:nvSpPr>
          <p:spPr>
            <a:xfrm>
              <a:off x="2827097" y="3313873"/>
              <a:ext cx="1972487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Maintainability</a:t>
              </a:r>
            </a:p>
          </p:txBody>
        </p:sp>
        <p:sp>
          <p:nvSpPr>
            <p:cNvPr id="23" name="TextBox 24">
              <a:extLst>
                <a:ext uri="{FF2B5EF4-FFF2-40B4-BE49-F238E27FC236}">
                  <a16:creationId xmlns:a16="http://schemas.microsoft.com/office/drawing/2014/main" id="{2104FF65-775F-390F-A413-19E80C39A131}"/>
                </a:ext>
              </a:extLst>
            </p:cNvPr>
            <p:cNvSpPr txBox="1"/>
            <p:nvPr/>
          </p:nvSpPr>
          <p:spPr>
            <a:xfrm>
              <a:off x="7232188" y="3306725"/>
              <a:ext cx="2592296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endParaRPr lang="en-US" sz="1400" noProof="0" dirty="0">
                <a:solidFill>
                  <a:schemeClr val="tx2"/>
                </a:solidFill>
              </a:endParaRPr>
            </a:p>
          </p:txBody>
        </p:sp>
        <p:sp>
          <p:nvSpPr>
            <p:cNvPr id="24" name="Rectangle 11">
              <a:extLst>
                <a:ext uri="{FF2B5EF4-FFF2-40B4-BE49-F238E27FC236}">
                  <a16:creationId xmlns:a16="http://schemas.microsoft.com/office/drawing/2014/main" id="{79D70F5D-0B0B-6234-A662-2C0A1687FCA9}"/>
                </a:ext>
              </a:extLst>
            </p:cNvPr>
            <p:cNvSpPr/>
            <p:nvPr/>
          </p:nvSpPr>
          <p:spPr>
            <a:xfrm>
              <a:off x="2402756" y="4339032"/>
              <a:ext cx="329609" cy="32960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r>
                <a:rPr lang="en-US" sz="1600" b="1" noProof="0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25" name="TextBox 16">
              <a:extLst>
                <a:ext uri="{FF2B5EF4-FFF2-40B4-BE49-F238E27FC236}">
                  <a16:creationId xmlns:a16="http://schemas.microsoft.com/office/drawing/2014/main" id="{BDEAA53F-F465-CAD1-D039-210FAB636309}"/>
                </a:ext>
              </a:extLst>
            </p:cNvPr>
            <p:cNvSpPr txBox="1"/>
            <p:nvPr/>
          </p:nvSpPr>
          <p:spPr>
            <a:xfrm>
              <a:off x="2827099" y="4342700"/>
              <a:ext cx="1972484" cy="322268"/>
            </a:xfrm>
            <a:prstGeom prst="rect">
              <a:avLst/>
            </a:prstGeom>
            <a:noFill/>
          </p:spPr>
          <p:txBody>
            <a:bodyPr wrap="square" lIns="90000" rtlCol="0" anchor="ctr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400" noProof="0" dirty="0">
                  <a:solidFill>
                    <a:schemeClr val="tx2"/>
                  </a:solidFill>
                </a:rPr>
                <a:t>Open source health</a:t>
              </a:r>
            </a:p>
          </p:txBody>
        </p:sp>
      </p:grpSp>
      <p:sp>
        <p:nvSpPr>
          <p:cNvPr id="34" name="Afgeronde rechthoek 33">
            <a:extLst>
              <a:ext uri="{FF2B5EF4-FFF2-40B4-BE49-F238E27FC236}">
                <a16:creationId xmlns:a16="http://schemas.microsoft.com/office/drawing/2014/main" id="{1432F4D9-898D-1F7C-1B68-01CBDDFBCED8}"/>
              </a:ext>
            </a:extLst>
          </p:cNvPr>
          <p:cNvSpPr/>
          <p:nvPr/>
        </p:nvSpPr>
        <p:spPr>
          <a:xfrm>
            <a:off x="4454347" y="1472806"/>
            <a:ext cx="7567201" cy="2923251"/>
          </a:xfrm>
          <a:prstGeom prst="roundRect">
            <a:avLst>
              <a:gd name="adj" fmla="val 4868"/>
            </a:avLst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 dirty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4298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Cost Estimation Model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Cost Estimation model combines Sigrid analysis results with SIG benchmarks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The Cost Estimation Model (CEM) enables translating technical analysis results to cost estimations. </a:t>
            </a:r>
            <a:endParaRPr kumimoji="0" lang="en-US" sz="3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most important input for the CEM are the maintainability analysis results. This is mandatory. CEM then combines this with </a:t>
            </a:r>
            <a:r>
              <a:rPr lang="en-US" sz="1400" noProof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rPr>
              <a:t>SIG’s benchmarks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on productivity and maintainability.</a:t>
            </a:r>
            <a:endParaRPr kumimoji="0" lang="en-US" sz="1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Cost estimations form key input for scenario comparison.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9163152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5595"/>
            <a:ext cx="403047" cy="343715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/>
          </p:cNvSpPr>
          <p:nvPr/>
        </p:nvSpPr>
        <p:spPr>
          <a:xfrm>
            <a:off x="3324388" y="3825339"/>
            <a:ext cx="126489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/>
          </p:cNvSpPr>
          <p:nvPr/>
        </p:nvSpPr>
        <p:spPr>
          <a:xfrm>
            <a:off x="3467971" y="4563771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/>
          </p:cNvSpPr>
          <p:nvPr/>
        </p:nvSpPr>
        <p:spPr>
          <a:xfrm>
            <a:off x="3645999" y="4985107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/>
          </p:cNvSpPr>
          <p:nvPr/>
        </p:nvSpPr>
        <p:spPr>
          <a:xfrm>
            <a:off x="393577" y="2957541"/>
            <a:ext cx="2933901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Language productivity benchmark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/>
          </p:cNvSpPr>
          <p:nvPr/>
        </p:nvSpPr>
        <p:spPr>
          <a:xfrm>
            <a:off x="225737" y="3691833"/>
            <a:ext cx="3058740" cy="635430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SIG Maintainability benchmark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/>
          </p:cNvSpPr>
          <p:nvPr/>
        </p:nvSpPr>
        <p:spPr>
          <a:xfrm>
            <a:off x="942233" y="4426125"/>
            <a:ext cx="2472300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Software metric results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/>
          </p:cNvSpPr>
          <p:nvPr/>
        </p:nvSpPr>
        <p:spPr>
          <a:xfrm>
            <a:off x="2044729" y="4851797"/>
            <a:ext cx="1518514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Configuration</a:t>
            </a:r>
          </a:p>
        </p:txBody>
      </p:sp>
    </p:spTree>
    <p:extLst>
      <p:ext uri="{BB962C8B-B14F-4D97-AF65-F5344CB8AC3E}">
        <p14:creationId xmlns:p14="http://schemas.microsoft.com/office/powerpoint/2010/main" val="837537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D655E-F97C-8287-6A0E-D45434C8F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04ABE8-C279-D9E6-AC8C-52F1BD5E75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Cost estimation</a:t>
            </a:r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14C925DB-E118-F4E3-AF41-5BD45439B8A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5575" y="1411288"/>
            <a:ext cx="8245902" cy="4841875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code volume totals </a:t>
            </a:r>
            <a:r>
              <a:rPr lang="en-US" noProof="0" dirty="0" err="1"/>
              <a:t>SYSTEM_PY</a:t>
            </a:r>
            <a:r>
              <a:rPr lang="en-US" noProof="0" dirty="0"/>
              <a:t> person years of theoretical rebuild volume.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The average maintainability level is </a:t>
            </a:r>
            <a:r>
              <a:rPr lang="en-US" noProof="0" dirty="0" err="1"/>
              <a:t>MAINT_RELATIVE</a:t>
            </a:r>
            <a:r>
              <a:rPr lang="en-US" noProof="0" dirty="0"/>
              <a:t>. For modern systems built in common technologies, at minimum a 4-star rating is recommended to avoid unnecessary maintenance cost.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 err="1"/>
              <a:t>MAINTENANCE_FTE</a:t>
            </a:r>
            <a:r>
              <a:rPr lang="en-US" noProof="0" dirty="0"/>
              <a:t> FTE of development effort is recommended for maintenance alone.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Approximately </a:t>
            </a:r>
            <a:r>
              <a:rPr lang="en-US" dirty="0"/>
              <a:t>RENOVATION_EFFORT_PY</a:t>
            </a:r>
            <a:r>
              <a:rPr lang="en-US" noProof="0" dirty="0"/>
              <a:t> person years is required to renovate the system towards the recommended 4-star level</a:t>
            </a:r>
          </a:p>
        </p:txBody>
      </p:sp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6403D236-46DC-F53D-82C2-4D20A0AF68A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B92D6C-0D69-FCB1-5EE4-95B2A83103D0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9657FF3-6619-08B7-D7FA-29D947004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/>
              <a:t>SYSTEM_NAME technical debt is RENOVATION_EFFORT_PY person </a:t>
            </a:r>
            <a:r>
              <a:rPr lang="en-US" noProof="0"/>
              <a:t>years (RENOVATION_EFFORT_PERCENTAGE% </a:t>
            </a:r>
            <a:r>
              <a:rPr lang="en-US" noProof="0" dirty="0"/>
              <a:t>of its volume)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C899634-9D42-069D-8642-EC64A877D76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0" name="TextBox 20">
            <a:extLst>
              <a:ext uri="{FF2B5EF4-FFF2-40B4-BE49-F238E27FC236}">
                <a16:creationId xmlns:a16="http://schemas.microsoft.com/office/drawing/2014/main" id="{C4DC25EC-B24A-5D12-8A8F-843FC11DA1F0}"/>
              </a:ext>
            </a:extLst>
          </p:cNvPr>
          <p:cNvSpPr txBox="1"/>
          <p:nvPr/>
        </p:nvSpPr>
        <p:spPr>
          <a:xfrm>
            <a:off x="2096093" y="6441308"/>
            <a:ext cx="9428642" cy="256609"/>
          </a:xfrm>
          <a:prstGeom prst="rect">
            <a:avLst/>
          </a:prstGeom>
          <a:noFill/>
        </p:spPr>
        <p:txBody>
          <a:bodyPr wrap="square" lIns="0" tIns="45720" rIns="0" bIns="45720" rtlCol="0" anchor="t">
            <a:spAutoFit/>
          </a:bodyPr>
          <a:lstStyle/>
          <a:p>
            <a:pPr>
              <a:lnSpc>
                <a:spcPct val="113000"/>
              </a:lnSpc>
            </a:pP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* At an assumed cost of </a:t>
            </a:r>
            <a:r>
              <a:rPr lang="en-US" sz="1000" b="1" i="0" noProof="0" dirty="0">
                <a:solidFill>
                  <a:schemeClr val="bg2">
                    <a:lumMod val="50000"/>
                  </a:schemeClr>
                </a:solidFill>
                <a:effectLst/>
                <a:latin typeface="Google Sans"/>
              </a:rPr>
              <a:t>€</a:t>
            </a:r>
            <a:r>
              <a:rPr lang="en-US" sz="1000" b="1" noProof="0" dirty="0">
                <a:solidFill>
                  <a:schemeClr val="bg2">
                    <a:lumMod val="50000"/>
                  </a:schemeClr>
                </a:solidFill>
              </a:rPr>
              <a:t>150K/FTE per year</a:t>
            </a:r>
            <a:r>
              <a:rPr lang="en-US" sz="1000" noProof="0" dirty="0">
                <a:solidFill>
                  <a:schemeClr val="bg2">
                    <a:lumMod val="50000"/>
                  </a:schemeClr>
                </a:solidFill>
              </a:rPr>
              <a:t>; Costs address software development effort, no additional project (management) costs.</a:t>
            </a:r>
          </a:p>
        </p:txBody>
      </p:sp>
      <p:cxnSp>
        <p:nvCxnSpPr>
          <p:cNvPr id="28" name="Straight Connector 6">
            <a:extLst>
              <a:ext uri="{FF2B5EF4-FFF2-40B4-BE49-F238E27FC236}">
                <a16:creationId xmlns:a16="http://schemas.microsoft.com/office/drawing/2014/main" id="{BC9E30B0-576B-88A2-00C1-921F32E0F2D8}"/>
              </a:ext>
            </a:extLst>
          </p:cNvPr>
          <p:cNvCxnSpPr>
            <a:cxnSpLocks/>
          </p:cNvCxnSpPr>
          <p:nvPr/>
        </p:nvCxnSpPr>
        <p:spPr>
          <a:xfrm>
            <a:off x="8460712" y="1525524"/>
            <a:ext cx="0" cy="4505033"/>
          </a:xfrm>
          <a:prstGeom prst="line">
            <a:avLst/>
          </a:prstGeom>
          <a:ln w="12700">
            <a:solidFill>
              <a:srgbClr val="B3BECD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14">
            <a:extLst>
              <a:ext uri="{FF2B5EF4-FFF2-40B4-BE49-F238E27FC236}">
                <a16:creationId xmlns:a16="http://schemas.microsoft.com/office/drawing/2014/main" id="{D9EF6390-5FE2-830E-BA6B-5297C426F1C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2" y="1420924"/>
            <a:ext cx="1379052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>
                <a:latin typeface="☞NOIR PRO MEDIUM" pitchFamily="2" charset="0"/>
              </a:rPr>
              <a:t>Terminology</a:t>
            </a:r>
          </a:p>
        </p:txBody>
      </p:sp>
      <p:graphicFrame>
        <p:nvGraphicFramePr>
          <p:cNvPr id="6" name="Table 10">
            <a:extLst>
              <a:ext uri="{FF2B5EF4-FFF2-40B4-BE49-F238E27FC236}">
                <a16:creationId xmlns:a16="http://schemas.microsoft.com/office/drawing/2014/main" id="{5EC81CC7-8162-6B1C-495A-A6286EDF4C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0280873"/>
              </p:ext>
            </p:extLst>
          </p:nvPr>
        </p:nvGraphicFramePr>
        <p:xfrm>
          <a:off x="154800" y="3881008"/>
          <a:ext cx="8104657" cy="1354800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20658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5657">
                  <a:extLst>
                    <a:ext uri="{9D8B030D-6E8A-4147-A177-3AD203B41FA5}">
                      <a16:colId xmlns:a16="http://schemas.microsoft.com/office/drawing/2014/main" val="14339150"/>
                    </a:ext>
                  </a:extLst>
                </a:gridCol>
                <a:gridCol w="1197428">
                  <a:extLst>
                    <a:ext uri="{9D8B030D-6E8A-4147-A177-3AD203B41FA5}">
                      <a16:colId xmlns:a16="http://schemas.microsoft.com/office/drawing/2014/main" val="2067085742"/>
                    </a:ext>
                  </a:extLst>
                </a:gridCol>
                <a:gridCol w="1230086">
                  <a:extLst>
                    <a:ext uri="{9D8B030D-6E8A-4147-A177-3AD203B41FA5}">
                      <a16:colId xmlns:a16="http://schemas.microsoft.com/office/drawing/2014/main" val="3304719765"/>
                    </a:ext>
                  </a:extLst>
                </a:gridCol>
                <a:gridCol w="1184218">
                  <a:extLst>
                    <a:ext uri="{9D8B030D-6E8A-4147-A177-3AD203B41FA5}">
                      <a16:colId xmlns:a16="http://schemas.microsoft.com/office/drawing/2014/main" val="377289107"/>
                    </a:ext>
                  </a:extLst>
                </a:gridCol>
                <a:gridCol w="1251382">
                  <a:extLst>
                    <a:ext uri="{9D8B030D-6E8A-4147-A177-3AD203B41FA5}">
                      <a16:colId xmlns:a16="http://schemas.microsoft.com/office/drawing/2014/main" val="16993432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</a:rPr>
                        <a:t>System</a:t>
                      </a:r>
                      <a:endParaRPr lang="en-US" sz="1400" b="0" i="0" noProof="0" dirty="0">
                        <a:solidFill>
                          <a:schemeClr val="tx1"/>
                        </a:solidFill>
                        <a:latin typeface="Noir Pro Medium" pitchFamily="2" charset="0"/>
                        <a:cs typeface="TheSans B4 SemiLight"/>
                      </a:endParaRPr>
                    </a:p>
                  </a:txBody>
                  <a:tcPr marL="216000" marR="108000"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Code </a:t>
                      </a:r>
                      <a:b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</a:b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volume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bg1"/>
                          </a:solidFill>
                          <a:latin typeface="Noir Pro Medium" pitchFamily="2" charset="0"/>
                          <a:cs typeface="TheSans B4 SemiLight"/>
                        </a:rPr>
                        <a:t>Technical debt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Projected maintenance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Available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0" dirty="0">
                          <a:solidFill>
                            <a:schemeClr val="tx1"/>
                          </a:solidFill>
                          <a:latin typeface="Noir Pro Medium" pitchFamily="2" charset="0"/>
                          <a:cs typeface="TheSans B4 SemiLight"/>
                        </a:rPr>
                        <a:t>Innovation capacity</a:t>
                      </a:r>
                    </a:p>
                  </a:txBody>
                  <a:tcPr marL="0" marR="0" marT="72000" marB="72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57C9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400" b="0" noProof="0" dirty="0" err="1">
                          <a:solidFill>
                            <a:schemeClr val="tx1"/>
                          </a:solidFill>
                        </a:rPr>
                        <a:t>SYSTEM_NAME</a:t>
                      </a:r>
                      <a:endParaRPr lang="en-US" sz="1400" b="0" noProof="0" dirty="0">
                        <a:solidFill>
                          <a:schemeClr val="tx1"/>
                        </a:solidFill>
                      </a:endParaRPr>
                    </a:p>
                  </a:txBody>
                  <a:tcPr marL="216000"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 err="1">
                          <a:solidFill>
                            <a:schemeClr val="tx1"/>
                          </a:solidFill>
                        </a:rPr>
                        <a:t>SYSTEM_PY</a:t>
                      </a:r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 PY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kern="120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RENOVATION_EFFORT_PY PY</a:t>
                      </a:r>
                    </a:p>
                  </a:txBody>
                  <a:tcPr marT="72000" marB="72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MAINTENANCE_FTE</a:t>
                      </a: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4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libri" panose="020F0502020204030204"/>
                          <a:ea typeface="+mn-ea"/>
                          <a:cs typeface="+mn-cs"/>
                        </a:rPr>
                        <a:t>@@ FTE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0" dirty="0">
                          <a:solidFill>
                            <a:schemeClr val="tx1"/>
                          </a:solidFill>
                        </a:rPr>
                        <a:t>@@ FTE (@@%)</a:t>
                      </a:r>
                    </a:p>
                  </a:txBody>
                  <a:tcPr marT="72000" marB="72000" anchor="ctr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381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98F1D6A9-6AA2-B77F-75EA-F5693038D876}"/>
              </a:ext>
            </a:extLst>
          </p:cNvPr>
          <p:cNvSpPr/>
          <p:nvPr/>
        </p:nvSpPr>
        <p:spPr>
          <a:xfrm>
            <a:off x="8202139" y="1711842"/>
            <a:ext cx="3600840" cy="433808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 algn="ctr">
              <a:buClr>
                <a:schemeClr val="tx1">
                  <a:lumMod val="40000"/>
                  <a:lumOff val="60000"/>
                </a:schemeClr>
              </a:buClr>
              <a:buFont typeface="Wingdings" pitchFamily="2" charset="2"/>
              <a:buChar char="§"/>
            </a:pP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2" name="Rectangle 51">
            <a:extLst>
              <a:ext uri="{FF2B5EF4-FFF2-40B4-BE49-F238E27FC236}">
                <a16:creationId xmlns:a16="http://schemas.microsoft.com/office/drawing/2014/main" id="{6B7B3571-B154-08F5-EAB8-EDBD315AC93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81291" y="1762133"/>
            <a:ext cx="3453503" cy="4513424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pPr marL="180975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2"/>
                </a:solidFill>
              </a:rPr>
              <a:t>Code volume </a:t>
            </a:r>
            <a:r>
              <a:rPr lang="en-US" sz="1200" noProof="0" dirty="0">
                <a:solidFill>
                  <a:schemeClr val="tx1"/>
                </a:solidFill>
              </a:rPr>
              <a:t>is the estimated amount of development effort to produce the current amount of lines of code.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5"/>
                </a:solidFill>
              </a:rPr>
              <a:t>Technical debt</a:t>
            </a:r>
            <a:r>
              <a:rPr lang="en-US" sz="1200" noProof="0" dirty="0">
                <a:solidFill>
                  <a:schemeClr val="accent5"/>
                </a:solidFill>
              </a:rPr>
              <a:t> </a:t>
            </a:r>
            <a:r>
              <a:rPr lang="en-US" sz="1200" noProof="0" dirty="0">
                <a:solidFill>
                  <a:schemeClr val="tx1"/>
                </a:solidFill>
              </a:rPr>
              <a:t>is the estimated amount of development effort to improve the Maintainability of the system to a given target rating (typically 3.5). The recommended target level can be adjusted, depending on the context of the system.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noProof="0" dirty="0">
                <a:solidFill>
                  <a:schemeClr val="tx1"/>
                </a:solidFill>
              </a:rPr>
              <a:t>The yearly </a:t>
            </a:r>
            <a:r>
              <a:rPr lang="en-US" sz="1200" b="1" noProof="0" dirty="0">
                <a:solidFill>
                  <a:schemeClr val="accent4">
                    <a:lumMod val="75000"/>
                  </a:schemeClr>
                </a:solidFill>
              </a:rPr>
              <a:t>Projected maintenance </a:t>
            </a:r>
            <a:r>
              <a:rPr lang="en-US" sz="1200" noProof="0" dirty="0">
                <a:solidFill>
                  <a:schemeClr val="tx1"/>
                </a:solidFill>
              </a:rPr>
              <a:t>is calculated using the code volume and quality. It assumes an annual 15% required change rate in the code base (where 5% is considered the minimum in an EOL lifecycle phase). </a:t>
            </a:r>
            <a:r>
              <a:rPr lang="en-US" sz="1200" b="1" noProof="0" dirty="0">
                <a:solidFill>
                  <a:schemeClr val="tx1"/>
                </a:solidFill>
              </a:rPr>
              <a:t>Spending less effort is likely to deteriorate the maintainability.</a:t>
            </a:r>
            <a:endParaRPr lang="en-US" sz="1200" b="1" noProof="0" dirty="0">
              <a:solidFill>
                <a:schemeClr val="tx1"/>
              </a:solidFill>
              <a:ea typeface="Calibri"/>
              <a:cs typeface="Calibri"/>
            </a:endParaRP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chemeClr val="accent3"/>
                </a:solidFill>
              </a:rPr>
              <a:t>Available capacity </a:t>
            </a:r>
            <a:r>
              <a:rPr lang="en-US" sz="1200" noProof="0" dirty="0">
                <a:solidFill>
                  <a:schemeClr val="tx1"/>
                </a:solidFill>
              </a:rPr>
              <a:t>is checked based on the number of developers working on the codebase in the past 12 months.</a:t>
            </a:r>
          </a:p>
          <a:p>
            <a:pPr marL="171450" indent="-171450">
              <a:spcAft>
                <a:spcPts val="1200"/>
              </a:spcAft>
              <a:buClr>
                <a:schemeClr val="tx1">
                  <a:lumMod val="40000"/>
                  <a:lumOff val="60000"/>
                </a:schemeClr>
              </a:buClr>
              <a:buFont typeface="Arial" panose="020B0604020202020204" pitchFamily="34" charset="0"/>
              <a:buChar char="•"/>
            </a:pPr>
            <a:r>
              <a:rPr lang="en-US" sz="1200" b="1" noProof="0" dirty="0">
                <a:solidFill>
                  <a:srgbClr val="57C968"/>
                </a:solidFill>
              </a:rPr>
              <a:t>Innovation capacity </a:t>
            </a:r>
            <a:r>
              <a:rPr lang="en-US" sz="1200" noProof="0" dirty="0">
                <a:solidFill>
                  <a:schemeClr val="tx1"/>
                </a:solidFill>
              </a:rPr>
              <a:t>is the number of FTE available for innovation, calculated by subtracting projected FTE from the available FTE</a:t>
            </a:r>
          </a:p>
          <a:p>
            <a:pPr marL="285750" indent="-285750">
              <a:buClr>
                <a:schemeClr val="tx1">
                  <a:lumMod val="50000"/>
                  <a:lumOff val="50000"/>
                </a:schemeClr>
              </a:buClr>
              <a:buFont typeface=".AppleSystemUIFont"/>
              <a:buChar char="&gt;"/>
            </a:pPr>
            <a:endParaRPr lang="en-US" sz="1400" noProof="0" dirty="0">
              <a:solidFill>
                <a:schemeClr val="bg1">
                  <a:lumMod val="50000"/>
                </a:schemeClr>
              </a:solidFill>
            </a:endParaRPr>
          </a:p>
        </p:txBody>
      </p:sp>
      <p:cxnSp>
        <p:nvCxnSpPr>
          <p:cNvPr id="13" name="Straight Connector 16">
            <a:extLst>
              <a:ext uri="{FF2B5EF4-FFF2-40B4-BE49-F238E27FC236}">
                <a16:creationId xmlns:a16="http://schemas.microsoft.com/office/drawing/2014/main" id="{513C36C2-BD39-7400-5EF7-2B2BE3F51652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1873108"/>
            <a:ext cx="0" cy="414914"/>
          </a:xfrm>
          <a:prstGeom prst="line">
            <a:avLst/>
          </a:prstGeom>
          <a:ln w="63500" cap="rnd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7">
            <a:extLst>
              <a:ext uri="{FF2B5EF4-FFF2-40B4-BE49-F238E27FC236}">
                <a16:creationId xmlns:a16="http://schemas.microsoft.com/office/drawing/2014/main" id="{33E8D316-CE81-857A-9A37-7374096B09B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2564969"/>
            <a:ext cx="0" cy="996937"/>
          </a:xfrm>
          <a:prstGeom prst="line">
            <a:avLst/>
          </a:prstGeom>
          <a:ln w="63500" cap="rnd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8">
            <a:extLst>
              <a:ext uri="{FF2B5EF4-FFF2-40B4-BE49-F238E27FC236}">
                <a16:creationId xmlns:a16="http://schemas.microsoft.com/office/drawing/2014/main" id="{031E0116-E325-3696-9898-7AEA82AA33E7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3814079"/>
            <a:ext cx="0" cy="972937"/>
          </a:xfrm>
          <a:prstGeom prst="line">
            <a:avLst/>
          </a:prstGeom>
          <a:ln w="63500" cap="rnd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6">
            <a:extLst>
              <a:ext uri="{FF2B5EF4-FFF2-40B4-BE49-F238E27FC236}">
                <a16:creationId xmlns:a16="http://schemas.microsoft.com/office/drawing/2014/main" id="{F2890E64-F917-1103-3B56-C727E285854F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082702"/>
            <a:ext cx="0" cy="414914"/>
          </a:xfrm>
          <a:prstGeom prst="line">
            <a:avLst/>
          </a:prstGeom>
          <a:ln w="63500" cap="rnd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80578821-521C-DF0B-77D9-5727D80D2434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703278" y="5788878"/>
            <a:ext cx="0" cy="414914"/>
          </a:xfrm>
          <a:prstGeom prst="line">
            <a:avLst/>
          </a:prstGeom>
          <a:ln w="63500" cap="rnd">
            <a:solidFill>
              <a:srgbClr val="57C968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56569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ISO 25010 standard for Maintainability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BBCB73-C7CC-EF8D-3A7C-FC0B4B1C56A1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Maintainability is the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degree of effectiveness and efficiency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with which a product or system 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can be modified</a:t>
            </a:r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 to improve it, correct it or adapt it to changes in environment, and in requirements.</a:t>
            </a: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grpSp>
        <p:nvGrpSpPr>
          <p:cNvPr id="2" name="Groep 1">
            <a:extLst>
              <a:ext uri="{FF2B5EF4-FFF2-40B4-BE49-F238E27FC236}">
                <a16:creationId xmlns:a16="http://schemas.microsoft.com/office/drawing/2014/main" id="{7CC85480-4E9F-88F0-82A3-297861B80249}"/>
              </a:ext>
            </a:extLst>
          </p:cNvPr>
          <p:cNvGrpSpPr/>
          <p:nvPr/>
        </p:nvGrpSpPr>
        <p:grpSpPr>
          <a:xfrm>
            <a:off x="5727023" y="3352101"/>
            <a:ext cx="750242" cy="750242"/>
            <a:chOff x="5933559" y="1864863"/>
            <a:chExt cx="328966" cy="328966"/>
          </a:xfrm>
        </p:grpSpPr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5EBEB883-B167-9258-9B3C-2408558E83C0}"/>
                </a:ext>
              </a:extLst>
            </p:cNvPr>
            <p:cNvSpPr/>
            <p:nvPr/>
          </p:nvSpPr>
          <p:spPr>
            <a:xfrm>
              <a:off x="5933559" y="1864863"/>
              <a:ext cx="328966" cy="328966"/>
            </a:xfrm>
            <a:prstGeom prst="ellipse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pic>
          <p:nvPicPr>
            <p:cNvPr id="98" name="Graphic 97">
              <a:extLst>
                <a:ext uri="{FF2B5EF4-FFF2-40B4-BE49-F238E27FC236}">
                  <a16:creationId xmlns:a16="http://schemas.microsoft.com/office/drawing/2014/main" id="{A1F63EEE-282A-49B8-7F1F-6C06CA264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980605" y="1902449"/>
              <a:ext cx="247724" cy="245928"/>
            </a:xfrm>
            <a:prstGeom prst="rect">
              <a:avLst/>
            </a:prstGeom>
          </p:spPr>
        </p:pic>
      </p:grpSp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Oval 43">
            <a:extLst>
              <a:ext uri="{FF2B5EF4-FFF2-40B4-BE49-F238E27FC236}">
                <a16:creationId xmlns:a16="http://schemas.microsoft.com/office/drawing/2014/main" id="{FC31513E-AADB-57EA-8918-A3D07FEEF498}"/>
              </a:ext>
            </a:extLst>
          </p:cNvPr>
          <p:cNvSpPr/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381216" y="2467036"/>
            <a:ext cx="311831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ISO 25010 sub-characteristics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1897130" y="2957541"/>
            <a:ext cx="1430348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Analyzability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875926" y="3456782"/>
            <a:ext cx="1395083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Modifiability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2119163" y="3956023"/>
            <a:ext cx="1191501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Testability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177515" y="4455264"/>
            <a:ext cx="1236385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Modularity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7522" y="4954505"/>
            <a:ext cx="124760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Reusability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314380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ISO 25010       Maintainability</a:t>
            </a: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C6AEC9BC-2562-04CA-C1D9-0C7137DF20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06764" y="1826081"/>
            <a:ext cx="393006" cy="333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998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Analyzability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Modifiability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Testability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Modularity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Reusability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2404922" y="2119302"/>
            <a:ext cx="9173128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SIG/</a:t>
            </a:r>
            <a:r>
              <a:rPr lang="en-US" noProof="0" dirty="0" err="1"/>
              <a:t>TÜViT</a:t>
            </a:r>
            <a:r>
              <a:rPr lang="en-US" noProof="0" dirty="0"/>
              <a:t> model maps the sub-characteristics to the system properties</a:t>
            </a:r>
          </a:p>
        </p:txBody>
      </p:sp>
      <p:grpSp>
        <p:nvGrpSpPr>
          <p:cNvPr id="16" name="Groep 15">
            <a:extLst>
              <a:ext uri="{FF2B5EF4-FFF2-40B4-BE49-F238E27FC236}">
                <a16:creationId xmlns:a16="http://schemas.microsoft.com/office/drawing/2014/main" id="{2EB7272D-F604-D956-AAE5-B2981212C033}"/>
              </a:ext>
            </a:extLst>
          </p:cNvPr>
          <p:cNvGrpSpPr/>
          <p:nvPr/>
        </p:nvGrpSpPr>
        <p:grpSpPr>
          <a:xfrm>
            <a:off x="2807936" y="2780488"/>
            <a:ext cx="2635602" cy="339865"/>
            <a:chOff x="2807936" y="2830273"/>
            <a:chExt cx="2635602" cy="339865"/>
          </a:xfrm>
        </p:grpSpPr>
        <p:grpSp>
          <p:nvGrpSpPr>
            <p:cNvPr id="23" name="Groep 22">
              <a:extLst>
                <a:ext uri="{FF2B5EF4-FFF2-40B4-BE49-F238E27FC236}">
                  <a16:creationId xmlns:a16="http://schemas.microsoft.com/office/drawing/2014/main" id="{10F67CCC-4965-E170-13FB-4DE08A2FB12B}"/>
                </a:ext>
              </a:extLst>
            </p:cNvPr>
            <p:cNvGrpSpPr/>
            <p:nvPr/>
          </p:nvGrpSpPr>
          <p:grpSpPr>
            <a:xfrm>
              <a:off x="2906989" y="2918313"/>
              <a:ext cx="2445855" cy="157941"/>
              <a:chOff x="3149473" y="2702807"/>
              <a:chExt cx="2445855" cy="157941"/>
            </a:xfrm>
          </p:grpSpPr>
          <p:sp>
            <p:nvSpPr>
              <p:cNvPr id="10" name="Ovaal 9">
                <a:extLst>
                  <a:ext uri="{FF2B5EF4-FFF2-40B4-BE49-F238E27FC236}">
                    <a16:creationId xmlns:a16="http://schemas.microsoft.com/office/drawing/2014/main" id="{EEC047B5-4675-87BB-C77D-525A9C15C89C}"/>
                  </a:ext>
                </a:extLst>
              </p:cNvPr>
              <p:cNvSpPr/>
              <p:nvPr/>
            </p:nvSpPr>
            <p:spPr>
              <a:xfrm>
                <a:off x="3149473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1" name="Ovaal 10">
                <a:extLst>
                  <a:ext uri="{FF2B5EF4-FFF2-40B4-BE49-F238E27FC236}">
                    <a16:creationId xmlns:a16="http://schemas.microsoft.com/office/drawing/2014/main" id="{B27E223E-7F96-98A3-1BCE-3C7E3476061A}"/>
                  </a:ext>
                </a:extLst>
              </p:cNvPr>
              <p:cNvSpPr/>
              <p:nvPr/>
            </p:nvSpPr>
            <p:spPr>
              <a:xfrm>
                <a:off x="4307640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2" name="Ovaal 11">
                <a:extLst>
                  <a:ext uri="{FF2B5EF4-FFF2-40B4-BE49-F238E27FC236}">
                    <a16:creationId xmlns:a16="http://schemas.microsoft.com/office/drawing/2014/main" id="{0490248B-B552-3119-224F-718F14ACB6C5}"/>
                  </a:ext>
                </a:extLst>
              </p:cNvPr>
              <p:cNvSpPr/>
              <p:nvPr/>
            </p:nvSpPr>
            <p:spPr>
              <a:xfrm>
                <a:off x="5437387" y="270280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5" name="Afgeronde rechthoek 4">
              <a:extLst>
                <a:ext uri="{FF2B5EF4-FFF2-40B4-BE49-F238E27FC236}">
                  <a16:creationId xmlns:a16="http://schemas.microsoft.com/office/drawing/2014/main" id="{C0978B86-C287-03A1-FB46-4DAE9843BB13}"/>
                </a:ext>
              </a:extLst>
            </p:cNvPr>
            <p:cNvSpPr/>
            <p:nvPr/>
          </p:nvSpPr>
          <p:spPr>
            <a:xfrm>
              <a:off x="2807936" y="2830273"/>
              <a:ext cx="2635602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17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15" name="Groep 14">
            <a:extLst>
              <a:ext uri="{FF2B5EF4-FFF2-40B4-BE49-F238E27FC236}">
                <a16:creationId xmlns:a16="http://schemas.microsoft.com/office/drawing/2014/main" id="{6D345AE2-E02E-D32F-9CBD-7FC86770FA07}"/>
              </a:ext>
            </a:extLst>
          </p:cNvPr>
          <p:cNvGrpSpPr/>
          <p:nvPr/>
        </p:nvGrpSpPr>
        <p:grpSpPr>
          <a:xfrm>
            <a:off x="3955803" y="3249198"/>
            <a:ext cx="5018263" cy="339865"/>
            <a:chOff x="3955803" y="3291298"/>
            <a:chExt cx="5018263" cy="339865"/>
          </a:xfrm>
        </p:grpSpPr>
        <p:grpSp>
          <p:nvGrpSpPr>
            <p:cNvPr id="22" name="Groep 21">
              <a:extLst>
                <a:ext uri="{FF2B5EF4-FFF2-40B4-BE49-F238E27FC236}">
                  <a16:creationId xmlns:a16="http://schemas.microsoft.com/office/drawing/2014/main" id="{1BF8A6A9-6A5F-3E6F-8302-59A7894DA250}"/>
                </a:ext>
              </a:extLst>
            </p:cNvPr>
            <p:cNvGrpSpPr/>
            <p:nvPr/>
          </p:nvGrpSpPr>
          <p:grpSpPr>
            <a:xfrm>
              <a:off x="4065156" y="3376902"/>
              <a:ext cx="4813858" cy="157941"/>
              <a:chOff x="4307640" y="3166426"/>
              <a:chExt cx="4813858" cy="157941"/>
            </a:xfrm>
          </p:grpSpPr>
          <p:sp>
            <p:nvSpPr>
              <p:cNvPr id="30" name="Ovaal 29">
                <a:extLst>
                  <a:ext uri="{FF2B5EF4-FFF2-40B4-BE49-F238E27FC236}">
                    <a16:creationId xmlns:a16="http://schemas.microsoft.com/office/drawing/2014/main" id="{A1A0F8C2-9323-45A0-6442-CD6CF9F3DC4F}"/>
                  </a:ext>
                </a:extLst>
              </p:cNvPr>
              <p:cNvSpPr/>
              <p:nvPr/>
            </p:nvSpPr>
            <p:spPr>
              <a:xfrm>
                <a:off x="43076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Ovaal 30">
                <a:extLst>
                  <a:ext uri="{FF2B5EF4-FFF2-40B4-BE49-F238E27FC236}">
                    <a16:creationId xmlns:a16="http://schemas.microsoft.com/office/drawing/2014/main" id="{5D327F0B-D25F-E912-D40A-438F2DD37A48}"/>
                  </a:ext>
                </a:extLst>
              </p:cNvPr>
              <p:cNvSpPr/>
              <p:nvPr/>
            </p:nvSpPr>
            <p:spPr>
              <a:xfrm>
                <a:off x="6596940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Ovaal 31">
                <a:extLst>
                  <a:ext uri="{FF2B5EF4-FFF2-40B4-BE49-F238E27FC236}">
                    <a16:creationId xmlns:a16="http://schemas.microsoft.com/office/drawing/2014/main" id="{BAEEFB57-DC37-56B7-9F13-3DEE86B7E6F4}"/>
                  </a:ext>
                </a:extLst>
              </p:cNvPr>
              <p:cNvSpPr/>
              <p:nvPr/>
            </p:nvSpPr>
            <p:spPr>
              <a:xfrm>
                <a:off x="8963557" y="316642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Afgeronde rechthoek 8">
              <a:extLst>
                <a:ext uri="{FF2B5EF4-FFF2-40B4-BE49-F238E27FC236}">
                  <a16:creationId xmlns:a16="http://schemas.microsoft.com/office/drawing/2014/main" id="{DBAC85F2-D462-26C2-8480-06B8112AEB41}"/>
                </a:ext>
              </a:extLst>
            </p:cNvPr>
            <p:cNvSpPr/>
            <p:nvPr/>
          </p:nvSpPr>
          <p:spPr>
            <a:xfrm>
              <a:off x="3955803" y="3291298"/>
              <a:ext cx="5018263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8" name="Groep 7">
            <a:extLst>
              <a:ext uri="{FF2B5EF4-FFF2-40B4-BE49-F238E27FC236}">
                <a16:creationId xmlns:a16="http://schemas.microsoft.com/office/drawing/2014/main" id="{24A25421-1B5F-3753-AFD8-FEDCF2499C6D}"/>
              </a:ext>
            </a:extLst>
          </p:cNvPr>
          <p:cNvGrpSpPr/>
          <p:nvPr/>
        </p:nvGrpSpPr>
        <p:grpSpPr>
          <a:xfrm>
            <a:off x="2807935" y="3717908"/>
            <a:ext cx="8456177" cy="339865"/>
            <a:chOff x="2807935" y="3744528"/>
            <a:chExt cx="8456177" cy="339865"/>
          </a:xfrm>
        </p:grpSpPr>
        <p:grpSp>
          <p:nvGrpSpPr>
            <p:cNvPr id="24" name="Groep 23">
              <a:extLst>
                <a:ext uri="{FF2B5EF4-FFF2-40B4-BE49-F238E27FC236}">
                  <a16:creationId xmlns:a16="http://schemas.microsoft.com/office/drawing/2014/main" id="{34C2642E-BD9E-B164-9B50-9F6044701472}"/>
                </a:ext>
              </a:extLst>
            </p:cNvPr>
            <p:cNvGrpSpPr/>
            <p:nvPr/>
          </p:nvGrpSpPr>
          <p:grpSpPr>
            <a:xfrm>
              <a:off x="2906989" y="3835491"/>
              <a:ext cx="8258926" cy="157941"/>
              <a:chOff x="3149473" y="3796856"/>
              <a:chExt cx="8258926" cy="157941"/>
            </a:xfrm>
          </p:grpSpPr>
          <p:sp>
            <p:nvSpPr>
              <p:cNvPr id="33" name="Ovaal 32">
                <a:extLst>
                  <a:ext uri="{FF2B5EF4-FFF2-40B4-BE49-F238E27FC236}">
                    <a16:creationId xmlns:a16="http://schemas.microsoft.com/office/drawing/2014/main" id="{6B6535E0-9B87-4936-01E5-3207BED2217D}"/>
                  </a:ext>
                </a:extLst>
              </p:cNvPr>
              <p:cNvSpPr/>
              <p:nvPr/>
            </p:nvSpPr>
            <p:spPr>
              <a:xfrm>
                <a:off x="3149473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Ovaal 33">
                <a:extLst>
                  <a:ext uri="{FF2B5EF4-FFF2-40B4-BE49-F238E27FC236}">
                    <a16:creationId xmlns:a16="http://schemas.microsoft.com/office/drawing/2014/main" id="{5C7E45C1-1A48-CBA8-888A-1A6A9F926F5C}"/>
                  </a:ext>
                </a:extLst>
              </p:cNvPr>
              <p:cNvSpPr/>
              <p:nvPr/>
            </p:nvSpPr>
            <p:spPr>
              <a:xfrm>
                <a:off x="6610746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5" name="Ovaal 34">
                <a:extLst>
                  <a:ext uri="{FF2B5EF4-FFF2-40B4-BE49-F238E27FC236}">
                    <a16:creationId xmlns:a16="http://schemas.microsoft.com/office/drawing/2014/main" id="{D04F3E43-6E0B-8BCD-7228-E5FF88C02653}"/>
                  </a:ext>
                </a:extLst>
              </p:cNvPr>
              <p:cNvSpPr/>
              <p:nvPr/>
            </p:nvSpPr>
            <p:spPr>
              <a:xfrm>
                <a:off x="11250458" y="3796856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3" name="Afgeronde rechthoek 12">
              <a:extLst>
                <a:ext uri="{FF2B5EF4-FFF2-40B4-BE49-F238E27FC236}">
                  <a16:creationId xmlns:a16="http://schemas.microsoft.com/office/drawing/2014/main" id="{0FED46CD-0272-D4D6-12BE-438AFB4120B1}"/>
                </a:ext>
              </a:extLst>
            </p:cNvPr>
            <p:cNvSpPr/>
            <p:nvPr/>
          </p:nvSpPr>
          <p:spPr>
            <a:xfrm>
              <a:off x="2807935" y="3744528"/>
              <a:ext cx="8456177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ep 6">
            <a:extLst>
              <a:ext uri="{FF2B5EF4-FFF2-40B4-BE49-F238E27FC236}">
                <a16:creationId xmlns:a16="http://schemas.microsoft.com/office/drawing/2014/main" id="{5E3456A8-CC1F-BB43-8D8C-7D6557414C9D}"/>
              </a:ext>
            </a:extLst>
          </p:cNvPr>
          <p:cNvGrpSpPr/>
          <p:nvPr/>
        </p:nvGrpSpPr>
        <p:grpSpPr>
          <a:xfrm>
            <a:off x="8601834" y="4186618"/>
            <a:ext cx="2662278" cy="339865"/>
            <a:chOff x="8601834" y="4197760"/>
            <a:chExt cx="2662278" cy="339865"/>
          </a:xfrm>
        </p:grpSpPr>
        <p:grpSp>
          <p:nvGrpSpPr>
            <p:cNvPr id="25" name="Groep 24">
              <a:extLst>
                <a:ext uri="{FF2B5EF4-FFF2-40B4-BE49-F238E27FC236}">
                  <a16:creationId xmlns:a16="http://schemas.microsoft.com/office/drawing/2014/main" id="{1A7CBC52-328C-B2D0-C7F6-04728E853D42}"/>
                </a:ext>
              </a:extLst>
            </p:cNvPr>
            <p:cNvGrpSpPr/>
            <p:nvPr/>
          </p:nvGrpSpPr>
          <p:grpSpPr>
            <a:xfrm>
              <a:off x="8708612" y="4294080"/>
              <a:ext cx="2457303" cy="157941"/>
              <a:chOff x="8951096" y="4294237"/>
              <a:chExt cx="2457303" cy="157941"/>
            </a:xfrm>
          </p:grpSpPr>
          <p:sp>
            <p:nvSpPr>
              <p:cNvPr id="36" name="Ovaal 35">
                <a:extLst>
                  <a:ext uri="{FF2B5EF4-FFF2-40B4-BE49-F238E27FC236}">
                    <a16:creationId xmlns:a16="http://schemas.microsoft.com/office/drawing/2014/main" id="{4334F243-08B2-6786-25B4-FF32DB399AA8}"/>
                  </a:ext>
                </a:extLst>
              </p:cNvPr>
              <p:cNvSpPr/>
              <p:nvPr/>
            </p:nvSpPr>
            <p:spPr>
              <a:xfrm>
                <a:off x="11250458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7" name="Ovaal 36">
                <a:extLst>
                  <a:ext uri="{FF2B5EF4-FFF2-40B4-BE49-F238E27FC236}">
                    <a16:creationId xmlns:a16="http://schemas.microsoft.com/office/drawing/2014/main" id="{9E687F8D-E767-F317-E2C8-5013133A3E6C}"/>
                  </a:ext>
                </a:extLst>
              </p:cNvPr>
              <p:cNvSpPr/>
              <p:nvPr/>
            </p:nvSpPr>
            <p:spPr>
              <a:xfrm>
                <a:off x="10152377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Ovaal 37">
                <a:extLst>
                  <a:ext uri="{FF2B5EF4-FFF2-40B4-BE49-F238E27FC236}">
                    <a16:creationId xmlns:a16="http://schemas.microsoft.com/office/drawing/2014/main" id="{36312CC0-E81D-1F88-7500-78BCB99C111F}"/>
                  </a:ext>
                </a:extLst>
              </p:cNvPr>
              <p:cNvSpPr/>
              <p:nvPr/>
            </p:nvSpPr>
            <p:spPr>
              <a:xfrm>
                <a:off x="8951096" y="4294237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4" name="Afgeronde rechthoek 13">
              <a:extLst>
                <a:ext uri="{FF2B5EF4-FFF2-40B4-BE49-F238E27FC236}">
                  <a16:creationId xmlns:a16="http://schemas.microsoft.com/office/drawing/2014/main" id="{0C28EA2C-ADB2-610A-9843-B711D6BF6AD7}"/>
                </a:ext>
              </a:extLst>
            </p:cNvPr>
            <p:cNvSpPr/>
            <p:nvPr/>
          </p:nvSpPr>
          <p:spPr>
            <a:xfrm>
              <a:off x="8601834" y="4197760"/>
              <a:ext cx="2662278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6" name="Groep 5">
            <a:extLst>
              <a:ext uri="{FF2B5EF4-FFF2-40B4-BE49-F238E27FC236}">
                <a16:creationId xmlns:a16="http://schemas.microsoft.com/office/drawing/2014/main" id="{1F44224B-F24D-C427-53AD-5E37EBAF3383}"/>
              </a:ext>
            </a:extLst>
          </p:cNvPr>
          <p:cNvGrpSpPr/>
          <p:nvPr/>
        </p:nvGrpSpPr>
        <p:grpSpPr>
          <a:xfrm>
            <a:off x="5089890" y="4655327"/>
            <a:ext cx="2759384" cy="339865"/>
            <a:chOff x="5089890" y="4658783"/>
            <a:chExt cx="2759384" cy="339865"/>
          </a:xfrm>
        </p:grpSpPr>
        <p:grpSp>
          <p:nvGrpSpPr>
            <p:cNvPr id="26" name="Groep 25">
              <a:extLst>
                <a:ext uri="{FF2B5EF4-FFF2-40B4-BE49-F238E27FC236}">
                  <a16:creationId xmlns:a16="http://schemas.microsoft.com/office/drawing/2014/main" id="{580DDB05-E7F6-E9B6-6EB5-93816E666A05}"/>
                </a:ext>
              </a:extLst>
            </p:cNvPr>
            <p:cNvGrpSpPr/>
            <p:nvPr/>
          </p:nvGrpSpPr>
          <p:grpSpPr>
            <a:xfrm>
              <a:off x="5194635" y="4752669"/>
              <a:ext cx="2555987" cy="157941"/>
              <a:chOff x="5437119" y="4812269"/>
              <a:chExt cx="2555987" cy="157941"/>
            </a:xfrm>
          </p:grpSpPr>
          <p:sp>
            <p:nvSpPr>
              <p:cNvPr id="39" name="Ovaal 38">
                <a:extLst>
                  <a:ext uri="{FF2B5EF4-FFF2-40B4-BE49-F238E27FC236}">
                    <a16:creationId xmlns:a16="http://schemas.microsoft.com/office/drawing/2014/main" id="{50BA0F96-2A00-CE63-9D2F-2D16A95C2D15}"/>
                  </a:ext>
                </a:extLst>
              </p:cNvPr>
              <p:cNvSpPr/>
              <p:nvPr/>
            </p:nvSpPr>
            <p:spPr>
              <a:xfrm>
                <a:off x="7835165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Ovaal 39">
                <a:extLst>
                  <a:ext uri="{FF2B5EF4-FFF2-40B4-BE49-F238E27FC236}">
                    <a16:creationId xmlns:a16="http://schemas.microsoft.com/office/drawing/2014/main" id="{CE1D0E13-4B48-1770-693F-792379748CC8}"/>
                  </a:ext>
                </a:extLst>
              </p:cNvPr>
              <p:cNvSpPr/>
              <p:nvPr/>
            </p:nvSpPr>
            <p:spPr>
              <a:xfrm>
                <a:off x="5437119" y="4812269"/>
                <a:ext cx="157941" cy="157941"/>
              </a:xfrm>
              <a:prstGeom prst="ellipse">
                <a:avLst/>
              </a:prstGeom>
              <a:gradFill>
                <a:gsLst>
                  <a:gs pos="23000">
                    <a:srgbClr val="F8C818"/>
                  </a:gs>
                  <a:gs pos="61000">
                    <a:srgbClr val="E98C36"/>
                  </a:gs>
                </a:gsLst>
                <a:lin ang="2700000" scaled="0"/>
              </a:gradFill>
              <a:ln w="12700">
                <a:gradFill>
                  <a:gsLst>
                    <a:gs pos="16000">
                      <a:schemeClr val="accent4">
                        <a:lumMod val="20000"/>
                        <a:lumOff val="80000"/>
                      </a:schemeClr>
                    </a:gs>
                    <a:gs pos="58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158021" sx="102000" sy="102000" algn="ctr" rotWithShape="0">
                  <a:prstClr val="black">
                    <a:alpha val="2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08000" tIns="72000" rIns="108000" bIns="72000" rtlCol="0" anchor="ctr"/>
              <a:lstStyle/>
              <a:p>
                <a:pPr algn="ctr"/>
                <a:endParaRPr lang="en-US" sz="1600" noProof="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70808160-862B-ECE4-6A3E-5050F5A9C883}"/>
                </a:ext>
              </a:extLst>
            </p:cNvPr>
            <p:cNvSpPr/>
            <p:nvPr/>
          </p:nvSpPr>
          <p:spPr>
            <a:xfrm>
              <a:off x="5089890" y="4658783"/>
              <a:ext cx="2759384" cy="339865"/>
            </a:xfrm>
            <a:prstGeom prst="roundRect">
              <a:avLst>
                <a:gd name="adj" fmla="val 50000"/>
              </a:avLst>
            </a:prstGeom>
            <a:gradFill>
              <a:gsLst>
                <a:gs pos="20000">
                  <a:schemeClr val="accent4">
                    <a:alpha val="10000"/>
                  </a:schemeClr>
                </a:gs>
                <a:gs pos="0">
                  <a:schemeClr val="accent4">
                    <a:alpha val="30000"/>
                  </a:schemeClr>
                </a:gs>
              </a:gsLst>
              <a:lin ang="4200000" scaled="0"/>
            </a:gradFill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2831161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Maintainability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r>
              <a:rPr lang="en-US" sz="1400" noProof="0" dirty="0">
                <a:solidFill>
                  <a:schemeClr val="bg1"/>
                </a:solidFill>
                <a:latin typeface="☞NOIR PRO MEDIUM" pitchFamily="2" charset="0"/>
              </a:rPr>
              <a:t>25010</a:t>
            </a: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21" name="Picture 166">
            <a:extLst>
              <a:ext uri="{FF2B5EF4-FFF2-40B4-BE49-F238E27FC236}">
                <a16:creationId xmlns:a16="http://schemas.microsoft.com/office/drawing/2014/main" id="{0E781429-EAE9-5D29-21EF-7E7387F6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100000"/>
          </a:blip>
          <a:stretch>
            <a:fillRect/>
          </a:stretch>
        </p:blipFill>
        <p:spPr>
          <a:xfrm>
            <a:off x="342438" y="2225598"/>
            <a:ext cx="454660" cy="386461"/>
          </a:xfrm>
          <a:prstGeom prst="rect">
            <a:avLst/>
          </a:prstGeom>
        </p:spPr>
      </p:pic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53658" y="2306414"/>
            <a:ext cx="359504" cy="239668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2404922" y="2200267"/>
          <a:ext cx="9173128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6641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6641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Volume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Duplication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size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</a:t>
                      </a:r>
                      <a:b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</a:b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complexity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Unit interfacing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Module 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entanglement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independence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49" name="Driehoek 48">
            <a:extLst>
              <a:ext uri="{FF2B5EF4-FFF2-40B4-BE49-F238E27FC236}">
                <a16:creationId xmlns:a16="http://schemas.microsoft.com/office/drawing/2014/main" id="{76614EDA-4914-AB80-9A45-AF481E7E5AAA}"/>
              </a:ext>
            </a:extLst>
          </p:cNvPr>
          <p:cNvSpPr/>
          <p:nvPr/>
        </p:nvSpPr>
        <p:spPr>
          <a:xfrm rot="10800000">
            <a:off x="1075993" y="2580143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0" name="Driehoek 49">
            <a:extLst>
              <a:ext uri="{FF2B5EF4-FFF2-40B4-BE49-F238E27FC236}">
                <a16:creationId xmlns:a16="http://schemas.microsoft.com/office/drawing/2014/main" id="{2C9FFFED-5DCC-8361-E111-40B1639E7797}"/>
              </a:ext>
            </a:extLst>
          </p:cNvPr>
          <p:cNvSpPr/>
          <p:nvPr/>
        </p:nvSpPr>
        <p:spPr>
          <a:xfrm rot="5400000">
            <a:off x="2409413" y="2405190"/>
            <a:ext cx="92249" cy="45719"/>
          </a:xfrm>
          <a:prstGeom prst="triangl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>
                  <a:alpha val="50000"/>
                </a:schemeClr>
              </a:solidFill>
            </a:endParaRPr>
          </a:p>
        </p:txBody>
      </p:sp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22A25979-9B27-41E5-42F3-4829A8820D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1092" y="1549761"/>
            <a:ext cx="262890" cy="260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45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518124" cy="228209"/>
          </a:xfrm>
        </p:spPr>
        <p:txBody>
          <a:bodyPr/>
          <a:lstStyle/>
          <a:p>
            <a:r>
              <a:rPr lang="en-US" noProof="0" dirty="0"/>
              <a:t>Key findings – Maintainability benchmark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is a </a:t>
            </a:r>
            <a:r>
              <a:rPr lang="en-US" noProof="0" dirty="0" err="1"/>
              <a:t>MAINT_SIZE</a:t>
            </a:r>
            <a:r>
              <a:rPr lang="en-US" noProof="0" dirty="0"/>
              <a:t> system of </a:t>
            </a:r>
            <a:r>
              <a:rPr lang="en-US" noProof="0" dirty="0" err="1"/>
              <a:t>SYSTEM_PY</a:t>
            </a:r>
            <a:r>
              <a:rPr lang="en-US" noProof="0" dirty="0"/>
              <a:t> PY which scores </a:t>
            </a:r>
            <a:r>
              <a:rPr lang="en-US" noProof="0" dirty="0" err="1"/>
              <a:t>MAINT_RATING</a:t>
            </a:r>
            <a:r>
              <a:rPr lang="en-US" noProof="0" dirty="0"/>
              <a:t> for maintainability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59315" y="1798115"/>
            <a:ext cx="992729" cy="3600986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noProof="0" dirty="0" err="1">
                <a:solidFill>
                  <a:schemeClr val="bg1"/>
                </a:solidFill>
                <a:latin typeface="Sigsterren" pitchFamily="2" charset="0"/>
              </a:rPr>
              <a:t>HHHHH</a:t>
            </a:r>
            <a:endParaRPr lang="en-US" sz="1600" noProof="0" dirty="0">
              <a:solidFill>
                <a:schemeClr val="bg1"/>
              </a:solidFill>
              <a:latin typeface="Sigsterren" pitchFamily="2" charset="0"/>
            </a:endParaRPr>
          </a:p>
          <a:p>
            <a:pPr algn="r">
              <a:lnSpc>
                <a:spcPct val="300000"/>
              </a:lnSpc>
            </a:pPr>
            <a:r>
              <a:rPr lang="en-US" sz="1600" noProof="0" dirty="0" err="1">
                <a:solidFill>
                  <a:schemeClr val="bg1"/>
                </a:solidFill>
                <a:latin typeface="Sigsterren" pitchFamily="2" charset="0"/>
              </a:rPr>
              <a:t>HHHH</a:t>
            </a:r>
            <a:endParaRPr lang="en-US" sz="1600" noProof="0" dirty="0">
              <a:solidFill>
                <a:schemeClr val="bg1"/>
              </a:solidFill>
              <a:latin typeface="Sigsterren" pitchFamily="2" charset="0"/>
            </a:endParaRPr>
          </a:p>
          <a:p>
            <a:pPr algn="r">
              <a:lnSpc>
                <a:spcPct val="300000"/>
              </a:lnSpc>
            </a:pPr>
            <a:r>
              <a:rPr lang="en-US" sz="1600" noProof="0" dirty="0" err="1">
                <a:solidFill>
                  <a:schemeClr val="bg1"/>
                </a:solidFill>
                <a:latin typeface="Sigsterren" pitchFamily="2" charset="0"/>
              </a:rPr>
              <a:t>HHH</a:t>
            </a:r>
            <a:endParaRPr lang="en-US" sz="1600" noProof="0" dirty="0">
              <a:solidFill>
                <a:schemeClr val="bg1"/>
              </a:solidFill>
              <a:latin typeface="Sigsterren" pitchFamily="2" charset="0"/>
            </a:endParaRPr>
          </a:p>
          <a:p>
            <a:pPr algn="r">
              <a:lnSpc>
                <a:spcPct val="300000"/>
              </a:lnSpc>
            </a:pPr>
            <a:r>
              <a:rPr lang="en-US" sz="1600" noProof="0" dirty="0">
                <a:solidFill>
                  <a:schemeClr val="bg1"/>
                </a:solidFill>
                <a:latin typeface="Sigsterren" pitchFamily="2" charset="0"/>
              </a:rPr>
              <a:t>HH</a:t>
            </a:r>
          </a:p>
          <a:p>
            <a:pPr algn="r">
              <a:lnSpc>
                <a:spcPct val="300000"/>
              </a:lnSpc>
            </a:pPr>
            <a:r>
              <a:rPr lang="en-US" sz="1600" noProof="0" dirty="0">
                <a:solidFill>
                  <a:schemeClr val="bg1"/>
                </a:solidFill>
                <a:latin typeface="Sigsterren" pitchFamily="2" charset="0"/>
              </a:rPr>
              <a:t>H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CHART_1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67471FA-A9FE-8926-C136-F5A56280E365}"/>
              </a:ext>
            </a:extLst>
          </p:cNvPr>
          <p:cNvSpPr txBox="1"/>
          <p:nvPr/>
        </p:nvSpPr>
        <p:spPr>
          <a:xfrm>
            <a:off x="10854411" y="-307357"/>
            <a:ext cx="1404700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dirty="0" err="1">
                <a:solidFill>
                  <a:schemeClr val="tx2"/>
                </a:solidFill>
              </a:rPr>
              <a:t>GALAXY_SLIDE</a:t>
            </a:r>
            <a:endParaRPr lang="en-US" sz="16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3D0FC-1E69-5405-8D25-E89771A79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F1B609EF-4181-E74F-FF39-E0761C89B7D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674945" cy="228145"/>
          </a:xfrm>
        </p:spPr>
        <p:txBody>
          <a:bodyPr/>
          <a:lstStyle/>
          <a:p>
            <a:r>
              <a:rPr lang="en-US" noProof="0" dirty="0"/>
              <a:t>Key findings – Maintainability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C9D4FD2A-29C7-977B-F942-DDDC53AD6AC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SYSTEM_NAME</a:t>
            </a:r>
            <a:r>
              <a:rPr lang="en-US" sz="1400" noProof="0" dirty="0"/>
              <a:t> scores </a:t>
            </a:r>
            <a:r>
              <a:rPr lang="en-US" sz="1400" noProof="0" dirty="0" err="1"/>
              <a:t>MAINT_RELATIVE</a:t>
            </a:r>
            <a:r>
              <a:rPr lang="en-US" sz="1400" noProof="0" dirty="0"/>
              <a:t> market average for maintainability. This indicates </a:t>
            </a:r>
            <a:r>
              <a:rPr lang="en-US" sz="1400" noProof="0" dirty="0" err="1"/>
              <a:t>MAINT_INDICATION</a:t>
            </a:r>
            <a:r>
              <a:rPr lang="en-US" sz="1400" noProof="0" dirty="0"/>
              <a:t> maintenance costs and time to market for functional changes. </a:t>
            </a:r>
          </a:p>
          <a:p>
            <a:endParaRPr lang="en-US" sz="1400" noProof="0" dirty="0"/>
          </a:p>
          <a:p>
            <a:r>
              <a:rPr lang="en-US" sz="1400" noProof="0" dirty="0">
                <a:latin typeface="Noir Pro Semi Bold" pitchFamily="2" charset="0"/>
              </a:rPr>
              <a:t>Notable metrics</a:t>
            </a:r>
          </a:p>
          <a:p>
            <a:r>
              <a:rPr lang="en-US" sz="1400" noProof="0" dirty="0" err="1"/>
              <a:t>MAINT_MULTIPLE_OBSERVATIONS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CC752FB1-03C1-7292-253C-C8435A815C2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5651B26-96DD-EACD-2E25-B80757D07B9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A6914BE1-1869-02E9-03A8-308091307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scores </a:t>
            </a:r>
            <a:r>
              <a:rPr lang="en-US" noProof="0" dirty="0" err="1"/>
              <a:t>MAINT_INDICATION</a:t>
            </a:r>
            <a:r>
              <a:rPr lang="en-US" noProof="0" dirty="0"/>
              <a:t> for maintainability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EF8E65C2-A45F-F7BE-50AD-120C0B0578AB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2617144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8058F19A-8E04-B773-2F63-975EE437CF7B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0DCAE605-6045-AE2B-8209-321411B56E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A519506A-F642-8B0A-0CD2-170BCE2AA5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8A515EA8-6F7F-CB57-EEF9-6A988D6515A9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2EE68DC-9DD1-19EB-B084-5915863A13C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16341FD7-C449-69BD-197B-554C11DA7F1D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A4959127-23CE-B5B2-54D8-24915B5D939C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467EED00-A9A4-745B-FA74-A2589E0935F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65D273F6-15EF-5B5D-F9A4-4D7671E31A92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9B50D10F-F915-DCFC-A5F9-B9784D2E0A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7222BC8B-9E66-91BE-A862-E4B0A9707F5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0372C655-B475-E870-9B73-C457C942995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A4495646-4CD8-7FE9-D6FA-E6A32F3268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81E714D1-2EDD-E6C5-CAAA-EB02239A0D7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FA94012-C64B-FEAF-BEF5-6E878110F95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06245C99-D1A2-81E1-7A2A-9B3FA54DB5D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0D680DAE-6A0A-5F80-9D73-1B3434F7C52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HIIII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B95F3709-4127-653F-563F-EB0A748FB34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DB3E36D4-BB81-8AF0-CEF6-CCC2706BF8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3A492A1F-5A7A-07F8-8C38-7C13295E7C4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8D18C5C7-06E2-49CE-D02A-344D110428D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HHHHH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B27569F3-74B0-C2D8-CBC7-DCBA58B39A6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37D11895-5EFF-93B7-DE3D-9A9E9F09F8C1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B5BD83E5-4A87-97B5-1F20-E26F1CC99F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D9F659BC-E5C3-0EB3-2FDA-3439436410A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0F81F54D-AD5F-2ED7-41E7-B4244E747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DDB8BF03-352C-7912-CA4F-E637BDD54DF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402C79F4-6E42-178E-24B7-07CA9240FF5A}"/>
              </a:ext>
            </a:extLst>
          </p:cNvPr>
          <p:cNvGraphicFramePr>
            <a:graphicFrameLocks noGrp="1"/>
          </p:cNvGraphicFramePr>
          <p:nvPr/>
        </p:nvGraphicFramePr>
        <p:xfrm>
          <a:off x="8571496" y="3035953"/>
          <a:ext cx="3116504" cy="18681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MAINT_RATING_VOLUME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Duplication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MAINT_RATING_DUPLICATION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Unit 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lt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MAINT_RATING_UNIT_SIZE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complexity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MAINT_RATING_UNIT_COMPLEXITY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Unit interfacing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MAINT_RATING_UNIT_INTERFACING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Module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MAINT_RATING_MODULE_COUPLING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entanglement 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MAINT_RATING_COMPONENT_ENTANGLEMENT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independence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MAINT_RATING_COMPONENT_INDEPENDENCE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77E3437B-5074-14E8-36C7-3DF76B44157A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AC4EC13-23AB-04D5-0F9F-2B74B25C4A9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26078FB0-8A8E-B3F7-4DCB-48A08F72175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MAINT_DATE_YEAR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89227F0-045C-CC55-9916-9690A349C77E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30C82FE-1178-32D8-EC14-6C21317BE3E9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F195F66-2F7D-44D7-BBBD-D6BE8D7F6FC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58D67A48-2556-2ED0-85E0-5AC6B13B7FD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MARKER_MAINT_RATING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11295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B4D6E7B-3114-F989-0221-CF083D29CE8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253356" cy="228145"/>
          </a:xfrm>
        </p:spPr>
        <p:txBody>
          <a:bodyPr/>
          <a:lstStyle/>
          <a:p>
            <a:r>
              <a:rPr lang="en-US" noProof="0" dirty="0"/>
              <a:t>Key findings – Technology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2770E21-F741-00F2-0514-4F39688D23D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DBA139-C731-CD59-94C7-031326B4159B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11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E94009D2-574F-A208-29BC-1338E3FDD5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The system is </a:t>
            </a:r>
            <a:r>
              <a:rPr lang="en-US" noProof="0" dirty="0" err="1"/>
              <a:t>VOLUME_RELATIVE</a:t>
            </a:r>
            <a:r>
              <a:rPr lang="en-US" noProof="0" dirty="0"/>
              <a:t> in size and is built primarily in TECH_1_NAME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1AEDC6C-8C3E-727E-1418-2D7B541D7525}"/>
              </a:ext>
            </a:extLst>
          </p:cNvPr>
          <p:cNvSpPr txBox="1">
            <a:spLocks/>
          </p:cNvSpPr>
          <p:nvPr/>
        </p:nvSpPr>
        <p:spPr>
          <a:xfrm>
            <a:off x="154800" y="1411199"/>
            <a:ext cx="3927600" cy="4161697"/>
          </a:xfrm>
          <a:prstGeom prst="rect">
            <a:avLst/>
          </a:prstGeom>
        </p:spPr>
        <p:txBody>
          <a:bodyPr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/>
            <a:r>
              <a:rPr lang="en-US" noProof="0" dirty="0" err="1"/>
              <a:t>TECH_COMMON_SUMMARY</a:t>
            </a:r>
            <a:endParaRPr lang="en-US" noProof="0" dirty="0"/>
          </a:p>
          <a:p>
            <a:pPr marL="285750" indent="-285750"/>
            <a:r>
              <a:rPr lang="en-US" noProof="0" dirty="0" err="1"/>
              <a:t>TECH_VARIANCE</a:t>
            </a:r>
            <a:endParaRPr lang="en-US" noProof="0" dirty="0"/>
          </a:p>
        </p:txBody>
      </p:sp>
      <p:cxnSp>
        <p:nvCxnSpPr>
          <p:cNvPr id="8" name="Straight Connector 31">
            <a:extLst>
              <a:ext uri="{FF2B5EF4-FFF2-40B4-BE49-F238E27FC236}">
                <a16:creationId xmlns:a16="http://schemas.microsoft.com/office/drawing/2014/main" id="{DD55A41C-2B82-26B6-9D2A-766F671176C0}"/>
              </a:ext>
            </a:extLst>
          </p:cNvPr>
          <p:cNvCxnSpPr>
            <a:cxnSpLocks/>
          </p:cNvCxnSpPr>
          <p:nvPr/>
        </p:nvCxnSpPr>
        <p:spPr>
          <a:xfrm>
            <a:off x="4176367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E5DDF9E1-26B6-EE58-18CE-4DBED266C4BE}"/>
              </a:ext>
            </a:extLst>
          </p:cNvPr>
          <p:cNvGraphicFramePr/>
          <p:nvPr/>
        </p:nvGraphicFramePr>
        <p:xfrm>
          <a:off x="4258899" y="1366989"/>
          <a:ext cx="7486768" cy="19407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C4B4064B-3666-8F9B-FEDF-E1E1A99275BE}"/>
              </a:ext>
            </a:extLst>
          </p:cNvPr>
          <p:cNvGraphicFramePr>
            <a:graphicFrameLocks noGrp="1"/>
          </p:cNvGraphicFramePr>
          <p:nvPr/>
        </p:nvGraphicFramePr>
        <p:xfrm>
          <a:off x="4258898" y="3328130"/>
          <a:ext cx="7486769" cy="2154574"/>
        </p:xfrm>
        <a:graphic>
          <a:graphicData uri="http://schemas.openxmlformats.org/drawingml/2006/table">
            <a:tbl>
              <a:tblPr firstRow="1" bandRow="1">
                <a:effectLst/>
                <a:tableStyleId>{F2DE63D5-997A-4646-A377-4702673A728D}</a:tableStyleId>
              </a:tblPr>
              <a:tblGrid>
                <a:gridCol w="37407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61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64441">
                  <a:extLst>
                    <a:ext uri="{9D8B030D-6E8A-4147-A177-3AD203B41FA5}">
                      <a16:colId xmlns:a16="http://schemas.microsoft.com/office/drawing/2014/main" val="3286041723"/>
                    </a:ext>
                  </a:extLst>
                </a:gridCol>
              </a:tblGrid>
              <a:tr h="36777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Technology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216000" marR="108000" marT="72000" marB="72000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noProof="0" dirty="0">
                          <a:solidFill>
                            <a:schemeClr val="bg1"/>
                          </a:solidFill>
                          <a:latin typeface="+mn-lt"/>
                        </a:rPr>
                        <a:t>Lines of Code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Rebuild size (PM)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9525" cap="flat" cmpd="sng" algn="ctr">
                      <a:noFill/>
                      <a:prstDash val="solid"/>
                    </a:lnT>
                    <a:lnB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TECH_1_NAME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TECH_1_LOC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TECH_1_PY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905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TECH_2_NAME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TECH_2_LOC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TECH_2_PY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TECH_3_NAME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TECH_3_LOC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TECH_3_PY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TECH_4_NAME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TECH_4_LOC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TECH_4_PY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640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</a:rPr>
                        <a:t>TECH_5_NAME</a:t>
                      </a:r>
                    </a:p>
                  </a:txBody>
                  <a:tcPr marL="216000" marR="108000" marT="72000" marB="72000" anchor="b">
                    <a:lnL w="9525" cap="flat" cmpd="sng" algn="ctr">
                      <a:noFill/>
                      <a:prstDash val="solid"/>
                    </a:lnL>
                    <a:lnR>
                      <a:noFill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/>
                          </a:solidFill>
                          <a:effectLst/>
                          <a:latin typeface="Calibri Regular"/>
                        </a:rPr>
                        <a:t>TECH_5_LOC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u="none" strike="noStrike" noProof="0" dirty="0">
                          <a:solidFill>
                            <a:schemeClr val="tx1">
                              <a:lumMod val="60000"/>
                              <a:lumOff val="40000"/>
                            </a:schemeClr>
                          </a:solidFill>
                          <a:effectLst/>
                          <a:latin typeface="Calibri Regular"/>
                        </a:rPr>
                        <a:t>TECH_5_PY</a:t>
                      </a:r>
                    </a:p>
                  </a:txBody>
                  <a:tcPr marL="108000" marR="108000" marT="72000" marB="72000">
                    <a:lnL>
                      <a:noFill/>
                    </a:lnL>
                    <a:lnR w="9525" cap="flat" cmpd="sng" algn="ctr">
                      <a:noFill/>
                      <a:prstDash val="solid"/>
                    </a:lnR>
                    <a:lnT w="12700" cap="flat" cmpd="sng" algn="ctr">
                      <a:solidFill>
                        <a:schemeClr val="tx1">
                          <a:lumMod val="40000"/>
                          <a:lumOff val="60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</a:tbl>
          </a:graphicData>
        </a:graphic>
      </p:graphicFrame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F6F2A0BE-E3E4-9A47-906A-32FD433FB0F7}"/>
              </a:ext>
            </a:extLst>
          </p:cNvPr>
          <p:cNvSpPr txBox="1">
            <a:spLocks/>
          </p:cNvSpPr>
          <p:nvPr/>
        </p:nvSpPr>
        <p:spPr>
          <a:xfrm>
            <a:off x="4478812" y="5781286"/>
            <a:ext cx="1797438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noProof="0" dirty="0">
                <a:solidFill>
                  <a:schemeClr val="tx1"/>
                </a:solidFill>
              </a:rPr>
              <a:t>System rebuild size:</a:t>
            </a:r>
          </a:p>
        </p:txBody>
      </p:sp>
      <p:sp>
        <p:nvSpPr>
          <p:cNvPr id="12" name="Text Placeholder 29">
            <a:extLst>
              <a:ext uri="{FF2B5EF4-FFF2-40B4-BE49-F238E27FC236}">
                <a16:creationId xmlns:a16="http://schemas.microsoft.com/office/drawing/2014/main" id="{4E5F2948-2383-E59A-7528-F3A85A416090}"/>
              </a:ext>
            </a:extLst>
          </p:cNvPr>
          <p:cNvSpPr txBox="1">
            <a:spLocks/>
          </p:cNvSpPr>
          <p:nvPr/>
        </p:nvSpPr>
        <p:spPr>
          <a:xfrm>
            <a:off x="9695543" y="5781287"/>
            <a:ext cx="2050125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SYSTEM_PY</a:t>
            </a:r>
            <a:r>
              <a:rPr lang="en-US" noProof="0" dirty="0">
                <a:solidFill>
                  <a:schemeClr val="tx1"/>
                </a:solidFill>
              </a:rPr>
              <a:t> PY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EDF7FCC4-80F8-93F6-F4FE-6E60740CE42A}"/>
              </a:ext>
            </a:extLst>
          </p:cNvPr>
          <p:cNvSpPr txBox="1">
            <a:spLocks/>
          </p:cNvSpPr>
          <p:nvPr/>
        </p:nvSpPr>
        <p:spPr>
          <a:xfrm>
            <a:off x="6628412" y="5781286"/>
            <a:ext cx="2906219" cy="221497"/>
          </a:xfrm>
          <a:prstGeom prst="rect">
            <a:avLst/>
          </a:prstGeom>
          <a:noFill/>
        </p:spPr>
        <p:txBody>
          <a:bodyPr wrap="none" lIns="0" tIns="0" rIns="108000" bIns="0" anchor="ctr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600" b="1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noProof="0" dirty="0" err="1">
                <a:solidFill>
                  <a:schemeClr val="tx1"/>
                </a:solidFill>
              </a:rPr>
              <a:t>SYSTEM_LOC_FORMAT_COMMA</a:t>
            </a:r>
            <a:r>
              <a:rPr lang="en-US" noProof="0" dirty="0">
                <a:solidFill>
                  <a:schemeClr val="tx1"/>
                </a:solidFill>
              </a:rPr>
              <a:t> LOC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20EE1A-4478-B644-31B7-C378F5EED1D8}"/>
              </a:ext>
            </a:extLst>
          </p:cNvPr>
          <p:cNvSpPr txBox="1"/>
          <p:nvPr/>
        </p:nvSpPr>
        <p:spPr>
          <a:xfrm>
            <a:off x="10058400" y="-373182"/>
            <a:ext cx="2000312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TECHNOLOGY_CHART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251482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972F7C4-C3B1-B0C2-D389-99A8407F9CD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169037" cy="228145"/>
          </a:xfrm>
        </p:spPr>
        <p:txBody>
          <a:bodyPr/>
          <a:lstStyle/>
          <a:p>
            <a:r>
              <a:rPr lang="en-US" noProof="0" dirty="0"/>
              <a:t>Key findings – Test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CAEBE-164D-836E-049D-4910A21076B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800" y="1411200"/>
            <a:ext cx="5620353" cy="4842000"/>
          </a:xfrm>
        </p:spPr>
        <p:txBody>
          <a:bodyPr/>
          <a:lstStyle/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SYSTEM_NAME</a:t>
            </a:r>
            <a:r>
              <a:rPr lang="en-US" noProof="0" dirty="0">
                <a:solidFill>
                  <a:schemeClr val="tx2"/>
                </a:solidFill>
              </a:rPr>
              <a:t> scores </a:t>
            </a:r>
            <a:r>
              <a:rPr lang="en-US" noProof="0" dirty="0" err="1">
                <a:solidFill>
                  <a:schemeClr val="tx2"/>
                </a:solidFill>
              </a:rPr>
              <a:t>TEST_CODE_RELATIVE</a:t>
            </a:r>
            <a:r>
              <a:rPr lang="en-US" noProof="0" dirty="0">
                <a:solidFill>
                  <a:schemeClr val="tx2"/>
                </a:solidFill>
              </a:rPr>
              <a:t>, with </a:t>
            </a:r>
            <a:r>
              <a:rPr lang="en-US" noProof="0" dirty="0" err="1">
                <a:solidFill>
                  <a:schemeClr val="tx2"/>
                </a:solidFill>
              </a:rPr>
              <a:t>TEST_CODE_RATIO</a:t>
            </a:r>
            <a:r>
              <a:rPr lang="en-US" noProof="0" dirty="0">
                <a:solidFill>
                  <a:schemeClr val="tx2"/>
                </a:solidFill>
              </a:rPr>
              <a:t> test/production code ratio. </a:t>
            </a:r>
          </a:p>
          <a:p>
            <a:pPr marL="285750" indent="-285750">
              <a:lnSpc>
                <a:spcPct val="113000"/>
              </a:lnSpc>
              <a:buFont typeface="Arial" panose="020B0604020202020204" pitchFamily="34" charset="0"/>
              <a:buChar char="•"/>
            </a:pPr>
            <a:r>
              <a:rPr lang="en-US" noProof="0" dirty="0" err="1">
                <a:solidFill>
                  <a:schemeClr val="tx2"/>
                </a:solidFill>
              </a:rPr>
              <a:t>TEST_CODE_SUMMARY</a:t>
            </a:r>
            <a:endParaRPr lang="en-US" noProof="0" dirty="0">
              <a:solidFill>
                <a:schemeClr val="tx2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151CEE-B969-2DB6-0530-EA6B0263716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6DF9A9-2EED-6BE7-6C07-F39D9AF03C5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12</a:t>
            </a:fld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94AA2B4-9A41-D6AF-11A8-87EF447EE1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has a </a:t>
            </a:r>
            <a:r>
              <a:rPr lang="en-US" noProof="0" dirty="0" err="1"/>
              <a:t>TEST_CODE_RELATIVE</a:t>
            </a:r>
            <a:r>
              <a:rPr lang="en-US" noProof="0" dirty="0"/>
              <a:t> test/code ratio</a:t>
            </a:r>
          </a:p>
        </p:txBody>
      </p:sp>
      <p:cxnSp>
        <p:nvCxnSpPr>
          <p:cNvPr id="7" name="Straight Connector 31">
            <a:extLst>
              <a:ext uri="{FF2B5EF4-FFF2-40B4-BE49-F238E27FC236}">
                <a16:creationId xmlns:a16="http://schemas.microsoft.com/office/drawing/2014/main" id="{5736F781-52FC-C240-8546-50219238C95E}"/>
              </a:ext>
            </a:extLst>
          </p:cNvPr>
          <p:cNvCxnSpPr>
            <a:cxnSpLocks/>
          </p:cNvCxnSpPr>
          <p:nvPr/>
        </p:nvCxnSpPr>
        <p:spPr>
          <a:xfrm>
            <a:off x="6094800" y="1366988"/>
            <a:ext cx="0" cy="4823259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95AD662-7602-636C-AACA-DB9C425C5BB8}"/>
              </a:ext>
            </a:extLst>
          </p:cNvPr>
          <p:cNvSpPr txBox="1"/>
          <p:nvPr/>
        </p:nvSpPr>
        <p:spPr>
          <a:xfrm>
            <a:off x="6618419" y="1366988"/>
            <a:ext cx="5201030" cy="353558"/>
          </a:xfrm>
          <a:prstGeom prst="rect">
            <a:avLst/>
          </a:prstGeom>
          <a:noFill/>
        </p:spPr>
        <p:txBody>
          <a:bodyPr wrap="squar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600" noProof="0" dirty="0" err="1">
                <a:latin typeface="Noir Pro Semi Bold" pitchFamily="2" charset="0"/>
              </a:rPr>
              <a:t>TEST_CODE_RATIO</a:t>
            </a:r>
            <a:r>
              <a:rPr lang="en-US" sz="1600" noProof="0" dirty="0">
                <a:latin typeface="Noir Pro Semi Bold" pitchFamily="2" charset="0"/>
              </a:rPr>
              <a:t> overall Test/code ratio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C33388D-52FF-10DF-3C03-01B6DD6936E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839649" y="5882683"/>
            <a:ext cx="4758570" cy="307564"/>
          </a:xfrm>
          <a:prstGeom prst="rect">
            <a:avLst/>
          </a:prstGeom>
        </p:spPr>
      </p:pic>
      <p:graphicFrame>
        <p:nvGraphicFramePr>
          <p:cNvPr id="10" name="Content Placeholder 17">
            <a:extLst>
              <a:ext uri="{FF2B5EF4-FFF2-40B4-BE49-F238E27FC236}">
                <a16:creationId xmlns:a16="http://schemas.microsoft.com/office/drawing/2014/main" id="{09595FD5-5B13-CF14-5B29-9E2438F6DBA0}"/>
              </a:ext>
            </a:extLst>
          </p:cNvPr>
          <p:cNvGraphicFramePr>
            <a:graphicFrameLocks/>
          </p:cNvGraphicFramePr>
          <p:nvPr/>
        </p:nvGraphicFramePr>
        <p:xfrm>
          <a:off x="7109907" y="1819134"/>
          <a:ext cx="4218054" cy="40261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F6B3C2CD-CAEE-824E-753F-A5DE9CEE5263}"/>
              </a:ext>
            </a:extLst>
          </p:cNvPr>
          <p:cNvSpPr txBox="1"/>
          <p:nvPr/>
        </p:nvSpPr>
        <p:spPr>
          <a:xfrm>
            <a:off x="9771765" y="-373182"/>
            <a:ext cx="2420235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TEST_CODE_RATIO_CHART</a:t>
            </a:r>
            <a:endParaRPr lang="en-US" sz="1600" noProof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55961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99029-494E-D668-93B1-7F49FC34F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378968FB-3711-3026-1330-401242361C5B}"/>
              </a:ext>
            </a:extLst>
          </p:cNvPr>
          <p:cNvSpPr/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2">
                  <a:alpha val="15073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D589D5F7-9445-B968-24E7-C852C6FE25B8}"/>
              </a:ext>
            </a:extLst>
          </p:cNvPr>
          <p:cNvSpPr/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2">
                  <a:alpha val="20000"/>
                </a:schemeClr>
              </a:gs>
              <a:gs pos="43000">
                <a:schemeClr val="accent2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8492BCF5-82F4-DA5D-4789-A5B31042FCD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71F068-8C71-3D21-62FF-DAD35585195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F0CE3D29-F258-C742-2A14-BCF03986DEC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13</a:t>
            </a:fld>
            <a:endParaRPr lang="en-US" noProof="0" dirty="0"/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FEE2E2EB-95CB-3211-6E1B-4E3530EA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Explanation: The Architecture Quality model has 5 sub-characteristics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BBE6C2-E269-6739-DCEE-23464110F405}"/>
              </a:ext>
            </a:extLst>
          </p:cNvPr>
          <p:cNvSpPr/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FA26AD2-CD18-09AA-6259-47A153EFE58B}"/>
              </a:ext>
            </a:extLst>
          </p:cNvPr>
          <p:cNvSpPr/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FAF19FF-BA37-4380-8088-C15619A977BB}"/>
              </a:ext>
            </a:extLst>
          </p:cNvPr>
          <p:cNvSpPr/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9000">
                <a:schemeClr val="accent2"/>
              </a:gs>
              <a:gs pos="50000">
                <a:schemeClr val="accent2">
                  <a:alpha val="15753"/>
                </a:schemeClr>
              </a:gs>
            </a:gsLst>
            <a:lin ang="2700000" scaled="0"/>
          </a:gradFill>
          <a:ln w="12700">
            <a:solidFill>
              <a:schemeClr val="accent2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307C4FC-5D3C-8B82-ABE5-E660625B78E4}"/>
              </a:ext>
            </a:extLst>
          </p:cNvPr>
          <p:cNvSpPr/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73E6D6D2-88F4-7BC7-6A46-956C025FCA17}"/>
              </a:ext>
            </a:extLst>
          </p:cNvPr>
          <p:cNvSpPr/>
          <p:nvPr/>
        </p:nvSpPr>
        <p:spPr>
          <a:xfrm>
            <a:off x="6273956" y="2796588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B747E2F-C70D-5244-BE82-8BC4127DBA7A}"/>
              </a:ext>
            </a:extLst>
          </p:cNvPr>
          <p:cNvSpPr/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E0BE4FB-999C-BF27-B8A7-24066A3BA8E6}"/>
              </a:ext>
            </a:extLst>
          </p:cNvPr>
          <p:cNvSpPr/>
          <p:nvPr/>
        </p:nvSpPr>
        <p:spPr>
          <a:xfrm>
            <a:off x="6782160" y="4192256"/>
            <a:ext cx="125744" cy="125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8056860-5CC6-F621-9AF7-D77ECA38E4A9}"/>
              </a:ext>
            </a:extLst>
          </p:cNvPr>
          <p:cNvSpPr/>
          <p:nvPr/>
        </p:nvSpPr>
        <p:spPr>
          <a:xfrm>
            <a:off x="5869449" y="4879641"/>
            <a:ext cx="64650" cy="6465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B1D96119-A37F-9FA6-9D63-881C9E5767A1}"/>
              </a:ext>
            </a:extLst>
          </p:cNvPr>
          <p:cNvSpPr/>
          <p:nvPr/>
        </p:nvSpPr>
        <p:spPr>
          <a:xfrm>
            <a:off x="6914740" y="4575176"/>
            <a:ext cx="114710" cy="11471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30" name="Arc 29">
            <a:extLst>
              <a:ext uri="{FF2B5EF4-FFF2-40B4-BE49-F238E27FC236}">
                <a16:creationId xmlns:a16="http://schemas.microsoft.com/office/drawing/2014/main" id="{14CEDFBA-98DB-3774-1CF7-DBB1D4C2DAFF}"/>
              </a:ext>
            </a:extLst>
          </p:cNvPr>
          <p:cNvSpPr/>
          <p:nvPr/>
        </p:nvSpPr>
        <p:spPr>
          <a:xfrm>
            <a:off x="4854843" y="2491915"/>
            <a:ext cx="2499248" cy="2476634"/>
          </a:xfrm>
          <a:prstGeom prst="arc">
            <a:avLst>
              <a:gd name="adj1" fmla="val 17025432"/>
              <a:gd name="adj2" fmla="val 2774786"/>
            </a:avLst>
          </a:prstGeom>
          <a:ln w="9525">
            <a:gradFill>
              <a:gsLst>
                <a:gs pos="0">
                  <a:schemeClr val="accent4">
                    <a:alpha val="50179"/>
                  </a:schemeClr>
                </a:gs>
                <a:gs pos="99000">
                  <a:schemeClr val="accent4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50F3A37-B10B-6BF3-08EA-55E6FC5DEEC4}"/>
              </a:ext>
            </a:extLst>
          </p:cNvPr>
          <p:cNvCxnSpPr>
            <a:cxnSpLocks/>
          </p:cNvCxnSpPr>
          <p:nvPr/>
        </p:nvCxnSpPr>
        <p:spPr>
          <a:xfrm flipH="1">
            <a:off x="6308248" y="2534585"/>
            <a:ext cx="87026" cy="323621"/>
          </a:xfrm>
          <a:prstGeom prst="line">
            <a:avLst/>
          </a:prstGeom>
          <a:ln w="9525">
            <a:solidFill>
              <a:schemeClr val="accent4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8E941E86-D981-FF71-D949-E2216C1311D3}"/>
              </a:ext>
            </a:extLst>
          </p:cNvPr>
          <p:cNvSpPr/>
          <p:nvPr/>
        </p:nvSpPr>
        <p:spPr>
          <a:xfrm>
            <a:off x="6357959" y="2486875"/>
            <a:ext cx="80980" cy="8098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0731FB3-842F-CE4C-6A7D-C66BFBA979CB}"/>
              </a:ext>
            </a:extLst>
          </p:cNvPr>
          <p:cNvSpPr/>
          <p:nvPr/>
        </p:nvSpPr>
        <p:spPr>
          <a:xfrm>
            <a:off x="7254794" y="3280294"/>
            <a:ext cx="45720" cy="45720"/>
          </a:xfrm>
          <a:prstGeom prst="ellipse">
            <a:avLst/>
          </a:prstGeom>
          <a:solidFill>
            <a:srgbClr val="E98C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E15D319-A4BF-BADF-EA8F-108D5DB2E930}"/>
              </a:ext>
            </a:extLst>
          </p:cNvPr>
          <p:cNvSpPr/>
          <p:nvPr/>
        </p:nvSpPr>
        <p:spPr>
          <a:xfrm>
            <a:off x="4827909" y="3511470"/>
            <a:ext cx="80980" cy="8098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63B8DC8C-B95F-EDCF-F8D6-2F12C41BCD78}"/>
              </a:ext>
            </a:extLst>
          </p:cNvPr>
          <p:cNvCxnSpPr>
            <a:cxnSpLocks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2">
                <a:alpha val="80425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4FB75F26-044E-8FDB-8FC7-48A801F00A33}"/>
              </a:ext>
            </a:extLst>
          </p:cNvPr>
          <p:cNvSpPr/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9BC0DD81-BAF5-A5D9-3061-E49E7A4ED10C}"/>
              </a:ext>
            </a:extLst>
          </p:cNvPr>
          <p:cNvSpPr/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E6055D41-C03E-E248-ACEE-166CE141D420}"/>
              </a:ext>
            </a:extLst>
          </p:cNvPr>
          <p:cNvSpPr txBox="1">
            <a:spLocks/>
          </p:cNvSpPr>
          <p:nvPr/>
        </p:nvSpPr>
        <p:spPr>
          <a:xfrm>
            <a:off x="8399369" y="1411200"/>
            <a:ext cx="3399054" cy="4842000"/>
          </a:xfrm>
          <a:prstGeom prst="rect">
            <a:avLst/>
          </a:prstGeom>
        </p:spPr>
        <p:txBody>
          <a:bodyPr vert="horz" lIns="216000" tIns="0" rIns="91440" bIns="27432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400" noProof="0" dirty="0">
                <a:solidFill>
                  <a:schemeClr val="accent3"/>
                </a:solidFill>
                <a:latin typeface="Azeret Mono" pitchFamily="2" charset="77"/>
                <a:cs typeface="Azeret Mono" pitchFamily="2" charset="77"/>
              </a:rPr>
              <a:t>The SIG Architecture Quality model</a:t>
            </a:r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 provides insight into the ability for an application to evolve as business needs change. </a:t>
            </a:r>
          </a:p>
          <a:p>
            <a:r>
              <a:rPr lang="en-US" sz="1400" noProof="0" dirty="0">
                <a:latin typeface="Azeret Mono" pitchFamily="2" charset="77"/>
                <a:cs typeface="Azeret Mono" pitchFamily="2" charset="77"/>
              </a:rPr>
              <a:t>Each of the 5 sub-characteristics represent properties of software architecture that affect the velocity in which foundational changes can be made to a software system.</a:t>
            </a:r>
            <a:endParaRPr lang="en-US" sz="1400" noProof="0" dirty="0">
              <a:solidFill>
                <a:schemeClr val="accent3"/>
              </a:solidFill>
              <a:latin typeface="Azeret Mono" pitchFamily="2" charset="77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7CA71824-DE20-DA21-5CC7-3D536499FC0C}"/>
              </a:ext>
            </a:extLst>
          </p:cNvPr>
          <p:cNvSpPr/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20386561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4"/>
                </a:gs>
                <a:gs pos="18000">
                  <a:schemeClr val="accent4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pic>
        <p:nvPicPr>
          <p:cNvPr id="79" name="Graphic 78">
            <a:extLst>
              <a:ext uri="{FF2B5EF4-FFF2-40B4-BE49-F238E27FC236}">
                <a16:creationId xmlns:a16="http://schemas.microsoft.com/office/drawing/2014/main" id="{DB38BDF3-5B3D-61AB-2CFF-AC99F2B0DD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78177" y="5298575"/>
            <a:ext cx="433246" cy="288828"/>
          </a:xfrm>
          <a:prstGeom prst="rect">
            <a:avLst/>
          </a:prstGeom>
          <a:effectLst/>
        </p:spPr>
      </p:pic>
      <p:sp>
        <p:nvSpPr>
          <p:cNvPr id="99" name="Arc 98">
            <a:extLst>
              <a:ext uri="{FF2B5EF4-FFF2-40B4-BE49-F238E27FC236}">
                <a16:creationId xmlns:a16="http://schemas.microsoft.com/office/drawing/2014/main" id="{BC3F6D0B-39A8-7839-4108-79110D4A7C29}"/>
              </a:ext>
            </a:extLst>
          </p:cNvPr>
          <p:cNvSpPr/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2">
                    <a:alpha val="90000"/>
                  </a:schemeClr>
                </a:gs>
                <a:gs pos="99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DDA7093A-1B01-B016-708F-AB00927B2C3C}"/>
              </a:ext>
            </a:extLst>
          </p:cNvPr>
          <p:cNvSpPr txBox="1"/>
          <p:nvPr/>
        </p:nvSpPr>
        <p:spPr>
          <a:xfrm>
            <a:off x="1362254" y="2467036"/>
            <a:ext cx="2137273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accent2"/>
                </a:solidFill>
                <a:effectLst>
                  <a:outerShdw blurRad="229337" sx="102000" sy="102000" algn="ctr" rotWithShape="0">
                    <a:schemeClr val="accent2">
                      <a:alpha val="20000"/>
                    </a:schemeClr>
                  </a:outerShdw>
                </a:effectLst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12" name="Boog 11">
            <a:extLst>
              <a:ext uri="{FF2B5EF4-FFF2-40B4-BE49-F238E27FC236}">
                <a16:creationId xmlns:a16="http://schemas.microsoft.com/office/drawing/2014/main" id="{9C79D787-D6AD-4F8F-4E1E-93558DDEBC19}"/>
              </a:ext>
            </a:extLst>
          </p:cNvPr>
          <p:cNvSpPr>
            <a:spLocks noChangeAspect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378942"/>
              <a:gd name="adj2" fmla="val 12416581"/>
            </a:avLst>
          </a:prstGeom>
          <a:ln w="12700">
            <a:gradFill>
              <a:gsLst>
                <a:gs pos="83000">
                  <a:schemeClr val="accent2"/>
                </a:gs>
                <a:gs pos="16000">
                  <a:srgbClr val="1763FF"/>
                </a:gs>
                <a:gs pos="0">
                  <a:srgbClr val="1763FF">
                    <a:alpha val="0"/>
                  </a:srgbClr>
                </a:gs>
                <a:gs pos="100000">
                  <a:schemeClr val="accent2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Ovaal 12">
            <a:extLst>
              <a:ext uri="{FF2B5EF4-FFF2-40B4-BE49-F238E27FC236}">
                <a16:creationId xmlns:a16="http://schemas.microsoft.com/office/drawing/2014/main" id="{7370D5DE-BDC4-C35E-9C2E-91716BD02B09}"/>
              </a:ext>
            </a:extLst>
          </p:cNvPr>
          <p:cNvSpPr/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" name="Ovaal 13">
            <a:extLst>
              <a:ext uri="{FF2B5EF4-FFF2-40B4-BE49-F238E27FC236}">
                <a16:creationId xmlns:a16="http://schemas.microsoft.com/office/drawing/2014/main" id="{05F72ED1-5264-5B67-3E36-3014750C4C2F}"/>
              </a:ext>
            </a:extLst>
          </p:cNvPr>
          <p:cNvSpPr/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" name="Ovaal 14">
            <a:extLst>
              <a:ext uri="{FF2B5EF4-FFF2-40B4-BE49-F238E27FC236}">
                <a16:creationId xmlns:a16="http://schemas.microsoft.com/office/drawing/2014/main" id="{D527CEC1-161B-AAA5-0623-23D5400DE1FD}"/>
              </a:ext>
            </a:extLst>
          </p:cNvPr>
          <p:cNvSpPr/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" name="Ovaal 16">
            <a:extLst>
              <a:ext uri="{FF2B5EF4-FFF2-40B4-BE49-F238E27FC236}">
                <a16:creationId xmlns:a16="http://schemas.microsoft.com/office/drawing/2014/main" id="{76D1A933-8CFE-0DCE-2D90-AA32A2AEAE8A}"/>
              </a:ext>
            </a:extLst>
          </p:cNvPr>
          <p:cNvSpPr/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" name="Ovaal 18">
            <a:extLst>
              <a:ext uri="{FF2B5EF4-FFF2-40B4-BE49-F238E27FC236}">
                <a16:creationId xmlns:a16="http://schemas.microsoft.com/office/drawing/2014/main" id="{018CDC19-0EC4-9F41-5100-944A5A79A3FA}"/>
              </a:ext>
            </a:extLst>
          </p:cNvPr>
          <p:cNvSpPr/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25" name="Tekstvak 24">
            <a:extLst>
              <a:ext uri="{FF2B5EF4-FFF2-40B4-BE49-F238E27FC236}">
                <a16:creationId xmlns:a16="http://schemas.microsoft.com/office/drawing/2014/main" id="{411E51BD-8E0A-61AA-F8D8-E2C22B791EE6}"/>
              </a:ext>
            </a:extLst>
          </p:cNvPr>
          <p:cNvSpPr txBox="1"/>
          <p:nvPr/>
        </p:nvSpPr>
        <p:spPr>
          <a:xfrm>
            <a:off x="2233759" y="2957541"/>
            <a:ext cx="109371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Structure</a:t>
            </a:r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6A376295-9E29-C7D4-23E5-9B1234CB0463}"/>
              </a:ext>
            </a:extLst>
          </p:cNvPr>
          <p:cNvSpPr txBox="1"/>
          <p:nvPr/>
        </p:nvSpPr>
        <p:spPr>
          <a:xfrm>
            <a:off x="1738004" y="3456782"/>
            <a:ext cx="1533005" cy="35676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>
            <a:defPPr>
              <a:defRPr lang="en-US"/>
            </a:defPPr>
            <a:lvl1pPr algn="r">
              <a:lnSpc>
                <a:spcPct val="113000"/>
              </a:lnSpc>
              <a:defRPr sz="1600">
                <a:solidFill>
                  <a:schemeClr val="bg1"/>
                </a:solidFill>
                <a:latin typeface="☞NOIR PRO MEDIUM" pitchFamily="2" charset="0"/>
              </a:defRPr>
            </a:lvl1pPr>
          </a:lstStyle>
          <a:p>
            <a:r>
              <a:rPr lang="en-US" noProof="0" dirty="0"/>
              <a:t>Communication</a:t>
            </a:r>
          </a:p>
        </p:txBody>
      </p:sp>
      <p:sp>
        <p:nvSpPr>
          <p:cNvPr id="31" name="Tekstvak 30">
            <a:extLst>
              <a:ext uri="{FF2B5EF4-FFF2-40B4-BE49-F238E27FC236}">
                <a16:creationId xmlns:a16="http://schemas.microsoft.com/office/drawing/2014/main" id="{1D693990-F9F5-6A3F-373A-F98CAD402E8F}"/>
              </a:ext>
            </a:extLst>
          </p:cNvPr>
          <p:cNvSpPr txBox="1"/>
          <p:nvPr/>
        </p:nvSpPr>
        <p:spPr>
          <a:xfrm>
            <a:off x="1928405" y="3956023"/>
            <a:ext cx="138225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Data access</a:t>
            </a:r>
          </a:p>
        </p:txBody>
      </p:sp>
      <p:sp>
        <p:nvSpPr>
          <p:cNvPr id="33" name="Tekstvak 32">
            <a:extLst>
              <a:ext uri="{FF2B5EF4-FFF2-40B4-BE49-F238E27FC236}">
                <a16:creationId xmlns:a16="http://schemas.microsoft.com/office/drawing/2014/main" id="{2093B8B8-8C79-64C9-64E5-517C5AA9AA30}"/>
              </a:ext>
            </a:extLst>
          </p:cNvPr>
          <p:cNvSpPr txBox="1"/>
          <p:nvPr/>
        </p:nvSpPr>
        <p:spPr>
          <a:xfrm>
            <a:off x="2353845" y="4455264"/>
            <a:ext cx="1060055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Evolution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1C9C562C-B3AC-5C48-5694-72B1C7FF5D8F}"/>
              </a:ext>
            </a:extLst>
          </p:cNvPr>
          <p:cNvSpPr txBox="1"/>
          <p:nvPr/>
        </p:nvSpPr>
        <p:spPr>
          <a:xfrm>
            <a:off x="2385919" y="4954505"/>
            <a:ext cx="124920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113000"/>
              </a:lnSpc>
            </a:pPr>
            <a:r>
              <a:rPr lang="en-US" sz="1600" noProof="0" dirty="0">
                <a:solidFill>
                  <a:schemeClr val="bg1"/>
                </a:solidFill>
                <a:latin typeface="☞NOIR PRO MEDIUM" pitchFamily="2" charset="0"/>
              </a:rPr>
              <a:t>Knowledge</a:t>
            </a:r>
          </a:p>
        </p:txBody>
      </p:sp>
      <p:sp>
        <p:nvSpPr>
          <p:cNvPr id="35" name="TextBox 41">
            <a:extLst>
              <a:ext uri="{FF2B5EF4-FFF2-40B4-BE49-F238E27FC236}">
                <a16:creationId xmlns:a16="http://schemas.microsoft.com/office/drawing/2014/main" id="{206057EE-BF64-9DF8-554C-8935F9D2B966}"/>
              </a:ext>
            </a:extLst>
          </p:cNvPr>
          <p:cNvSpPr txBox="1"/>
          <p:nvPr/>
        </p:nvSpPr>
        <p:spPr>
          <a:xfrm rot="4534123"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>
              <a:lnSpc>
                <a:spcPct val="113000"/>
              </a:lnSpc>
            </a:pPr>
            <a:r>
              <a:rPr lang="en-US" spc="140" noProof="0" dirty="0">
                <a:gradFill>
                  <a:gsLst>
                    <a:gs pos="26000">
                      <a:srgbClr val="E98C36"/>
                    </a:gs>
                    <a:gs pos="67000">
                      <a:schemeClr val="accent4"/>
                    </a:gs>
                  </a:gsLst>
                  <a:lin ang="9600000" scaled="0"/>
                </a:gradFill>
                <a:latin typeface="Noir Pro Semi Bold" pitchFamily="2" charset="0"/>
              </a:rPr>
              <a:t>SIG Architecture Quality</a:t>
            </a: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B2E0CFBB-7A9C-9929-8E23-E856E40EC156}"/>
              </a:ext>
            </a:extLst>
          </p:cNvPr>
          <p:cNvSpPr/>
          <p:nvPr/>
        </p:nvSpPr>
        <p:spPr>
          <a:xfrm>
            <a:off x="5543925" y="3154882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A75772D6-9BAE-9A49-D31B-F33891E3DF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50611" y="3175250"/>
            <a:ext cx="881625" cy="876046"/>
          </a:xfrm>
          <a:prstGeom prst="rect">
            <a:avLst/>
          </a:prstGeom>
        </p:spPr>
      </p:pic>
      <p:sp>
        <p:nvSpPr>
          <p:cNvPr id="81" name="Oval 43">
            <a:extLst>
              <a:ext uri="{FF2B5EF4-FFF2-40B4-BE49-F238E27FC236}">
                <a16:creationId xmlns:a16="http://schemas.microsoft.com/office/drawing/2014/main" id="{272F2F13-0896-623C-F051-A762F0144832}"/>
              </a:ext>
            </a:extLst>
          </p:cNvPr>
          <p:cNvSpPr/>
          <p:nvPr/>
        </p:nvSpPr>
        <p:spPr>
          <a:xfrm>
            <a:off x="5541883" y="3153205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47523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  <a:latin typeface="Noir Pro Semi Bold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44635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81D5E-A2B9-C328-B774-190AA227C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Tabel 19">
            <a:extLst>
              <a:ext uri="{FF2B5EF4-FFF2-40B4-BE49-F238E27FC236}">
                <a16:creationId xmlns:a16="http://schemas.microsoft.com/office/drawing/2014/main" id="{4348BD50-B7D4-1657-172B-FF11CBC247D8}"/>
              </a:ext>
            </a:extLst>
          </p:cNvPr>
          <p:cNvGraphicFramePr>
            <a:graphicFrameLocks noGrp="1"/>
          </p:cNvGraphicFramePr>
          <p:nvPr/>
        </p:nvGraphicFramePr>
        <p:xfrm>
          <a:off x="154798" y="2717216"/>
          <a:ext cx="11880000" cy="23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0000">
                  <a:extLst>
                    <a:ext uri="{9D8B030D-6E8A-4147-A177-3AD203B41FA5}">
                      <a16:colId xmlns:a16="http://schemas.microsoft.com/office/drawing/2014/main" val="946129596"/>
                    </a:ext>
                  </a:extLst>
                </a:gridCol>
              </a:tblGrid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Structure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69143651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02612570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 access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3328417789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00965361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>
                        <a:lnSpc>
                          <a:spcPct val="90000"/>
                        </a:lnSpc>
                      </a:pPr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</a:txBody>
                  <a:tcPr marL="216000" marR="9720000" marT="144000" marB="14400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gradFill>
                      <a:gsLst>
                        <a:gs pos="37000">
                          <a:schemeClr val="accent1">
                            <a:alpha val="0"/>
                          </a:schemeClr>
                        </a:gs>
                        <a:gs pos="10000">
                          <a:schemeClr val="accent1">
                            <a:alpha val="40148"/>
                          </a:schemeClr>
                        </a:gs>
                      </a:gsLst>
                      <a:lin ang="522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866552359"/>
                  </a:ext>
                </a:extLst>
              </a:tr>
            </a:tbl>
          </a:graphicData>
        </a:graphic>
      </p:graphicFrame>
      <p:sp>
        <p:nvSpPr>
          <p:cNvPr id="2" name="Afgeronde rechthoek 1">
            <a:extLst>
              <a:ext uri="{FF2B5EF4-FFF2-40B4-BE49-F238E27FC236}">
                <a16:creationId xmlns:a16="http://schemas.microsoft.com/office/drawing/2014/main" id="{B727BF5E-99B6-49EF-E4BA-CF8DCB737B80}"/>
              </a:ext>
            </a:extLst>
          </p:cNvPr>
          <p:cNvSpPr>
            <a:spLocks/>
          </p:cNvSpPr>
          <p:nvPr/>
        </p:nvSpPr>
        <p:spPr>
          <a:xfrm>
            <a:off x="1738994" y="2119302"/>
            <a:ext cx="9839056" cy="3422188"/>
          </a:xfrm>
          <a:prstGeom prst="roundRect">
            <a:avLst>
              <a:gd name="adj" fmla="val 4344"/>
            </a:avLst>
          </a:prstGeom>
          <a:gradFill>
            <a:gsLst>
              <a:gs pos="0">
                <a:srgbClr val="1763FF">
                  <a:alpha val="26798"/>
                </a:srgbClr>
              </a:gs>
              <a:gs pos="7000">
                <a:schemeClr val="accent2">
                  <a:alpha val="9069"/>
                </a:schemeClr>
              </a:gs>
              <a:gs pos="42000">
                <a:schemeClr val="accent2">
                  <a:alpha val="0"/>
                </a:schemeClr>
              </a:gs>
            </a:gsLst>
            <a:lin ang="4200000" scaled="0"/>
          </a:gradFill>
          <a:ln w="9525">
            <a:gradFill>
              <a:gsLst>
                <a:gs pos="0">
                  <a:schemeClr val="accent3">
                    <a:alpha val="34000"/>
                  </a:schemeClr>
                </a:gs>
                <a:gs pos="23000">
                  <a:schemeClr val="accent3">
                    <a:alpha val="0"/>
                  </a:schemeClr>
                </a:gs>
              </a:gsLst>
              <a:lin ang="27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70" name="Text Placeholder 169">
            <a:extLst>
              <a:ext uri="{FF2B5EF4-FFF2-40B4-BE49-F238E27FC236}">
                <a16:creationId xmlns:a16="http://schemas.microsoft.com/office/drawing/2014/main" id="{8A7018F4-6ACE-298D-AE34-CBEDCC026F3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6251E5-A1AC-6CFF-9472-C53DC41655B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2980CA-BB04-6BB3-C0C8-A9D4C2BCC14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14</a:t>
            </a:fld>
            <a:endParaRPr lang="en-US" noProof="0" dirty="0"/>
          </a:p>
        </p:txBody>
      </p:sp>
      <p:sp>
        <p:nvSpPr>
          <p:cNvPr id="169" name="Title 168">
            <a:extLst>
              <a:ext uri="{FF2B5EF4-FFF2-40B4-BE49-F238E27FC236}">
                <a16:creationId xmlns:a16="http://schemas.microsoft.com/office/drawing/2014/main" id="{BC78F56D-3B9B-285C-51D5-D64BCFD4ED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SIG’s Architecture Model maps the sub-characteristics to 9 system properties</a:t>
            </a:r>
          </a:p>
        </p:txBody>
      </p:sp>
      <p:sp>
        <p:nvSpPr>
          <p:cNvPr id="5" name="Afgeronde rechthoek 4">
            <a:extLst>
              <a:ext uri="{FF2B5EF4-FFF2-40B4-BE49-F238E27FC236}">
                <a16:creationId xmlns:a16="http://schemas.microsoft.com/office/drawing/2014/main" id="{C0978B86-C287-03A1-FB46-4DAE9843BB13}"/>
              </a:ext>
            </a:extLst>
          </p:cNvPr>
          <p:cNvSpPr/>
          <p:nvPr/>
        </p:nvSpPr>
        <p:spPr>
          <a:xfrm>
            <a:off x="2079450" y="2800306"/>
            <a:ext cx="5010198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44" name="Text Placeholder 169">
            <a:extLst>
              <a:ext uri="{FF2B5EF4-FFF2-40B4-BE49-F238E27FC236}">
                <a16:creationId xmlns:a16="http://schemas.microsoft.com/office/drawing/2014/main" id="{1AB1CC70-BC7D-E198-3D05-AE50FFA71C7D}"/>
              </a:ext>
            </a:extLst>
          </p:cNvPr>
          <p:cNvSpPr txBox="1"/>
          <p:nvPr/>
        </p:nvSpPr>
        <p:spPr>
          <a:xfrm>
            <a:off x="154798" y="1481773"/>
            <a:ext cx="3513435" cy="383335"/>
          </a:xfrm>
          <a:prstGeom prst="rect">
            <a:avLst/>
          </a:prstGeom>
          <a:noFill/>
        </p:spPr>
        <p:txBody>
          <a:bodyPr vert="horz" wrap="square" lIns="720000" tIns="18000" rIns="108000" bIns="36000" rtlCol="0" anchor="ctr" anchorCtr="0">
            <a:sp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defRPr lang="en-US" sz="1050" b="0" kern="120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pc="0" noProof="0" dirty="0">
                <a:gradFill>
                  <a:gsLst>
                    <a:gs pos="100000">
                      <a:srgbClr val="EC9232"/>
                    </a:gs>
                    <a:gs pos="24000">
                      <a:srgbClr val="F9C716"/>
                    </a:gs>
                  </a:gsLst>
                  <a:lin ang="3600000" scaled="0"/>
                </a:gradFill>
                <a:latin typeface="Noir Pro Semi Bold" pitchFamily="2" charset="0"/>
              </a:rPr>
              <a:t>Architecture Quality</a:t>
            </a:r>
          </a:p>
        </p:txBody>
      </p:sp>
      <p:sp>
        <p:nvSpPr>
          <p:cNvPr id="46" name="Tekstvak 45">
            <a:extLst>
              <a:ext uri="{FF2B5EF4-FFF2-40B4-BE49-F238E27FC236}">
                <a16:creationId xmlns:a16="http://schemas.microsoft.com/office/drawing/2014/main" id="{A31936F0-9E5C-E499-ABD8-64AAF5C184BD}"/>
              </a:ext>
            </a:extLst>
          </p:cNvPr>
          <p:cNvSpPr txBox="1"/>
          <p:nvPr/>
        </p:nvSpPr>
        <p:spPr>
          <a:xfrm>
            <a:off x="154801" y="2129913"/>
            <a:ext cx="1853613" cy="593975"/>
          </a:xfrm>
          <a:custGeom>
            <a:avLst/>
            <a:gdLst>
              <a:gd name="connsiteX0" fmla="*/ 169271 w 1969367"/>
              <a:gd name="connsiteY0" fmla="*/ 0 h 631068"/>
              <a:gd name="connsiteX1" fmla="*/ 1800096 w 1969367"/>
              <a:gd name="connsiteY1" fmla="*/ 0 h 631068"/>
              <a:gd name="connsiteX2" fmla="*/ 1969367 w 1969367"/>
              <a:gd name="connsiteY2" fmla="*/ 169271 h 631068"/>
              <a:gd name="connsiteX3" fmla="*/ 1969367 w 1969367"/>
              <a:gd name="connsiteY3" fmla="*/ 461797 h 631068"/>
              <a:gd name="connsiteX4" fmla="*/ 1800096 w 1969367"/>
              <a:gd name="connsiteY4" fmla="*/ 631068 h 631068"/>
              <a:gd name="connsiteX5" fmla="*/ 640829 w 1969367"/>
              <a:gd name="connsiteY5" fmla="*/ 631068 h 631068"/>
              <a:gd name="connsiteX6" fmla="*/ 169271 w 1969367"/>
              <a:gd name="connsiteY6" fmla="*/ 631068 h 631068"/>
              <a:gd name="connsiteX7" fmla="*/ 0 w 1969367"/>
              <a:gd name="connsiteY7" fmla="*/ 631068 h 631068"/>
              <a:gd name="connsiteX8" fmla="*/ 0 w 1969367"/>
              <a:gd name="connsiteY8" fmla="*/ 461797 h 631068"/>
              <a:gd name="connsiteX9" fmla="*/ 0 w 1969367"/>
              <a:gd name="connsiteY9" fmla="*/ 228683 h 631068"/>
              <a:gd name="connsiteX10" fmla="*/ 0 w 1969367"/>
              <a:gd name="connsiteY10" fmla="*/ 169271 h 631068"/>
              <a:gd name="connsiteX11" fmla="*/ 169271 w 1969367"/>
              <a:gd name="connsiteY11" fmla="*/ 0 h 6310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69367" h="631068">
                <a:moveTo>
                  <a:pt x="169271" y="0"/>
                </a:moveTo>
                <a:lnTo>
                  <a:pt x="1800096" y="0"/>
                </a:lnTo>
                <a:cubicBezTo>
                  <a:pt x="1893582" y="0"/>
                  <a:pt x="1969367" y="75785"/>
                  <a:pt x="1969367" y="169271"/>
                </a:cubicBezTo>
                <a:lnTo>
                  <a:pt x="1969367" y="461797"/>
                </a:lnTo>
                <a:cubicBezTo>
                  <a:pt x="1969367" y="555283"/>
                  <a:pt x="1893582" y="631068"/>
                  <a:pt x="1800096" y="631068"/>
                </a:cubicBezTo>
                <a:lnTo>
                  <a:pt x="640829" y="631068"/>
                </a:lnTo>
                <a:lnTo>
                  <a:pt x="169271" y="631068"/>
                </a:lnTo>
                <a:lnTo>
                  <a:pt x="0" y="631068"/>
                </a:lnTo>
                <a:lnTo>
                  <a:pt x="0" y="461797"/>
                </a:lnTo>
                <a:lnTo>
                  <a:pt x="0" y="228683"/>
                </a:lnTo>
                <a:lnTo>
                  <a:pt x="0" y="169271"/>
                </a:lnTo>
                <a:cubicBezTo>
                  <a:pt x="0" y="75785"/>
                  <a:pt x="75785" y="0"/>
                  <a:pt x="169271" y="0"/>
                </a:cubicBezTo>
                <a:close/>
              </a:path>
            </a:pathLst>
          </a:custGeom>
          <a:solidFill>
            <a:schemeClr val="accent2">
              <a:lumMod val="75000"/>
            </a:schemeClr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720000" tIns="234000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sp>
        <p:nvSpPr>
          <p:cNvPr id="19" name="TextBox 121">
            <a:extLst>
              <a:ext uri="{FF2B5EF4-FFF2-40B4-BE49-F238E27FC236}">
                <a16:creationId xmlns:a16="http://schemas.microsoft.com/office/drawing/2014/main" id="{ABDAF8EC-3B95-C9D7-0FE9-71A7721CFF9D}"/>
              </a:ext>
            </a:extLst>
          </p:cNvPr>
          <p:cNvSpPr txBox="1"/>
          <p:nvPr/>
        </p:nvSpPr>
        <p:spPr>
          <a:xfrm>
            <a:off x="1738994" y="2111134"/>
            <a:ext cx="10295804" cy="631068"/>
          </a:xfrm>
          <a:prstGeom prst="roundRect">
            <a:avLst>
              <a:gd name="adj" fmla="val 26823"/>
            </a:avLst>
          </a:prstGeom>
          <a:solidFill>
            <a:schemeClr val="accent2"/>
          </a:solidFill>
          <a:effectLst>
            <a:outerShdw blurRad="286568" dist="101276" dir="16200000" rotWithShape="0">
              <a:prstClr val="black">
                <a:alpha val="15439"/>
              </a:prstClr>
            </a:outerShdw>
          </a:effectLst>
        </p:spPr>
        <p:txBody>
          <a:bodyPr wrap="square" lIns="648000" tIns="125999" rIns="0" bIns="108000" rtlCol="0" anchor="t">
            <a:noAutofit/>
          </a:bodyPr>
          <a:lstStyle/>
          <a:p>
            <a:pPr>
              <a:lnSpc>
                <a:spcPct val="80000"/>
              </a:lnSpc>
            </a:pPr>
            <a:endParaRPr lang="en-US" sz="1400" noProof="0" dirty="0">
              <a:solidFill>
                <a:schemeClr val="bg1"/>
              </a:solidFill>
              <a:latin typeface="☞NOIR PRO MEDIUM" pitchFamily="2" charset="0"/>
            </a:endParaRPr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568E0D71-CA53-AF66-00DE-458ABAFFFE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6740" y="2226642"/>
            <a:ext cx="590770" cy="393845"/>
          </a:xfrm>
          <a:prstGeom prst="rect">
            <a:avLst/>
          </a:prstGeom>
          <a:effectLst>
            <a:outerShdw blurRad="237234" sx="102000" sy="102000" algn="ctr" rotWithShape="0">
              <a:schemeClr val="accent4">
                <a:alpha val="0"/>
              </a:schemeClr>
            </a:outerShdw>
          </a:effectLst>
        </p:spPr>
      </p:pic>
      <p:graphicFrame>
        <p:nvGraphicFramePr>
          <p:cNvPr id="48" name="Tabel 47">
            <a:extLst>
              <a:ext uri="{FF2B5EF4-FFF2-40B4-BE49-F238E27FC236}">
                <a16:creationId xmlns:a16="http://schemas.microsoft.com/office/drawing/2014/main" id="{FC0D4C37-D231-E6B4-2BEB-A2CB6974D4EA}"/>
              </a:ext>
            </a:extLst>
          </p:cNvPr>
          <p:cNvGraphicFramePr>
            <a:graphicFrameLocks noGrp="1"/>
          </p:cNvGraphicFramePr>
          <p:nvPr/>
        </p:nvGraphicFramePr>
        <p:xfrm>
          <a:off x="1724258" y="2210220"/>
          <a:ext cx="10295802" cy="457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978">
                  <a:extLst>
                    <a:ext uri="{9D8B030D-6E8A-4147-A177-3AD203B41FA5}">
                      <a16:colId xmlns:a16="http://schemas.microsoft.com/office/drawing/2014/main" val="375621832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899638353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98083688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337405862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409438331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015334204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771938756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2602381078"/>
                    </a:ext>
                  </a:extLst>
                </a:gridCol>
                <a:gridCol w="1143978">
                  <a:extLst>
                    <a:ext uri="{9D8B030D-6E8A-4147-A177-3AD203B41FA5}">
                      <a16:colId xmlns:a16="http://schemas.microsoft.com/office/drawing/2014/main" val="1643199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Code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breakdown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 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adjacency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cohesion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Communication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centralization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Data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coupling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Bounded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evolution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Knowledge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distribution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Component</a:t>
                      </a:r>
                    </a:p>
                    <a:p>
                      <a:pPr algn="ctr"/>
                      <a:r>
                        <a:rPr lang="en-US" sz="1200" b="0" i="0" noProof="0" dirty="0">
                          <a:solidFill>
                            <a:schemeClr val="bg1"/>
                          </a:solidFill>
                          <a:latin typeface="☞NOIR PRO MEDIUM" pitchFamily="2" charset="0"/>
                        </a:rPr>
                        <a:t>freshness</a:t>
                      </a:r>
                    </a:p>
                  </a:txBody>
                  <a:tcPr marL="19440" marR="1944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627965"/>
                  </a:ext>
                </a:extLst>
              </a:tr>
            </a:tbl>
          </a:graphicData>
        </a:graphic>
      </p:graphicFrame>
      <p:sp>
        <p:nvSpPr>
          <p:cNvPr id="52" name="Ovaal 51">
            <a:extLst>
              <a:ext uri="{FF2B5EF4-FFF2-40B4-BE49-F238E27FC236}">
                <a16:creationId xmlns:a16="http://schemas.microsoft.com/office/drawing/2014/main" id="{9E752103-7BCC-D47D-0E41-3D3118080490}"/>
              </a:ext>
            </a:extLst>
          </p:cNvPr>
          <p:cNvSpPr/>
          <p:nvPr/>
        </p:nvSpPr>
        <p:spPr>
          <a:xfrm>
            <a:off x="399461" y="1502952"/>
            <a:ext cx="354604" cy="354604"/>
          </a:xfrm>
          <a:prstGeom prst="ellipse">
            <a:avLst/>
          </a:prstGeom>
          <a:gradFill>
            <a:gsLst>
              <a:gs pos="19000">
                <a:srgbClr val="E98C36"/>
              </a:gs>
              <a:gs pos="53000">
                <a:srgbClr val="F9C716"/>
              </a:gs>
            </a:gsLst>
            <a:lin ang="2700000" scaled="0"/>
          </a:gradFill>
          <a:ln>
            <a:noFill/>
          </a:ln>
          <a:effectLst>
            <a:outerShdw blurRad="216637" dist="38100" dir="5400000" algn="t" rotWithShape="0">
              <a:schemeClr val="accent4">
                <a:alpha val="14645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pic>
        <p:nvPicPr>
          <p:cNvPr id="56" name="Graphic 55">
            <a:extLst>
              <a:ext uri="{FF2B5EF4-FFF2-40B4-BE49-F238E27FC236}">
                <a16:creationId xmlns:a16="http://schemas.microsoft.com/office/drawing/2014/main" id="{E447C6ED-5A30-ACDA-F05F-C9EE4524BE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9035" y="1523454"/>
            <a:ext cx="295455" cy="293586"/>
          </a:xfrm>
          <a:prstGeom prst="rect">
            <a:avLst/>
          </a:prstGeom>
        </p:spPr>
      </p:pic>
      <p:sp>
        <p:nvSpPr>
          <p:cNvPr id="10" name="Ovaal 9">
            <a:extLst>
              <a:ext uri="{FF2B5EF4-FFF2-40B4-BE49-F238E27FC236}">
                <a16:creationId xmlns:a16="http://schemas.microsoft.com/office/drawing/2014/main" id="{EEC047B5-4675-87BB-C77D-525A9C15C89C}"/>
              </a:ext>
            </a:extLst>
          </p:cNvPr>
          <p:cNvSpPr/>
          <p:nvPr/>
        </p:nvSpPr>
        <p:spPr>
          <a:xfrm>
            <a:off x="2218728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1" name="Ovaal 10">
            <a:extLst>
              <a:ext uri="{FF2B5EF4-FFF2-40B4-BE49-F238E27FC236}">
                <a16:creationId xmlns:a16="http://schemas.microsoft.com/office/drawing/2014/main" id="{B27E223E-7F96-98A3-1BCE-3C7E3476061A}"/>
              </a:ext>
            </a:extLst>
          </p:cNvPr>
          <p:cNvSpPr/>
          <p:nvPr/>
        </p:nvSpPr>
        <p:spPr>
          <a:xfrm>
            <a:off x="5654945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2" name="Ovaal 11">
            <a:extLst>
              <a:ext uri="{FF2B5EF4-FFF2-40B4-BE49-F238E27FC236}">
                <a16:creationId xmlns:a16="http://schemas.microsoft.com/office/drawing/2014/main" id="{0490248B-B552-3119-224F-718F14ACB6C5}"/>
              </a:ext>
            </a:extLst>
          </p:cNvPr>
          <p:cNvSpPr/>
          <p:nvPr/>
        </p:nvSpPr>
        <p:spPr>
          <a:xfrm>
            <a:off x="6797392" y="288102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8" name="Ovaal 11">
            <a:extLst>
              <a:ext uri="{FF2B5EF4-FFF2-40B4-BE49-F238E27FC236}">
                <a16:creationId xmlns:a16="http://schemas.microsoft.com/office/drawing/2014/main" id="{6874EC91-042A-605C-8D6E-0521908AC107}"/>
              </a:ext>
            </a:extLst>
          </p:cNvPr>
          <p:cNvSpPr/>
          <p:nvPr/>
        </p:nvSpPr>
        <p:spPr>
          <a:xfrm>
            <a:off x="6797394" y="334365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39" name="Ovaal 10">
            <a:extLst>
              <a:ext uri="{FF2B5EF4-FFF2-40B4-BE49-F238E27FC236}">
                <a16:creationId xmlns:a16="http://schemas.microsoft.com/office/drawing/2014/main" id="{7E0F3336-7E00-3017-BF4A-E0D62E8C679F}"/>
              </a:ext>
            </a:extLst>
          </p:cNvPr>
          <p:cNvSpPr/>
          <p:nvPr/>
        </p:nvSpPr>
        <p:spPr>
          <a:xfrm>
            <a:off x="4512500" y="33447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0" name="Ovaal 10">
            <a:extLst>
              <a:ext uri="{FF2B5EF4-FFF2-40B4-BE49-F238E27FC236}">
                <a16:creationId xmlns:a16="http://schemas.microsoft.com/office/drawing/2014/main" id="{4CBA9FF2-A29A-B056-CCF4-3E8F6BF1E2B9}"/>
              </a:ext>
            </a:extLst>
          </p:cNvPr>
          <p:cNvSpPr/>
          <p:nvPr/>
        </p:nvSpPr>
        <p:spPr>
          <a:xfrm>
            <a:off x="337415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1" name="Ovaal 11">
            <a:extLst>
              <a:ext uri="{FF2B5EF4-FFF2-40B4-BE49-F238E27FC236}">
                <a16:creationId xmlns:a16="http://schemas.microsoft.com/office/drawing/2014/main" id="{BC564ED3-A53F-4681-0C82-114FB291ABF6}"/>
              </a:ext>
            </a:extLst>
          </p:cNvPr>
          <p:cNvSpPr/>
          <p:nvPr/>
        </p:nvSpPr>
        <p:spPr>
          <a:xfrm>
            <a:off x="7951314" y="33472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2" name="Ovaal 11">
            <a:extLst>
              <a:ext uri="{FF2B5EF4-FFF2-40B4-BE49-F238E27FC236}">
                <a16:creationId xmlns:a16="http://schemas.microsoft.com/office/drawing/2014/main" id="{498A5593-0A46-DE2F-22E7-1DCB40AE2D00}"/>
              </a:ext>
            </a:extLst>
          </p:cNvPr>
          <p:cNvSpPr/>
          <p:nvPr/>
        </p:nvSpPr>
        <p:spPr>
          <a:xfrm>
            <a:off x="9090244" y="3349541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8" name="Ovaal 11">
            <a:extLst>
              <a:ext uri="{FF2B5EF4-FFF2-40B4-BE49-F238E27FC236}">
                <a16:creationId xmlns:a16="http://schemas.microsoft.com/office/drawing/2014/main" id="{9CC9673A-F89B-12EB-21B8-75E30C9D2080}"/>
              </a:ext>
            </a:extLst>
          </p:cNvPr>
          <p:cNvSpPr/>
          <p:nvPr/>
        </p:nvSpPr>
        <p:spPr>
          <a:xfrm>
            <a:off x="6793863" y="381479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49" name="Ovaal 10">
            <a:extLst>
              <a:ext uri="{FF2B5EF4-FFF2-40B4-BE49-F238E27FC236}">
                <a16:creationId xmlns:a16="http://schemas.microsoft.com/office/drawing/2014/main" id="{828AC1A7-9160-FEB7-DB79-3435941438F6}"/>
              </a:ext>
            </a:extLst>
          </p:cNvPr>
          <p:cNvSpPr/>
          <p:nvPr/>
        </p:nvSpPr>
        <p:spPr>
          <a:xfrm>
            <a:off x="4508969" y="3815895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0" name="Ovaal 10">
            <a:extLst>
              <a:ext uri="{FF2B5EF4-FFF2-40B4-BE49-F238E27FC236}">
                <a16:creationId xmlns:a16="http://schemas.microsoft.com/office/drawing/2014/main" id="{61B86929-CAFC-4B95-0C1C-51AC05D784F0}"/>
              </a:ext>
            </a:extLst>
          </p:cNvPr>
          <p:cNvSpPr/>
          <p:nvPr/>
        </p:nvSpPr>
        <p:spPr>
          <a:xfrm>
            <a:off x="337062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1" name="Ovaal 11">
            <a:extLst>
              <a:ext uri="{FF2B5EF4-FFF2-40B4-BE49-F238E27FC236}">
                <a16:creationId xmlns:a16="http://schemas.microsoft.com/office/drawing/2014/main" id="{C9115110-8ADA-848B-D863-F06FB80DED4F}"/>
              </a:ext>
            </a:extLst>
          </p:cNvPr>
          <p:cNvSpPr/>
          <p:nvPr/>
        </p:nvSpPr>
        <p:spPr>
          <a:xfrm>
            <a:off x="7947783" y="3818437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6" name="Ovaal 9">
            <a:extLst>
              <a:ext uri="{FF2B5EF4-FFF2-40B4-BE49-F238E27FC236}">
                <a16:creationId xmlns:a16="http://schemas.microsoft.com/office/drawing/2014/main" id="{9BDEE888-167D-966F-C1F2-B5417B5DA84B}"/>
              </a:ext>
            </a:extLst>
          </p:cNvPr>
          <p:cNvSpPr/>
          <p:nvPr/>
        </p:nvSpPr>
        <p:spPr>
          <a:xfrm>
            <a:off x="2215199" y="4275894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7" name="Ovaal 10">
            <a:extLst>
              <a:ext uri="{FF2B5EF4-FFF2-40B4-BE49-F238E27FC236}">
                <a16:creationId xmlns:a16="http://schemas.microsoft.com/office/drawing/2014/main" id="{A8E55C29-424F-C86E-9059-BB74D2141A3C}"/>
              </a:ext>
            </a:extLst>
          </p:cNvPr>
          <p:cNvSpPr/>
          <p:nvPr/>
        </p:nvSpPr>
        <p:spPr>
          <a:xfrm>
            <a:off x="5651416" y="4281950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59" name="Ovaal 10">
            <a:extLst>
              <a:ext uri="{FF2B5EF4-FFF2-40B4-BE49-F238E27FC236}">
                <a16:creationId xmlns:a16="http://schemas.microsoft.com/office/drawing/2014/main" id="{1C67472D-7DB0-3A78-43FA-FFD2DD48FC01}"/>
              </a:ext>
            </a:extLst>
          </p:cNvPr>
          <p:cNvSpPr/>
          <p:nvPr/>
        </p:nvSpPr>
        <p:spPr>
          <a:xfrm>
            <a:off x="4508969" y="4276992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0" name="Ovaal 10">
            <a:extLst>
              <a:ext uri="{FF2B5EF4-FFF2-40B4-BE49-F238E27FC236}">
                <a16:creationId xmlns:a16="http://schemas.microsoft.com/office/drawing/2014/main" id="{1FC6962A-C121-CBE7-BDBD-17AB17923A72}"/>
              </a:ext>
            </a:extLst>
          </p:cNvPr>
          <p:cNvSpPr/>
          <p:nvPr/>
        </p:nvSpPr>
        <p:spPr>
          <a:xfrm>
            <a:off x="3370623" y="427347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2" name="Ovaal 11">
            <a:extLst>
              <a:ext uri="{FF2B5EF4-FFF2-40B4-BE49-F238E27FC236}">
                <a16:creationId xmlns:a16="http://schemas.microsoft.com/office/drawing/2014/main" id="{1F2D0029-FADC-9339-9382-49C8069FF25F}"/>
              </a:ext>
            </a:extLst>
          </p:cNvPr>
          <p:cNvSpPr/>
          <p:nvPr/>
        </p:nvSpPr>
        <p:spPr>
          <a:xfrm>
            <a:off x="9086713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3" name="Ovaal 11">
            <a:extLst>
              <a:ext uri="{FF2B5EF4-FFF2-40B4-BE49-F238E27FC236}">
                <a16:creationId xmlns:a16="http://schemas.microsoft.com/office/drawing/2014/main" id="{6E7AABD6-937F-DAFB-B1F0-EE0A04634B74}"/>
              </a:ext>
            </a:extLst>
          </p:cNvPr>
          <p:cNvSpPr/>
          <p:nvPr/>
        </p:nvSpPr>
        <p:spPr>
          <a:xfrm>
            <a:off x="10236612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64" name="Ovaal 11">
            <a:extLst>
              <a:ext uri="{FF2B5EF4-FFF2-40B4-BE49-F238E27FC236}">
                <a16:creationId xmlns:a16="http://schemas.microsoft.com/office/drawing/2014/main" id="{1A485405-125F-7FAC-A51E-ADEA50ADBF11}"/>
              </a:ext>
            </a:extLst>
          </p:cNvPr>
          <p:cNvSpPr/>
          <p:nvPr/>
        </p:nvSpPr>
        <p:spPr>
          <a:xfrm>
            <a:off x="11375001" y="4281783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5" name="Ovaal 11">
            <a:extLst>
              <a:ext uri="{FF2B5EF4-FFF2-40B4-BE49-F238E27FC236}">
                <a16:creationId xmlns:a16="http://schemas.microsoft.com/office/drawing/2014/main" id="{A8F5F29E-A2FB-9091-E6B6-74785EEC2691}"/>
              </a:ext>
            </a:extLst>
          </p:cNvPr>
          <p:cNvSpPr/>
          <p:nvPr/>
        </p:nvSpPr>
        <p:spPr>
          <a:xfrm>
            <a:off x="10236613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6" name="Ovaal 11">
            <a:extLst>
              <a:ext uri="{FF2B5EF4-FFF2-40B4-BE49-F238E27FC236}">
                <a16:creationId xmlns:a16="http://schemas.microsoft.com/office/drawing/2014/main" id="{2B5D5729-583E-8BF0-5AC8-486005BA6A0F}"/>
              </a:ext>
            </a:extLst>
          </p:cNvPr>
          <p:cNvSpPr/>
          <p:nvPr/>
        </p:nvSpPr>
        <p:spPr>
          <a:xfrm>
            <a:off x="11375002" y="4738868"/>
            <a:ext cx="157941" cy="157941"/>
          </a:xfrm>
          <a:prstGeom prst="ellipse">
            <a:avLst/>
          </a:prstGeom>
          <a:gradFill>
            <a:gsLst>
              <a:gs pos="23000">
                <a:srgbClr val="F8C818"/>
              </a:gs>
              <a:gs pos="61000">
                <a:srgbClr val="E98C36"/>
              </a:gs>
            </a:gsLst>
            <a:lin ang="2700000" scaled="0"/>
          </a:gradFill>
          <a:ln w="12700">
            <a:gradFill>
              <a:gsLst>
                <a:gs pos="16000">
                  <a:schemeClr val="accent4">
                    <a:lumMod val="20000"/>
                    <a:lumOff val="80000"/>
                  </a:schemeClr>
                </a:gs>
                <a:gs pos="58000">
                  <a:srgbClr val="E98C36"/>
                </a:gs>
              </a:gsLst>
              <a:lin ang="2700000" scaled="0"/>
            </a:gradFill>
          </a:ln>
          <a:effectLst>
            <a:outerShdw blurRad="158021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7" name="Afgeronde rechthoek 4">
            <a:extLst>
              <a:ext uri="{FF2B5EF4-FFF2-40B4-BE49-F238E27FC236}">
                <a16:creationId xmlns:a16="http://schemas.microsoft.com/office/drawing/2014/main" id="{6512E9E4-9B95-7954-3745-5B7DFC710C19}"/>
              </a:ext>
            </a:extLst>
          </p:cNvPr>
          <p:cNvSpPr/>
          <p:nvPr/>
        </p:nvSpPr>
        <p:spPr>
          <a:xfrm>
            <a:off x="3234047" y="3252689"/>
            <a:ext cx="611251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8" name="Afgeronde rechthoek 4">
            <a:extLst>
              <a:ext uri="{FF2B5EF4-FFF2-40B4-BE49-F238E27FC236}">
                <a16:creationId xmlns:a16="http://schemas.microsoft.com/office/drawing/2014/main" id="{F27BC448-4468-EA9E-A482-26966DD5E0A7}"/>
              </a:ext>
            </a:extLst>
          </p:cNvPr>
          <p:cNvSpPr/>
          <p:nvPr/>
        </p:nvSpPr>
        <p:spPr>
          <a:xfrm>
            <a:off x="3234047" y="3727474"/>
            <a:ext cx="4995554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89" name="Afgeronde rechthoek 4">
            <a:extLst>
              <a:ext uri="{FF2B5EF4-FFF2-40B4-BE49-F238E27FC236}">
                <a16:creationId xmlns:a16="http://schemas.microsoft.com/office/drawing/2014/main" id="{DCBB745F-1E7A-DCD4-F9CA-B9BE6C18EB8A}"/>
              </a:ext>
            </a:extLst>
          </p:cNvPr>
          <p:cNvSpPr/>
          <p:nvPr/>
        </p:nvSpPr>
        <p:spPr>
          <a:xfrm>
            <a:off x="2079450" y="4184931"/>
            <a:ext cx="9597669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  <p:sp>
        <p:nvSpPr>
          <p:cNvPr id="190" name="Afgeronde rechthoek 4">
            <a:extLst>
              <a:ext uri="{FF2B5EF4-FFF2-40B4-BE49-F238E27FC236}">
                <a16:creationId xmlns:a16="http://schemas.microsoft.com/office/drawing/2014/main" id="{8FDE29E0-E140-7AE4-ABB5-5DF38D348344}"/>
              </a:ext>
            </a:extLst>
          </p:cNvPr>
          <p:cNvSpPr/>
          <p:nvPr/>
        </p:nvSpPr>
        <p:spPr>
          <a:xfrm>
            <a:off x="10137228" y="4644690"/>
            <a:ext cx="1539891" cy="339865"/>
          </a:xfrm>
          <a:prstGeom prst="roundRect">
            <a:avLst>
              <a:gd name="adj" fmla="val 50000"/>
            </a:avLst>
          </a:prstGeom>
          <a:gradFill>
            <a:gsLst>
              <a:gs pos="20000">
                <a:schemeClr val="accent4">
                  <a:alpha val="10000"/>
                </a:schemeClr>
              </a:gs>
              <a:gs pos="0">
                <a:schemeClr val="accent4">
                  <a:alpha val="30170"/>
                </a:schemeClr>
              </a:gs>
            </a:gsLst>
            <a:lin ang="4200000" scaled="0"/>
          </a:gra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noProof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85375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F6B8A-7C00-C575-7457-191C7FD7C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C9023B7C-A473-4E6D-F108-E3D1F0A95D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3096535" cy="228145"/>
          </a:xfrm>
        </p:spPr>
        <p:txBody>
          <a:bodyPr/>
          <a:lstStyle/>
          <a:p>
            <a:r>
              <a:rPr lang="en-US" noProof="0" dirty="0"/>
              <a:t>Key findings – Architecture quality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5D74ABEF-BBA7-7EB8-0A5E-BB2FB1DE2F0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5278C1DA-0A09-03B2-12F4-1C97F1DE444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15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096AE361-6DBC-B794-EDAB-4DC17958C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440112"/>
            <a:ext cx="11880000" cy="710067"/>
          </a:xfrm>
        </p:spPr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scores </a:t>
            </a:r>
            <a:r>
              <a:rPr lang="en-US" noProof="0" dirty="0" err="1"/>
              <a:t>ARCH_AT_BELOW</a:t>
            </a:r>
            <a:r>
              <a:rPr lang="en-US" noProof="0" dirty="0"/>
              <a:t> market average (</a:t>
            </a:r>
            <a:r>
              <a:rPr lang="en-US" noProof="0" dirty="0" err="1"/>
              <a:t>ARCH_RATING</a:t>
            </a:r>
            <a:r>
              <a:rPr lang="en-US" noProof="0" dirty="0"/>
              <a:t> </a:t>
            </a:r>
            <a:r>
              <a:rPr lang="en-US" noProof="0" dirty="0">
                <a:latin typeface="Sigsterren" pitchFamily="2" charset="0"/>
              </a:rPr>
              <a:t>H</a:t>
            </a:r>
            <a:r>
              <a:rPr lang="en-US" noProof="0" dirty="0"/>
              <a:t>) for Architecture Quality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25670B74-994D-55A0-AD07-98A248D48DB6}"/>
              </a:ext>
            </a:extLst>
          </p:cNvPr>
          <p:cNvCxnSpPr>
            <a:cxnSpLocks/>
          </p:cNvCxnSpPr>
          <p:nvPr/>
        </p:nvCxnSpPr>
        <p:spPr>
          <a:xfrm>
            <a:off x="8234879" y="2821727"/>
            <a:ext cx="0" cy="2897755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CE4319B9-9771-2A05-4538-1ADB2C37E0ED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AA8B47A8-72DA-48C9-DECA-3AE6B40F3F8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47776BDA-7B9E-328E-B2D5-EF0D57B90D4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FA34F6E1-724E-FF9F-F586-B5D57AB9910C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E42D3F9F-BC62-E9F8-1C55-AFDF8FB77513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DAD3E314-0CE8-902B-98B0-C50B93079F8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F9F10F78-A655-6894-AC18-B367F3225FC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F5870E07-67CB-6CAF-290A-DC8D564A6793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0510379F-4FA1-2F85-F33E-9999775D289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92CDAE9-7921-04AC-FFDC-FACD7BCBC7F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029AB624-20AD-2F65-270A-BAF78093FBB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39110EFF-CBA0-264B-4040-33E0DB3C20E9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CD5CFA67-CF13-EB96-901F-21B44204BF4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2BC5E0A6-DEDA-BE9B-C42D-3FF6F7D458E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4A28478D-3549-CFB9-6D95-D394086C5A9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5C894647-3FF5-D5D2-AE15-79A171B92756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4F7989BF-12F8-6FB8-BCA6-845429F5AA0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HIIII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709722D1-EBBC-1399-A806-A1C96BC9564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166EA7F0-B4B5-F8EE-537A-606B831FD11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D82014B8-8284-6DDC-1B00-094DC19B7CCE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25DB951D-CA59-A1C7-ECE3-07DED89C67E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HHHHH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FF852F78-F1EC-CE6B-3664-A97E572DDCFF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DF73DF65-97CD-1A5D-EBE8-CD9B72A8CCF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44AD5A8A-86B1-089A-5DA1-44533C8B84DE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31E74F8C-BE8B-4E5D-EEE7-0C3718316B4A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1ACAB026-0F6B-9D60-0651-A16173B75AA6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4DBF2D50-43B3-9D1D-1C7D-6BB92C13BC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395675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EC064487-82CA-6298-4D63-838846DA7153}"/>
              </a:ext>
            </a:extLst>
          </p:cNvPr>
          <p:cNvGraphicFramePr>
            <a:graphicFrameLocks noGrp="1"/>
          </p:cNvGraphicFramePr>
          <p:nvPr/>
        </p:nvGraphicFramePr>
        <p:xfrm>
          <a:off x="8395675" y="3035953"/>
          <a:ext cx="3292327" cy="259311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4668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7445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28201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Code breakdown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ARCH_RATING_CODE_BREAKDOWN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adjacency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ARCH_RATING_COMPONENT_ADJACENCY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cohesion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ARCH_RATING_COMPONENT_COHESION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Communication centralization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ARCH_RATING_COMMUNICATION_CENTRALIZATION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Data coupling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ARCH_RATING_DATA_COUPLING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3660516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Bounded evolution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ARCH_RATING_BOUNDED_EVOLUTION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2530004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Knowledge distribution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ARCH_RATING_KNOWLEDGE_DISTRIBUTION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8207179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Component 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ARCH_RATING_COMPONENT_FRESHNESS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71855687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823BDAA0-459C-E350-9690-A1457832995E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A05C33E1-20E4-89ED-347A-3028FC9719E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Architecture quality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627BA5DB-ADE1-55DF-349E-456F831C423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ARCH_DATE_DAY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ARCH_DATE_YEAR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A90CCEF1-0D7F-A990-DCAA-3B1F056EDCF7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83DAF973-8321-71A3-7FE1-2C44138B02F1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EE0ABF83-8B60-6866-F885-2186595DE3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4CE8562A-8EBE-7476-822E-7617D83FB982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MARKER_ARCH_RATING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  <p:sp>
        <p:nvSpPr>
          <p:cNvPr id="16" name="Hexagon 15">
            <a:extLst>
              <a:ext uri="{FF2B5EF4-FFF2-40B4-BE49-F238E27FC236}">
                <a16:creationId xmlns:a16="http://schemas.microsoft.com/office/drawing/2014/main" id="{ED0ADA17-128F-6A3D-D2F9-7B6FDC4001CE}"/>
              </a:ext>
            </a:extLst>
          </p:cNvPr>
          <p:cNvSpPr/>
          <p:nvPr/>
        </p:nvSpPr>
        <p:spPr>
          <a:xfrm>
            <a:off x="707921" y="3519047"/>
            <a:ext cx="1427142" cy="1299028"/>
          </a:xfrm>
          <a:prstGeom prst="hexagon">
            <a:avLst/>
          </a:prstGeom>
          <a:solidFill>
            <a:srgbClr val="DB4A3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b="1" noProof="0" dirty="0">
                <a:solidFill>
                  <a:schemeClr val="bg1"/>
                </a:solidFill>
              </a:rPr>
              <a:t>Knowledge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COLOR_ARCH_RATING_KNOWLEDGE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igsterren" pitchFamily="2" charset="0"/>
              </a:rPr>
              <a:t>H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5E3E2333-CF2E-CB39-4395-42A9EB95BD8E}"/>
              </a:ext>
            </a:extLst>
          </p:cNvPr>
          <p:cNvSpPr/>
          <p:nvPr/>
        </p:nvSpPr>
        <p:spPr>
          <a:xfrm>
            <a:off x="1862482" y="2869533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900" noProof="0" dirty="0">
                <a:solidFill>
                  <a:srgbClr val="1E354B"/>
                </a:solidFill>
              </a:rPr>
              <a:t>Communication</a:t>
            </a:r>
          </a:p>
          <a:p>
            <a:pPr algn="ctr">
              <a:defRPr/>
            </a:pPr>
            <a:r>
              <a:rPr lang="en-US" sz="1200" noProof="0" dirty="0" err="1">
                <a:solidFill>
                  <a:srgbClr val="1E354B"/>
                </a:solidFill>
                <a:latin typeface="Calibri" panose="020F0502020204030204"/>
              </a:rPr>
              <a:t>COLOR_ARCH_RATING_COMMUNICATION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</a:rPr>
              <a:t>H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7A06B6EF-AB98-D5CE-88A2-E77A3B25B548}"/>
              </a:ext>
            </a:extLst>
          </p:cNvPr>
          <p:cNvSpPr/>
          <p:nvPr/>
        </p:nvSpPr>
        <p:spPr>
          <a:xfrm>
            <a:off x="1862482" y="421297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Structure</a:t>
            </a:r>
          </a:p>
          <a:p>
            <a:pPr algn="ctr"/>
            <a:r>
              <a:rPr lang="en-US" sz="1200" noProof="0" dirty="0" err="1">
                <a:solidFill>
                  <a:srgbClr val="1E354B"/>
                </a:solidFill>
              </a:rPr>
              <a:t>COLOR_ARCH_RATING_STRUCTURE</a:t>
            </a:r>
            <a:r>
              <a:rPr lang="en-US" sz="1200" noProof="0" dirty="0">
                <a:solidFill>
                  <a:srgbClr val="1E354B"/>
                </a:solidFill>
              </a:rPr>
              <a:t> </a:t>
            </a:r>
            <a:r>
              <a:rPr lang="en-US" sz="1200" noProof="0" dirty="0">
                <a:solidFill>
                  <a:srgbClr val="1E354B"/>
                </a:solidFill>
                <a:latin typeface="Sigsterren" pitchFamily="2" charset="0"/>
              </a:rPr>
              <a:t>H</a:t>
            </a:r>
            <a:endParaRPr lang="en-US" sz="1050" noProof="0" dirty="0">
              <a:solidFill>
                <a:srgbClr val="1E354B"/>
              </a:solidFill>
              <a:latin typeface="Sigsterren" pitchFamily="2" charset="0"/>
            </a:endParaRPr>
          </a:p>
        </p:txBody>
      </p:sp>
      <p:sp>
        <p:nvSpPr>
          <p:cNvPr id="29" name="Hexagon 28">
            <a:extLst>
              <a:ext uri="{FF2B5EF4-FFF2-40B4-BE49-F238E27FC236}">
                <a16:creationId xmlns:a16="http://schemas.microsoft.com/office/drawing/2014/main" id="{FDF57ABA-B6E0-13E7-A935-32521C040FF3}"/>
              </a:ext>
            </a:extLst>
          </p:cNvPr>
          <p:cNvSpPr/>
          <p:nvPr/>
        </p:nvSpPr>
        <p:spPr>
          <a:xfrm>
            <a:off x="707921" y="4879197"/>
            <a:ext cx="1427142" cy="1299028"/>
          </a:xfrm>
          <a:prstGeom prst="hexagon">
            <a:avLst/>
          </a:prstGeom>
          <a:solidFill>
            <a:srgbClr val="F9C6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Evolution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COLOR_ARCH_RATING_EVOLUTION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</a:rPr>
              <a:t>H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0" name="Hexagon 29">
            <a:extLst>
              <a:ext uri="{FF2B5EF4-FFF2-40B4-BE49-F238E27FC236}">
                <a16:creationId xmlns:a16="http://schemas.microsoft.com/office/drawing/2014/main" id="{B1275457-DED3-801E-77EE-D83D1FE14B37}"/>
              </a:ext>
            </a:extLst>
          </p:cNvPr>
          <p:cNvSpPr/>
          <p:nvPr/>
        </p:nvSpPr>
        <p:spPr>
          <a:xfrm>
            <a:off x="3034403" y="351904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Data Access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 dirty="0" err="1">
                <a:solidFill>
                  <a:srgbClr val="1E354B"/>
                </a:solidFill>
                <a:latin typeface="Calibri" panose="020F0502020204030204"/>
              </a:rPr>
              <a:t>COLOR_ARCH_RATING_DATA_ACCESS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</a:rPr>
              <a:t>H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1" name="Hexagon 30">
            <a:extLst>
              <a:ext uri="{FF2B5EF4-FFF2-40B4-BE49-F238E27FC236}">
                <a16:creationId xmlns:a16="http://schemas.microsoft.com/office/drawing/2014/main" id="{37FCEF89-149E-5604-15A3-6B3D61BA84D3}"/>
              </a:ext>
            </a:extLst>
          </p:cNvPr>
          <p:cNvSpPr/>
          <p:nvPr/>
        </p:nvSpPr>
        <p:spPr>
          <a:xfrm>
            <a:off x="3017043" y="4879197"/>
            <a:ext cx="1427142" cy="1299028"/>
          </a:xfrm>
          <a:prstGeom prst="hexagon">
            <a:avLst/>
          </a:prstGeom>
          <a:solidFill>
            <a:srgbClr val="57C96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US" sz="1100" noProof="0" dirty="0">
                <a:solidFill>
                  <a:srgbClr val="1E354B"/>
                </a:solidFill>
              </a:rPr>
              <a:t>Technology Stack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noProof="0" dirty="0" err="1">
                <a:solidFill>
                  <a:srgbClr val="1E354B"/>
                </a:solidFill>
                <a:latin typeface="Calibri" panose="020F0502020204030204"/>
              </a:rPr>
              <a:t>COLOR_ARCH_RATING_TECHNOLOGY_STACK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en-US" sz="1200" u="none" strike="noStrike" kern="1200" cap="none" spc="0" normalizeH="0" baseline="0" noProof="0" dirty="0">
                <a:ln>
                  <a:noFill/>
                </a:ln>
                <a:solidFill>
                  <a:srgbClr val="1E354B"/>
                </a:solidFill>
                <a:effectLst/>
                <a:uLnTx/>
                <a:uFillTx/>
                <a:latin typeface="Sigsterren" pitchFamily="2" charset="0"/>
              </a:rPr>
              <a:t>H</a:t>
            </a:r>
            <a:endParaRPr kumimoji="0" lang="en-US" sz="1050" u="none" strike="noStrike" kern="1200" cap="none" spc="0" normalizeH="0" baseline="0" noProof="0" dirty="0">
              <a:ln>
                <a:noFill/>
              </a:ln>
              <a:solidFill>
                <a:srgbClr val="1E354B"/>
              </a:solidFill>
              <a:effectLst/>
              <a:uLnTx/>
              <a:uFillTx/>
              <a:latin typeface="Sigsterren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0F924A-2375-295D-4FA1-E0595583258E}"/>
              </a:ext>
            </a:extLst>
          </p:cNvPr>
          <p:cNvSpPr txBox="1"/>
          <p:nvPr/>
        </p:nvSpPr>
        <p:spPr>
          <a:xfrm>
            <a:off x="4651513" y="3050651"/>
            <a:ext cx="328879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 err="1"/>
              <a:t>ARCH_WORST_METRIC_REMARK</a:t>
            </a:r>
            <a:endParaRPr lang="en-US" sz="1600" noProof="0" dirty="0"/>
          </a:p>
          <a:p>
            <a:br>
              <a:rPr lang="en-US" sz="1600" noProof="0" dirty="0"/>
            </a:br>
            <a:r>
              <a:rPr lang="en-US" sz="1600" noProof="0" dirty="0" err="1"/>
              <a:t>ARCH_BEST_METRIC_REMARK</a:t>
            </a:r>
            <a:endParaRPr lang="en-US" sz="2400" noProof="0" dirty="0"/>
          </a:p>
        </p:txBody>
      </p:sp>
    </p:spTree>
    <p:extLst>
      <p:ext uri="{BB962C8B-B14F-4D97-AF65-F5344CB8AC3E}">
        <p14:creationId xmlns:p14="http://schemas.microsoft.com/office/powerpoint/2010/main" val="11100056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3691-EEF8-B68C-5A5F-30410C866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Oval 91">
            <a:extLst>
              <a:ext uri="{FF2B5EF4-FFF2-40B4-BE49-F238E27FC236}">
                <a16:creationId xmlns:a16="http://schemas.microsoft.com/office/drawing/2014/main" id="{B6C70F8F-27F3-4CF3-FECD-439D34C6752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0638" cy="5340638"/>
          </a:xfrm>
          <a:prstGeom prst="ellipse">
            <a:avLst/>
          </a:prstGeom>
          <a:gradFill>
            <a:gsLst>
              <a:gs pos="0">
                <a:schemeClr val="accent3">
                  <a:alpha val="15000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95C27F98-D0CE-D5B9-C55D-97BBC5A5BF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004388" y="1634792"/>
            <a:ext cx="4180824" cy="4180824"/>
          </a:xfrm>
          <a:prstGeom prst="ellipse">
            <a:avLst/>
          </a:prstGeom>
          <a:gradFill>
            <a:gsLst>
              <a:gs pos="0">
                <a:schemeClr val="accent3">
                  <a:alpha val="30871"/>
                </a:schemeClr>
              </a:gs>
              <a:gs pos="43000">
                <a:schemeClr val="accent3">
                  <a:alpha val="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C9D0E3-9C9E-5F23-111D-96C14386A39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20303" y="2076017"/>
            <a:ext cx="3351394" cy="3317250"/>
          </a:xfrm>
          <a:prstGeom prst="rect">
            <a:avLst/>
          </a:prstGeom>
          <a:noFill/>
        </p:spPr>
        <p:txBody>
          <a:bodyPr wrap="none" lIns="90000" rtlCol="0" anchor="t">
            <a:prstTxWarp prst="textArchUp">
              <a:avLst>
                <a:gd name="adj" fmla="val 9056230"/>
              </a:avLst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43000">
                      <a:srgbClr val="FFFFFF"/>
                    </a:gs>
                    <a:gs pos="9000">
                      <a:srgbClr val="88ADF5">
                        <a:lumMod val="60000"/>
                        <a:lumOff val="40000"/>
                      </a:srgbClr>
                    </a:gs>
                  </a:gsLst>
                  <a:lin ang="9600000" scaled="0"/>
                </a:gradFill>
                <a:effectLst>
                  <a:outerShdw blurRad="113571" dist="44478" dir="16200000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Noir Pro Semi Bold" pitchFamily="2" charset="0"/>
                <a:ea typeface="+mn-ea"/>
                <a:cs typeface="+mn-cs"/>
              </a:rPr>
              <a:t>Open Source Health</a:t>
            </a:r>
          </a:p>
        </p:txBody>
      </p:sp>
      <p:sp>
        <p:nvSpPr>
          <p:cNvPr id="63" name="Text Placeholder 62">
            <a:extLst>
              <a:ext uri="{FF2B5EF4-FFF2-40B4-BE49-F238E27FC236}">
                <a16:creationId xmlns:a16="http://schemas.microsoft.com/office/drawing/2014/main" id="{4470666D-AB22-177C-6C7A-D16FF6FB97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body" sz="quarter" idx="12"/>
          </p:nvPr>
        </p:nvSpPr>
        <p:spPr>
          <a:xfrm>
            <a:off x="381600" y="129568"/>
            <a:ext cx="1663129" cy="228209"/>
          </a:xfrm>
        </p:spPr>
        <p:txBody>
          <a:bodyPr/>
          <a:lstStyle/>
          <a:p>
            <a:r>
              <a:rPr lang="en-US" noProof="0" dirty="0"/>
              <a:t>Model Introduction</a:t>
            </a:r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B5F5EE4F-BA36-EEBF-BA2F-29E8865194E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ftr" sz="quarter" idx="14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5FAE676-1E79-98D7-3514-335462A799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sldNum" sz="quarter" idx="1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242BD21-9B61-2246-BCB1-4BE5E1BEBE1C}" type="slidenum">
              <a:rPr kumimoji="0" lang="en-US" sz="900" b="0" i="0" u="none" strike="noStrike" kern="1200" cap="none" spc="1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900" b="0" i="0" u="none" strike="noStrike" kern="1200" cap="none" spc="1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0" name="Title 69">
            <a:extLst>
              <a:ext uri="{FF2B5EF4-FFF2-40B4-BE49-F238E27FC236}">
                <a16:creationId xmlns:a16="http://schemas.microsoft.com/office/drawing/2014/main" id="{3EF7774A-211E-088E-C9B6-6A86C440503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SIG assesses the use of Open Source and IP in five key areas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9F3FDDD-3858-C838-0AD0-612548D292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673297" y="2304400"/>
            <a:ext cx="2849490" cy="2849490"/>
          </a:xfrm>
          <a:prstGeom prst="ellipse">
            <a:avLst/>
          </a:prstGeom>
          <a:solidFill>
            <a:schemeClr val="accent3">
              <a:alpha val="25678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533F8D7-DBCC-1E52-6611-0BE5FFCA74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029556" y="2660659"/>
            <a:ext cx="2136972" cy="2136972"/>
          </a:xfrm>
          <a:prstGeom prst="ellipse">
            <a:avLst/>
          </a:prstGeom>
          <a:gradFill>
            <a:gsLst>
              <a:gs pos="23000">
                <a:schemeClr val="accent3">
                  <a:lumMod val="60000"/>
                  <a:lumOff val="40000"/>
                  <a:alpha val="33841"/>
                </a:schemeClr>
              </a:gs>
              <a:gs pos="61000">
                <a:schemeClr val="accent3">
                  <a:lumMod val="60000"/>
                  <a:lumOff val="40000"/>
                  <a:alpha val="16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63A583D-6BE0-A8F1-39D1-114B3FDEE8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26438" y="2957541"/>
            <a:ext cx="1543208" cy="1543208"/>
          </a:xfrm>
          <a:prstGeom prst="ellipse">
            <a:avLst/>
          </a:prstGeom>
          <a:gradFill>
            <a:gsLst>
              <a:gs pos="23000">
                <a:schemeClr val="bg1"/>
              </a:gs>
              <a:gs pos="61000">
                <a:schemeClr val="accent3">
                  <a:lumMod val="40000"/>
                  <a:lumOff val="60000"/>
                  <a:alpha val="29000"/>
                </a:schemeClr>
              </a:gs>
            </a:gsLst>
            <a:lin ang="2700000" scaled="0"/>
          </a:gradFill>
          <a:ln w="12700">
            <a:solidFill>
              <a:schemeClr val="accent3">
                <a:alpha val="21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8E6CC9E-A042-4D41-4D82-5012869DD8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8436" y="2929751"/>
            <a:ext cx="80980" cy="809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6E013D36-4866-963A-B984-D0771F1F8F9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366019" y="4285002"/>
            <a:ext cx="53706" cy="5370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61F8860-D3BD-ADF7-947C-66743FAA234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/>
              </a:gs>
              <a:gs pos="55000">
                <a:schemeClr val="tx2"/>
              </a:gs>
              <a:gs pos="97000">
                <a:schemeClr val="accent1"/>
              </a:gs>
            </a:gsLst>
            <a:lin ang="15000000" scaled="0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4EEE0137-8821-1C78-1860-272D52AD6A69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6096000" y="4363444"/>
            <a:ext cx="0" cy="263379"/>
          </a:xfrm>
          <a:prstGeom prst="line">
            <a:avLst/>
          </a:prstGeom>
          <a:ln w="9525">
            <a:solidFill>
              <a:schemeClr val="accent1">
                <a:alpha val="8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Oval 49">
            <a:extLst>
              <a:ext uri="{FF2B5EF4-FFF2-40B4-BE49-F238E27FC236}">
                <a16:creationId xmlns:a16="http://schemas.microsoft.com/office/drawing/2014/main" id="{D035F2BD-9708-0AD0-BD3B-D333B7293EE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60913" y="4603426"/>
            <a:ext cx="70174" cy="701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2A041D92-70F1-8E69-18DA-1A12061BCB4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6040908" y="4313883"/>
            <a:ext cx="112242" cy="11224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2" name="Content Placeholder 70">
            <a:extLst>
              <a:ext uri="{FF2B5EF4-FFF2-40B4-BE49-F238E27FC236}">
                <a16:creationId xmlns:a16="http://schemas.microsoft.com/office/drawing/2014/main" id="{D5037DEE-D3A7-543A-B3E5-6F22ECB1E9B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148338" y="1411200"/>
            <a:ext cx="3650085" cy="4842000"/>
          </a:xfrm>
          <a:prstGeom prst="rect">
            <a:avLst/>
          </a:prstGeom>
        </p:spPr>
        <p:txBody>
          <a:bodyPr vert="horz" lIns="216000" tIns="0" rIns="91440" bIns="72000" rtlCol="0" anchor="ctr">
            <a:noAutofit/>
          </a:bodyPr>
          <a:lstStyle>
            <a:lvl1pPr marL="0" indent="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None/>
              <a:tabLst/>
              <a:defRPr lang="en-US"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Open Source Health (OSH)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systems in scope are assessed for risks resulting from the use of open source software.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The key sources for this check are configuration files of common dependency management systems (e.g.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Nuget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, Maven, and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NPM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).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This information is used to uncover risks related to known vulnerabilities, freshness, license usage, activity and management</a:t>
            </a:r>
          </a:p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600"/>
              </a:spcAft>
              <a:buClr>
                <a:srgbClr val="F8C716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88ADF5"/>
              </a:solidFill>
              <a:effectLst/>
              <a:uLnTx/>
              <a:uFillTx/>
              <a:latin typeface="Azeret Mono" pitchFamily="2" charset="77"/>
              <a:ea typeface="+mn-ea"/>
              <a:cs typeface="Azeret Mono" pitchFamily="2" charset="77"/>
            </a:endParaRPr>
          </a:p>
        </p:txBody>
      </p:sp>
      <p:sp>
        <p:nvSpPr>
          <p:cNvPr id="78" name="Arc 77">
            <a:extLst>
              <a:ext uri="{FF2B5EF4-FFF2-40B4-BE49-F238E27FC236}">
                <a16:creationId xmlns:a16="http://schemas.microsoft.com/office/drawing/2014/main" id="{AE202C74-D8C9-84F4-7CCF-66BFEFFF7D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403883" y="2031167"/>
            <a:ext cx="3381834" cy="3405830"/>
          </a:xfrm>
          <a:prstGeom prst="arc">
            <a:avLst>
              <a:gd name="adj1" fmla="val 18941193"/>
              <a:gd name="adj2" fmla="val 13132678"/>
            </a:avLst>
          </a:prstGeom>
          <a:ln w="12700">
            <a:gradFill>
              <a:gsLst>
                <a:gs pos="98000">
                  <a:schemeClr val="bg1">
                    <a:alpha val="0"/>
                  </a:schemeClr>
                </a:gs>
                <a:gs pos="68000">
                  <a:schemeClr val="bg1">
                    <a:alpha val="29485"/>
                  </a:schemeClr>
                </a:gs>
                <a:gs pos="8000">
                  <a:schemeClr val="accent3"/>
                </a:gs>
                <a:gs pos="18000">
                  <a:schemeClr val="accent3">
                    <a:alpha val="45000"/>
                  </a:schemeClr>
                </a:gs>
              </a:gsLst>
              <a:lin ang="5400000" scaled="1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Arc 98">
            <a:extLst>
              <a:ext uri="{FF2B5EF4-FFF2-40B4-BE49-F238E27FC236}">
                <a16:creationId xmlns:a16="http://schemas.microsoft.com/office/drawing/2014/main" id="{86B057A7-8157-80A0-0AA7-9BDCD7BBB46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176684" y="2825556"/>
            <a:ext cx="1850921" cy="1820186"/>
          </a:xfrm>
          <a:prstGeom prst="arc">
            <a:avLst>
              <a:gd name="adj1" fmla="val 5508426"/>
              <a:gd name="adj2" fmla="val 14121050"/>
            </a:avLst>
          </a:prstGeom>
          <a:ln w="9525">
            <a:gradFill>
              <a:gsLst>
                <a:gs pos="0">
                  <a:schemeClr val="accent1">
                    <a:alpha val="90000"/>
                  </a:schemeClr>
                </a:gs>
                <a:gs pos="99000">
                  <a:schemeClr val="accent1">
                    <a:alpha val="0"/>
                  </a:schemeClr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25FF9DAC-CBE3-1B3F-9290-7F5D371A540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900476" y="1504866"/>
            <a:ext cx="403047" cy="345174"/>
          </a:xfrm>
          <a:prstGeom prst="rect">
            <a:avLst/>
          </a:prstGeom>
        </p:spPr>
      </p:pic>
      <p:pic>
        <p:nvPicPr>
          <p:cNvPr id="79" name="Graphic 78">
            <a:extLst>
              <a:ext uri="{FF2B5EF4-FFF2-40B4-BE49-F238E27FC236}">
                <a16:creationId xmlns:a16="http://schemas.microsoft.com/office/drawing/2014/main" id="{488B6BB2-C968-8F30-797C-D8BF8F77AD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40162" y="3488675"/>
            <a:ext cx="709276" cy="472846"/>
          </a:xfrm>
          <a:prstGeom prst="rect">
            <a:avLst/>
          </a:prstGeom>
          <a:effectLst/>
        </p:spPr>
      </p:pic>
      <p:sp>
        <p:nvSpPr>
          <p:cNvPr id="11" name="Oval 43">
            <a:extLst>
              <a:ext uri="{FF2B5EF4-FFF2-40B4-BE49-F238E27FC236}">
                <a16:creationId xmlns:a16="http://schemas.microsoft.com/office/drawing/2014/main" id="{72B4FB6F-6763-191D-367B-6D9493FDE90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569297" y="3200400"/>
            <a:ext cx="1057490" cy="1057490"/>
          </a:xfrm>
          <a:prstGeom prst="ellipse">
            <a:avLst/>
          </a:prstGeom>
          <a:gradFill>
            <a:gsLst>
              <a:gs pos="21000">
                <a:schemeClr val="tx2">
                  <a:alpha val="0"/>
                </a:schemeClr>
              </a:gs>
              <a:gs pos="55000">
                <a:schemeClr val="accent1">
                  <a:alpha val="14976"/>
                </a:schemeClr>
              </a:gs>
              <a:gs pos="100000">
                <a:schemeClr val="accent1"/>
              </a:gs>
            </a:gsLst>
            <a:lin ang="15000000" scaled="0"/>
          </a:gradFill>
          <a:ln w="9525">
            <a:gradFill>
              <a:gsLst>
                <a:gs pos="8000">
                  <a:schemeClr val="accent3">
                    <a:lumMod val="20000"/>
                    <a:lumOff val="80000"/>
                    <a:alpha val="52718"/>
                  </a:schemeClr>
                </a:gs>
                <a:gs pos="24000">
                  <a:schemeClr val="accent3">
                    <a:alpha val="49000"/>
                  </a:schemeClr>
                </a:gs>
                <a:gs pos="51000">
                  <a:schemeClr val="accent3">
                    <a:alpha val="0"/>
                  </a:schemeClr>
                </a:gs>
              </a:gsLst>
              <a:lin ang="13200000" scaled="0"/>
            </a:gradFill>
          </a:ln>
          <a:effectLst>
            <a:innerShdw blurRad="209594" dist="204382" dir="138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72000" rIns="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ir Pro Semi Bold" pitchFamily="2" charset="0"/>
              <a:ea typeface="+mn-ea"/>
              <a:cs typeface="+mn-cs"/>
            </a:endParaRPr>
          </a:p>
        </p:txBody>
      </p:sp>
      <p:sp>
        <p:nvSpPr>
          <p:cNvPr id="31" name="Boog 30">
            <a:extLst>
              <a:ext uri="{FF2B5EF4-FFF2-40B4-BE49-F238E27FC236}">
                <a16:creationId xmlns:a16="http://schemas.microsoft.com/office/drawing/2014/main" id="{2E76718F-E362-2675-C4E3-B79D88D026C1}"/>
              </a:ext>
            </a:extLst>
          </p:cNvPr>
          <p:cNvSpPr>
            <a:spLocks noGrp="1" noRot="1" noChangeAspect="1" noMove="1" noResize="1" noEditPoints="1" noAdjustHandles="1" noChangeArrowheads="1" noChangeShapeType="1"/>
          </p:cNvSpPr>
          <p:nvPr/>
        </p:nvSpPr>
        <p:spPr>
          <a:xfrm>
            <a:off x="3385191" y="1063763"/>
            <a:ext cx="5342400" cy="5342400"/>
          </a:xfrm>
          <a:prstGeom prst="arc">
            <a:avLst>
              <a:gd name="adj1" fmla="val 8266711"/>
              <a:gd name="adj2" fmla="val 12416581"/>
            </a:avLst>
          </a:prstGeom>
          <a:ln w="12700">
            <a:gradFill>
              <a:gsLst>
                <a:gs pos="83000">
                  <a:schemeClr val="accent3"/>
                </a:gs>
                <a:gs pos="16000">
                  <a:schemeClr val="accent3"/>
                </a:gs>
                <a:gs pos="0">
                  <a:schemeClr val="accent3">
                    <a:alpha val="0"/>
                  </a:schemeClr>
                </a:gs>
                <a:gs pos="100000">
                  <a:schemeClr val="accent3">
                    <a:alpha val="0"/>
                  </a:schemeClr>
                </a:gs>
              </a:gsLst>
              <a:lin ang="5400000" scaled="1"/>
            </a:gradFill>
            <a:prstDash val="solid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20202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kstvak 1">
            <a:extLst>
              <a:ext uri="{FF2B5EF4-FFF2-40B4-BE49-F238E27FC236}">
                <a16:creationId xmlns:a16="http://schemas.microsoft.com/office/drawing/2014/main" id="{DE8DECA9-24CF-753A-9E3D-ED81D741270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3951" y="2467036"/>
            <a:ext cx="2725576" cy="357277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88ADF5"/>
                </a:solidFill>
                <a:effectLst>
                  <a:outerShdw blurRad="229337" sx="102000" sy="102000" algn="ctr" rotWithShape="0">
                    <a:srgbClr val="1763FF">
                      <a:alpha val="20000"/>
                    </a:srgbClr>
                  </a:outerShdw>
                </a:effectLst>
                <a:uLnTx/>
                <a:uFillTx/>
                <a:latin typeface="☞NOIR PRO MEDIUM" pitchFamily="2" charset="0"/>
                <a:ea typeface="+mn-ea"/>
                <a:cs typeface="+mn-cs"/>
              </a:rPr>
              <a:t>Model sub-characteristics</a:t>
            </a:r>
          </a:p>
        </p:txBody>
      </p:sp>
      <p:sp>
        <p:nvSpPr>
          <p:cNvPr id="29" name="Ovaal 28">
            <a:extLst>
              <a:ext uri="{FF2B5EF4-FFF2-40B4-BE49-F238E27FC236}">
                <a16:creationId xmlns:a16="http://schemas.microsoft.com/office/drawing/2014/main" id="{FB20B4AB-9225-343C-3039-7D6D4668EBF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85191" y="3111240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Ovaal 29">
            <a:extLst>
              <a:ext uri="{FF2B5EF4-FFF2-40B4-BE49-F238E27FC236}">
                <a16:creationId xmlns:a16="http://schemas.microsoft.com/office/drawing/2014/main" id="{2E5481D9-8C0E-A2F0-820F-EC973CFB7F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073" y="359028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Ovaal 31">
            <a:extLst>
              <a:ext uri="{FF2B5EF4-FFF2-40B4-BE49-F238E27FC236}">
                <a16:creationId xmlns:a16="http://schemas.microsoft.com/office/drawing/2014/main" id="{F992DA66-29D9-1466-1F41-2D88272912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64103" y="4093669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Ovaal 35">
            <a:extLst>
              <a:ext uri="{FF2B5EF4-FFF2-40B4-BE49-F238E27FC236}">
                <a16:creationId xmlns:a16="http://schemas.microsoft.com/office/drawing/2014/main" id="{B435B4C7-661B-FDF9-E7D5-7747088120F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496656" y="4588574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Ovaal 36">
            <a:extLst>
              <a:ext uri="{FF2B5EF4-FFF2-40B4-BE49-F238E27FC236}">
                <a16:creationId xmlns:a16="http://schemas.microsoft.com/office/drawing/2014/main" id="{FCBA4432-7F01-F84E-2492-55FE1ECE0C9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728666" y="5089348"/>
            <a:ext cx="114336" cy="114336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10D3DB77-BAAE-D993-38A8-5175851EB1D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754462" y="2957541"/>
            <a:ext cx="1573016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Vulnerabilities</a:t>
            </a:r>
          </a:p>
        </p:txBody>
      </p:sp>
      <p:sp>
        <p:nvSpPr>
          <p:cNvPr id="39" name="Tekstvak 38">
            <a:extLst>
              <a:ext uri="{FF2B5EF4-FFF2-40B4-BE49-F238E27FC236}">
                <a16:creationId xmlns:a16="http://schemas.microsoft.com/office/drawing/2014/main" id="{7E259356-0193-A86A-4CEE-5A1813E2924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80462" y="3456782"/>
            <a:ext cx="2390547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Dependency freshness</a:t>
            </a:r>
          </a:p>
        </p:txBody>
      </p:sp>
      <p:sp>
        <p:nvSpPr>
          <p:cNvPr id="40" name="Tekstvak 39">
            <a:extLst>
              <a:ext uri="{FF2B5EF4-FFF2-40B4-BE49-F238E27FC236}">
                <a16:creationId xmlns:a16="http://schemas.microsoft.com/office/drawing/2014/main" id="{5F0DC96E-F7E0-F74E-E1F1-46E5AC30F48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997335" y="3956023"/>
            <a:ext cx="1313329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License Use</a:t>
            </a:r>
          </a:p>
        </p:txBody>
      </p:sp>
      <p:sp>
        <p:nvSpPr>
          <p:cNvPr id="41" name="Tekstvak 40">
            <a:extLst>
              <a:ext uri="{FF2B5EF4-FFF2-40B4-BE49-F238E27FC236}">
                <a16:creationId xmlns:a16="http://schemas.microsoft.com/office/drawing/2014/main" id="{F793CE3A-19AA-C87F-F0EE-2C1B9143E48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515749" y="4455264"/>
            <a:ext cx="898151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Activity</a:t>
            </a:r>
          </a:p>
        </p:txBody>
      </p:sp>
      <p:sp>
        <p:nvSpPr>
          <p:cNvPr id="43" name="Tekstvak 42">
            <a:extLst>
              <a:ext uri="{FF2B5EF4-FFF2-40B4-BE49-F238E27FC236}">
                <a16:creationId xmlns:a16="http://schemas.microsoft.com/office/drawing/2014/main" id="{27320431-995A-9BDB-9C53-5D7D2B38AA2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2171116" y="4954505"/>
            <a:ext cx="1464012" cy="35721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☞NOIR PRO MEDIUM" pitchFamily="2" charset="0"/>
                <a:ea typeface="+mn-ea"/>
                <a:cs typeface="+mn-cs"/>
              </a:rPr>
              <a:t>Management</a:t>
            </a:r>
          </a:p>
        </p:txBody>
      </p:sp>
    </p:spTree>
    <p:extLst>
      <p:ext uri="{BB962C8B-B14F-4D97-AF65-F5344CB8AC3E}">
        <p14:creationId xmlns:p14="http://schemas.microsoft.com/office/powerpoint/2010/main" val="11508973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67657C-97FB-B1AA-E71A-0A0A45FB2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3AC69A2C-A802-2564-B045-52FACE4578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000" y="129609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54" name="Tijdelijke aanduiding voor inhoud 53">
            <a:extLst>
              <a:ext uri="{FF2B5EF4-FFF2-40B4-BE49-F238E27FC236}">
                <a16:creationId xmlns:a16="http://schemas.microsoft.com/office/drawing/2014/main" id="{92F6EBB4-2CFF-E11E-C500-7D4D087C5FD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54799" y="2738112"/>
            <a:ext cx="8090297" cy="3525887"/>
          </a:xfrm>
        </p:spPr>
        <p:txBody>
          <a:bodyPr/>
          <a:lstStyle/>
          <a:p>
            <a:r>
              <a:rPr lang="en-US" sz="1400" noProof="0" dirty="0" err="1"/>
              <a:t>OSH_VULN_SUMMARY</a:t>
            </a:r>
            <a:endParaRPr lang="en-US" sz="1400" noProof="0" dirty="0"/>
          </a:p>
          <a:p>
            <a:r>
              <a:rPr lang="en-US" sz="1400" noProof="0" dirty="0" err="1"/>
              <a:t>OSH_LEGAL_SUMMARY</a:t>
            </a:r>
            <a:endParaRPr lang="en-US" sz="1400" noProof="0" dirty="0"/>
          </a:p>
          <a:p>
            <a:r>
              <a:rPr lang="en-US" sz="1400" noProof="0" dirty="0" err="1"/>
              <a:t>OSH_FRESHNESS_SUMMARY</a:t>
            </a:r>
            <a:endParaRPr lang="en-US" sz="1400" noProof="0" dirty="0"/>
          </a:p>
          <a:p>
            <a:r>
              <a:rPr lang="en-US" sz="1400" noProof="0" dirty="0" err="1"/>
              <a:t>OSH_MANAGEMENT_SUMMARY</a:t>
            </a:r>
            <a:endParaRPr lang="en-US" sz="1400" noProof="0" dirty="0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4F31452C-B3D9-1038-BB21-62811C47258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39F0A056-8E36-38AE-2AC7-E82BB91DEF6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17</a:t>
            </a:fld>
            <a:endParaRPr lang="en-US" noProof="0" dirty="0"/>
          </a:p>
        </p:txBody>
      </p:sp>
      <p:sp>
        <p:nvSpPr>
          <p:cNvPr id="53" name="Titel 52">
            <a:extLst>
              <a:ext uri="{FF2B5EF4-FFF2-40B4-BE49-F238E27FC236}">
                <a16:creationId xmlns:a16="http://schemas.microsoft.com/office/drawing/2014/main" id="{C627CDF4-44FD-FE7F-BEB6-F93F16532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SYSTEM_NAME</a:t>
            </a:r>
            <a:r>
              <a:rPr lang="en-US" noProof="0" dirty="0"/>
              <a:t> rates </a:t>
            </a:r>
            <a:r>
              <a:rPr lang="en-US" noProof="0" dirty="0" err="1"/>
              <a:t>OSH_RELATIVE</a:t>
            </a:r>
            <a:r>
              <a:rPr lang="en-US" noProof="0" dirty="0"/>
              <a:t> in Open-Source health</a:t>
            </a:r>
          </a:p>
        </p:txBody>
      </p:sp>
      <p:cxnSp>
        <p:nvCxnSpPr>
          <p:cNvPr id="47" name="Rechte verbindingslijn 46">
            <a:extLst>
              <a:ext uri="{FF2B5EF4-FFF2-40B4-BE49-F238E27FC236}">
                <a16:creationId xmlns:a16="http://schemas.microsoft.com/office/drawing/2014/main" id="{071C9F9A-A1FA-AA10-D877-152A912912CC}"/>
              </a:ext>
            </a:extLst>
          </p:cNvPr>
          <p:cNvCxnSpPr>
            <a:cxnSpLocks noGrp="1" noRot="1" noMove="1" noResize="1" noEditPoints="1" noAdjustHandles="1" noChangeArrowheads="1" noChangeShapeType="1"/>
          </p:cNvCxnSpPr>
          <p:nvPr/>
        </p:nvCxnSpPr>
        <p:spPr>
          <a:xfrm>
            <a:off x="8378314" y="2821727"/>
            <a:ext cx="0" cy="1679328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ep 6">
            <a:extLst>
              <a:ext uri="{FF2B5EF4-FFF2-40B4-BE49-F238E27FC236}">
                <a16:creationId xmlns:a16="http://schemas.microsoft.com/office/drawing/2014/main" id="{2ABE9537-2474-CB72-4CD2-D6BF8E479885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134319" y="1137285"/>
            <a:ext cx="11923362" cy="1426530"/>
            <a:chOff x="134319" y="1137285"/>
            <a:chExt cx="11923362" cy="1426530"/>
          </a:xfrm>
        </p:grpSpPr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44F12F7C-9DB0-657F-A81E-735C0C29E00C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02282"/>
              <a:ext cx="2383616" cy="361533"/>
            </a:xfrm>
            <a:prstGeom prst="rect">
              <a:avLst/>
            </a:prstGeom>
            <a:gradFill>
              <a:gsLst>
                <a:gs pos="89000">
                  <a:schemeClr val="accent3">
                    <a:lumMod val="40000"/>
                    <a:lumOff val="60000"/>
                  </a:schemeClr>
                </a:gs>
                <a:gs pos="40000">
                  <a:schemeClr val="accent3">
                    <a:lumMod val="20000"/>
                    <a:lumOff val="80000"/>
                  </a:schemeClr>
                </a:gs>
              </a:gsLst>
              <a:lin ang="15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7" name="Afgeronde rechthoek 36">
              <a:extLst>
                <a:ext uri="{FF2B5EF4-FFF2-40B4-BE49-F238E27FC236}">
                  <a16:creationId xmlns:a16="http://schemas.microsoft.com/office/drawing/2014/main" id="{C5EE91AE-11FA-1A68-A1E8-575C013C35B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799" y="1137285"/>
              <a:ext cx="11875047" cy="1426530"/>
            </a:xfrm>
            <a:prstGeom prst="roundRect">
              <a:avLst>
                <a:gd name="adj" fmla="val 8464"/>
              </a:avLst>
            </a:prstGeom>
            <a:gradFill>
              <a:gsLst>
                <a:gs pos="89000">
                  <a:schemeClr val="accent3">
                    <a:lumMod val="20000"/>
                    <a:lumOff val="80000"/>
                  </a:schemeClr>
                </a:gs>
                <a:gs pos="60000">
                  <a:schemeClr val="accent3">
                    <a:lumMod val="20000"/>
                    <a:lumOff val="80000"/>
                    <a:alpha val="0"/>
                  </a:schemeClr>
                </a:gs>
              </a:gsLst>
              <a:lin ang="4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73" name="TextBox 39">
              <a:extLst>
                <a:ext uri="{FF2B5EF4-FFF2-40B4-BE49-F238E27FC236}">
                  <a16:creationId xmlns:a16="http://schemas.microsoft.com/office/drawing/2014/main" id="{3B0BB6DE-F9BD-C66C-D421-8E3BAD0FE816}"/>
                </a:ext>
              </a:extLst>
            </p:cNvPr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2" y="2291359"/>
              <a:ext cx="2378985" cy="246221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sz="1000" noProof="0" dirty="0">
                  <a:solidFill>
                    <a:schemeClr val="accent1"/>
                  </a:solidFill>
                  <a:latin typeface="☞NOIR PRO MEDIUM" pitchFamily="2" charset="0"/>
                </a:rPr>
                <a:t>Market average</a:t>
              </a:r>
            </a:p>
          </p:txBody>
        </p:sp>
        <p:sp>
          <p:nvSpPr>
            <p:cNvPr id="3" name="Afgeronde rechthoek 2">
              <a:extLst>
                <a:ext uri="{FF2B5EF4-FFF2-40B4-BE49-F238E27FC236}">
                  <a16:creationId xmlns:a16="http://schemas.microsoft.com/office/drawing/2014/main" id="{70BAD8BE-2A12-EED7-FD50-C1FF0D365C0A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54800" y="1918860"/>
              <a:ext cx="11875046" cy="353488"/>
            </a:xfrm>
            <a:prstGeom prst="roundRect">
              <a:avLst>
                <a:gd name="adj" fmla="val 34390"/>
              </a:avLst>
            </a:prstGeom>
            <a:gradFill>
              <a:gsLst>
                <a:gs pos="50000">
                  <a:schemeClr val="accent2"/>
                </a:gs>
                <a:gs pos="100000">
                  <a:schemeClr val="accent1"/>
                </a:gs>
                <a:gs pos="0">
                  <a:schemeClr val="accent3">
                    <a:lumMod val="20000"/>
                    <a:lumOff val="80000"/>
                  </a:schemeClr>
                </a:gs>
              </a:gsLst>
              <a:lin ang="168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9" name="Rechte verbindingslijn 8">
              <a:extLst>
                <a:ext uri="{FF2B5EF4-FFF2-40B4-BE49-F238E27FC236}">
                  <a16:creationId xmlns:a16="http://schemas.microsoft.com/office/drawing/2014/main" id="{EE98C068-7851-45FA-AAE8-67EE9DE026E6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2529808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Rechte verbindingslijn 9">
              <a:extLst>
                <a:ext uri="{FF2B5EF4-FFF2-40B4-BE49-F238E27FC236}">
                  <a16:creationId xmlns:a16="http://schemas.microsoft.com/office/drawing/2014/main" id="{1DFFAF80-52FE-D4A7-F5E4-DFB61764D8B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4817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Rechte verbindingslijn 10">
              <a:extLst>
                <a:ext uri="{FF2B5EF4-FFF2-40B4-BE49-F238E27FC236}">
                  <a16:creationId xmlns:a16="http://schemas.microsoft.com/office/drawing/2014/main" id="{22D41B46-1942-24E5-FC5B-4328B03C9E59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26" y="1856867"/>
              <a:ext cx="0" cy="415481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Rechte verbindingslijn 12">
              <a:extLst>
                <a:ext uri="{FF2B5EF4-FFF2-40B4-BE49-F238E27FC236}">
                  <a16:creationId xmlns:a16="http://schemas.microsoft.com/office/drawing/2014/main" id="{42F6366D-DC92-6885-7485-47391D57A2A4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9654835" y="1856867"/>
              <a:ext cx="0" cy="453325"/>
            </a:xfrm>
            <a:prstGeom prst="line">
              <a:avLst/>
            </a:prstGeom>
            <a:ln w="25400">
              <a:solidFill>
                <a:schemeClr val="bg1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BDBED97C-64A6-F1E9-6286-0AE2F95B2F4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34319" y="1914033"/>
              <a:ext cx="11923362" cy="299225"/>
            </a:xfrm>
            <a:prstGeom prst="rect">
              <a:avLst/>
            </a:prstGeom>
            <a:gradFill>
              <a:gsLst>
                <a:gs pos="53000">
                  <a:schemeClr val="bg1">
                    <a:alpha val="15000"/>
                  </a:schemeClr>
                </a:gs>
                <a:gs pos="15000">
                  <a:schemeClr val="bg1">
                    <a:alpha val="0"/>
                  </a:schemeClr>
                </a:gs>
              </a:gsLst>
              <a:lin ang="57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19" name="Afgeronde rechthoek 18">
              <a:extLst>
                <a:ext uri="{FF2B5EF4-FFF2-40B4-BE49-F238E27FC236}">
                  <a16:creationId xmlns:a16="http://schemas.microsoft.com/office/drawing/2014/main" id="{38B1884E-8E64-72F8-AA1F-25D78B33643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443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1.5</a:t>
              </a:r>
            </a:p>
          </p:txBody>
        </p:sp>
        <p:sp>
          <p:nvSpPr>
            <p:cNvPr id="20" name="Afgeronde rechthoek 19">
              <a:extLst>
                <a:ext uri="{FF2B5EF4-FFF2-40B4-BE49-F238E27FC236}">
                  <a16:creationId xmlns:a16="http://schemas.microsoft.com/office/drawing/2014/main" id="{98767728-5011-4A34-6AF6-3B7C723FFA1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81444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2.5</a:t>
              </a:r>
            </a:p>
          </p:txBody>
        </p:sp>
        <p:sp>
          <p:nvSpPr>
            <p:cNvPr id="21" name="Afgeronde rechthoek 20">
              <a:extLst>
                <a:ext uri="{FF2B5EF4-FFF2-40B4-BE49-F238E27FC236}">
                  <a16:creationId xmlns:a16="http://schemas.microsoft.com/office/drawing/2014/main" id="{D38129AA-1AB0-74D5-018F-DA3766FA3B2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196406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3.5</a:t>
              </a:r>
            </a:p>
          </p:txBody>
        </p:sp>
        <p:sp>
          <p:nvSpPr>
            <p:cNvPr id="22" name="Afgeronde rechthoek 21">
              <a:extLst>
                <a:ext uri="{FF2B5EF4-FFF2-40B4-BE49-F238E27FC236}">
                  <a16:creationId xmlns:a16="http://schemas.microsoft.com/office/drawing/2014/main" id="{FBFFBB85-433F-9BC8-39FB-75C211D410DF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571414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4.5</a:t>
              </a:r>
            </a:p>
          </p:txBody>
        </p:sp>
        <p:sp>
          <p:nvSpPr>
            <p:cNvPr id="23" name="Afgeronde rechthoek 22">
              <a:extLst>
                <a:ext uri="{FF2B5EF4-FFF2-40B4-BE49-F238E27FC236}">
                  <a16:creationId xmlns:a16="http://schemas.microsoft.com/office/drawing/2014/main" id="{990DEE42-2D3C-9A67-EEF7-232D7B680E9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22970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0.5</a:t>
              </a:r>
            </a:p>
          </p:txBody>
        </p:sp>
        <p:sp>
          <p:nvSpPr>
            <p:cNvPr id="24" name="Afgeronde rechthoek 23">
              <a:extLst>
                <a:ext uri="{FF2B5EF4-FFF2-40B4-BE49-F238E27FC236}">
                  <a16:creationId xmlns:a16="http://schemas.microsoft.com/office/drawing/2014/main" id="{CD095135-2B75-0B51-2469-16FB8A4B522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1787157" y="1992404"/>
              <a:ext cx="172786" cy="172784"/>
            </a:xfrm>
            <a:prstGeom prst="roundRect">
              <a:avLst>
                <a:gd name="adj" fmla="val 2765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108000" tIns="72000" rIns="108000" bIns="72000" rtlCol="0" anchor="ctr"/>
            <a:lstStyle/>
            <a:p>
              <a:pPr algn="ctr"/>
              <a:r>
                <a:rPr lang="en-US" sz="800" noProof="0" dirty="0">
                  <a:solidFill>
                    <a:schemeClr val="accent1"/>
                  </a:solidFill>
                  <a:latin typeface="☞NOIR PRO MEDIUM" pitchFamily="2" charset="0"/>
                </a:rPr>
                <a:t>5.5</a:t>
              </a:r>
            </a:p>
          </p:txBody>
        </p:sp>
        <p:sp>
          <p:nvSpPr>
            <p:cNvPr id="32" name="Rectangle 29">
              <a:extLst>
                <a:ext uri="{FF2B5EF4-FFF2-40B4-BE49-F238E27FC236}">
                  <a16:creationId xmlns:a16="http://schemas.microsoft.com/office/drawing/2014/main" id="{5987608C-65F7-5C2A-5AFD-5F9552503261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60766" y="1922220"/>
              <a:ext cx="23740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HIIII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3" name="Rectangle 34">
              <a:extLst>
                <a:ext uri="{FF2B5EF4-FFF2-40B4-BE49-F238E27FC236}">
                  <a16:creationId xmlns:a16="http://schemas.microsoft.com/office/drawing/2014/main" id="{14D09FDD-489D-A603-8B54-4E1A9369D72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534850" y="1919492"/>
              <a:ext cx="236598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HHIII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4" name="Rectangle 35">
              <a:extLst>
                <a:ext uri="{FF2B5EF4-FFF2-40B4-BE49-F238E27FC236}">
                  <a16:creationId xmlns:a16="http://schemas.microsoft.com/office/drawing/2014/main" id="{A01A300A-17C2-3D92-0489-2B7A8ADDE43D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900833" y="1916764"/>
              <a:ext cx="2381966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HHHII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5" name="Rectangle 36">
              <a:extLst>
                <a:ext uri="{FF2B5EF4-FFF2-40B4-BE49-F238E27FC236}">
                  <a16:creationId xmlns:a16="http://schemas.microsoft.com/office/drawing/2014/main" id="{C10110C7-09E9-A691-F954-6EC82FC64C6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284448" y="1925283"/>
              <a:ext cx="2376000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HHHHI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6" name="Rectangle 37">
              <a:extLst>
                <a:ext uri="{FF2B5EF4-FFF2-40B4-BE49-F238E27FC236}">
                  <a16:creationId xmlns:a16="http://schemas.microsoft.com/office/drawing/2014/main" id="{AAB31541-9390-4CBE-45E2-DEA4BB0A29F7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9660447" y="1925283"/>
              <a:ext cx="2369404" cy="27699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1200" noProof="0" dirty="0" err="1">
                  <a:solidFill>
                    <a:schemeClr val="bg1"/>
                  </a:solidFill>
                  <a:latin typeface="Sigsterren"/>
                  <a:cs typeface="Sigsterren"/>
                </a:rPr>
                <a:t>HHHHH</a:t>
              </a:r>
              <a:endParaRPr lang="en-US" sz="1200" noProof="0" dirty="0">
                <a:solidFill>
                  <a:schemeClr val="bg1"/>
                </a:solidFill>
              </a:endParaRPr>
            </a:p>
          </p:txBody>
        </p:sp>
        <p:cxnSp>
          <p:nvCxnSpPr>
            <p:cNvPr id="78" name="Rechte verbindingslijn 77">
              <a:extLst>
                <a:ext uri="{FF2B5EF4-FFF2-40B4-BE49-F238E27FC236}">
                  <a16:creationId xmlns:a16="http://schemas.microsoft.com/office/drawing/2014/main" id="{90974A92-1672-9C57-E8D8-7611868DC76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4906583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Rechte verbindingslijn 79">
              <a:extLst>
                <a:ext uri="{FF2B5EF4-FFF2-40B4-BE49-F238E27FC236}">
                  <a16:creationId xmlns:a16="http://schemas.microsoft.com/office/drawing/2014/main" id="{F8254C84-81E5-D958-FD0B-59179D3D68E5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279817" y="2280314"/>
              <a:ext cx="0" cy="283501"/>
            </a:xfrm>
            <a:prstGeom prst="line">
              <a:avLst/>
            </a:prstGeom>
            <a:ln w="9525">
              <a:gradFill>
                <a:gsLst>
                  <a:gs pos="0">
                    <a:schemeClr val="accent3"/>
                  </a:gs>
                  <a:gs pos="85000">
                    <a:schemeClr val="accent3">
                      <a:alpha val="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5" name="Graphic 74">
              <a:extLst>
                <a:ext uri="{FF2B5EF4-FFF2-40B4-BE49-F238E27FC236}">
                  <a16:creationId xmlns:a16="http://schemas.microsoft.com/office/drawing/2014/main" id="{6707D2DA-762A-0CCD-B8FE-C7390462716A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416" y="2285629"/>
              <a:ext cx="270098" cy="228966"/>
            </a:xfrm>
            <a:prstGeom prst="rect">
              <a:avLst/>
            </a:prstGeom>
          </p:spPr>
        </p:pic>
        <p:cxnSp>
          <p:nvCxnSpPr>
            <p:cNvPr id="28" name="Rechte verbindingslijn 27">
              <a:extLst>
                <a:ext uri="{FF2B5EF4-FFF2-40B4-BE49-F238E27FC236}">
                  <a16:creationId xmlns:a16="http://schemas.microsoft.com/office/drawing/2014/main" id="{C499C2AB-6BBA-9E4D-93FB-029C5BFEADC7}"/>
                </a:ext>
              </a:extLst>
            </p:cNvPr>
            <p:cNvCxnSpPr>
              <a:cxnSpLocks noGrp="1" noRot="1" noMove="1" noResize="1" noEditPoints="1" noAdjustHandles="1" noChangeArrowheads="1" noChangeShapeType="1"/>
            </p:cNvCxnSpPr>
            <p:nvPr/>
          </p:nvCxnSpPr>
          <p:spPr>
            <a:xfrm>
              <a:off x="709721" y="2346696"/>
              <a:ext cx="0" cy="135023"/>
            </a:xfrm>
            <a:prstGeom prst="line">
              <a:avLst/>
            </a:prstGeom>
            <a:ln w="9525">
              <a:solidFill>
                <a:schemeClr val="accent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Graphic 49">
              <a:extLst>
                <a:ext uri="{FF2B5EF4-FFF2-40B4-BE49-F238E27FC236}">
                  <a16:creationId xmlns:a16="http://schemas.microsoft.com/office/drawing/2014/main" id="{1829D3F2-58BF-A381-6433-7406D5BC80B7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764650" y="2307999"/>
              <a:ext cx="217800" cy="216422"/>
            </a:xfrm>
            <a:prstGeom prst="rect">
              <a:avLst/>
            </a:prstGeom>
          </p:spPr>
        </p:pic>
      </p:grpSp>
      <p:sp>
        <p:nvSpPr>
          <p:cNvPr id="65" name="TextBox 39">
            <a:extLst>
              <a:ext uri="{FF2B5EF4-FFF2-40B4-BE49-F238E27FC236}">
                <a16:creationId xmlns:a16="http://schemas.microsoft.com/office/drawing/2014/main" id="{0EE68FF8-4CD1-81B5-DCFE-9E07D30C141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571496" y="2735427"/>
            <a:ext cx="2378985" cy="27699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sz="1200" noProof="0" dirty="0">
                <a:latin typeface="☞NOIR PRO MEDIUM" pitchFamily="2" charset="0"/>
              </a:rPr>
              <a:t>System metric ratings</a:t>
            </a:r>
          </a:p>
        </p:txBody>
      </p:sp>
      <p:graphicFrame>
        <p:nvGraphicFramePr>
          <p:cNvPr id="38" name="Group 52">
            <a:extLst>
              <a:ext uri="{FF2B5EF4-FFF2-40B4-BE49-F238E27FC236}">
                <a16:creationId xmlns:a16="http://schemas.microsoft.com/office/drawing/2014/main" id="{DA65BE2A-A98A-8EBA-0757-212F21D72736}"/>
              </a:ext>
            </a:extLst>
          </p:cNvPr>
          <p:cNvGraphicFramePr>
            <a:graphicFrameLocks noGrp="1"/>
          </p:cNvGraphicFramePr>
          <p:nvPr/>
        </p:nvGraphicFramePr>
        <p:xfrm>
          <a:off x="8571496" y="3035953"/>
          <a:ext cx="3116504" cy="918396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8637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335839943"/>
                    </a:ext>
                  </a:extLst>
                </a:gridCol>
                <a:gridCol w="445949">
                  <a:extLst>
                    <a:ext uri="{9D8B030D-6E8A-4147-A177-3AD203B41FA5}">
                      <a16:colId xmlns:a16="http://schemas.microsoft.com/office/drawing/2014/main" val="2689889332"/>
                    </a:ext>
                  </a:extLst>
                </a:gridCol>
              </a:tblGrid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Vulnerability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OSH_RATING_VULNERABILITY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8215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License use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OSH_RATING_LICENSES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Freshness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OSH_RATING_FRESHNESS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Management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OSH_RATING_MANAGEMENT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36421"/>
                  </a:ext>
                </a:extLst>
              </a:tr>
              <a:tr h="310742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  <a:defRPr/>
                      </a:pPr>
                      <a:r>
                        <a:rPr kumimoji="0" lang="en-US" sz="1200" b="0" i="0" u="none" strike="noStrike" cap="none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lt"/>
                          <a:ea typeface="ＭＳ Ｐゴシック" charset="0"/>
                          <a:cs typeface="TheSans B7 Bold"/>
                        </a:rPr>
                        <a:t>Activity</a:t>
                      </a: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85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Sigsterren" pitchFamily="2" charset="0"/>
                          <a:ea typeface="ＭＳ Ｐゴシック" charset="0"/>
                          <a:cs typeface="TheSans B7 Bold"/>
                        </a:rPr>
                        <a:t>STARS_ACTIVITY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Sigsterren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>
                          <a:tab pos="168275" algn="l"/>
                        </a:tabLst>
                      </a:pPr>
                      <a:r>
                        <a:rPr kumimoji="0" lang="en-US" sz="1200" b="0" i="0" u="none" strike="noStrike" cap="none" normalizeH="0" baseline="0" noProof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☞NOIR PRO MEDIUM" pitchFamily="2" charset="0"/>
                          <a:ea typeface="ＭＳ Ｐゴシック" charset="0"/>
                          <a:cs typeface="TheSans B7 Bold"/>
                        </a:rPr>
                        <a:t>OSH_RATING_ACTIVITY</a:t>
                      </a:r>
                      <a:endParaRPr kumimoji="0" lang="en-US" sz="1200" b="0" i="0" u="none" strike="noStrike" cap="none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☞NOIR PRO MEDIUM" pitchFamily="2" charset="0"/>
                        <a:ea typeface="ＭＳ Ｐゴシック" charset="0"/>
                        <a:cs typeface="TheSans B7 Bold"/>
                      </a:endParaRPr>
                    </a:p>
                  </a:txBody>
                  <a:tcPr marB="72000" anchor="ctr" horzOverflow="overflow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7257320"/>
                  </a:ext>
                </a:extLst>
              </a:tr>
            </a:tbl>
          </a:graphicData>
        </a:graphic>
      </p:graphicFrame>
      <p:graphicFrame>
        <p:nvGraphicFramePr>
          <p:cNvPr id="74" name="Table 3">
            <a:extLst>
              <a:ext uri="{FF2B5EF4-FFF2-40B4-BE49-F238E27FC236}">
                <a16:creationId xmlns:a16="http://schemas.microsoft.com/office/drawing/2014/main" id="{D0BD417E-8466-1687-21C5-BCB913951ADD}"/>
              </a:ext>
            </a:extLst>
          </p:cNvPr>
          <p:cNvGraphicFramePr>
            <a:graphicFrameLocks noGrp="1" noDrilldown="1" noMove="1" noResize="1"/>
          </p:cNvGraphicFramePr>
          <p:nvPr/>
        </p:nvGraphicFramePr>
        <p:xfrm>
          <a:off x="154799" y="2234594"/>
          <a:ext cx="11875047" cy="45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501">
                  <a:extLst>
                    <a:ext uri="{9D8B030D-6E8A-4147-A177-3AD203B41FA5}">
                      <a16:colId xmlns:a16="http://schemas.microsoft.com/office/drawing/2014/main" val="21329541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0366675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85156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49515327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5742420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1630431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5063804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10544337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26902984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2413616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795042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66322978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94242559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8144399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6432939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5213939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6923494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50055385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87502831"/>
                    </a:ext>
                  </a:extLst>
                </a:gridCol>
                <a:gridCol w="233731">
                  <a:extLst>
                    <a:ext uri="{9D8B030D-6E8A-4147-A177-3AD203B41FA5}">
                      <a16:colId xmlns:a16="http://schemas.microsoft.com/office/drawing/2014/main" val="3396659716"/>
                    </a:ext>
                  </a:extLst>
                </a:gridCol>
                <a:gridCol w="241272">
                  <a:extLst>
                    <a:ext uri="{9D8B030D-6E8A-4147-A177-3AD203B41FA5}">
                      <a16:colId xmlns:a16="http://schemas.microsoft.com/office/drawing/2014/main" val="247530210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9367140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8570833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48299825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8707068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6762079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631246911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59043620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476769573"/>
                    </a:ext>
                  </a:extLst>
                </a:gridCol>
                <a:gridCol w="234041">
                  <a:extLst>
                    <a:ext uri="{9D8B030D-6E8A-4147-A177-3AD203B41FA5}">
                      <a16:colId xmlns:a16="http://schemas.microsoft.com/office/drawing/2014/main" val="3064695449"/>
                    </a:ext>
                  </a:extLst>
                </a:gridCol>
                <a:gridCol w="240960">
                  <a:extLst>
                    <a:ext uri="{9D8B030D-6E8A-4147-A177-3AD203B41FA5}">
                      <a16:colId xmlns:a16="http://schemas.microsoft.com/office/drawing/2014/main" val="48298187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312332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159638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792865137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19578829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814304402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0700881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849921265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765944989"/>
                    </a:ext>
                  </a:extLst>
                </a:gridCol>
                <a:gridCol w="248004">
                  <a:extLst>
                    <a:ext uri="{9D8B030D-6E8A-4147-A177-3AD203B41FA5}">
                      <a16:colId xmlns:a16="http://schemas.microsoft.com/office/drawing/2014/main" val="1071605657"/>
                    </a:ext>
                  </a:extLst>
                </a:gridCol>
                <a:gridCol w="226995">
                  <a:extLst>
                    <a:ext uri="{9D8B030D-6E8A-4147-A177-3AD203B41FA5}">
                      <a16:colId xmlns:a16="http://schemas.microsoft.com/office/drawing/2014/main" val="13612736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426987088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17378112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748546533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6789603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3001967019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772205724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110281530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1001807318"/>
                    </a:ext>
                  </a:extLst>
                </a:gridCol>
                <a:gridCol w="237501">
                  <a:extLst>
                    <a:ext uri="{9D8B030D-6E8A-4147-A177-3AD203B41FA5}">
                      <a16:colId xmlns:a16="http://schemas.microsoft.com/office/drawing/2014/main" val="2932458597"/>
                    </a:ext>
                  </a:extLst>
                </a:gridCol>
              </a:tblGrid>
              <a:tr h="45720"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578863"/>
                  </a:ext>
                </a:extLst>
              </a:tr>
            </a:tbl>
          </a:graphicData>
        </a:graphic>
      </p:graphicFrame>
      <p:sp>
        <p:nvSpPr>
          <p:cNvPr id="6" name="TextBox 39">
            <a:extLst>
              <a:ext uri="{FF2B5EF4-FFF2-40B4-BE49-F238E27FC236}">
                <a16:creationId xmlns:a16="http://schemas.microsoft.com/office/drawing/2014/main" id="{88BF66FC-97CC-BD90-B24F-F210E66AFE6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48831" y="2291359"/>
            <a:ext cx="4665609" cy="246221"/>
          </a:xfrm>
          <a:prstGeom prst="rect">
            <a:avLst/>
          </a:prstGeom>
          <a:noFill/>
        </p:spPr>
        <p:txBody>
          <a:bodyPr wrap="square" lIns="648000" rtlCol="0" anchor="ctr">
            <a:spAutoFit/>
          </a:bodyPr>
          <a:lstStyle/>
          <a:p>
            <a:r>
              <a:rPr lang="en-US" sz="1000" noProof="0" dirty="0">
                <a:solidFill>
                  <a:schemeClr val="accent1"/>
                </a:solidFill>
                <a:latin typeface="☞NOIR PRO MEDIUM" pitchFamily="2" charset="0"/>
              </a:rPr>
              <a:t>Open source health</a:t>
            </a:r>
          </a:p>
        </p:txBody>
      </p:sp>
      <p:sp>
        <p:nvSpPr>
          <p:cNvPr id="76" name="TextBox 39">
            <a:extLst>
              <a:ext uri="{FF2B5EF4-FFF2-40B4-BE49-F238E27FC236}">
                <a16:creationId xmlns:a16="http://schemas.microsoft.com/office/drawing/2014/main" id="{A5AE3144-E72D-C395-031F-513B7A7FDF0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618617" y="2316946"/>
            <a:ext cx="41671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r"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Snapshot date: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OSH_DATE_DAY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2F73"/>
                </a:solidFill>
                <a:effectLst/>
                <a:uLnTx/>
                <a:uFillTx/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OSH_DATE_MONTH_FULL</a:t>
            </a:r>
            <a:r>
              <a:rPr lang="en-US" sz="800" noProof="0" dirty="0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 </a:t>
            </a:r>
            <a:r>
              <a:rPr lang="en-US" sz="800" noProof="0" dirty="0" err="1">
                <a:solidFill>
                  <a:srgbClr val="152F73"/>
                </a:solidFill>
                <a:latin typeface="Azeret Mono" pitchFamily="2" charset="77"/>
                <a:cs typeface="Azeret Mono" pitchFamily="2" charset="77"/>
              </a:rPr>
              <a:t>OSH_DATE_YEAR</a:t>
            </a:r>
            <a:endParaRPr lang="en-US" sz="800" noProof="0" dirty="0">
              <a:solidFill>
                <a:srgbClr val="152F73"/>
              </a:solidFill>
              <a:latin typeface="Azeret Mono" pitchFamily="2" charset="77"/>
              <a:cs typeface="Azeret Mono" pitchFamily="2" charset="77"/>
            </a:endParaRPr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DDF6022E-F95A-14F7-D500-BA24EAC5E025}"/>
              </a:ext>
            </a:extLst>
          </p:cNvPr>
          <p:cNvGrpSpPr/>
          <p:nvPr/>
        </p:nvGrpSpPr>
        <p:grpSpPr>
          <a:xfrm>
            <a:off x="5633468" y="1466322"/>
            <a:ext cx="913712" cy="884878"/>
            <a:chOff x="5633468" y="1730647"/>
            <a:chExt cx="913712" cy="884878"/>
          </a:xfrm>
        </p:grpSpPr>
        <p:sp>
          <p:nvSpPr>
            <p:cNvPr id="71" name="TextBox 42">
              <a:extLst>
                <a:ext uri="{FF2B5EF4-FFF2-40B4-BE49-F238E27FC236}">
                  <a16:creationId xmlns:a16="http://schemas.microsoft.com/office/drawing/2014/main" id="{6C2EB2A0-888F-966A-64D7-A852BEDF2006}"/>
                </a:ext>
              </a:extLst>
            </p:cNvPr>
            <p:cNvSpPr txBox="1">
              <a:spLocks/>
            </p:cNvSpPr>
            <p:nvPr/>
          </p:nvSpPr>
          <p:spPr>
            <a:xfrm>
              <a:off x="5633468" y="1730647"/>
              <a:ext cx="913712" cy="246221"/>
            </a:xfrm>
            <a:prstGeom prst="rect">
              <a:avLst/>
            </a:prstGeom>
            <a:noFill/>
          </p:spPr>
          <p:txBody>
            <a:bodyPr wrap="none" lIns="0" rIns="0" rtlCol="0" anchor="ctr">
              <a:spAutoFit/>
            </a:bodyPr>
            <a:lstStyle/>
            <a:p>
              <a:pPr algn="ctr"/>
              <a:r>
                <a:rPr lang="en-US" sz="1000" noProof="0" dirty="0" err="1">
                  <a:latin typeface="☞NOIR PRO MEDIUM" pitchFamily="2" charset="0"/>
                </a:rPr>
                <a:t>SYSTEM_NAME</a:t>
              </a:r>
              <a:endParaRPr lang="en-US" sz="1000" noProof="0" dirty="0">
                <a:latin typeface="☞NOIR PRO MEDIUM" pitchFamily="2" charset="0"/>
              </a:endParaRPr>
            </a:p>
          </p:txBody>
        </p:sp>
        <p:sp>
          <p:nvSpPr>
            <p:cNvPr id="18" name="Vrije vorm 17">
              <a:extLst>
                <a:ext uri="{FF2B5EF4-FFF2-40B4-BE49-F238E27FC236}">
                  <a16:creationId xmlns:a16="http://schemas.microsoft.com/office/drawing/2014/main" id="{5447EB1B-609A-3757-DFA1-735B9D7E3B04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rot="5400000">
              <a:off x="5853585" y="2310386"/>
              <a:ext cx="479242" cy="131036"/>
            </a:xfrm>
            <a:custGeom>
              <a:avLst/>
              <a:gdLst>
                <a:gd name="connsiteX0" fmla="*/ 0 w 1420201"/>
                <a:gd name="connsiteY0" fmla="*/ 194158 h 388315"/>
                <a:gd name="connsiteX1" fmla="*/ 155027 w 1420201"/>
                <a:gd name="connsiteY1" fmla="*/ 3946 h 388315"/>
                <a:gd name="connsiteX2" fmla="*/ 193835 w 1420201"/>
                <a:gd name="connsiteY2" fmla="*/ 34 h 388315"/>
                <a:gd name="connsiteX3" fmla="*/ 193835 w 1420201"/>
                <a:gd name="connsiteY3" fmla="*/ 0 h 388315"/>
                <a:gd name="connsiteX4" fmla="*/ 1180182 w 1420201"/>
                <a:gd name="connsiteY4" fmla="*/ 0 h 388315"/>
                <a:gd name="connsiteX5" fmla="*/ 1420201 w 1420201"/>
                <a:gd name="connsiteY5" fmla="*/ 193317 h 388315"/>
                <a:gd name="connsiteX6" fmla="*/ 1180182 w 1420201"/>
                <a:gd name="connsiteY6" fmla="*/ 386634 h 388315"/>
                <a:gd name="connsiteX7" fmla="*/ 210832 w 1420201"/>
                <a:gd name="connsiteY7" fmla="*/ 386634 h 388315"/>
                <a:gd name="connsiteX8" fmla="*/ 194157 w 1420201"/>
                <a:gd name="connsiteY8" fmla="*/ 388315 h 388315"/>
                <a:gd name="connsiteX9" fmla="*/ 0 w 1420201"/>
                <a:gd name="connsiteY9" fmla="*/ 194158 h 3883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420201" h="388315">
                  <a:moveTo>
                    <a:pt x="0" y="194158"/>
                  </a:moveTo>
                  <a:cubicBezTo>
                    <a:pt x="0" y="100332"/>
                    <a:pt x="66553" y="22050"/>
                    <a:pt x="155027" y="3946"/>
                  </a:cubicBezTo>
                  <a:lnTo>
                    <a:pt x="193835" y="34"/>
                  </a:lnTo>
                  <a:lnTo>
                    <a:pt x="193835" y="0"/>
                  </a:lnTo>
                  <a:lnTo>
                    <a:pt x="1180182" y="0"/>
                  </a:lnTo>
                  <a:lnTo>
                    <a:pt x="1420201" y="193317"/>
                  </a:lnTo>
                  <a:lnTo>
                    <a:pt x="1180182" y="386634"/>
                  </a:lnTo>
                  <a:lnTo>
                    <a:pt x="210832" y="386634"/>
                  </a:lnTo>
                  <a:lnTo>
                    <a:pt x="194157" y="388315"/>
                  </a:lnTo>
                  <a:cubicBezTo>
                    <a:pt x="86927" y="388315"/>
                    <a:pt x="0" y="301388"/>
                    <a:pt x="0" y="194158"/>
                  </a:cubicBezTo>
                  <a:close/>
                </a:path>
              </a:pathLst>
            </a:custGeom>
            <a:gradFill>
              <a:gsLst>
                <a:gs pos="85000">
                  <a:srgbClr val="F09619"/>
                </a:gs>
                <a:gs pos="41000">
                  <a:srgbClr val="F8C818"/>
                </a:gs>
              </a:gsLst>
              <a:lin ang="2700000" scaled="0"/>
            </a:gradFill>
            <a:ln w="9525">
              <a:gradFill>
                <a:gsLst>
                  <a:gs pos="65000">
                    <a:schemeClr val="bg1"/>
                  </a:gs>
                  <a:gs pos="28000">
                    <a:schemeClr val="bg1">
                      <a:alpha val="0"/>
                    </a:schemeClr>
                  </a:gs>
                </a:gsLst>
                <a:lin ang="0" scaled="0"/>
              </a:gradFill>
            </a:ln>
            <a:effectLst>
              <a:outerShdw blurRad="166161" algn="ctr" rotWithShape="0">
                <a:schemeClr val="accent4">
                  <a:alpha val="50000"/>
                </a:scheme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08000" tIns="72000" rIns="108000" bIns="72000" rtlCol="0" anchor="ctr">
              <a:noAutofit/>
            </a:bodyPr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27" name="Afgeronde rechthoek 26">
              <a:extLst>
                <a:ext uri="{FF2B5EF4-FFF2-40B4-BE49-F238E27FC236}">
                  <a16:creationId xmlns:a16="http://schemas.microsoft.com/office/drawing/2014/main" id="{0C3D3AB2-F054-4EFB-3435-62E5C0FA49A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5971615" y="2006746"/>
              <a:ext cx="243182" cy="243180"/>
            </a:xfrm>
            <a:prstGeom prst="roundRect">
              <a:avLst>
                <a:gd name="adj" fmla="val 27650"/>
              </a:avLst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>
              <a:normAutofit/>
            </a:bodyPr>
            <a:lstStyle/>
            <a:p>
              <a:pPr algn="ctr"/>
              <a:r>
                <a:rPr lang="en-US" sz="1000" noProof="0" dirty="0" err="1">
                  <a:solidFill>
                    <a:schemeClr val="tx1"/>
                  </a:solidFill>
                  <a:latin typeface="☞NOIR PRO MEDIUM" pitchFamily="2" charset="0"/>
                </a:rPr>
                <a:t>MARKER_OSH_RATING</a:t>
              </a:r>
              <a:endParaRPr lang="en-US" sz="1000" noProof="0" dirty="0">
                <a:solidFill>
                  <a:schemeClr val="tx1"/>
                </a:solidFill>
                <a:latin typeface="☞NOIR PRO MEDIUM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643406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jdelijke aanduiding voor inhoud 19">
            <a:extLst>
              <a:ext uri="{FF2B5EF4-FFF2-40B4-BE49-F238E27FC236}">
                <a16:creationId xmlns:a16="http://schemas.microsoft.com/office/drawing/2014/main" id="{66BB4E1B-985F-9EF3-5AC6-C768D2CB71B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1421846"/>
            <a:ext cx="5938800" cy="4896154"/>
          </a:xfrm>
        </p:spPr>
        <p:txBody>
          <a:bodyPr/>
          <a:lstStyle/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OSH_VULN_SUMMARY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OSH_LEGAL_SUMMARY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OSH_FRESHNESS_SUMMARY</a:t>
            </a:r>
            <a:endParaRPr lang="en-US" noProof="0" dirty="0">
              <a:solidFill>
                <a:schemeClr val="tx1"/>
              </a:solidFill>
            </a:endParaRPr>
          </a:p>
          <a:p>
            <a:pPr>
              <a:spcAft>
                <a:spcPts val="1000"/>
              </a:spcAft>
            </a:pPr>
            <a:r>
              <a:rPr lang="en-US" noProof="0" dirty="0" err="1">
                <a:solidFill>
                  <a:schemeClr val="tx1"/>
                </a:solidFill>
              </a:rPr>
              <a:t>OSH_MANAGEMENT_SUMMARY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A5582F2-40D0-9238-3CA5-366CA9A6BEA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Autofit/>
          </a:bodyPr>
          <a:lstStyle/>
          <a:p>
            <a:r>
              <a:rPr lang="en-US" sz="1400" noProof="0" dirty="0" err="1"/>
              <a:t>OSH_TOTAL_DEPS</a:t>
            </a:r>
            <a:endParaRPr lang="en-US" sz="1400" noProof="0" dirty="0"/>
          </a:p>
        </p:txBody>
      </p:sp>
      <p:sp>
        <p:nvSpPr>
          <p:cNvPr id="21" name="Tijdelijke aanduiding voor tekst 20">
            <a:extLst>
              <a:ext uri="{FF2B5EF4-FFF2-40B4-BE49-F238E27FC236}">
                <a16:creationId xmlns:a16="http://schemas.microsoft.com/office/drawing/2014/main" id="{6B434B96-A0F4-D550-9948-4935A3A3032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F2A786C1-12AB-2815-EA60-7CF5A856C3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3" name="Tijdelijke aanduiding voor tekst 22">
            <a:extLst>
              <a:ext uri="{FF2B5EF4-FFF2-40B4-BE49-F238E27FC236}">
                <a16:creationId xmlns:a16="http://schemas.microsoft.com/office/drawing/2014/main" id="{1815B1ED-FC37-06DC-642E-E962FAF8C95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4" name="Tijdelijke aanduiding voor tekst 23">
            <a:extLst>
              <a:ext uri="{FF2B5EF4-FFF2-40B4-BE49-F238E27FC236}">
                <a16:creationId xmlns:a16="http://schemas.microsoft.com/office/drawing/2014/main" id="{F9105C04-203F-52A9-B023-8BCB23ABA32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25" name="Tijdelijke aanduiding voor tekst 24">
            <a:extLst>
              <a:ext uri="{FF2B5EF4-FFF2-40B4-BE49-F238E27FC236}">
                <a16:creationId xmlns:a16="http://schemas.microsoft.com/office/drawing/2014/main" id="{CCA1B4DB-A80E-D27A-4D97-18B15B411B0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>
            <a:normAutofit fontScale="77500" lnSpcReduction="20000"/>
          </a:bodyPr>
          <a:lstStyle/>
          <a:p>
            <a:endParaRPr lang="en-US" noProof="0" dirty="0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8F49E5F7-1212-C10F-AF03-7BCD250B5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 err="1"/>
              <a:t>OSH_TOTAL_VULN</a:t>
            </a:r>
            <a:r>
              <a:rPr lang="en-US" noProof="0" dirty="0"/>
              <a:t> vulnerable 3rd party open-source dependencies were identified</a:t>
            </a:r>
          </a:p>
        </p:txBody>
      </p:sp>
      <p:sp>
        <p:nvSpPr>
          <p:cNvPr id="10" name="Tijdelijke aanduiding voor voettekst 9">
            <a:extLst>
              <a:ext uri="{FF2B5EF4-FFF2-40B4-BE49-F238E27FC236}">
                <a16:creationId xmlns:a16="http://schemas.microsoft.com/office/drawing/2014/main" id="{85CC0D40-EB66-D793-CEA6-7AF5F045B2BE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r>
              <a:rPr lang="en-US" noProof="0" dirty="0"/>
              <a:t>Confidential</a:t>
            </a:r>
          </a:p>
        </p:txBody>
      </p:sp>
      <p:sp>
        <p:nvSpPr>
          <p:cNvPr id="11" name="Tijdelijke aanduiding voor dianummer 10">
            <a:extLst>
              <a:ext uri="{FF2B5EF4-FFF2-40B4-BE49-F238E27FC236}">
                <a16:creationId xmlns:a16="http://schemas.microsoft.com/office/drawing/2014/main" id="{8CFF3985-4FCE-83E0-0FFC-607EBC973402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18</a:t>
            </a:fld>
            <a:endParaRPr lang="en-US" noProof="0" dirty="0"/>
          </a:p>
        </p:txBody>
      </p:sp>
      <p:sp>
        <p:nvSpPr>
          <p:cNvPr id="19" name="Tijdelijke aanduiding voor tekst 18">
            <a:extLst>
              <a:ext uri="{FF2B5EF4-FFF2-40B4-BE49-F238E27FC236}">
                <a16:creationId xmlns:a16="http://schemas.microsoft.com/office/drawing/2014/main" id="{EA846D4E-DBA5-CFC4-BD38-6CC5C41F55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927899" cy="228145"/>
          </a:xfrm>
        </p:spPr>
        <p:txBody>
          <a:bodyPr/>
          <a:lstStyle/>
          <a:p>
            <a:r>
              <a:rPr lang="en-US" noProof="0" dirty="0"/>
              <a:t>Key findings – Open Source and IP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68C590-52C4-FD9D-BA2E-7DA3B20805D6}"/>
              </a:ext>
            </a:extLst>
          </p:cNvPr>
          <p:cNvSpPr txBox="1"/>
          <p:nvPr/>
        </p:nvSpPr>
        <p:spPr>
          <a:xfrm>
            <a:off x="11068163" y="-374999"/>
            <a:ext cx="1104939" cy="355225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US" sz="1600" noProof="0" dirty="0" err="1">
                <a:solidFill>
                  <a:schemeClr val="tx2"/>
                </a:solidFill>
              </a:rPr>
              <a:t>OSH_SLIDE</a:t>
            </a:r>
            <a:endParaRPr lang="en-US" sz="1600" noProof="0" dirty="0">
              <a:solidFill>
                <a:schemeClr val="tx2"/>
              </a:solidFill>
            </a:endParaRPr>
          </a:p>
        </p:txBody>
      </p:sp>
      <p:graphicFrame>
        <p:nvGraphicFramePr>
          <p:cNvPr id="2" name="CHART_1">
            <a:extLst>
              <a:ext uri="{FF2B5EF4-FFF2-40B4-BE49-F238E27FC236}">
                <a16:creationId xmlns:a16="http://schemas.microsoft.com/office/drawing/2014/main" id="{663304D0-0E7B-1454-8672-C6C89EF3BF5C}"/>
              </a:ext>
            </a:extLst>
          </p:cNvPr>
          <p:cNvGraphicFramePr>
            <a:graphicFrameLocks/>
          </p:cNvGraphicFramePr>
          <p:nvPr/>
        </p:nvGraphicFramePr>
        <p:xfrm>
          <a:off x="2993512" y="2846744"/>
          <a:ext cx="3102882" cy="11243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" name="CHART_2">
            <a:extLst>
              <a:ext uri="{FF2B5EF4-FFF2-40B4-BE49-F238E27FC236}">
                <a16:creationId xmlns:a16="http://schemas.microsoft.com/office/drawing/2014/main" id="{F710C4F3-29D3-2E11-A1BF-518BE8D05501}"/>
              </a:ext>
            </a:extLst>
          </p:cNvPr>
          <p:cNvGraphicFramePr>
            <a:graphicFrameLocks/>
          </p:cNvGraphicFramePr>
          <p:nvPr/>
        </p:nvGraphicFramePr>
        <p:xfrm>
          <a:off x="2995636" y="3732550"/>
          <a:ext cx="3100364" cy="258544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62055397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11119</TotalTime>
  <Words>1853</Words>
  <Application>Microsoft Macintosh PowerPoint</Application>
  <PresentationFormat>Widescreen</PresentationFormat>
  <Paragraphs>391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36" baseType="lpstr">
      <vt:lpstr>.AppleSystemUIFont</vt:lpstr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Google Sans</vt:lpstr>
      <vt:lpstr>Helvetica Neue Bold</vt:lpstr>
      <vt:lpstr>Noir Pro</vt:lpstr>
      <vt:lpstr>Noir Pro Medium</vt:lpstr>
      <vt:lpstr>Noir Pro Semi Bold</vt:lpstr>
      <vt:lpstr>Sigsterren</vt:lpstr>
      <vt:lpstr>TheSansMono M5</vt:lpstr>
      <vt:lpstr>Wingdings</vt:lpstr>
      <vt:lpstr>Light theme (default)</vt:lpstr>
      <vt:lpstr>Dark theme</vt:lpstr>
      <vt:lpstr>PowerPoint Presentation</vt:lpstr>
      <vt:lpstr>Outline of topics</vt:lpstr>
      <vt:lpstr>System "SYSTEM_NAME" technical quality: management summary</vt:lpstr>
      <vt:lpstr>Outline of topics</vt:lpstr>
      <vt:lpstr>Explanation: The Cost Estimation model combines Sigrid analysis results with SIG benchmarks</vt:lpstr>
      <vt:lpstr>SYSTEM_NAME technical debt is RENOVATION_EFFORT_PY person years (RENOVATION_EFFORT_PERCENTAGE% of its volume)</vt:lpstr>
      <vt:lpstr>Explanation: The ISO 25010 standard for Maintainability has 5 sub-characteristics</vt:lpstr>
      <vt:lpstr>The SIG/TÜViT model maps the sub-characteristics to the system properties</vt:lpstr>
      <vt:lpstr>SYSTEM_NAME is a MAINT_SIZE system of SYSTEM_PY PY which scores MAINT_RATING for maintainability </vt:lpstr>
      <vt:lpstr>SYSTEM_NAME scores MAINT_INDICATION for maintainability</vt:lpstr>
      <vt:lpstr>The system is VOLUME_RELATIVE in size and is built primarily in TECH_1_NAME</vt:lpstr>
      <vt:lpstr>SYSTEM_NAME has a TEST_CODE_RELATIVE test/code ratio</vt:lpstr>
      <vt:lpstr>Explanation: The Architecture Quality model has 5 sub-characteristics</vt:lpstr>
      <vt:lpstr>SIG’s Architecture Model maps the sub-characteristics to 9 system properties</vt:lpstr>
      <vt:lpstr>SYSTEM_NAME scores ARCH_AT_BELOW market average (ARCH_RATING H) for Architecture Quality</vt:lpstr>
      <vt:lpstr>SIG assesses the use of Open Source and IP in five key areas</vt:lpstr>
      <vt:lpstr>SYSTEM_NAME rates OSH_RELATIVE in Open-Source health</vt:lpstr>
      <vt:lpstr>OSH_TOTAL_VULN vulnerable 3rd party open-source dependencies were identified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170</cp:revision>
  <cp:lastPrinted>2020-04-20T09:37:43Z</cp:lastPrinted>
  <dcterms:created xsi:type="dcterms:W3CDTF">2025-10-22T11:22:13Z</dcterms:created>
  <dcterms:modified xsi:type="dcterms:W3CDTF">2026-01-29T14:44:02Z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