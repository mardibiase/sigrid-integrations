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98" r:id="rId5"/>
  </p:sldMasterIdLst>
  <p:notesMasterIdLst>
    <p:notesMasterId r:id="rId24"/>
  </p:notesMasterIdLst>
  <p:handoutMasterIdLst>
    <p:handoutMasterId r:id="rId25"/>
  </p:handoutMasterIdLst>
  <p:sldIdLst>
    <p:sldId id="1973" r:id="rId6"/>
    <p:sldId id="2010" r:id="rId7"/>
    <p:sldId id="11394" r:id="rId8"/>
    <p:sldId id="2011" r:id="rId9"/>
    <p:sldId id="11482" r:id="rId10"/>
    <p:sldId id="11330" r:id="rId11"/>
    <p:sldId id="1988" r:id="rId12"/>
    <p:sldId id="2016" r:id="rId13"/>
    <p:sldId id="1824" r:id="rId14"/>
    <p:sldId id="11430" r:id="rId15"/>
    <p:sldId id="11483" r:id="rId16"/>
    <p:sldId id="11484" r:id="rId17"/>
    <p:sldId id="11481" r:id="rId18"/>
    <p:sldId id="11485" r:id="rId19"/>
    <p:sldId id="11486" r:id="rId20"/>
    <p:sldId id="2184" r:id="rId21"/>
    <p:sldId id="11487" r:id="rId22"/>
    <p:sldId id="1148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 report" id="{018B3868-9EFD-2243-8203-AC471A43D12D}">
          <p14:sldIdLst>
            <p14:sldId id="1973"/>
            <p14:sldId id="2010"/>
            <p14:sldId id="11394"/>
            <p14:sldId id="2011"/>
          </p14:sldIdLst>
        </p14:section>
        <p14:section name="Cost Estimation Model" id="{27B7B39D-A53A-0E42-877A-CE78F793FEC4}">
          <p14:sldIdLst>
            <p14:sldId id="11482"/>
            <p14:sldId id="11330"/>
          </p14:sldIdLst>
        </p14:section>
        <p14:section name="Maintainability" id="{E6B43949-8A3C-084E-A0B9-37E6D4E40B4B}">
          <p14:sldIdLst>
            <p14:sldId id="1988"/>
            <p14:sldId id="2016"/>
            <p14:sldId id="1824"/>
            <p14:sldId id="11430"/>
            <p14:sldId id="11483"/>
            <p14:sldId id="11484"/>
          </p14:sldIdLst>
        </p14:section>
        <p14:section name="Architecture Quality" id="{BBE5D966-65D3-0247-846C-E3C2E3364341}">
          <p14:sldIdLst>
            <p14:sldId id="11481"/>
            <p14:sldId id="11485"/>
            <p14:sldId id="11486"/>
          </p14:sldIdLst>
        </p14:section>
        <p14:section name="Open Source Health" id="{304C7872-545A-A54B-B7F2-E55D10D25BD1}">
          <p14:sldIdLst>
            <p14:sldId id="2184"/>
            <p14:sldId id="11487"/>
            <p14:sldId id="114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359739-ADAA-29C3-783C-D9B57E2ADDB5}" name="Tim Hemel" initials="" userId="S::tim.hemel@softwareimprovementgroup.com::11068282-940c-4e29-bf1b-b59b90666eb3" providerId="AD"/>
  <p188:author id="{3D97A144-B777-FD68-D7AB-3CD142D94AE5}" name="Cathal Boogerd" initials="" userId="S::cathal.boogerd@softwareimprovementgroup.com::dbb5a3ef-3cf9-4748-ac32-98f9c3baeb5b" providerId="AD"/>
  <p188:author id="{E5E0EE5C-8B63-32A2-9D2F-8352DF47097F}" name="Georges Elias" initials="" userId="S::georges.elias@softwareimprovementgroup.com::6139a130-5e49-4792-8e7b-0c9108a32bcb" providerId="AD"/>
  <p188:author id="{14C24185-38C8-53F4-6B25-1F37CA622275}" name="Koen Hanselman" initials="KH" userId="S::koen.hanselman@softwareimprovementgroup.com::5db663cf-586e-40d0-b19a-993566a64e50" providerId="AD"/>
  <p188:author id="{183DB49D-7ECF-D7E1-4C43-FB9D87383EAD}" name="Sylvan Rigal" initials="SR" userId="S::sylvan.rigal@softwareimprovementgroup.com::b1be0c31-8957-4e67-bfc4-5cd3c92b837e" providerId="AD"/>
  <p188:author id="{6C3551E2-2F50-52EC-DA49-DBE95072549A}" name="Koen Hanselman" initials="KH" userId="7d1800f64f1a7135" providerId="Windows Live"/>
  <p188:author id="{BBEAE1E7-4F6B-B092-BEC1-17EBE4860A28}" name="Feiyang Tang" initials="" userId="S::feiyang.tang@softwareimprovementgroup.com::7bc8dc39-7011-4932-87a8-1499417962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5735"/>
    <a:srgbClr val="E98C36"/>
    <a:srgbClr val="BFC855"/>
    <a:srgbClr val="BDC855"/>
    <a:srgbClr val="F8C716"/>
    <a:srgbClr val="F9C816"/>
    <a:srgbClr val="083595"/>
    <a:srgbClr val="093AA0"/>
    <a:srgbClr val="083695"/>
    <a:srgbClr val="0020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799B23B-EC83-4686-B30A-512413B5E67A}" styleName="Stijl, licht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875"/>
    <p:restoredTop sz="96763"/>
  </p:normalViewPr>
  <p:slideViewPr>
    <p:cSldViewPr snapToGrid="0" snapToObjects="1" showGuides="1">
      <p:cViewPr varScale="1">
        <p:scale>
          <a:sx n="161" d="100"/>
          <a:sy n="161" d="100"/>
        </p:scale>
        <p:origin x="424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napToObjects="1">
      <p:cViewPr varScale="1">
        <p:scale>
          <a:sx n="157" d="100"/>
          <a:sy n="157" d="100"/>
        </p:scale>
        <p:origin x="5640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Maintainability rating</c:v>
                </c:pt>
              </c:strCache>
            </c:strRef>
          </c:tx>
          <c:spPr>
            <a:ln w="19050" cap="rnd">
              <a:noFill/>
              <a:round/>
            </a:ln>
            <a:effectLst>
              <a:outerShdw blurRad="76200" sx="102000" sy="102000" algn="ctr" rotWithShape="0">
                <a:schemeClr val="accent3">
                  <a:alpha val="30000"/>
                </a:schemeClr>
              </a:outerShdw>
            </a:effectLst>
          </c:spPr>
          <c:marker>
            <c:symbol val="diamond"/>
            <c:size val="11"/>
            <c:spPr>
              <a:solidFill>
                <a:schemeClr val="accent4">
                  <a:alpha val="55000"/>
                </a:schemeClr>
              </a:solidFill>
              <a:ln w="38100">
                <a:gradFill>
                  <a:gsLst>
                    <a:gs pos="58000">
                      <a:schemeClr val="accent4"/>
                    </a:gs>
                    <a:gs pos="23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76200" sx="102000" sy="102000" algn="ctr" rotWithShape="0">
                  <a:schemeClr val="accent3">
                    <a:alpha val="30000"/>
                  </a:schemeClr>
                </a:outerShdw>
              </a:effectLst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baseline="0" dirty="0"/>
                      <a:t> [</a:t>
                    </a:r>
                    <a:r>
                      <a:rPr lang="en-US" baseline="0" dirty="0" err="1"/>
                      <a:t>SYSTEM_NAME</a:t>
                    </a:r>
                    <a:r>
                      <a:rPr lang="en-US" baseline="0" dirty="0"/>
                      <a:t>]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0-B86A-D14B-85E9-B8DEC18B60F7}"/>
                </c:ext>
              </c:extLst>
            </c:dLbl>
            <c:dLbl>
              <c:idx val="3"/>
              <c:layout>
                <c:manualLayout>
                  <c:x val="-2.3413399101154898E-2"/>
                  <c:y val="-4.56169734138737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2-B86A-D14B-85E9-B8DEC18B60F7}"/>
                </c:ext>
              </c:extLst>
            </c:dLbl>
            <c:numFmt formatCode="#,##0.0" sourceLinked="0"/>
            <c:spPr>
              <a:gradFill>
                <a:gsLst>
                  <a:gs pos="36000">
                    <a:schemeClr val="accent4">
                      <a:alpha val="90000"/>
                    </a:schemeClr>
                  </a:gs>
                  <a:gs pos="15000">
                    <a:srgbClr val="E98C36"/>
                  </a:gs>
                </a:gsLst>
                <a:lin ang="2700000" scaled="0"/>
              </a:gradFill>
              <a:ln>
                <a:noFill/>
              </a:ln>
              <a:effectLst>
                <a:outerShdw blurRad="187732" sx="102000" sy="102000" algn="ctr" rotWithShape="0">
                  <a:prstClr val="black">
                    <a:alpha val="19735"/>
                  </a:prstClr>
                </a:outerShdw>
              </a:effectLst>
            </c:spPr>
            <c:txPr>
              <a:bodyPr rot="0" spcFirstLastPara="1" vertOverflow="clip" horzOverflow="clip" vert="horz" wrap="none" lIns="36576" tIns="0" rIns="36576" bIns="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xVal>
            <c:numRef>
              <c:f>Sheet1!$A$2</c:f>
              <c:numCache>
                <c:formatCode>General</c:formatCode>
                <c:ptCount val="1"/>
                <c:pt idx="0">
                  <c:v>35</c:v>
                </c:pt>
              </c:numCache>
            </c:numRef>
          </c:xVal>
          <c:yVal>
            <c:numRef>
              <c:f>Sheet1!$B$2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Sheet1!$C$2:$C$2</c15:f>
                <c15:dlblRangeCache>
                  <c:ptCount val="1"/>
                  <c:pt idx="0">
                    <c:v>System 1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3-B86A-D14B-85E9-B8DEC18B60F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System name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</c:f>
              <c:numCache>
                <c:formatCode>General</c:formatCode>
                <c:ptCount val="1"/>
                <c:pt idx="0">
                  <c:v>35</c:v>
                </c:pt>
              </c:numCache>
            </c:numRef>
          </c:xVal>
          <c:yVal>
            <c:numRef>
              <c:f>Sheet1!$C$2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B86A-D14B-85E9-B8DEC18B60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9584720"/>
        <c:axId val="1649586368"/>
      </c:scatterChart>
      <c:valAx>
        <c:axId val="1649584720"/>
        <c:scaling>
          <c:logBase val="10"/>
          <c:orientation val="minMax"/>
          <c:max val="10000"/>
          <c:min val="0.1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6368"/>
        <c:crosses val="autoZero"/>
        <c:crossBetween val="midCat"/>
      </c:valAx>
      <c:valAx>
        <c:axId val="1649586368"/>
        <c:scaling>
          <c:orientation val="minMax"/>
          <c:max val="5.5"/>
          <c:min val="0.5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4720"/>
        <c:crossesAt val="0.1"/>
        <c:crossBetween val="midCat"/>
        <c:majorUnit val="1"/>
        <c:minorUnit val="0.5"/>
      </c:valAx>
      <c:spPr>
        <a:noFill/>
        <a:ln>
          <a:noFill/>
        </a:ln>
        <a:effectLst/>
      </c:spPr>
    </c:plotArea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 in Person Months</c:v>
                </c:pt>
              </c:strCache>
            </c:strRef>
          </c:tx>
          <c:spPr>
            <a:solidFill>
              <a:schemeClr val="accent2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chemeClr val="tx2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CB6A-254C-B03A-9EF9758E2292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Technology 1</c:v>
                </c:pt>
                <c:pt idx="1">
                  <c:v>Technology 2</c:v>
                </c:pt>
                <c:pt idx="2">
                  <c:v>Technology 3</c:v>
                </c:pt>
                <c:pt idx="3">
                  <c:v>Technology 4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0.55000000000000004</c:v>
                </c:pt>
                <c:pt idx="1">
                  <c:v>0.15</c:v>
                </c:pt>
                <c:pt idx="2">
                  <c:v>0.1</c:v>
                </c:pt>
                <c:pt idx="3">
                  <c:v>0.08</c:v>
                </c:pt>
                <c:pt idx="4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6A-254C-B03A-9EF9758E22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76387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7F4-8A4B-8FCE-EB828520119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7F4-8A4B-8FCE-EB828520119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7F4-8A4B-8FCE-EB828520119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7F4-8A4B-8FCE-EB828520119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ctr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Java</c:v>
                </c:pt>
                <c:pt idx="1">
                  <c:v>C#</c:v>
                </c:pt>
                <c:pt idx="2">
                  <c:v>CSS</c:v>
                </c:pt>
                <c:pt idx="3">
                  <c:v>Typescript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7F4-8A4B-8FCE-EB82852011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080532533357349E-2"/>
          <c:y val="9.4658855447728937E-2"/>
          <c:w val="0.87463248862865584"/>
          <c:h val="0.810682289104542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Risk</c:v>
                </c:pt>
              </c:strCache>
            </c:strRef>
          </c:tx>
          <c:spPr>
            <a:solidFill>
              <a:srgbClr val="910813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D1-4C45-9583-F7A397E384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CF4731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DAD1-4C45-9583-F7A397E38424}"/>
              </c:ext>
            </c:extLst>
          </c:dPt>
          <c:dPt>
            <c:idx val="3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DAD1-4C45-9583-F7A397E38424}"/>
              </c:ext>
            </c:extLst>
          </c:dPt>
          <c:dPt>
            <c:idx val="4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DAD1-4C45-9583-F7A397E38424}"/>
              </c:ext>
            </c:extLst>
          </c:dPt>
          <c:dPt>
            <c:idx val="5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DAD1-4C45-9583-F7A397E38424}"/>
              </c:ext>
            </c:extLst>
          </c:dPt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</c:v>
                </c:pt>
                <c:pt idx="1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DAD1-4C45-9583-F7A397E3842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78E17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78E1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DAD1-4C45-9583-F7A397E38424}"/>
              </c:ext>
            </c:extLst>
          </c:dPt>
          <c:dPt>
            <c:idx val="5"/>
            <c:invertIfNegative val="0"/>
            <c:bubble3D val="0"/>
            <c:spPr>
              <a:solidFill>
                <a:srgbClr val="E78E1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DAD1-4C45-9583-F7A397E38424}"/>
              </c:ext>
            </c:extLst>
          </c:dPt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5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DAD1-4C45-9583-F7A397E3842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EBC937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5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DAD1-4C45-9583-F7A397E384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358545104"/>
        <c:axId val="1358370032"/>
      </c:barChart>
      <c:catAx>
        <c:axId val="1358545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358370032"/>
        <c:crosses val="autoZero"/>
        <c:auto val="1"/>
        <c:lblAlgn val="ctr"/>
        <c:lblOffset val="100"/>
        <c:noMultiLvlLbl val="0"/>
      </c:catAx>
      <c:valAx>
        <c:axId val="1358370032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60000"/>
                  <a:lumOff val="40000"/>
                  <a:alpha val="3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358545104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24475308641975E-2"/>
          <c:y val="5.5420651472336685E-2"/>
          <c:w val="0.87405833333333338"/>
          <c:h val="0.64701837089031744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risk</c:v>
                </c:pt>
              </c:strCache>
            </c:strRef>
          </c:tx>
          <c:spPr>
            <a:solidFill>
              <a:srgbClr val="910813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17-EF47-AE5E-E9A0329BD1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CF4731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CE17-EF47-AE5E-E9A0329BD14C}"/>
              </c:ext>
            </c:extLst>
          </c:dPt>
          <c:dPt>
            <c:idx val="3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CE17-EF47-AE5E-E9A0329BD14C}"/>
              </c:ext>
            </c:extLst>
          </c:dPt>
          <c:dPt>
            <c:idx val="4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CE17-EF47-AE5E-E9A0329BD14C}"/>
              </c:ext>
            </c:extLst>
          </c:dPt>
          <c:dPt>
            <c:idx val="5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CE17-EF47-AE5E-E9A0329BD14C}"/>
              </c:ext>
            </c:extLst>
          </c:dPt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</c:v>
                </c:pt>
                <c:pt idx="1">
                  <c:v>79</c:v>
                </c:pt>
                <c:pt idx="2">
                  <c:v>6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CE17-EF47-AE5E-E9A0329BD14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78E17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E17-EF47-AE5E-E9A0329BD14C}"/>
              </c:ext>
            </c:extLst>
          </c:dPt>
          <c:dPt>
            <c:idx val="5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E17-EF47-AE5E-E9A0329BD14C}"/>
              </c:ext>
            </c:extLst>
          </c:dPt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</c:v>
                </c:pt>
                <c:pt idx="1">
                  <c:v>0</c:v>
                </c:pt>
                <c:pt idx="2">
                  <c:v>0</c:v>
                </c:pt>
                <c:pt idx="3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E17-EF47-AE5E-E9A0329BD14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EBC937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CE17-EF47-AE5E-E9A0329BD1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358545104"/>
        <c:axId val="1358370032"/>
      </c:barChart>
      <c:catAx>
        <c:axId val="1358545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358370032"/>
        <c:crosses val="autoZero"/>
        <c:auto val="1"/>
        <c:lblAlgn val="ctr"/>
        <c:lblOffset val="100"/>
        <c:noMultiLvlLbl val="0"/>
      </c:catAx>
      <c:valAx>
        <c:axId val="1358370032"/>
        <c:scaling>
          <c:orientation val="minMax"/>
          <c:max val="15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60000"/>
                  <a:lumOff val="40000"/>
                  <a:alpha val="3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358545104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4692252680288804"/>
          <c:w val="1"/>
          <c:h val="0.152194454425517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defRPr>
          </a:pPr>
          <a:endParaRPr lang="en-N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458F8-93FA-B1DD-C5DA-AC908975C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4346B-6A9F-6AE5-3193-28E052250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AB62E8-61D5-6300-EAA0-D706FB69D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13C8B-54D4-EAAF-EE74-BE6DEB1DFE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894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49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65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c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38">
            <a:extLst>
              <a:ext uri="{FF2B5EF4-FFF2-40B4-BE49-F238E27FC236}">
                <a16:creationId xmlns:a16="http://schemas.microsoft.com/office/drawing/2014/main" id="{7347C396-4E04-5438-3588-DA4459F358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47"/>
                    </a14:imgEffect>
                    <a14:imgEffect>
                      <a14:brightnessContrast bright="-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6" y="1"/>
            <a:ext cx="12192736" cy="4788650"/>
          </a:xfrm>
          <a:prstGeom prst="rect">
            <a:avLst/>
          </a:prstGeom>
        </p:spPr>
      </p:pic>
      <p:sp>
        <p:nvSpPr>
          <p:cNvPr id="5" name="Rechthoek 4">
            <a:extLst>
              <a:ext uri="{FF2B5EF4-FFF2-40B4-BE49-F238E27FC236}">
                <a16:creationId xmlns:a16="http://schemas.microsoft.com/office/drawing/2014/main" id="{3711BFBD-7D49-8987-E8A2-D4E4D95700E2}"/>
              </a:ext>
            </a:extLst>
          </p:cNvPr>
          <p:cNvSpPr/>
          <p:nvPr userDrawn="1"/>
        </p:nvSpPr>
        <p:spPr>
          <a:xfrm>
            <a:off x="0" y="0"/>
            <a:ext cx="12192000" cy="4119763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>
                  <a:alpha val="32941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980E156-820D-6279-257C-1179FF494665}"/>
              </a:ext>
            </a:extLst>
          </p:cNvPr>
          <p:cNvSpPr/>
          <p:nvPr userDrawn="1"/>
        </p:nvSpPr>
        <p:spPr>
          <a:xfrm>
            <a:off x="0" y="4047849"/>
            <a:ext cx="3033486" cy="2810151"/>
          </a:xfrm>
          <a:prstGeom prst="rect">
            <a:avLst/>
          </a:prstGeom>
          <a:gradFill>
            <a:gsLst>
              <a:gs pos="0">
                <a:srgbClr val="09204F"/>
              </a:gs>
              <a:gs pos="99000">
                <a:srgbClr val="1864FF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C197F95C-A1BB-C2C6-50E0-3639B39F8A87}"/>
              </a:ext>
            </a:extLst>
          </p:cNvPr>
          <p:cNvSpPr/>
          <p:nvPr userDrawn="1"/>
        </p:nvSpPr>
        <p:spPr>
          <a:xfrm>
            <a:off x="3033486" y="4047849"/>
            <a:ext cx="9158514" cy="2810151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30FCF230-7996-DE1F-6C0D-58B99665047D}"/>
              </a:ext>
            </a:extLst>
          </p:cNvPr>
          <p:cNvCxnSpPr>
            <a:cxnSpLocks/>
          </p:cNvCxnSpPr>
          <p:nvPr userDrawn="1"/>
        </p:nvCxnSpPr>
        <p:spPr>
          <a:xfrm>
            <a:off x="3672841" y="6278577"/>
            <a:ext cx="7895435" cy="0"/>
          </a:xfrm>
          <a:prstGeom prst="line">
            <a:avLst/>
          </a:prstGeom>
          <a:ln w="9525">
            <a:solidFill>
              <a:schemeClr val="bg2">
                <a:lumMod val="90000"/>
                <a:alpha val="59579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11FEE32-F393-744E-EBFD-1C14BB1094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1670400"/>
            <a:ext cx="11174400" cy="450000"/>
          </a:xfrm>
          <a:prstGeom prst="rect">
            <a:avLst/>
          </a:prstGeom>
        </p:spPr>
        <p:txBody>
          <a:bodyPr wrap="none" tIns="46800" rIns="234000" bIns="46800"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0" i="0" spc="-30" baseline="0">
                <a:solidFill>
                  <a:srgbClr val="D1E0FF">
                    <a:alpha val="80000"/>
                  </a:srgbClr>
                </a:solidFill>
                <a:latin typeface="Noir Pro" pitchFamily="2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CC7910BC-58A3-14A8-3CB9-E7BE52B4B4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000" y="2145600"/>
            <a:ext cx="11174400" cy="788400"/>
          </a:xfrm>
          <a:prstGeom prst="rect">
            <a:avLst/>
          </a:prstGeom>
        </p:spPr>
        <p:txBody>
          <a:bodyPr tIns="0" rIns="0" bIns="46800" anchor="t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6000" b="1" i="0">
                <a:solidFill>
                  <a:srgbClr val="FFFFFF"/>
                </a:solidFill>
                <a:latin typeface="Noir Pro Semi Bold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28" name="Tijdelijke aanduiding voor voettekst 10">
            <a:extLst>
              <a:ext uri="{FF2B5EF4-FFF2-40B4-BE49-F238E27FC236}">
                <a16:creationId xmlns:a16="http://schemas.microsoft.com/office/drawing/2014/main" id="{25913A94-10DF-8D91-7C37-CE090F12EB1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>
          <a:xfrm>
            <a:off x="9854418" y="6429600"/>
            <a:ext cx="1712382" cy="237600"/>
          </a:xfrm>
          <a:prstGeom prst="rect">
            <a:avLst/>
          </a:prstGeom>
        </p:spPr>
        <p:txBody>
          <a:bodyPr lIns="251999" rIns="180000" bIns="46800">
            <a:noAutofit/>
          </a:bodyPr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r>
              <a:rPr lang="nl-NL"/>
              <a:t>Confidential</a:t>
            </a:r>
            <a:endParaRPr lang="nl-NL" dirty="0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8AEBBE0C-2740-493E-2D03-D2829B97AB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99600" y="4104000"/>
            <a:ext cx="5767200" cy="280800"/>
          </a:xfrm>
          <a:prstGeom prst="rect">
            <a:avLst/>
          </a:prstGeom>
          <a:effectLst/>
        </p:spPr>
        <p:txBody>
          <a:bodyPr wrap="square" tIns="46800" rIns="180000" bIns="46800">
            <a:noAutofit/>
          </a:bodyPr>
          <a:lstStyle>
            <a:lvl1pPr marL="0" indent="0" algn="r">
              <a:buNone/>
              <a:defRPr sz="1200" b="0" cap="none" baseline="0">
                <a:solidFill>
                  <a:srgbClr val="F8C716"/>
                </a:solidFill>
                <a:effectLst/>
                <a:latin typeface="Azeret Mono" pitchFamily="2" charset="77"/>
                <a:cs typeface="Azeret Mono" pitchFamily="2" charset="77"/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report date (# &lt;full month name&gt; 20##)</a:t>
            </a:r>
          </a:p>
        </p:txBody>
      </p:sp>
    </p:spTree>
    <p:extLst>
      <p:ext uri="{BB962C8B-B14F-4D97-AF65-F5344CB8AC3E}">
        <p14:creationId xmlns:p14="http://schemas.microsoft.com/office/powerpoint/2010/main" val="3615211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7360B52C-32F4-6286-9606-BADD4B6FCD5D}"/>
              </a:ext>
            </a:extLst>
          </p:cNvPr>
          <p:cNvSpPr/>
          <p:nvPr userDrawn="1"/>
        </p:nvSpPr>
        <p:spPr>
          <a:xfrm>
            <a:off x="0" y="0"/>
            <a:ext cx="5275742" cy="6858000"/>
          </a:xfrm>
          <a:prstGeom prst="rect">
            <a:avLst/>
          </a:prstGeom>
          <a:gradFill>
            <a:gsLst>
              <a:gs pos="0">
                <a:srgbClr val="09204F"/>
              </a:gs>
              <a:gs pos="89000">
                <a:srgbClr val="1864F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F37031E7-C6CA-7F68-A55A-E44BEE6BB348}"/>
              </a:ext>
            </a:extLst>
          </p:cNvPr>
          <p:cNvSpPr/>
          <p:nvPr userDrawn="1"/>
        </p:nvSpPr>
        <p:spPr>
          <a:xfrm>
            <a:off x="0" y="2794000"/>
            <a:ext cx="5275742" cy="4064000"/>
          </a:xfrm>
          <a:prstGeom prst="rect">
            <a:avLst/>
          </a:prstGeom>
          <a:gradFill>
            <a:gsLst>
              <a:gs pos="4000">
                <a:srgbClr val="09204F"/>
              </a:gs>
              <a:gs pos="100000">
                <a:srgbClr val="155AE7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1AEEA1A0-88B9-9217-C726-6B0B21E8A2C9}"/>
              </a:ext>
            </a:extLst>
          </p:cNvPr>
          <p:cNvSpPr/>
          <p:nvPr userDrawn="1"/>
        </p:nvSpPr>
        <p:spPr>
          <a:xfrm>
            <a:off x="5263376" y="0"/>
            <a:ext cx="6928627" cy="6858000"/>
          </a:xfrm>
          <a:prstGeom prst="rect">
            <a:avLst/>
          </a:prstGeom>
          <a:gradFill>
            <a:gsLst>
              <a:gs pos="0">
                <a:srgbClr val="D1E0FF"/>
              </a:gs>
              <a:gs pos="9000">
                <a:srgbClr val="FFFFFF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D962B193-53CA-0D19-0118-C61D7DEBCFE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l-NL"/>
              <a:t>Confidential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5BD149E-B12D-F2FB-60B1-2F2EBB40DF9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5581EF9-202E-75BA-5611-B35F6FE181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7600" y="1220743"/>
            <a:ext cx="3560400" cy="609398"/>
          </a:xfrm>
        </p:spPr>
        <p:txBody>
          <a:bodyPr tIns="0" bIns="0" anchor="t"/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Noir Pro Semi Bold" pitchFamily="2" charset="0"/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en-US" dirty="0"/>
          </a:p>
        </p:txBody>
      </p:sp>
      <p:sp>
        <p:nvSpPr>
          <p:cNvPr id="12" name="Tijdelijke aanduiding voor inhoud 11">
            <a:extLst>
              <a:ext uri="{FF2B5EF4-FFF2-40B4-BE49-F238E27FC236}">
                <a16:creationId xmlns:a16="http://schemas.microsoft.com/office/drawing/2014/main" id="{4F637EDD-DD17-8404-6CF0-C103F6B059B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467600" y="738000"/>
            <a:ext cx="7092000" cy="2484274"/>
          </a:xfrm>
          <a:gradFill>
            <a:gsLst>
              <a:gs pos="0">
                <a:srgbClr val="A3C1FF">
                  <a:alpha val="89804"/>
                </a:srgbClr>
              </a:gs>
              <a:gs pos="8000">
                <a:srgbClr val="7FAAFF">
                  <a:alpha val="25000"/>
                </a:srgbClr>
              </a:gs>
              <a:gs pos="53000">
                <a:srgbClr val="FFFFFF">
                  <a:alpha val="14902"/>
                </a:srgbClr>
              </a:gs>
            </a:gsLst>
            <a:lin ang="3600000" scaled="0"/>
          </a:gradFill>
        </p:spPr>
        <p:txBody>
          <a:bodyPr lIns="324000" tIns="251999" rIns="288000" bIns="216000">
            <a:spAutoFit/>
          </a:bodyPr>
          <a:lstStyle>
            <a:lvl1pPr marL="900000" indent="-90000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bg1"/>
              </a:buClr>
              <a:buSzPct val="120000"/>
              <a:buFont typeface="+mj-lt"/>
              <a:buAutoNum type="arabicPeriod"/>
              <a:defRPr sz="1800" b="0" i="0">
                <a:latin typeface="Noir Pro Medium" pitchFamily="2" charset="0"/>
              </a:defRPr>
            </a:lvl1pPr>
            <a:lvl2pPr marL="1114425" indent="-217488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2pPr>
            <a:lvl3pPr marL="1341438" indent="-22701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3pPr>
            <a:lvl4pPr marL="1600200" indent="-25876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4pPr>
          </a:lstStyle>
          <a:p>
            <a:pPr lvl="0"/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presentation</a:t>
            </a:r>
            <a:r>
              <a:rPr lang="nl-NL" dirty="0"/>
              <a:t> </a:t>
            </a:r>
            <a:r>
              <a:rPr lang="nl-NL" dirty="0" err="1"/>
              <a:t>sections</a:t>
            </a:r>
            <a:r>
              <a:rPr lang="nl-NL" dirty="0"/>
              <a:t>/topics</a:t>
            </a:r>
          </a:p>
          <a:p>
            <a:pPr lvl="1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2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2	</a:t>
            </a:r>
          </a:p>
          <a:p>
            <a:pPr lvl="3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3	</a:t>
            </a:r>
          </a:p>
          <a:p>
            <a:pPr lvl="0"/>
            <a:r>
              <a:rPr lang="en-US" dirty="0"/>
              <a:t>This is a second base-level item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E3DFEFF2-832D-3790-5F9D-5A5E200E718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Confidential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06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e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E3DFEFF2-832D-3790-5F9D-5A5E200E718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Confidential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1DF13F-1492-BD13-A6B1-7A914E1FDC59}"/>
              </a:ext>
            </a:extLst>
          </p:cNvPr>
          <p:cNvSpPr/>
          <p:nvPr userDrawn="1"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1798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4803D971-BBE6-A649-8B31-9455C887E2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08465" y="3915896"/>
            <a:ext cx="228600" cy="2286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AC4218B1-EADF-C24A-80B5-E0C1A5B39C1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08465" y="3472522"/>
            <a:ext cx="228600" cy="2286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7FA05DD7-2ECA-4D48-A21C-8DFA7DFADE3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08465" y="4775539"/>
            <a:ext cx="228600" cy="2286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00F4E791-EF53-DC4D-BF37-A43BAC72066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08465" y="3056253"/>
            <a:ext cx="228600" cy="228600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5D59DCD9-95CA-2849-8561-B2216ED23288}"/>
              </a:ext>
            </a:extLst>
          </p:cNvPr>
          <p:cNvSpPr/>
          <p:nvPr/>
        </p:nvSpPr>
        <p:spPr>
          <a:xfrm>
            <a:off x="183655" y="2350901"/>
            <a:ext cx="5405506" cy="688946"/>
          </a:xfrm>
          <a:prstGeom prst="ellipse">
            <a:avLst/>
          </a:prstGeom>
          <a:solidFill>
            <a:srgbClr val="000000">
              <a:alpha val="15021"/>
            </a:srgbClr>
          </a:solidFill>
          <a:ln>
            <a:noFill/>
          </a:ln>
          <a:effectLst>
            <a:softEdge rad="266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731D74-9128-1544-855C-A1FEBA1CA2CF}"/>
              </a:ext>
            </a:extLst>
          </p:cNvPr>
          <p:cNvSpPr/>
          <p:nvPr/>
        </p:nvSpPr>
        <p:spPr>
          <a:xfrm>
            <a:off x="273504" y="1814254"/>
            <a:ext cx="5472121" cy="972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287680" y="1404912"/>
            <a:ext cx="4469780" cy="357085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0" i="0" dirty="0">
                <a:solidFill>
                  <a:schemeClr val="tx1"/>
                </a:solidFill>
                <a:latin typeface="☞NOIR PRO MEDIUM" pitchFamily="2" charset="0"/>
              </a:rPr>
              <a:t>Risks in external dependencies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6613CA-FC98-E948-8B09-66C076B53E70}"/>
              </a:ext>
            </a:extLst>
          </p:cNvPr>
          <p:cNvCxnSpPr>
            <a:cxnSpLocks/>
          </p:cNvCxnSpPr>
          <p:nvPr/>
        </p:nvCxnSpPr>
        <p:spPr>
          <a:xfrm>
            <a:off x="2377457" y="2242127"/>
            <a:ext cx="720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utoShape 5">
            <a:extLst>
              <a:ext uri="{FF2B5EF4-FFF2-40B4-BE49-F238E27FC236}">
                <a16:creationId xmlns:a16="http://schemas.microsoft.com/office/drawing/2014/main" id="{9C79926D-A7E4-AB44-88CA-35B39C0B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4627" y="2320450"/>
            <a:ext cx="649538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high risk</a:t>
            </a: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A0F466DD-E497-0B47-9C89-D4A346F11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984" y="2318493"/>
            <a:ext cx="888385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medium risk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61AE6C-EBE9-4F46-A618-ED7896ACA29D}"/>
              </a:ext>
            </a:extLst>
          </p:cNvPr>
          <p:cNvCxnSpPr>
            <a:cxnSpLocks/>
          </p:cNvCxnSpPr>
          <p:nvPr/>
        </p:nvCxnSpPr>
        <p:spPr>
          <a:xfrm>
            <a:off x="3216635" y="2242127"/>
            <a:ext cx="720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5">
            <a:extLst>
              <a:ext uri="{FF2B5EF4-FFF2-40B4-BE49-F238E27FC236}">
                <a16:creationId xmlns:a16="http://schemas.microsoft.com/office/drawing/2014/main" id="{EA2FDCAB-455C-4E49-AF74-1E4FA901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4025" y="2313682"/>
            <a:ext cx="61529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low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80D8D2-64AB-5B45-9E98-3024038CA8F5}"/>
              </a:ext>
            </a:extLst>
          </p:cNvPr>
          <p:cNvCxnSpPr>
            <a:cxnSpLocks/>
          </p:cNvCxnSpPr>
          <p:nvPr/>
        </p:nvCxnSpPr>
        <p:spPr>
          <a:xfrm>
            <a:off x="4050584" y="2242127"/>
            <a:ext cx="720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5">
            <a:extLst>
              <a:ext uri="{FF2B5EF4-FFF2-40B4-BE49-F238E27FC236}">
                <a16:creationId xmlns:a16="http://schemas.microsoft.com/office/drawing/2014/main" id="{83EAF45F-0735-074F-B8DE-661963E3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660" y="2318108"/>
            <a:ext cx="69762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>
              <a:defRPr/>
            </a:pPr>
            <a:r>
              <a:rPr lang="en-US" sz="1100" b="1" dirty="0">
                <a:solidFill>
                  <a:srgbClr val="57C96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US" sz="1200" dirty="0">
                <a:solidFill>
                  <a:srgbClr val="57C968"/>
                </a:solidFill>
              </a:rPr>
              <a:t> </a:t>
            </a: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no risk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335F77-CBBF-B24B-8F0A-85FCA257B10A}"/>
              </a:ext>
            </a:extLst>
          </p:cNvPr>
          <p:cNvCxnSpPr>
            <a:cxnSpLocks/>
          </p:cNvCxnSpPr>
          <p:nvPr/>
        </p:nvCxnSpPr>
        <p:spPr>
          <a:xfrm>
            <a:off x="4884540" y="2242127"/>
            <a:ext cx="720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373537" y="1870675"/>
            <a:ext cx="1078883" cy="721276"/>
          </a:xfrm>
          <a:custGeom>
            <a:avLst/>
            <a:gdLst>
              <a:gd name="connsiteX0" fmla="*/ 28050 w 1078883"/>
              <a:gd name="connsiteY0" fmla="*/ 0 h 721276"/>
              <a:gd name="connsiteX1" fmla="*/ 915239 w 1078883"/>
              <a:gd name="connsiteY1" fmla="*/ 0 h 721276"/>
              <a:gd name="connsiteX2" fmla="*/ 1078883 w 1078883"/>
              <a:gd name="connsiteY2" fmla="*/ 364710 h 721276"/>
              <a:gd name="connsiteX3" fmla="*/ 918893 w 1078883"/>
              <a:gd name="connsiteY3" fmla="*/ 721276 h 721276"/>
              <a:gd name="connsiteX4" fmla="*/ 28050 w 1078883"/>
              <a:gd name="connsiteY4" fmla="*/ 721276 h 721276"/>
              <a:gd name="connsiteX5" fmla="*/ 0 w 1078883"/>
              <a:gd name="connsiteY5" fmla="*/ 693226 h 721276"/>
              <a:gd name="connsiteX6" fmla="*/ 0 w 1078883"/>
              <a:gd name="connsiteY6" fmla="*/ 28050 h 721276"/>
              <a:gd name="connsiteX7" fmla="*/ 28050 w 1078883"/>
              <a:gd name="connsiteY7" fmla="*/ 0 h 721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883" h="721276">
                <a:moveTo>
                  <a:pt x="28050" y="0"/>
                </a:moveTo>
                <a:lnTo>
                  <a:pt x="915239" y="0"/>
                </a:lnTo>
                <a:lnTo>
                  <a:pt x="1078883" y="364710"/>
                </a:lnTo>
                <a:lnTo>
                  <a:pt x="918893" y="721276"/>
                </a:lnTo>
                <a:lnTo>
                  <a:pt x="28050" y="721276"/>
                </a:lnTo>
                <a:cubicBezTo>
                  <a:pt x="12558" y="721276"/>
                  <a:pt x="0" y="708718"/>
                  <a:pt x="0" y="693226"/>
                </a:cubicBezTo>
                <a:lnTo>
                  <a:pt x="0" y="28050"/>
                </a:lnTo>
                <a:cubicBezTo>
                  <a:pt x="0" y="12558"/>
                  <a:pt x="12558" y="0"/>
                  <a:pt x="28050" y="0"/>
                </a:cubicBezTo>
                <a:close/>
              </a:path>
            </a:pathLst>
          </a:custGeom>
          <a:gradFill>
            <a:gsLst>
              <a:gs pos="100000">
                <a:srgbClr val="88ADF5"/>
              </a:gs>
              <a:gs pos="76000">
                <a:schemeClr val="accent3">
                  <a:alpha val="25000"/>
                </a:schemeClr>
              </a:gs>
              <a:gs pos="0">
                <a:schemeClr val="accent3">
                  <a:alpha val="0"/>
                </a:schemeClr>
              </a:gs>
            </a:gsLst>
            <a:lin ang="2700000" scaled="0"/>
          </a:gradFill>
          <a:ln w="9525">
            <a:solidFill>
              <a:schemeClr val="accent3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3537" y="2159794"/>
            <a:ext cx="946336" cy="338554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ctr">
              <a:defRPr/>
            </a:pP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b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dependencies</a:t>
            </a:r>
            <a:endParaRPr lang="en-US" sz="1200" spc="-50" noProof="1">
              <a:solidFill>
                <a:schemeClr val="accent2"/>
              </a:solidFill>
              <a:cs typeface="TheSansMono M5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F23A31-FB0D-E745-BDFB-363075187412}"/>
              </a:ext>
            </a:extLst>
          </p:cNvPr>
          <p:cNvSpPr txBox="1"/>
          <p:nvPr userDrawn="1"/>
        </p:nvSpPr>
        <p:spPr>
          <a:xfrm>
            <a:off x="373537" y="5569608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alpha val="50000"/>
                  </a:schemeClr>
                </a:solidFill>
              </a:rPr>
              <a:t>Number of dependencies: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627EA2-AE44-A843-8263-F7C250ED20AD}"/>
              </a:ext>
            </a:extLst>
          </p:cNvPr>
          <p:cNvSpPr txBox="1"/>
          <p:nvPr userDrawn="1"/>
        </p:nvSpPr>
        <p:spPr>
          <a:xfrm>
            <a:off x="131435" y="2846815"/>
            <a:ext cx="2448628" cy="262822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vulnerability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marL="0" marR="0" lvl="0" indent="0" algn="r" defTabSz="914400" rtl="0" eaLnBrk="1" fontAlgn="auto" latinLnBrk="0" hangingPunct="1">
              <a:lnSpc>
                <a:spcPct val="2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legal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freshness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stability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management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marL="0" marR="0" lvl="0" indent="0" algn="r" defTabSz="914400" rtl="0" eaLnBrk="1" fontAlgn="auto" latinLnBrk="0" hangingPunct="1">
              <a:lnSpc>
                <a:spcPct val="2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activity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20006" y="1421846"/>
            <a:ext cx="5614794" cy="4896154"/>
          </a:xfrm>
        </p:spPr>
        <p:txBody>
          <a:bodyPr>
            <a:noAutofit/>
          </a:bodyPr>
          <a:lstStyle>
            <a:lvl1pPr marL="285750" indent="-279400">
              <a:buFont typeface="Arial" panose="020B0604020202020204" pitchFamily="34" charset="0"/>
              <a:buChar char="•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0738" y="1894014"/>
            <a:ext cx="83510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accent2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DC22544-D9BC-B244-939B-9E83862D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66159" y="1894014"/>
            <a:ext cx="73443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DC4A3D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B9C82F9-0A2D-9945-BB70-9C7924044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88761" y="1894014"/>
            <a:ext cx="760514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F09A19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4F6EE5E4-7412-804B-AB0B-2612A9AEF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23661" y="1894014"/>
            <a:ext cx="760514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F8C818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20222DCE-C402-BC42-9510-1717F16DF8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42179" y="1894014"/>
            <a:ext cx="776867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57C968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B0C8CF-791F-18E5-4333-1B6A84495D38}"/>
              </a:ext>
            </a:extLst>
          </p:cNvPr>
          <p:cNvCxnSpPr>
            <a:cxnSpLocks/>
          </p:cNvCxnSpPr>
          <p:nvPr userDrawn="1"/>
        </p:nvCxnSpPr>
        <p:spPr>
          <a:xfrm>
            <a:off x="1540363" y="2237012"/>
            <a:ext cx="720000" cy="0"/>
          </a:xfrm>
          <a:prstGeom prst="line">
            <a:avLst/>
          </a:prstGeom>
          <a:ln w="57150" cap="rnd">
            <a:solidFill>
              <a:srgbClr val="9107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5">
            <a:extLst>
              <a:ext uri="{FF2B5EF4-FFF2-40B4-BE49-F238E27FC236}">
                <a16:creationId xmlns:a16="http://schemas.microsoft.com/office/drawing/2014/main" id="{D8BC2DDE-6625-F621-EC94-783A87A7B4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07263" y="2315335"/>
            <a:ext cx="770084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910714"/>
                </a:solidFill>
                <a:cs typeface="TheSansMono M5"/>
              </a:rPr>
              <a:t>critical risk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AE3B6A-A32C-2E31-61A0-D3B86C894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29065" y="1888899"/>
            <a:ext cx="73443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910614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5F2A81F-5932-87E7-D36E-A48D21EE92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894A2A75-3145-2B40-BD84-D3A76CD6FFA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nl-NL"/>
              <a:t>Confidential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4399855-F056-C1EA-96E3-8F6B2FE87A8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5AD1E1-E49C-07DA-9E88-2A64DC9326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vert="horz" wrap="none" lIns="0" tIns="28800" rIns="144000" bIns="28800" rtlCol="0" anchor="ctr" anchorCtr="0">
            <a:spAutoFit/>
          </a:bodyPr>
          <a:lstStyle>
            <a:lvl1pPr marL="0" indent="0"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lvl="0" indent="-23040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3C657A4-EEB4-0690-E4D3-B51FF0CFAE25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98967" y="4332165"/>
            <a:ext cx="247597" cy="24759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99DC8D9-DC6F-6B68-C30E-D89F7A9C4313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608465" y="5199916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97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E3DFEFF2-832D-3790-5F9D-5A5E200E718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nl-NL"/>
              <a:t>Confidential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596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Relationship Id="rId4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hthoek 191">
            <a:extLst>
              <a:ext uri="{FF2B5EF4-FFF2-40B4-BE49-F238E27FC236}">
                <a16:creationId xmlns:a16="http://schemas.microsoft.com/office/drawing/2014/main" id="{E4789192-BD1C-FDF4-0676-2F84CD19AAD6}"/>
              </a:ext>
            </a:extLst>
          </p:cNvPr>
          <p:cNvSpPr/>
          <p:nvPr userDrawn="1"/>
        </p:nvSpPr>
        <p:spPr>
          <a:xfrm>
            <a:off x="0" y="6334783"/>
            <a:ext cx="12192000" cy="523217"/>
          </a:xfrm>
          <a:prstGeom prst="rect">
            <a:avLst/>
          </a:prstGeom>
          <a:gradFill>
            <a:gsLst>
              <a:gs pos="6000">
                <a:schemeClr val="accent3">
                  <a:lumMod val="60000"/>
                  <a:lumOff val="40000"/>
                </a:schemeClr>
              </a:gs>
              <a:gs pos="37000">
                <a:schemeClr val="accent3">
                  <a:lumMod val="40000"/>
                  <a:lumOff val="60000"/>
                </a:schemeClr>
              </a:gs>
              <a:gs pos="17000">
                <a:schemeClr val="accent3">
                  <a:lumMod val="20000"/>
                  <a:lumOff val="80000"/>
                </a:schemeClr>
              </a:gs>
              <a:gs pos="96000">
                <a:schemeClr val="accent3"/>
              </a:gs>
              <a:gs pos="77000">
                <a:schemeClr val="accent3">
                  <a:lumMod val="40000"/>
                  <a:lumOff val="60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8" name="Rounded Rectangle 11">
            <a:extLst>
              <a:ext uri="{FF2B5EF4-FFF2-40B4-BE49-F238E27FC236}">
                <a16:creationId xmlns:a16="http://schemas.microsoft.com/office/drawing/2014/main" id="{0930FD96-390B-3F34-8E93-387124B4AE31}"/>
              </a:ext>
            </a:extLst>
          </p:cNvPr>
          <p:cNvSpPr/>
          <p:nvPr userDrawn="1"/>
        </p:nvSpPr>
        <p:spPr>
          <a:xfrm>
            <a:off x="0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13000">
                <a:schemeClr val="accent3">
                  <a:lumMod val="20000"/>
                  <a:lumOff val="80000"/>
                </a:schemeClr>
              </a:gs>
              <a:gs pos="3000">
                <a:srgbClr val="74A2FF">
                  <a:alpha val="53725"/>
                </a:srgbClr>
              </a:gs>
              <a:gs pos="23000">
                <a:srgbClr val="FFFFFF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4" name="Rounded Rectangle 11">
            <a:extLst>
              <a:ext uri="{FF2B5EF4-FFF2-40B4-BE49-F238E27FC236}">
                <a16:creationId xmlns:a16="http://schemas.microsoft.com/office/drawing/2014/main" id="{559F4FB8-CDE5-4BE6-8294-34DD1FE8EE0C}"/>
              </a:ext>
            </a:extLst>
          </p:cNvPr>
          <p:cNvSpPr/>
          <p:nvPr userDrawn="1"/>
        </p:nvSpPr>
        <p:spPr>
          <a:xfrm>
            <a:off x="158400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87000">
                <a:srgbClr val="FFFFFF">
                  <a:alpha val="84000"/>
                </a:srgbClr>
              </a:gs>
              <a:gs pos="20000">
                <a:srgbClr val="FFFFFF">
                  <a:alpha val="0"/>
                </a:srgbClr>
              </a:gs>
            </a:gsLst>
            <a:lin ang="6000000" scaled="0"/>
          </a:gra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C68F7292-7A36-328D-4B64-D98F9F925AB4}"/>
              </a:ext>
            </a:extLst>
          </p:cNvPr>
          <p:cNvSpPr/>
          <p:nvPr userDrawn="1"/>
        </p:nvSpPr>
        <p:spPr>
          <a:xfrm>
            <a:off x="318057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10000">
                <a:srgbClr val="FFFFFF">
                  <a:alpha val="64340"/>
                </a:srgbClr>
              </a:gs>
              <a:gs pos="54000">
                <a:srgbClr val="FFFFFF">
                  <a:alpha val="69000"/>
                </a:srgbClr>
              </a:gs>
              <a:gs pos="0">
                <a:srgbClr val="FFFFFF">
                  <a:alpha val="0"/>
                </a:srgbClr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148" name="Straight Connector 9">
            <a:extLst>
              <a:ext uri="{FF2B5EF4-FFF2-40B4-BE49-F238E27FC236}">
                <a16:creationId xmlns:a16="http://schemas.microsoft.com/office/drawing/2014/main" id="{E2D66CD9-F464-D3CD-02A2-2C81FE92A34F}"/>
              </a:ext>
            </a:extLst>
          </p:cNvPr>
          <p:cNvCxnSpPr>
            <a:cxnSpLocks/>
          </p:cNvCxnSpPr>
          <p:nvPr userDrawn="1"/>
        </p:nvCxnSpPr>
        <p:spPr>
          <a:xfrm flipH="1">
            <a:off x="154800" y="1255306"/>
            <a:ext cx="11880000" cy="0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2">
            <a:extLst>
              <a:ext uri="{FF2B5EF4-FFF2-40B4-BE49-F238E27FC236}">
                <a16:creationId xmlns:a16="http://schemas.microsoft.com/office/drawing/2014/main" id="{1FAB8656-7C8B-2A03-F5EF-3769ECB3486C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8C716">
                  <a:alpha val="78000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8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53" name="Rounded Rectangle 92">
            <a:extLst>
              <a:ext uri="{FF2B5EF4-FFF2-40B4-BE49-F238E27FC236}">
                <a16:creationId xmlns:a16="http://schemas.microsoft.com/office/drawing/2014/main" id="{3A91C603-7F40-E63C-0717-77A1BF9F419D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54" name="Rectangle 3">
            <a:extLst>
              <a:ext uri="{FF2B5EF4-FFF2-40B4-BE49-F238E27FC236}">
                <a16:creationId xmlns:a16="http://schemas.microsoft.com/office/drawing/2014/main" id="{7BB50E56-74C1-CED6-9D35-3C52AD049AA2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164" name="Rectangle 22">
            <a:extLst>
              <a:ext uri="{FF2B5EF4-FFF2-40B4-BE49-F238E27FC236}">
                <a16:creationId xmlns:a16="http://schemas.microsoft.com/office/drawing/2014/main" id="{A4D40506-66E4-4645-F969-413BADB440DE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1" name="Straight Connector 9">
            <a:extLst>
              <a:ext uri="{FF2B5EF4-FFF2-40B4-BE49-F238E27FC236}">
                <a16:creationId xmlns:a16="http://schemas.microsoft.com/office/drawing/2014/main" id="{56618A81-C0A0-038B-63FE-C3CD954A14BE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43000">
                  <a:schemeClr val="bg2">
                    <a:lumMod val="90000"/>
                  </a:schemeClr>
                </a:gs>
                <a:gs pos="9000">
                  <a:schemeClr val="bg2">
                    <a:lumMod val="90000"/>
                    <a:alpha val="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199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/>
              <a:t>Confidential</a:t>
            </a:r>
          </a:p>
        </p:txBody>
      </p:sp>
      <p:pic>
        <p:nvPicPr>
          <p:cNvPr id="157" name="Afbeelding 156">
            <a:extLst>
              <a:ext uri="{FF2B5EF4-FFF2-40B4-BE49-F238E27FC236}">
                <a16:creationId xmlns:a16="http://schemas.microsoft.com/office/drawing/2014/main" id="{5ABCF63A-ED55-8841-F6A3-67867EB0DE7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413622" y="6420571"/>
            <a:ext cx="1727200" cy="406400"/>
          </a:xfrm>
          <a:prstGeom prst="rect">
            <a:avLst/>
          </a:prstGeom>
        </p:spPr>
      </p:pic>
      <p:sp>
        <p:nvSpPr>
          <p:cNvPr id="158" name="Rechthoek 157">
            <a:extLst>
              <a:ext uri="{FF2B5EF4-FFF2-40B4-BE49-F238E27FC236}">
                <a16:creationId xmlns:a16="http://schemas.microsoft.com/office/drawing/2014/main" id="{CBB37F62-F6A8-54EE-84EB-1B26BA230147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7367" y="6469694"/>
            <a:ext cx="627434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noAutofit/>
          </a:bodyPr>
          <a:lstStyle>
            <a:lvl1pPr algn="ctr">
              <a:defRPr lang="en-US" sz="900" b="0" spc="10" baseline="0" smtClean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2" r:id="rId2"/>
    <p:sldLayoutId id="2147483792" r:id="rId3"/>
    <p:sldLayoutId id="2147483776" r:id="rId4"/>
    <p:sldLayoutId id="2147483793" r:id="rId5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1864FF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 userDrawn="1">
          <p15:clr>
            <a:srgbClr val="F26B43"/>
          </p15:clr>
        </p15:guide>
        <p15:guide id="2" pos="98" userDrawn="1">
          <p15:clr>
            <a:srgbClr val="F26B43"/>
          </p15:clr>
        </p15:guide>
        <p15:guide id="3" pos="7582" userDrawn="1">
          <p15:clr>
            <a:srgbClr val="F26B43"/>
          </p15:clr>
        </p15:guide>
        <p15:guide id="4" orient="horz" pos="4024" userDrawn="1">
          <p15:clr>
            <a:srgbClr val="F26B43"/>
          </p15:clr>
        </p15:guide>
        <p15:guide id="5" pos="234" userDrawn="1">
          <p15:clr>
            <a:srgbClr val="5ACBF0"/>
          </p15:clr>
        </p15:guide>
        <p15:guide id="6" pos="7446" userDrawn="1">
          <p15:clr>
            <a:srgbClr val="5ACBF0"/>
          </p15:clr>
        </p15:guide>
        <p15:guide id="7" orient="horz" pos="3941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roep 262">
            <a:extLst>
              <a:ext uri="{FF2B5EF4-FFF2-40B4-BE49-F238E27FC236}">
                <a16:creationId xmlns:a16="http://schemas.microsoft.com/office/drawing/2014/main" id="{AA850EB8-E83D-246C-BB63-2A868373B1BE}"/>
              </a:ext>
            </a:extLst>
          </p:cNvPr>
          <p:cNvGrpSpPr/>
          <p:nvPr userDrawn="1"/>
        </p:nvGrpSpPr>
        <p:grpSpPr>
          <a:xfrm flipH="1">
            <a:off x="10710451" y="4674513"/>
            <a:ext cx="2854391" cy="2702025"/>
            <a:chOff x="-1377504" y="-455451"/>
            <a:chExt cx="2854391" cy="2702025"/>
          </a:xfrm>
        </p:grpSpPr>
        <p:sp>
          <p:nvSpPr>
            <p:cNvPr id="264" name="Rectangle 68">
              <a:extLst>
                <a:ext uri="{FF2B5EF4-FFF2-40B4-BE49-F238E27FC236}">
                  <a16:creationId xmlns:a16="http://schemas.microsoft.com/office/drawing/2014/main" id="{99AD9F3A-EC71-D09A-06A4-DF026B826045}"/>
                </a:ext>
              </a:extLst>
            </p:cNvPr>
            <p:cNvSpPr/>
            <p:nvPr userDrawn="1"/>
          </p:nvSpPr>
          <p:spPr>
            <a:xfrm>
              <a:off x="-1369911" y="1133435"/>
              <a:ext cx="1362794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5" name="TextBox 225">
              <a:extLst>
                <a:ext uri="{FF2B5EF4-FFF2-40B4-BE49-F238E27FC236}">
                  <a16:creationId xmlns:a16="http://schemas.microsoft.com/office/drawing/2014/main" id="{A8DE34D6-110D-A715-D888-F32F534AB236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66" name="Rectangle 68">
              <a:extLst>
                <a:ext uri="{FF2B5EF4-FFF2-40B4-BE49-F238E27FC236}">
                  <a16:creationId xmlns:a16="http://schemas.microsoft.com/office/drawing/2014/main" id="{1B09B145-E15C-5E18-553C-9D553948BFE8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3A1FF">
                    <a:alpha val="45000"/>
                  </a:srgbClr>
                </a:gs>
                <a:gs pos="0">
                  <a:srgbClr val="73A1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7" name="Vrije vorm 266">
              <a:extLst>
                <a:ext uri="{FF2B5EF4-FFF2-40B4-BE49-F238E27FC236}">
                  <a16:creationId xmlns:a16="http://schemas.microsoft.com/office/drawing/2014/main" id="{8BBA4652-A078-2FC3-D9E6-6FAFDF320B3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68" name="TextBox 6">
              <a:extLst>
                <a:ext uri="{FF2B5EF4-FFF2-40B4-BE49-F238E27FC236}">
                  <a16:creationId xmlns:a16="http://schemas.microsoft.com/office/drawing/2014/main" id="{DAA4F945-67DA-0ADA-96A5-A0C39E38C5E0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69" name="Triangle 20">
              <a:extLst>
                <a:ext uri="{FF2B5EF4-FFF2-40B4-BE49-F238E27FC236}">
                  <a16:creationId xmlns:a16="http://schemas.microsoft.com/office/drawing/2014/main" id="{717475B2-DFBE-B1B3-31B8-727A697264AD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0" name="Straight Connector 22">
              <a:extLst>
                <a:ext uri="{FF2B5EF4-FFF2-40B4-BE49-F238E27FC236}">
                  <a16:creationId xmlns:a16="http://schemas.microsoft.com/office/drawing/2014/main" id="{A42A00C7-DFEA-C7D5-033D-516B6F4C8CF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61560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80">
              <a:extLst>
                <a:ext uri="{FF2B5EF4-FFF2-40B4-BE49-F238E27FC236}">
                  <a16:creationId xmlns:a16="http://schemas.microsoft.com/office/drawing/2014/main" id="{B58FAA8F-5DD0-C89C-271E-8C3A8EE064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81">
              <a:extLst>
                <a:ext uri="{FF2B5EF4-FFF2-40B4-BE49-F238E27FC236}">
                  <a16:creationId xmlns:a16="http://schemas.microsoft.com/office/drawing/2014/main" id="{89F07FB3-6911-809F-B25C-8AEC80425E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25">
              <a:extLst>
                <a:ext uri="{FF2B5EF4-FFF2-40B4-BE49-F238E27FC236}">
                  <a16:creationId xmlns:a16="http://schemas.microsoft.com/office/drawing/2014/main" id="{DD1E3D78-1140-8FC0-EA86-577F2CC4A346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74" name="Triangle 226">
              <a:extLst>
                <a:ext uri="{FF2B5EF4-FFF2-40B4-BE49-F238E27FC236}">
                  <a16:creationId xmlns:a16="http://schemas.microsoft.com/office/drawing/2014/main" id="{73A71C40-611D-D16B-2D10-56A4820B8C5F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Triangle 226">
              <a:extLst>
                <a:ext uri="{FF2B5EF4-FFF2-40B4-BE49-F238E27FC236}">
                  <a16:creationId xmlns:a16="http://schemas.microsoft.com/office/drawing/2014/main" id="{95A5946A-4EDB-4588-5F58-FA5E53404F5A}"/>
                </a:ext>
              </a:extLst>
            </p:cNvPr>
            <p:cNvSpPr/>
            <p:nvPr userDrawn="1"/>
          </p:nvSpPr>
          <p:spPr>
            <a:xfrm rot="16200000">
              <a:off x="222593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6" name="Straight Connector 22">
              <a:extLst>
                <a:ext uri="{FF2B5EF4-FFF2-40B4-BE49-F238E27FC236}">
                  <a16:creationId xmlns:a16="http://schemas.microsoft.com/office/drawing/2014/main" id="{B56A85F9-757E-5259-ECF3-BF09D04D67F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34681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7" name="TextBox 6">
              <a:extLst>
                <a:ext uri="{FF2B5EF4-FFF2-40B4-BE49-F238E27FC236}">
                  <a16:creationId xmlns:a16="http://schemas.microsoft.com/office/drawing/2014/main" id="{A218AAFF-C3F4-2913-ED83-EBBC959F5DAC}"/>
                </a:ext>
              </a:extLst>
            </p:cNvPr>
            <p:cNvSpPr txBox="1"/>
            <p:nvPr userDrawn="1"/>
          </p:nvSpPr>
          <p:spPr>
            <a:xfrm>
              <a:off x="-1351052" y="916735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IN 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278" name="Triangle 20">
              <a:extLst>
                <a:ext uri="{FF2B5EF4-FFF2-40B4-BE49-F238E27FC236}">
                  <a16:creationId xmlns:a16="http://schemas.microsoft.com/office/drawing/2014/main" id="{FC06B2D3-B34D-2906-BEA5-2B255C7B96E0}"/>
                </a:ext>
              </a:extLst>
            </p:cNvPr>
            <p:cNvSpPr/>
            <p:nvPr userDrawn="1"/>
          </p:nvSpPr>
          <p:spPr>
            <a:xfrm rot="10800000">
              <a:off x="-169889" y="1158772"/>
              <a:ext cx="112623" cy="79252"/>
            </a:xfrm>
            <a:prstGeom prst="triangle">
              <a:avLst/>
            </a:prstGeom>
            <a:solidFill>
              <a:srgbClr val="74A2FF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ep 89">
            <a:extLst>
              <a:ext uri="{FF2B5EF4-FFF2-40B4-BE49-F238E27FC236}">
                <a16:creationId xmlns:a16="http://schemas.microsoft.com/office/drawing/2014/main" id="{D59C5C48-35AD-A63E-DC26-86E73634677A}"/>
              </a:ext>
            </a:extLst>
          </p:cNvPr>
          <p:cNvGrpSpPr/>
          <p:nvPr userDrawn="1"/>
        </p:nvGrpSpPr>
        <p:grpSpPr>
          <a:xfrm>
            <a:off x="-1427007" y="-511645"/>
            <a:ext cx="2903894" cy="1940242"/>
            <a:chOff x="-1427007" y="-511645"/>
            <a:chExt cx="2903894" cy="1940242"/>
          </a:xfrm>
        </p:grpSpPr>
        <p:sp>
          <p:nvSpPr>
            <p:cNvPr id="5" name="TextBox 225">
              <a:extLst>
                <a:ext uri="{FF2B5EF4-FFF2-40B4-BE49-F238E27FC236}">
                  <a16:creationId xmlns:a16="http://schemas.microsoft.com/office/drawing/2014/main" id="{32E95ECB-E3DD-95AD-0DEA-398BF1A178C7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7" name="Rectangle 68">
              <a:extLst>
                <a:ext uri="{FF2B5EF4-FFF2-40B4-BE49-F238E27FC236}">
                  <a16:creationId xmlns:a16="http://schemas.microsoft.com/office/drawing/2014/main" id="{AB2972B4-E1F2-58E1-20EA-34DF76C2E882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8" name="Vrije vorm 92">
              <a:extLst>
                <a:ext uri="{FF2B5EF4-FFF2-40B4-BE49-F238E27FC236}">
                  <a16:creationId xmlns:a16="http://schemas.microsoft.com/office/drawing/2014/main" id="{69987C38-B383-9396-270D-D57A1999E7F2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9" name="Vrije vorm 93">
              <a:extLst>
                <a:ext uri="{FF2B5EF4-FFF2-40B4-BE49-F238E27FC236}">
                  <a16:creationId xmlns:a16="http://schemas.microsoft.com/office/drawing/2014/main" id="{627E3288-DF74-C572-BA77-64616C7838B7}"/>
                </a:ext>
              </a:extLst>
            </p:cNvPr>
            <p:cNvSpPr/>
            <p:nvPr userDrawn="1"/>
          </p:nvSpPr>
          <p:spPr>
            <a:xfrm flipH="1">
              <a:off x="-1427007" y="130179"/>
              <a:ext cx="1427007" cy="227547"/>
            </a:xfrm>
            <a:custGeom>
              <a:avLst/>
              <a:gdLst>
                <a:gd name="connsiteX0" fmla="*/ 1379557 w 1427007"/>
                <a:gd name="connsiteY0" fmla="*/ 0 h 227547"/>
                <a:gd name="connsiteX1" fmla="*/ 0 w 1427007"/>
                <a:gd name="connsiteY1" fmla="*/ 0 h 227547"/>
                <a:gd name="connsiteX2" fmla="*/ 0 w 1427007"/>
                <a:gd name="connsiteY2" fmla="*/ 227547 h 227547"/>
                <a:gd name="connsiteX3" fmla="*/ 1379557 w 1427007"/>
                <a:gd name="connsiteY3" fmla="*/ 227547 h 227547"/>
                <a:gd name="connsiteX4" fmla="*/ 1427007 w 1427007"/>
                <a:gd name="connsiteY4" fmla="*/ 180097 h 227547"/>
                <a:gd name="connsiteX5" fmla="*/ 1427007 w 1427007"/>
                <a:gd name="connsiteY5" fmla="*/ 47450 h 227547"/>
                <a:gd name="connsiteX6" fmla="*/ 1379557 w 1427007"/>
                <a:gd name="connsiteY6" fmla="*/ 0 h 227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7007" h="227547">
                  <a:moveTo>
                    <a:pt x="1379557" y="0"/>
                  </a:moveTo>
                  <a:lnTo>
                    <a:pt x="0" y="0"/>
                  </a:lnTo>
                  <a:lnTo>
                    <a:pt x="0" y="227547"/>
                  </a:lnTo>
                  <a:lnTo>
                    <a:pt x="1379557" y="227547"/>
                  </a:lnTo>
                  <a:cubicBezTo>
                    <a:pt x="1405763" y="227547"/>
                    <a:pt x="1427007" y="206303"/>
                    <a:pt x="1427007" y="180097"/>
                  </a:cubicBezTo>
                  <a:lnTo>
                    <a:pt x="1427007" y="47450"/>
                  </a:lnTo>
                  <a:cubicBezTo>
                    <a:pt x="1427007" y="21244"/>
                    <a:pt x="1405763" y="0"/>
                    <a:pt x="1379557" y="0"/>
                  </a:cubicBezTo>
                  <a:close/>
                </a:path>
              </a:pathLst>
            </a:custGeom>
            <a:gradFill>
              <a:gsLst>
                <a:gs pos="15000">
                  <a:srgbClr val="F8C716"/>
                </a:gs>
                <a:gs pos="0">
                  <a:srgbClr val="EA8C36"/>
                </a:gs>
              </a:gsLst>
              <a:lin ang="0" scaled="0"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72000" bIns="36000" rtlCol="0" anchor="ctr">
              <a:noAutofit/>
            </a:bodyPr>
            <a:lstStyle/>
            <a:p>
              <a:pPr lvl="0" algn="r"/>
              <a:r>
                <a:rPr lang="en-US" sz="800" b="0" i="0" dirty="0">
                  <a:solidFill>
                    <a:schemeClr val="tx1"/>
                  </a:solidFill>
                  <a:latin typeface="Noir Pro Medium" pitchFamily="2" charset="0"/>
                </a:rPr>
                <a:t>PRESENTATION SECTION</a:t>
              </a:r>
              <a:r>
                <a:rPr lang="nl-NL" sz="800" b="0" i="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▸</a:t>
              </a:r>
              <a:endParaRPr lang="en-US" sz="800" b="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TextBox 6">
              <a:extLst>
                <a:ext uri="{FF2B5EF4-FFF2-40B4-BE49-F238E27FC236}">
                  <a16:creationId xmlns:a16="http://schemas.microsoft.com/office/drawing/2014/main" id="{85E0971F-FC0D-FAFC-8BB4-61D0D2B137CD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11" name="Triangle 20">
              <a:extLst>
                <a:ext uri="{FF2B5EF4-FFF2-40B4-BE49-F238E27FC236}">
                  <a16:creationId xmlns:a16="http://schemas.microsoft.com/office/drawing/2014/main" id="{C9B50F90-B896-5DCF-BFDB-93B48ACA2A9E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22">
              <a:extLst>
                <a:ext uri="{FF2B5EF4-FFF2-40B4-BE49-F238E27FC236}">
                  <a16:creationId xmlns:a16="http://schemas.microsoft.com/office/drawing/2014/main" id="{754F6EE8-2E9A-2CBA-BC76-D9C28BEDA66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61">
              <a:extLst>
                <a:ext uri="{FF2B5EF4-FFF2-40B4-BE49-F238E27FC236}">
                  <a16:creationId xmlns:a16="http://schemas.microsoft.com/office/drawing/2014/main" id="{2F3B8A7C-2801-5A4F-FCFF-BB6532792ADD}"/>
                </a:ext>
              </a:extLst>
            </p:cNvPr>
            <p:cNvSpPr txBox="1"/>
            <p:nvPr userDrawn="1"/>
          </p:nvSpPr>
          <p:spPr>
            <a:xfrm>
              <a:off x="-1234836" y="373601"/>
              <a:ext cx="1171414" cy="291811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800" b="0" i="0" dirty="0">
                  <a:solidFill>
                    <a:srgbClr val="EA8C36"/>
                  </a:solidFill>
                  <a:effectLst/>
                  <a:latin typeface="Noir Pro" pitchFamily="2" charset="0"/>
                </a:rPr>
                <a:t>E.G. “Introduction” OR “Conclusions”</a:t>
              </a:r>
            </a:p>
          </p:txBody>
        </p:sp>
        <p:cxnSp>
          <p:nvCxnSpPr>
            <p:cNvPr id="14" name="Straight Connector 80">
              <a:extLst>
                <a:ext uri="{FF2B5EF4-FFF2-40B4-BE49-F238E27FC236}">
                  <a16:creationId xmlns:a16="http://schemas.microsoft.com/office/drawing/2014/main" id="{CA123130-6078-F942-31C8-7D1D314E0D8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81">
              <a:extLst>
                <a:ext uri="{FF2B5EF4-FFF2-40B4-BE49-F238E27FC236}">
                  <a16:creationId xmlns:a16="http://schemas.microsoft.com/office/drawing/2014/main" id="{658E8802-FB8C-E3CC-28AD-8F34A34182A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225">
              <a:extLst>
                <a:ext uri="{FF2B5EF4-FFF2-40B4-BE49-F238E27FC236}">
                  <a16:creationId xmlns:a16="http://schemas.microsoft.com/office/drawing/2014/main" id="{D388F448-A8D1-3399-4E61-1638F2075917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17" name="Triangle 226">
              <a:extLst>
                <a:ext uri="{FF2B5EF4-FFF2-40B4-BE49-F238E27FC236}">
                  <a16:creationId xmlns:a16="http://schemas.microsoft.com/office/drawing/2014/main" id="{0DBA9522-D22B-9DBA-AF8B-D363E3557F6A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riangle 226">
              <a:extLst>
                <a:ext uri="{FF2B5EF4-FFF2-40B4-BE49-F238E27FC236}">
                  <a16:creationId xmlns:a16="http://schemas.microsoft.com/office/drawing/2014/main" id="{A82A2DFA-D8C5-D911-DE04-AFB44144EAE6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ep 119">
            <a:extLst>
              <a:ext uri="{FF2B5EF4-FFF2-40B4-BE49-F238E27FC236}">
                <a16:creationId xmlns:a16="http://schemas.microsoft.com/office/drawing/2014/main" id="{C2A05CFF-BFD2-D7A2-AE40-E01B243946B8}"/>
              </a:ext>
            </a:extLst>
          </p:cNvPr>
          <p:cNvGrpSpPr/>
          <p:nvPr userDrawn="1"/>
        </p:nvGrpSpPr>
        <p:grpSpPr>
          <a:xfrm flipH="1">
            <a:off x="10714464" y="-511645"/>
            <a:ext cx="2854391" cy="1940242"/>
            <a:chOff x="-1377504" y="-511645"/>
            <a:chExt cx="2854391" cy="1940242"/>
          </a:xfrm>
        </p:grpSpPr>
        <p:sp>
          <p:nvSpPr>
            <p:cNvPr id="20" name="TextBox 225">
              <a:extLst>
                <a:ext uri="{FF2B5EF4-FFF2-40B4-BE49-F238E27FC236}">
                  <a16:creationId xmlns:a16="http://schemas.microsoft.com/office/drawing/2014/main" id="{D81A72E2-530F-F1B2-FF4A-95585AE44BA6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1" name="Rectangle 68">
              <a:extLst>
                <a:ext uri="{FF2B5EF4-FFF2-40B4-BE49-F238E27FC236}">
                  <a16:creationId xmlns:a16="http://schemas.microsoft.com/office/drawing/2014/main" id="{83435E30-E1B5-02A9-A4E0-5FD7CB1BEF6B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2" name="Vrije vorm 122">
              <a:extLst>
                <a:ext uri="{FF2B5EF4-FFF2-40B4-BE49-F238E27FC236}">
                  <a16:creationId xmlns:a16="http://schemas.microsoft.com/office/drawing/2014/main" id="{0CC0EFCF-04D1-45F4-6702-6FC3A265B70E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A9A16DAD-D221-1339-C097-73024E4EB147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4" name="Triangle 20">
              <a:extLst>
                <a:ext uri="{FF2B5EF4-FFF2-40B4-BE49-F238E27FC236}">
                  <a16:creationId xmlns:a16="http://schemas.microsoft.com/office/drawing/2014/main" id="{942D8640-0849-C2B0-5C54-2B32EBC367F3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2">
              <a:extLst>
                <a:ext uri="{FF2B5EF4-FFF2-40B4-BE49-F238E27FC236}">
                  <a16:creationId xmlns:a16="http://schemas.microsoft.com/office/drawing/2014/main" id="{A443B444-0F2A-7630-FCF7-EF4808767C4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80">
              <a:extLst>
                <a:ext uri="{FF2B5EF4-FFF2-40B4-BE49-F238E27FC236}">
                  <a16:creationId xmlns:a16="http://schemas.microsoft.com/office/drawing/2014/main" id="{4E83FFE7-44CD-8735-C0A4-BE79EC39796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81">
              <a:extLst>
                <a:ext uri="{FF2B5EF4-FFF2-40B4-BE49-F238E27FC236}">
                  <a16:creationId xmlns:a16="http://schemas.microsoft.com/office/drawing/2014/main" id="{C0F7E114-51AF-14D3-7DBE-7C596486FE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25">
              <a:extLst>
                <a:ext uri="{FF2B5EF4-FFF2-40B4-BE49-F238E27FC236}">
                  <a16:creationId xmlns:a16="http://schemas.microsoft.com/office/drawing/2014/main" id="{D0DB4980-D536-E5B3-868C-F6D7255C05A0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9" name="Triangle 226">
              <a:extLst>
                <a:ext uri="{FF2B5EF4-FFF2-40B4-BE49-F238E27FC236}">
                  <a16:creationId xmlns:a16="http://schemas.microsoft.com/office/drawing/2014/main" id="{6B36C7E9-EDBA-AFB3-433E-8B2AB725E1FD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riangle 226">
              <a:extLst>
                <a:ext uri="{FF2B5EF4-FFF2-40B4-BE49-F238E27FC236}">
                  <a16:creationId xmlns:a16="http://schemas.microsoft.com/office/drawing/2014/main" id="{9B00A46E-70BA-C698-9D23-9A7A9825BEB0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ep 148">
            <a:extLst>
              <a:ext uri="{FF2B5EF4-FFF2-40B4-BE49-F238E27FC236}">
                <a16:creationId xmlns:a16="http://schemas.microsoft.com/office/drawing/2014/main" id="{B065A78A-517B-7FE3-9BD1-5BBA83C5B2FD}"/>
              </a:ext>
            </a:extLst>
          </p:cNvPr>
          <p:cNvGrpSpPr/>
          <p:nvPr userDrawn="1"/>
        </p:nvGrpSpPr>
        <p:grpSpPr>
          <a:xfrm>
            <a:off x="-1377504" y="4674513"/>
            <a:ext cx="2854391" cy="2702025"/>
            <a:chOff x="-1377504" y="-455451"/>
            <a:chExt cx="2854391" cy="2702025"/>
          </a:xfrm>
        </p:grpSpPr>
        <p:sp>
          <p:nvSpPr>
            <p:cNvPr id="49" name="Rectangle 68">
              <a:extLst>
                <a:ext uri="{FF2B5EF4-FFF2-40B4-BE49-F238E27FC236}">
                  <a16:creationId xmlns:a16="http://schemas.microsoft.com/office/drawing/2014/main" id="{68E74EB2-0DC9-4FFA-13D4-BC1CAAD5C2DA}"/>
                </a:ext>
              </a:extLst>
            </p:cNvPr>
            <p:cNvSpPr/>
            <p:nvPr userDrawn="1"/>
          </p:nvSpPr>
          <p:spPr>
            <a:xfrm>
              <a:off x="-1371600" y="1126373"/>
              <a:ext cx="1364481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0" name="TextBox 225">
              <a:extLst>
                <a:ext uri="{FF2B5EF4-FFF2-40B4-BE49-F238E27FC236}">
                  <a16:creationId xmlns:a16="http://schemas.microsoft.com/office/drawing/2014/main" id="{1416B053-515C-7D37-719A-D5396792901F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51" name="Rectangle 68">
              <a:extLst>
                <a:ext uri="{FF2B5EF4-FFF2-40B4-BE49-F238E27FC236}">
                  <a16:creationId xmlns:a16="http://schemas.microsoft.com/office/drawing/2014/main" id="{B67387B5-D96B-0662-6DE0-1CEDDB232D44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2" name="Vrije vorm 162">
              <a:extLst>
                <a:ext uri="{FF2B5EF4-FFF2-40B4-BE49-F238E27FC236}">
                  <a16:creationId xmlns:a16="http://schemas.microsoft.com/office/drawing/2014/main" id="{D25AB246-D0F9-FF11-D812-6CE65EEA93D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53" name="TextBox 6">
              <a:extLst>
                <a:ext uri="{FF2B5EF4-FFF2-40B4-BE49-F238E27FC236}">
                  <a16:creationId xmlns:a16="http://schemas.microsoft.com/office/drawing/2014/main" id="{49857C07-3FD7-ABA2-AE3A-5A082586E45F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54" name="Triangle 20">
              <a:extLst>
                <a:ext uri="{FF2B5EF4-FFF2-40B4-BE49-F238E27FC236}">
                  <a16:creationId xmlns:a16="http://schemas.microsoft.com/office/drawing/2014/main" id="{5F6BB872-7452-D5A8-42F6-FB044B207267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22">
              <a:extLst>
                <a:ext uri="{FF2B5EF4-FFF2-40B4-BE49-F238E27FC236}">
                  <a16:creationId xmlns:a16="http://schemas.microsoft.com/office/drawing/2014/main" id="{7ABC8ED3-35BE-3005-C4F5-CE56B7C3290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54498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80">
              <a:extLst>
                <a:ext uri="{FF2B5EF4-FFF2-40B4-BE49-F238E27FC236}">
                  <a16:creationId xmlns:a16="http://schemas.microsoft.com/office/drawing/2014/main" id="{4DFCD810-B71B-1937-A748-B404B5D5D35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81">
              <a:extLst>
                <a:ext uri="{FF2B5EF4-FFF2-40B4-BE49-F238E27FC236}">
                  <a16:creationId xmlns:a16="http://schemas.microsoft.com/office/drawing/2014/main" id="{CC59845C-9422-C747-98C4-6BE9969399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225">
              <a:extLst>
                <a:ext uri="{FF2B5EF4-FFF2-40B4-BE49-F238E27FC236}">
                  <a16:creationId xmlns:a16="http://schemas.microsoft.com/office/drawing/2014/main" id="{DF4979DD-C143-00E2-257F-D2A99369298A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59" name="Triangle 226">
              <a:extLst>
                <a:ext uri="{FF2B5EF4-FFF2-40B4-BE49-F238E27FC236}">
                  <a16:creationId xmlns:a16="http://schemas.microsoft.com/office/drawing/2014/main" id="{FD27ABA0-7135-DACE-FC6C-8A9EAAD90783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riangle 226">
              <a:extLst>
                <a:ext uri="{FF2B5EF4-FFF2-40B4-BE49-F238E27FC236}">
                  <a16:creationId xmlns:a16="http://schemas.microsoft.com/office/drawing/2014/main" id="{2F3941FD-9462-C017-A887-F06C79F528F4}"/>
                </a:ext>
              </a:extLst>
            </p:cNvPr>
            <p:cNvSpPr/>
            <p:nvPr userDrawn="1"/>
          </p:nvSpPr>
          <p:spPr>
            <a:xfrm rot="16200000">
              <a:off x="225082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Connector 22">
              <a:extLst>
                <a:ext uri="{FF2B5EF4-FFF2-40B4-BE49-F238E27FC236}">
                  <a16:creationId xmlns:a16="http://schemas.microsoft.com/office/drawing/2014/main" id="{9C81FCA9-FCE4-FEF4-4B6B-AA410333A9E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27619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">
              <a:extLst>
                <a:ext uri="{FF2B5EF4-FFF2-40B4-BE49-F238E27FC236}">
                  <a16:creationId xmlns:a16="http://schemas.microsoft.com/office/drawing/2014/main" id="{A2E9BB0C-D35B-4116-2AC4-90E9717E5237}"/>
                </a:ext>
              </a:extLst>
            </p:cNvPr>
            <p:cNvSpPr txBox="1"/>
            <p:nvPr userDrawn="1"/>
          </p:nvSpPr>
          <p:spPr>
            <a:xfrm>
              <a:off x="-1266826" y="909673"/>
              <a:ext cx="1144135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</a:t>
              </a:r>
              <a: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</a:t>
              </a:r>
              <a:b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63" name="Triangle 20">
              <a:extLst>
                <a:ext uri="{FF2B5EF4-FFF2-40B4-BE49-F238E27FC236}">
                  <a16:creationId xmlns:a16="http://schemas.microsoft.com/office/drawing/2014/main" id="{E8031D7B-7681-7AE4-A37D-529EC4686204}"/>
                </a:ext>
              </a:extLst>
            </p:cNvPr>
            <p:cNvSpPr/>
            <p:nvPr userDrawn="1"/>
          </p:nvSpPr>
          <p:spPr>
            <a:xfrm rot="10800000">
              <a:off x="-169889" y="1151710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9" name="Rechthoek 148">
            <a:extLst>
              <a:ext uri="{FF2B5EF4-FFF2-40B4-BE49-F238E27FC236}">
                <a16:creationId xmlns:a16="http://schemas.microsoft.com/office/drawing/2014/main" id="{912E8D36-CEBC-F4A4-DC48-0FFC029F5CDB}"/>
              </a:ext>
            </a:extLst>
          </p:cNvPr>
          <p:cNvSpPr/>
          <p:nvPr userDrawn="1"/>
        </p:nvSpPr>
        <p:spPr>
          <a:xfrm>
            <a:off x="0" y="6334783"/>
            <a:ext cx="12192000" cy="522161"/>
          </a:xfrm>
          <a:prstGeom prst="rect">
            <a:avLst/>
          </a:prstGeom>
          <a:gradFill>
            <a:gsLst>
              <a:gs pos="100000">
                <a:srgbClr val="1847B2"/>
              </a:gs>
              <a:gs pos="16000">
                <a:srgbClr val="15163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NL"/>
          </a:p>
        </p:txBody>
      </p:sp>
      <p:sp>
        <p:nvSpPr>
          <p:cNvPr id="150" name="Rounded Rectangle 11">
            <a:extLst>
              <a:ext uri="{FF2B5EF4-FFF2-40B4-BE49-F238E27FC236}">
                <a16:creationId xmlns:a16="http://schemas.microsoft.com/office/drawing/2014/main" id="{2D4AC5C1-8471-5765-EE2F-B91C401EEABC}"/>
              </a:ext>
            </a:extLst>
          </p:cNvPr>
          <p:cNvSpPr/>
          <p:nvPr userDrawn="1"/>
        </p:nvSpPr>
        <p:spPr>
          <a:xfrm>
            <a:off x="1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5000">
                <a:srgbClr val="003AAE"/>
              </a:gs>
              <a:gs pos="12000">
                <a:srgbClr val="002E8B"/>
              </a:gs>
              <a:gs pos="32000">
                <a:srgbClr val="151632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62" name="Rectangle 22">
            <a:extLst>
              <a:ext uri="{FF2B5EF4-FFF2-40B4-BE49-F238E27FC236}">
                <a16:creationId xmlns:a16="http://schemas.microsoft.com/office/drawing/2014/main" id="{A9735FA5-2FA2-C8BE-D5A8-A0118D2693E8}"/>
              </a:ext>
            </a:extLst>
          </p:cNvPr>
          <p:cNvSpPr/>
          <p:nvPr userDrawn="1"/>
        </p:nvSpPr>
        <p:spPr>
          <a:xfrm>
            <a:off x="0" y="0"/>
            <a:ext cx="12192000" cy="6334783"/>
          </a:xfrm>
          <a:prstGeom prst="rect">
            <a:avLst/>
          </a:prstGeom>
          <a:solidFill>
            <a:srgbClr val="15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2">
            <a:extLst>
              <a:ext uri="{FF2B5EF4-FFF2-40B4-BE49-F238E27FC236}">
                <a16:creationId xmlns:a16="http://schemas.microsoft.com/office/drawing/2014/main" id="{47AF9F50-B0AE-A4D9-6892-D5B682DB31A2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9C716">
                  <a:alpha val="78258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9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65" name="Rounded Rectangle 92">
            <a:extLst>
              <a:ext uri="{FF2B5EF4-FFF2-40B4-BE49-F238E27FC236}">
                <a16:creationId xmlns:a16="http://schemas.microsoft.com/office/drawing/2014/main" id="{B6B0EA6D-93FA-0E47-82BC-6E9A5D82BC56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66" name="Rectangle 3">
            <a:extLst>
              <a:ext uri="{FF2B5EF4-FFF2-40B4-BE49-F238E27FC236}">
                <a16:creationId xmlns:a16="http://schemas.microsoft.com/office/drawing/2014/main" id="{929202E0-FBA3-6D1C-5DB2-A7003046CE87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7" name="Straight Connector 9">
            <a:extLst>
              <a:ext uri="{FF2B5EF4-FFF2-40B4-BE49-F238E27FC236}">
                <a16:creationId xmlns:a16="http://schemas.microsoft.com/office/drawing/2014/main" id="{B175B565-7FF3-C6FA-3AEF-FECA88B3E490}"/>
              </a:ext>
            </a:extLst>
          </p:cNvPr>
          <p:cNvCxnSpPr>
            <a:cxnSpLocks/>
          </p:cNvCxnSpPr>
          <p:nvPr userDrawn="1"/>
        </p:nvCxnSpPr>
        <p:spPr>
          <a:xfrm>
            <a:off x="154800" y="1254633"/>
            <a:ext cx="11879999" cy="0"/>
          </a:xfrm>
          <a:prstGeom prst="line">
            <a:avLst/>
          </a:prstGeom>
          <a:ln w="9525">
            <a:solidFill>
              <a:srgbClr val="B0B0B0">
                <a:alpha val="4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hthoek 169">
            <a:extLst>
              <a:ext uri="{FF2B5EF4-FFF2-40B4-BE49-F238E27FC236}">
                <a16:creationId xmlns:a16="http://schemas.microsoft.com/office/drawing/2014/main" id="{A86F3B83-6262-41A8-700E-61C3B1838F75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2" name="Rectangle 22">
            <a:extLst>
              <a:ext uri="{FF2B5EF4-FFF2-40B4-BE49-F238E27FC236}">
                <a16:creationId xmlns:a16="http://schemas.microsoft.com/office/drawing/2014/main" id="{A60FFE3A-8FA1-676B-EFFA-9F7E31AFE577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399" y="6469694"/>
            <a:ext cx="626400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spAutoFit/>
          </a:bodyPr>
          <a:lstStyle>
            <a:lvl1pPr algn="ctr">
              <a:defRPr lang="en-US" sz="900" b="0" spc="10" baseline="0" smtClean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cxnSp>
        <p:nvCxnSpPr>
          <p:cNvPr id="173" name="Straight Connector 9">
            <a:extLst>
              <a:ext uri="{FF2B5EF4-FFF2-40B4-BE49-F238E27FC236}">
                <a16:creationId xmlns:a16="http://schemas.microsoft.com/office/drawing/2014/main" id="{8D280FE2-26DA-3F87-A7A0-367871842674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18000">
                  <a:srgbClr val="B0B0B0">
                    <a:alpha val="0"/>
                  </a:srgbClr>
                </a:gs>
                <a:gs pos="43000">
                  <a:srgbClr val="B0B0B0">
                    <a:alpha val="40000"/>
                  </a:srgb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4">
            <a:extLst>
              <a:ext uri="{FF2B5EF4-FFF2-40B4-BE49-F238E27FC236}">
                <a16:creationId xmlns:a16="http://schemas.microsoft.com/office/drawing/2014/main" id="{73B235D3-3C1A-926C-96F7-876AEA7F759F}"/>
              </a:ext>
            </a:extLst>
          </p:cNvPr>
          <p:cNvSpPr/>
          <p:nvPr userDrawn="1"/>
        </p:nvSpPr>
        <p:spPr>
          <a:xfrm>
            <a:off x="0" y="3429001"/>
            <a:ext cx="8134958" cy="2964608"/>
          </a:xfrm>
          <a:prstGeom prst="rect">
            <a:avLst/>
          </a:prstGeom>
          <a:gradFill>
            <a:gsLst>
              <a:gs pos="0">
                <a:srgbClr val="1864FF">
                  <a:alpha val="66667"/>
                </a:srgbClr>
              </a:gs>
              <a:gs pos="45000">
                <a:srgbClr val="151632">
                  <a:alpha val="0"/>
                </a:srgbClr>
              </a:gs>
              <a:gs pos="11000">
                <a:srgbClr val="1864FF">
                  <a:alpha val="56863"/>
                </a:srgbClr>
              </a:gs>
              <a:gs pos="35000">
                <a:srgbClr val="173D99">
                  <a:alpha val="24023"/>
                </a:srgbClr>
              </a:gs>
              <a:gs pos="22000">
                <a:srgbClr val="1864FF">
                  <a:alpha val="35686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52" name="Rectangle 4">
            <a:extLst>
              <a:ext uri="{FF2B5EF4-FFF2-40B4-BE49-F238E27FC236}">
                <a16:creationId xmlns:a16="http://schemas.microsoft.com/office/drawing/2014/main" id="{C05BC534-2B27-A9B7-CEAE-FECCCD47CBF9}"/>
              </a:ext>
            </a:extLst>
          </p:cNvPr>
          <p:cNvSpPr/>
          <p:nvPr userDrawn="1"/>
        </p:nvSpPr>
        <p:spPr>
          <a:xfrm>
            <a:off x="154800" y="5446799"/>
            <a:ext cx="8134958" cy="946809"/>
          </a:xfrm>
          <a:prstGeom prst="rect">
            <a:avLst/>
          </a:prstGeom>
          <a:gradFill>
            <a:gsLst>
              <a:gs pos="0">
                <a:srgbClr val="1864FF">
                  <a:alpha val="62745"/>
                </a:srgbClr>
              </a:gs>
              <a:gs pos="14000">
                <a:srgbClr val="1864FF">
                  <a:alpha val="16863"/>
                </a:srgbClr>
              </a:gs>
              <a:gs pos="28000">
                <a:srgbClr val="1864FF">
                  <a:alpha val="0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/>
              <a:t>Confidential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200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grpSp>
        <p:nvGrpSpPr>
          <p:cNvPr id="31" name="Groep 30">
            <a:extLst>
              <a:ext uri="{FF2B5EF4-FFF2-40B4-BE49-F238E27FC236}">
                <a16:creationId xmlns:a16="http://schemas.microsoft.com/office/drawing/2014/main" id="{9E6A6A6B-50E5-38EF-4BD3-D020EE8689B3}"/>
              </a:ext>
            </a:extLst>
          </p:cNvPr>
          <p:cNvGrpSpPr/>
          <p:nvPr userDrawn="1"/>
        </p:nvGrpSpPr>
        <p:grpSpPr>
          <a:xfrm>
            <a:off x="12194479" y="1557707"/>
            <a:ext cx="1757701" cy="4093925"/>
            <a:chOff x="12194479" y="1557707"/>
            <a:chExt cx="1757701" cy="4093925"/>
          </a:xfrm>
        </p:grpSpPr>
        <p:sp>
          <p:nvSpPr>
            <p:cNvPr id="32" name="TextBox 221">
              <a:extLst>
                <a:ext uri="{FF2B5EF4-FFF2-40B4-BE49-F238E27FC236}">
                  <a16:creationId xmlns:a16="http://schemas.microsoft.com/office/drawing/2014/main" id="{066C03D8-F9E0-2E6A-1D60-4703BFF4BF08}"/>
                </a:ext>
              </a:extLst>
            </p:cNvPr>
            <p:cNvSpPr txBox="1"/>
            <p:nvPr userDrawn="1"/>
          </p:nvSpPr>
          <p:spPr>
            <a:xfrm>
              <a:off x="12207792" y="3617036"/>
              <a:ext cx="1744388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 dirty="0">
                  <a:solidFill>
                    <a:srgbClr val="929292"/>
                  </a:solidFill>
                  <a:latin typeface="Noir Pro Medium" pitchFamily="2" charset="0"/>
                </a:rPr>
                <a:t>TEXT COLORS – LIGHT BACKGROUND</a:t>
              </a:r>
            </a:p>
          </p:txBody>
        </p:sp>
        <p:sp>
          <p:nvSpPr>
            <p:cNvPr id="33" name="TextBox 224">
              <a:extLst>
                <a:ext uri="{FF2B5EF4-FFF2-40B4-BE49-F238E27FC236}">
                  <a16:creationId xmlns:a16="http://schemas.microsoft.com/office/drawing/2014/main" id="{6DA5FEDC-18D6-8CDA-F9D2-422186B578C7}"/>
                </a:ext>
              </a:extLst>
            </p:cNvPr>
            <p:cNvSpPr txBox="1"/>
            <p:nvPr userDrawn="1"/>
          </p:nvSpPr>
          <p:spPr>
            <a:xfrm>
              <a:off x="12207792" y="4073549"/>
              <a:ext cx="17331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TEXT COLORS – DARK BACKGROUND</a:t>
              </a:r>
            </a:p>
          </p:txBody>
        </p: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35CE28EB-FFCD-D541-EA26-34F53FBD21EB}"/>
                </a:ext>
              </a:extLst>
            </p:cNvPr>
            <p:cNvGrpSpPr/>
            <p:nvPr userDrawn="1"/>
          </p:nvGrpSpPr>
          <p:grpSpPr>
            <a:xfrm>
              <a:off x="12301425" y="3044549"/>
              <a:ext cx="1288114" cy="238539"/>
              <a:chOff x="12298208" y="4999574"/>
              <a:chExt cx="1288114" cy="238539"/>
            </a:xfrm>
          </p:grpSpPr>
          <p:sp>
            <p:nvSpPr>
              <p:cNvPr id="203" name="Rounded Rectangle 192">
                <a:extLst>
                  <a:ext uri="{FF2B5EF4-FFF2-40B4-BE49-F238E27FC236}">
                    <a16:creationId xmlns:a16="http://schemas.microsoft.com/office/drawing/2014/main" id="{9618C981-28CD-9B62-AEA5-B72309EBC59D}"/>
                  </a:ext>
                </a:extLst>
              </p:cNvPr>
              <p:cNvSpPr/>
              <p:nvPr userDrawn="1"/>
            </p:nvSpPr>
            <p:spPr>
              <a:xfrm>
                <a:off x="12298208" y="4999574"/>
                <a:ext cx="238539" cy="238539"/>
              </a:xfrm>
              <a:prstGeom prst="roundRect">
                <a:avLst/>
              </a:prstGeom>
              <a:solidFill>
                <a:srgbClr val="04040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204" name="Rounded Rectangle 192">
                <a:extLst>
                  <a:ext uri="{FF2B5EF4-FFF2-40B4-BE49-F238E27FC236}">
                    <a16:creationId xmlns:a16="http://schemas.microsoft.com/office/drawing/2014/main" id="{21ED55EF-4A66-C250-0552-ABF809B489CB}"/>
                  </a:ext>
                </a:extLst>
              </p:cNvPr>
              <p:cNvSpPr/>
              <p:nvPr userDrawn="1"/>
            </p:nvSpPr>
            <p:spPr>
              <a:xfrm>
                <a:off x="12403166" y="4999574"/>
                <a:ext cx="238539" cy="238539"/>
              </a:xfrm>
              <a:prstGeom prst="roundRect">
                <a:avLst/>
              </a:prstGeom>
              <a:solidFill>
                <a:srgbClr val="1723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205" name="Rounded Rectangle 192">
                <a:extLst>
                  <a:ext uri="{FF2B5EF4-FFF2-40B4-BE49-F238E27FC236}">
                    <a16:creationId xmlns:a16="http://schemas.microsoft.com/office/drawing/2014/main" id="{F7C1226B-DED1-9D42-E63A-DCDE41AA8DE0}"/>
                  </a:ext>
                </a:extLst>
              </p:cNvPr>
              <p:cNvSpPr/>
              <p:nvPr userDrawn="1"/>
            </p:nvSpPr>
            <p:spPr>
              <a:xfrm>
                <a:off x="12508124" y="4999574"/>
                <a:ext cx="238539" cy="238539"/>
              </a:xfrm>
              <a:prstGeom prst="roundRect">
                <a:avLst/>
              </a:prstGeom>
              <a:solidFill>
                <a:srgbClr val="162F7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206" name="Rounded Rectangle 192">
                <a:extLst>
                  <a:ext uri="{FF2B5EF4-FFF2-40B4-BE49-F238E27FC236}">
                    <a16:creationId xmlns:a16="http://schemas.microsoft.com/office/drawing/2014/main" id="{41D16ED5-3FC1-934D-18D3-1AC9E84848DA}"/>
                  </a:ext>
                </a:extLst>
              </p:cNvPr>
              <p:cNvSpPr/>
              <p:nvPr userDrawn="1"/>
            </p:nvSpPr>
            <p:spPr>
              <a:xfrm>
                <a:off x="12613082" y="4999574"/>
                <a:ext cx="238539" cy="238539"/>
              </a:xfrm>
              <a:prstGeom prst="roundRect">
                <a:avLst/>
              </a:prstGeom>
              <a:solidFill>
                <a:srgbClr val="1947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207" name="Rounded Rectangle 192">
                <a:extLst>
                  <a:ext uri="{FF2B5EF4-FFF2-40B4-BE49-F238E27FC236}">
                    <a16:creationId xmlns:a16="http://schemas.microsoft.com/office/drawing/2014/main" id="{ACA6061C-537F-FA8B-CE4A-032AC58CEA09}"/>
                  </a:ext>
                </a:extLst>
              </p:cNvPr>
              <p:cNvSpPr/>
              <p:nvPr userDrawn="1"/>
            </p:nvSpPr>
            <p:spPr>
              <a:xfrm>
                <a:off x="12718040" y="4999574"/>
                <a:ext cx="238539" cy="238539"/>
              </a:xfrm>
              <a:prstGeom prst="roundRect">
                <a:avLst/>
              </a:prstGeom>
              <a:solidFill>
                <a:srgbClr val="1859D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208" name="Rounded Rectangle 192">
                <a:extLst>
                  <a:ext uri="{FF2B5EF4-FFF2-40B4-BE49-F238E27FC236}">
                    <a16:creationId xmlns:a16="http://schemas.microsoft.com/office/drawing/2014/main" id="{03490847-C703-37B9-668D-B2C6CD6F6E1F}"/>
                  </a:ext>
                </a:extLst>
              </p:cNvPr>
              <p:cNvSpPr/>
              <p:nvPr userDrawn="1"/>
            </p:nvSpPr>
            <p:spPr>
              <a:xfrm>
                <a:off x="13347783" y="4999574"/>
                <a:ext cx="238539" cy="238539"/>
              </a:xfrm>
              <a:prstGeom prst="roundRect">
                <a:avLst/>
              </a:prstGeom>
              <a:solidFill>
                <a:srgbClr val="BCCB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209" name="Rounded Rectangle 192">
                <a:extLst>
                  <a:ext uri="{FF2B5EF4-FFF2-40B4-BE49-F238E27FC236}">
                    <a16:creationId xmlns:a16="http://schemas.microsoft.com/office/drawing/2014/main" id="{FEF3ED4D-4C0B-FD8D-5F10-E3E70506234C}"/>
                  </a:ext>
                </a:extLst>
              </p:cNvPr>
              <p:cNvSpPr/>
              <p:nvPr userDrawn="1"/>
            </p:nvSpPr>
            <p:spPr>
              <a:xfrm>
                <a:off x="13242830" y="4999574"/>
                <a:ext cx="238539" cy="238539"/>
              </a:xfrm>
              <a:prstGeom prst="roundRect">
                <a:avLst/>
              </a:prstGeom>
              <a:solidFill>
                <a:srgbClr val="88AD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210" name="Rounded Rectangle 192">
                <a:extLst>
                  <a:ext uri="{FF2B5EF4-FFF2-40B4-BE49-F238E27FC236}">
                    <a16:creationId xmlns:a16="http://schemas.microsoft.com/office/drawing/2014/main" id="{E311E1CA-1EAF-037A-CF4A-0BC946DE7638}"/>
                  </a:ext>
                </a:extLst>
              </p:cNvPr>
              <p:cNvSpPr/>
              <p:nvPr userDrawn="1"/>
            </p:nvSpPr>
            <p:spPr>
              <a:xfrm>
                <a:off x="13137872" y="4999574"/>
                <a:ext cx="238539" cy="238539"/>
              </a:xfrm>
              <a:prstGeom prst="roundRect">
                <a:avLst/>
              </a:prstGeom>
              <a:solidFill>
                <a:srgbClr val="6997F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211" name="Rounded Rectangle 192">
                <a:extLst>
                  <a:ext uri="{FF2B5EF4-FFF2-40B4-BE49-F238E27FC236}">
                    <a16:creationId xmlns:a16="http://schemas.microsoft.com/office/drawing/2014/main" id="{1BC20D0D-8762-EB82-DED6-2289162CBC7C}"/>
                  </a:ext>
                </a:extLst>
              </p:cNvPr>
              <p:cNvSpPr/>
              <p:nvPr userDrawn="1"/>
            </p:nvSpPr>
            <p:spPr>
              <a:xfrm>
                <a:off x="13032914" y="4999574"/>
                <a:ext cx="238539" cy="238539"/>
              </a:xfrm>
              <a:prstGeom prst="roundRect">
                <a:avLst/>
              </a:prstGeom>
              <a:solidFill>
                <a:srgbClr val="4D85F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212" name="Rounded Rectangle 192">
                <a:extLst>
                  <a:ext uri="{FF2B5EF4-FFF2-40B4-BE49-F238E27FC236}">
                    <a16:creationId xmlns:a16="http://schemas.microsoft.com/office/drawing/2014/main" id="{E782A8F1-F9DF-534B-B1D3-B3E7CF2C38A3}"/>
                  </a:ext>
                </a:extLst>
              </p:cNvPr>
              <p:cNvSpPr/>
              <p:nvPr userDrawn="1"/>
            </p:nvSpPr>
            <p:spPr>
              <a:xfrm>
                <a:off x="12927956" y="4999574"/>
                <a:ext cx="238539" cy="238539"/>
              </a:xfrm>
              <a:prstGeom prst="roundRect">
                <a:avLst/>
              </a:prstGeom>
              <a:solidFill>
                <a:srgbClr val="307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213" name="Rounded Rectangle 192">
                <a:extLst>
                  <a:ext uri="{FF2B5EF4-FFF2-40B4-BE49-F238E27FC236}">
                    <a16:creationId xmlns:a16="http://schemas.microsoft.com/office/drawing/2014/main" id="{30B61454-8575-F166-5B53-203715E93CD9}"/>
                  </a:ext>
                </a:extLst>
              </p:cNvPr>
              <p:cNvSpPr/>
              <p:nvPr userDrawn="1"/>
            </p:nvSpPr>
            <p:spPr>
              <a:xfrm>
                <a:off x="12822998" y="4999574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75A30032-DA97-85EF-C5DD-4AD304FCB16B}"/>
                </a:ext>
              </a:extLst>
            </p:cNvPr>
            <p:cNvSpPr/>
            <p:nvPr userDrawn="1"/>
          </p:nvSpPr>
          <p:spPr>
            <a:xfrm>
              <a:off x="12194479" y="1557707"/>
              <a:ext cx="1644280" cy="360000"/>
            </a:xfrm>
            <a:custGeom>
              <a:avLst/>
              <a:gdLst>
                <a:gd name="connsiteX0" fmla="*/ 0 w 1644280"/>
                <a:gd name="connsiteY0" fmla="*/ 0 h 360000"/>
                <a:gd name="connsiteX1" fmla="*/ 1584279 w 1644280"/>
                <a:gd name="connsiteY1" fmla="*/ 0 h 360000"/>
                <a:gd name="connsiteX2" fmla="*/ 1644280 w 1644280"/>
                <a:gd name="connsiteY2" fmla="*/ 60001 h 360000"/>
                <a:gd name="connsiteX3" fmla="*/ 1644280 w 1644280"/>
                <a:gd name="connsiteY3" fmla="*/ 299999 h 360000"/>
                <a:gd name="connsiteX4" fmla="*/ 1584279 w 1644280"/>
                <a:gd name="connsiteY4" fmla="*/ 360000 h 360000"/>
                <a:gd name="connsiteX5" fmla="*/ 0 w 1644280"/>
                <a:gd name="connsiteY5" fmla="*/ 36000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4280" h="360000">
                  <a:moveTo>
                    <a:pt x="0" y="0"/>
                  </a:moveTo>
                  <a:lnTo>
                    <a:pt x="1584279" y="0"/>
                  </a:lnTo>
                  <a:cubicBezTo>
                    <a:pt x="1617417" y="0"/>
                    <a:pt x="1644280" y="26863"/>
                    <a:pt x="1644280" y="60001"/>
                  </a:cubicBezTo>
                  <a:lnTo>
                    <a:pt x="1644280" y="299999"/>
                  </a:lnTo>
                  <a:cubicBezTo>
                    <a:pt x="1644280" y="333137"/>
                    <a:pt x="1617417" y="360000"/>
                    <a:pt x="1584279" y="360000"/>
                  </a:cubicBezTo>
                  <a:lnTo>
                    <a:pt x="0" y="360000"/>
                  </a:lnTo>
                  <a:close/>
                </a:path>
              </a:pathLst>
            </a:custGeom>
            <a:gradFill>
              <a:gsLst>
                <a:gs pos="15000">
                  <a:schemeClr val="tx1">
                    <a:lumMod val="50000"/>
                    <a:lumOff val="50000"/>
                  </a:schemeClr>
                </a:gs>
                <a:gs pos="0">
                  <a:schemeClr val="tx1">
                    <a:lumMod val="75000"/>
                    <a:lumOff val="2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rtlCol="0" anchor="ctr">
              <a:noAutofit/>
            </a:bodyPr>
            <a:lstStyle/>
            <a:p>
              <a:pPr lvl="0"/>
              <a:r>
                <a:rPr lang="en-US" sz="900" b="1" i="0" dirty="0">
                  <a:solidFill>
                    <a:schemeClr val="bg1"/>
                  </a:solidFill>
                  <a:latin typeface="Noir Pro Semi Bold" pitchFamily="2" charset="0"/>
                </a:rPr>
                <a:t>COLOR PALETTE</a:t>
              </a:r>
            </a:p>
            <a:p>
              <a:pPr lvl="0"/>
              <a:r>
                <a:rPr lang="en-US" sz="700" b="0" i="0" dirty="0">
                  <a:solidFill>
                    <a:schemeClr val="bg1"/>
                  </a:solidFill>
                  <a:latin typeface="Calibri Bold"/>
                </a:rPr>
                <a:t>Master template v20250902a</a:t>
              </a:r>
              <a:endParaRPr lang="en-US" sz="1000" b="0" i="0" dirty="0">
                <a:solidFill>
                  <a:schemeClr val="bg1"/>
                </a:solidFill>
                <a:latin typeface="Calibri Bold"/>
              </a:endParaRPr>
            </a:p>
          </p:txBody>
        </p:sp>
        <p:grpSp>
          <p:nvGrpSpPr>
            <p:cNvPr id="36" name="Group 168">
              <a:extLst>
                <a:ext uri="{FF2B5EF4-FFF2-40B4-BE49-F238E27FC236}">
                  <a16:creationId xmlns:a16="http://schemas.microsoft.com/office/drawing/2014/main" id="{6075733B-694E-4ADB-47EF-DAD37DFCB3E6}"/>
                </a:ext>
              </a:extLst>
            </p:cNvPr>
            <p:cNvGrpSpPr/>
            <p:nvPr userDrawn="1"/>
          </p:nvGrpSpPr>
          <p:grpSpPr>
            <a:xfrm>
              <a:off x="12301425" y="2133519"/>
              <a:ext cx="1288114" cy="238539"/>
              <a:chOff x="8158038" y="2122998"/>
              <a:chExt cx="1288114" cy="238539"/>
            </a:xfrm>
          </p:grpSpPr>
          <p:sp>
            <p:nvSpPr>
              <p:cNvPr id="198" name="Rounded Rectangle 169">
                <a:extLst>
                  <a:ext uri="{FF2B5EF4-FFF2-40B4-BE49-F238E27FC236}">
                    <a16:creationId xmlns:a16="http://schemas.microsoft.com/office/drawing/2014/main" id="{036B0188-C38A-4AA3-A501-88A117107627}"/>
                  </a:ext>
                </a:extLst>
              </p:cNvPr>
              <p:cNvSpPr/>
              <p:nvPr userDrawn="1"/>
            </p:nvSpPr>
            <p:spPr>
              <a:xfrm>
                <a:off x="8158038" y="2122998"/>
                <a:ext cx="238539" cy="238539"/>
              </a:xfrm>
              <a:prstGeom prst="roundRect">
                <a:avLst/>
              </a:prstGeom>
              <a:solidFill>
                <a:srgbClr val="41414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9" name="Rounded Rectangle 170">
                <a:extLst>
                  <a:ext uri="{FF2B5EF4-FFF2-40B4-BE49-F238E27FC236}">
                    <a16:creationId xmlns:a16="http://schemas.microsoft.com/office/drawing/2014/main" id="{29B23501-C1C3-45AC-B948-965728636D3A}"/>
                  </a:ext>
                </a:extLst>
              </p:cNvPr>
              <p:cNvSpPr/>
              <p:nvPr userDrawn="1"/>
            </p:nvSpPr>
            <p:spPr>
              <a:xfrm>
                <a:off x="8420432" y="2122998"/>
                <a:ext cx="238539" cy="238539"/>
              </a:xfrm>
              <a:prstGeom prst="roundRect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0" name="Rounded Rectangle 171">
                <a:extLst>
                  <a:ext uri="{FF2B5EF4-FFF2-40B4-BE49-F238E27FC236}">
                    <a16:creationId xmlns:a16="http://schemas.microsoft.com/office/drawing/2014/main" id="{BCE68616-B923-1F9F-989B-083E77D5EE74}"/>
                  </a:ext>
                </a:extLst>
              </p:cNvPr>
              <p:cNvSpPr/>
              <p:nvPr userDrawn="1"/>
            </p:nvSpPr>
            <p:spPr>
              <a:xfrm>
                <a:off x="8682826" y="2122998"/>
                <a:ext cx="238539" cy="238539"/>
              </a:xfrm>
              <a:prstGeom prst="round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1" name="Rounded Rectangle 172">
                <a:extLst>
                  <a:ext uri="{FF2B5EF4-FFF2-40B4-BE49-F238E27FC236}">
                    <a16:creationId xmlns:a16="http://schemas.microsoft.com/office/drawing/2014/main" id="{A6282074-B719-7DB3-F40F-EFF54687964E}"/>
                  </a:ext>
                </a:extLst>
              </p:cNvPr>
              <p:cNvSpPr/>
              <p:nvPr userDrawn="1"/>
            </p:nvSpPr>
            <p:spPr>
              <a:xfrm>
                <a:off x="8945220" y="2122998"/>
                <a:ext cx="238539" cy="238539"/>
              </a:xfrm>
              <a:prstGeom prst="round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2" name="Rounded Rectangle 173">
                <a:extLst>
                  <a:ext uri="{FF2B5EF4-FFF2-40B4-BE49-F238E27FC236}">
                    <a16:creationId xmlns:a16="http://schemas.microsoft.com/office/drawing/2014/main" id="{82087B6D-1646-4381-597B-95BAD5F312E5}"/>
                  </a:ext>
                </a:extLst>
              </p:cNvPr>
              <p:cNvSpPr/>
              <p:nvPr userDrawn="1"/>
            </p:nvSpPr>
            <p:spPr>
              <a:xfrm>
                <a:off x="9207613" y="2122998"/>
                <a:ext cx="238539" cy="238539"/>
              </a:xfrm>
              <a:prstGeom prst="round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37" name="Group 174">
              <a:extLst>
                <a:ext uri="{FF2B5EF4-FFF2-40B4-BE49-F238E27FC236}">
                  <a16:creationId xmlns:a16="http://schemas.microsoft.com/office/drawing/2014/main" id="{E0E0AE85-94F3-D4B8-309B-7CF8DA82E049}"/>
                </a:ext>
              </a:extLst>
            </p:cNvPr>
            <p:cNvGrpSpPr/>
            <p:nvPr userDrawn="1"/>
          </p:nvGrpSpPr>
          <p:grpSpPr>
            <a:xfrm>
              <a:off x="12301425" y="2589990"/>
              <a:ext cx="1288114" cy="238539"/>
              <a:chOff x="8158038" y="2385390"/>
              <a:chExt cx="1288114" cy="238539"/>
            </a:xfrm>
          </p:grpSpPr>
          <p:sp>
            <p:nvSpPr>
              <p:cNvPr id="193" name="Rounded Rectangle 175">
                <a:extLst>
                  <a:ext uri="{FF2B5EF4-FFF2-40B4-BE49-F238E27FC236}">
                    <a16:creationId xmlns:a16="http://schemas.microsoft.com/office/drawing/2014/main" id="{AC692AB7-9650-95DE-45A4-45AC1EEF33B3}"/>
                  </a:ext>
                </a:extLst>
              </p:cNvPr>
              <p:cNvSpPr/>
              <p:nvPr userDrawn="1"/>
            </p:nvSpPr>
            <p:spPr>
              <a:xfrm>
                <a:off x="8158038" y="2385390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4" name="Rounded Rectangle 176">
                <a:extLst>
                  <a:ext uri="{FF2B5EF4-FFF2-40B4-BE49-F238E27FC236}">
                    <a16:creationId xmlns:a16="http://schemas.microsoft.com/office/drawing/2014/main" id="{79093604-9E98-AE5D-C7BD-6A4D8C330F50}"/>
                  </a:ext>
                </a:extLst>
              </p:cNvPr>
              <p:cNvSpPr/>
              <p:nvPr userDrawn="1"/>
            </p:nvSpPr>
            <p:spPr>
              <a:xfrm>
                <a:off x="8420432" y="2385390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5" name="Rounded Rectangle 177">
                <a:extLst>
                  <a:ext uri="{FF2B5EF4-FFF2-40B4-BE49-F238E27FC236}">
                    <a16:creationId xmlns:a16="http://schemas.microsoft.com/office/drawing/2014/main" id="{CBFE2210-2034-3457-2CCB-9011AE38EC1E}"/>
                  </a:ext>
                </a:extLst>
              </p:cNvPr>
              <p:cNvSpPr/>
              <p:nvPr userDrawn="1"/>
            </p:nvSpPr>
            <p:spPr>
              <a:xfrm>
                <a:off x="8682826" y="2385390"/>
                <a:ext cx="238539" cy="238539"/>
              </a:xfrm>
              <a:prstGeom prst="roundRect">
                <a:avLst/>
              </a:prstGeom>
              <a:solidFill>
                <a:srgbClr val="DF68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6" name="Rounded Rectangle 178">
                <a:extLst>
                  <a:ext uri="{FF2B5EF4-FFF2-40B4-BE49-F238E27FC236}">
                    <a16:creationId xmlns:a16="http://schemas.microsoft.com/office/drawing/2014/main" id="{6B3E5BC2-7DE5-C849-120F-41E1D4E164A8}"/>
                  </a:ext>
                </a:extLst>
              </p:cNvPr>
              <p:cNvSpPr/>
              <p:nvPr userDrawn="1"/>
            </p:nvSpPr>
            <p:spPr>
              <a:xfrm>
                <a:off x="8945220" y="2385390"/>
                <a:ext cx="238539" cy="238539"/>
              </a:xfrm>
              <a:prstGeom prst="roundRect">
                <a:avLst/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7" name="Rounded Rectangle 179">
                <a:extLst>
                  <a:ext uri="{FF2B5EF4-FFF2-40B4-BE49-F238E27FC236}">
                    <a16:creationId xmlns:a16="http://schemas.microsoft.com/office/drawing/2014/main" id="{08002A18-EDE4-0B6C-B2CB-36B12AF681F5}"/>
                  </a:ext>
                </a:extLst>
              </p:cNvPr>
              <p:cNvSpPr/>
              <p:nvPr userDrawn="1"/>
            </p:nvSpPr>
            <p:spPr>
              <a:xfrm>
                <a:off x="9207613" y="2385390"/>
                <a:ext cx="238539" cy="238539"/>
              </a:xfrm>
              <a:prstGeom prst="roundRect">
                <a:avLst/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sp>
          <p:nvSpPr>
            <p:cNvPr id="38" name="Rounded Rectangle 181">
              <a:extLst>
                <a:ext uri="{FF2B5EF4-FFF2-40B4-BE49-F238E27FC236}">
                  <a16:creationId xmlns:a16="http://schemas.microsoft.com/office/drawing/2014/main" id="{0A605A1A-0F44-2C3C-5DE2-3F97F6C99194}"/>
                </a:ext>
              </a:extLst>
            </p:cNvPr>
            <p:cNvSpPr/>
            <p:nvPr userDrawn="1"/>
          </p:nvSpPr>
          <p:spPr>
            <a:xfrm>
              <a:off x="12301425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E88C36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39" name="Rounded Rectangle 182">
              <a:extLst>
                <a:ext uri="{FF2B5EF4-FFF2-40B4-BE49-F238E27FC236}">
                  <a16:creationId xmlns:a16="http://schemas.microsoft.com/office/drawing/2014/main" id="{6AB693B8-DF04-6F44-B853-D2B72B164D30}"/>
                </a:ext>
              </a:extLst>
            </p:cNvPr>
            <p:cNvSpPr/>
            <p:nvPr userDrawn="1"/>
          </p:nvSpPr>
          <p:spPr>
            <a:xfrm>
              <a:off x="12563819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1864FF"/>
                </a:gs>
                <a:gs pos="0">
                  <a:srgbClr val="00205F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0" name="Rounded Rectangle 183">
              <a:extLst>
                <a:ext uri="{FF2B5EF4-FFF2-40B4-BE49-F238E27FC236}">
                  <a16:creationId xmlns:a16="http://schemas.microsoft.com/office/drawing/2014/main" id="{9974CB12-0B3D-D0CC-A465-BE0E7CF7E28B}"/>
                </a:ext>
              </a:extLst>
            </p:cNvPr>
            <p:cNvSpPr/>
            <p:nvPr userDrawn="1"/>
          </p:nvSpPr>
          <p:spPr>
            <a:xfrm>
              <a:off x="12826213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DF6838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1" name="Rounded Rectangle 184">
              <a:extLst>
                <a:ext uri="{FF2B5EF4-FFF2-40B4-BE49-F238E27FC236}">
                  <a16:creationId xmlns:a16="http://schemas.microsoft.com/office/drawing/2014/main" id="{5E0E721B-2F4B-5CEA-47CC-BF07256AC84B}"/>
                </a:ext>
              </a:extLst>
            </p:cNvPr>
            <p:cNvSpPr/>
            <p:nvPr userDrawn="1"/>
          </p:nvSpPr>
          <p:spPr>
            <a:xfrm>
              <a:off x="13088607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FBDD72"/>
                </a:gs>
                <a:gs pos="0">
                  <a:srgbClr val="C6CD59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2" name="Rounded Rectangle 185">
              <a:extLst>
                <a:ext uri="{FF2B5EF4-FFF2-40B4-BE49-F238E27FC236}">
                  <a16:creationId xmlns:a16="http://schemas.microsoft.com/office/drawing/2014/main" id="{4429CC0F-ACB9-993B-34A8-03B1CA880403}"/>
                </a:ext>
              </a:extLst>
            </p:cNvPr>
            <p:cNvSpPr/>
            <p:nvPr userDrawn="1"/>
          </p:nvSpPr>
          <p:spPr>
            <a:xfrm>
              <a:off x="13351000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00B150"/>
                </a:gs>
                <a:gs pos="0">
                  <a:srgbClr val="92D150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grpSp>
          <p:nvGrpSpPr>
            <p:cNvPr id="43" name="Group 191">
              <a:extLst>
                <a:ext uri="{FF2B5EF4-FFF2-40B4-BE49-F238E27FC236}">
                  <a16:creationId xmlns:a16="http://schemas.microsoft.com/office/drawing/2014/main" id="{61EA541D-279D-8CC0-646D-ACF2BB264F30}"/>
                </a:ext>
              </a:extLst>
            </p:cNvPr>
            <p:cNvGrpSpPr/>
            <p:nvPr userDrawn="1"/>
          </p:nvGrpSpPr>
          <p:grpSpPr>
            <a:xfrm>
              <a:off x="12301425" y="5413093"/>
              <a:ext cx="1288114" cy="238539"/>
              <a:chOff x="8158038" y="4031086"/>
              <a:chExt cx="1288114" cy="238539"/>
            </a:xfrm>
          </p:grpSpPr>
          <p:sp>
            <p:nvSpPr>
              <p:cNvPr id="188" name="Rounded Rectangle 192">
                <a:extLst>
                  <a:ext uri="{FF2B5EF4-FFF2-40B4-BE49-F238E27FC236}">
                    <a16:creationId xmlns:a16="http://schemas.microsoft.com/office/drawing/2014/main" id="{C8120719-4B42-211E-750D-2868797FCAA8}"/>
                  </a:ext>
                </a:extLst>
              </p:cNvPr>
              <p:cNvSpPr/>
              <p:nvPr userDrawn="1"/>
            </p:nvSpPr>
            <p:spPr>
              <a:xfrm>
                <a:off x="8158038" y="4031086"/>
                <a:ext cx="238539" cy="238539"/>
              </a:xfrm>
              <a:prstGeom prst="roundRect">
                <a:avLst/>
              </a:prstGeom>
              <a:solidFill>
                <a:srgbClr val="DC4A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89" name="Rounded Rectangle 193">
                <a:extLst>
                  <a:ext uri="{FF2B5EF4-FFF2-40B4-BE49-F238E27FC236}">
                    <a16:creationId xmlns:a16="http://schemas.microsoft.com/office/drawing/2014/main" id="{E6DA9266-1CE3-DBEB-F12B-2E5F01C250CE}"/>
                  </a:ext>
                </a:extLst>
              </p:cNvPr>
              <p:cNvSpPr/>
              <p:nvPr userDrawn="1"/>
            </p:nvSpPr>
            <p:spPr>
              <a:xfrm>
                <a:off x="8420432" y="4031086"/>
                <a:ext cx="238539" cy="238539"/>
              </a:xfrm>
              <a:prstGeom prst="roundRect">
                <a:avLst/>
              </a:prstGeom>
              <a:solidFill>
                <a:srgbClr val="EF98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0" name="Rounded Rectangle 194">
                <a:extLst>
                  <a:ext uri="{FF2B5EF4-FFF2-40B4-BE49-F238E27FC236}">
                    <a16:creationId xmlns:a16="http://schemas.microsoft.com/office/drawing/2014/main" id="{E8ACC418-88AC-22EE-E9AA-B514AC46EE89}"/>
                  </a:ext>
                </a:extLst>
              </p:cNvPr>
              <p:cNvSpPr/>
              <p:nvPr userDrawn="1"/>
            </p:nvSpPr>
            <p:spPr>
              <a:xfrm>
                <a:off x="8682826" y="4031086"/>
                <a:ext cx="238539" cy="238539"/>
              </a:xfrm>
              <a:prstGeom prst="roundRect">
                <a:avLst/>
              </a:prstGeom>
              <a:solidFill>
                <a:srgbClr val="F9C6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1" name="Rounded Rectangle 195">
                <a:extLst>
                  <a:ext uri="{FF2B5EF4-FFF2-40B4-BE49-F238E27FC236}">
                    <a16:creationId xmlns:a16="http://schemas.microsoft.com/office/drawing/2014/main" id="{6D246CA1-3294-78C8-11DD-54EE9695C7D9}"/>
                  </a:ext>
                </a:extLst>
              </p:cNvPr>
              <p:cNvSpPr/>
              <p:nvPr userDrawn="1"/>
            </p:nvSpPr>
            <p:spPr>
              <a:xfrm>
                <a:off x="8945220" y="4031086"/>
                <a:ext cx="238539" cy="238539"/>
              </a:xfrm>
              <a:prstGeom prst="roundRect">
                <a:avLst/>
              </a:prstGeom>
              <a:solidFill>
                <a:srgbClr val="57C9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2" name="Rounded Rectangle 196">
                <a:extLst>
                  <a:ext uri="{FF2B5EF4-FFF2-40B4-BE49-F238E27FC236}">
                    <a16:creationId xmlns:a16="http://schemas.microsoft.com/office/drawing/2014/main" id="{E433F45C-755C-90B8-4C78-87E3AEFE2D2A}"/>
                  </a:ext>
                </a:extLst>
              </p:cNvPr>
              <p:cNvSpPr/>
              <p:nvPr userDrawn="1"/>
            </p:nvSpPr>
            <p:spPr>
              <a:xfrm>
                <a:off x="9207613" y="4031086"/>
                <a:ext cx="238539" cy="238539"/>
              </a:xfrm>
              <a:prstGeom prst="roundRect">
                <a:avLst/>
              </a:prstGeom>
              <a:solidFill>
                <a:srgbClr val="2B963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45" name="Group 197">
              <a:extLst>
                <a:ext uri="{FF2B5EF4-FFF2-40B4-BE49-F238E27FC236}">
                  <a16:creationId xmlns:a16="http://schemas.microsoft.com/office/drawing/2014/main" id="{B457501E-E91F-0C01-36D0-DF2C479CD7F6}"/>
                </a:ext>
              </a:extLst>
            </p:cNvPr>
            <p:cNvGrpSpPr/>
            <p:nvPr userDrawn="1"/>
          </p:nvGrpSpPr>
          <p:grpSpPr>
            <a:xfrm>
              <a:off x="12301425" y="4231124"/>
              <a:ext cx="1288114" cy="238539"/>
              <a:chOff x="8158038" y="3021495"/>
              <a:chExt cx="1288114" cy="238539"/>
            </a:xfrm>
          </p:grpSpPr>
          <p:sp>
            <p:nvSpPr>
              <p:cNvPr id="178" name="Rounded Rectangle 198">
                <a:extLst>
                  <a:ext uri="{FF2B5EF4-FFF2-40B4-BE49-F238E27FC236}">
                    <a16:creationId xmlns:a16="http://schemas.microsoft.com/office/drawing/2014/main" id="{3D8DF291-751C-2723-5B19-846B093985F1}"/>
                  </a:ext>
                </a:extLst>
              </p:cNvPr>
              <p:cNvSpPr/>
              <p:nvPr userDrawn="1"/>
            </p:nvSpPr>
            <p:spPr>
              <a:xfrm>
                <a:off x="8158038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FFFFFF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79" name="Rounded Rectangle 199">
                <a:extLst>
                  <a:ext uri="{FF2B5EF4-FFF2-40B4-BE49-F238E27FC236}">
                    <a16:creationId xmlns:a16="http://schemas.microsoft.com/office/drawing/2014/main" id="{F9A70E4A-677D-A207-67D1-C31F9AB8878D}"/>
                  </a:ext>
                </a:extLst>
              </p:cNvPr>
              <p:cNvSpPr/>
              <p:nvPr userDrawn="1"/>
            </p:nvSpPr>
            <p:spPr>
              <a:xfrm>
                <a:off x="8420432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DADADA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0" name="Rounded Rectangle 200">
                <a:extLst>
                  <a:ext uri="{FF2B5EF4-FFF2-40B4-BE49-F238E27FC236}">
                    <a16:creationId xmlns:a16="http://schemas.microsoft.com/office/drawing/2014/main" id="{2639B44B-BC7E-A2D4-2D29-516670B612F2}"/>
                  </a:ext>
                </a:extLst>
              </p:cNvPr>
              <p:cNvSpPr/>
              <p:nvPr userDrawn="1"/>
            </p:nvSpPr>
            <p:spPr>
              <a:xfrm>
                <a:off x="8682826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F8C716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1" name="Rounded Rectangle 201">
                <a:extLst>
                  <a:ext uri="{FF2B5EF4-FFF2-40B4-BE49-F238E27FC236}">
                    <a16:creationId xmlns:a16="http://schemas.microsoft.com/office/drawing/2014/main" id="{75122786-9C32-FA9D-AE3A-F854A6F4BFE6}"/>
                  </a:ext>
                </a:extLst>
              </p:cNvPr>
              <p:cNvSpPr/>
              <p:nvPr userDrawn="1"/>
            </p:nvSpPr>
            <p:spPr>
              <a:xfrm>
                <a:off x="8945220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E2A3F2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2" name="Rounded Rectangle 202">
                <a:extLst>
                  <a:ext uri="{FF2B5EF4-FFF2-40B4-BE49-F238E27FC236}">
                    <a16:creationId xmlns:a16="http://schemas.microsoft.com/office/drawing/2014/main" id="{4A7B7D7B-0A58-948A-807A-01BC60071F11}"/>
                  </a:ext>
                </a:extLst>
              </p:cNvPr>
              <p:cNvSpPr/>
              <p:nvPr userDrawn="1"/>
            </p:nvSpPr>
            <p:spPr>
              <a:xfrm>
                <a:off x="9207613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8BC26D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3" name="Rounded Rectangle 203">
                <a:extLst>
                  <a:ext uri="{FF2B5EF4-FFF2-40B4-BE49-F238E27FC236}">
                    <a16:creationId xmlns:a16="http://schemas.microsoft.com/office/drawing/2014/main" id="{5CC4700A-5BC2-0296-15C9-7BCCCFF40FB6}"/>
                  </a:ext>
                </a:extLst>
              </p:cNvPr>
              <p:cNvSpPr/>
              <p:nvPr userDrawn="1"/>
            </p:nvSpPr>
            <p:spPr>
              <a:xfrm>
                <a:off x="8182056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Rounded Rectangle 204">
                <a:extLst>
                  <a:ext uri="{FF2B5EF4-FFF2-40B4-BE49-F238E27FC236}">
                    <a16:creationId xmlns:a16="http://schemas.microsoft.com/office/drawing/2014/main" id="{F5A72D55-0AEB-4B09-A9B5-0149E7B59F5D}"/>
                  </a:ext>
                </a:extLst>
              </p:cNvPr>
              <p:cNvSpPr/>
              <p:nvPr userDrawn="1"/>
            </p:nvSpPr>
            <p:spPr>
              <a:xfrm>
                <a:off x="8444450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DBDBD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Rounded Rectangle 205">
                <a:extLst>
                  <a:ext uri="{FF2B5EF4-FFF2-40B4-BE49-F238E27FC236}">
                    <a16:creationId xmlns:a16="http://schemas.microsoft.com/office/drawing/2014/main" id="{565366B5-E56E-81F3-C8C8-AEEF70297232}"/>
                  </a:ext>
                </a:extLst>
              </p:cNvPr>
              <p:cNvSpPr/>
              <p:nvPr userDrawn="1"/>
            </p:nvSpPr>
            <p:spPr>
              <a:xfrm>
                <a:off x="8706844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Rounded Rectangle 206">
                <a:extLst>
                  <a:ext uri="{FF2B5EF4-FFF2-40B4-BE49-F238E27FC236}">
                    <a16:creationId xmlns:a16="http://schemas.microsoft.com/office/drawing/2014/main" id="{58EF4AB1-15D5-3B6B-AAAB-673933E17880}"/>
                  </a:ext>
                </a:extLst>
              </p:cNvPr>
              <p:cNvSpPr/>
              <p:nvPr userDrawn="1"/>
            </p:nvSpPr>
            <p:spPr>
              <a:xfrm>
                <a:off x="8969238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Rounded Rectangle 207">
                <a:extLst>
                  <a:ext uri="{FF2B5EF4-FFF2-40B4-BE49-F238E27FC236}">
                    <a16:creationId xmlns:a16="http://schemas.microsoft.com/office/drawing/2014/main" id="{F8CFDDFC-0F47-B231-5FB0-727F0D81DF38}"/>
                  </a:ext>
                </a:extLst>
              </p:cNvPr>
              <p:cNvSpPr/>
              <p:nvPr userDrawn="1"/>
            </p:nvSpPr>
            <p:spPr>
              <a:xfrm>
                <a:off x="9231631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Rounded Rectangle 209">
              <a:extLst>
                <a:ext uri="{FF2B5EF4-FFF2-40B4-BE49-F238E27FC236}">
                  <a16:creationId xmlns:a16="http://schemas.microsoft.com/office/drawing/2014/main" id="{D0671745-9691-ACD2-8DFC-F206A61EB352}"/>
                </a:ext>
              </a:extLst>
            </p:cNvPr>
            <p:cNvSpPr/>
            <p:nvPr userDrawn="1"/>
          </p:nvSpPr>
          <p:spPr>
            <a:xfrm>
              <a:off x="12301425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47" name="Rounded Rectangle 210">
              <a:extLst>
                <a:ext uri="{FF2B5EF4-FFF2-40B4-BE49-F238E27FC236}">
                  <a16:creationId xmlns:a16="http://schemas.microsoft.com/office/drawing/2014/main" id="{60D59DF8-30D0-FF50-FB2E-9C66E1234B9F}"/>
                </a:ext>
              </a:extLst>
            </p:cNvPr>
            <p:cNvSpPr/>
            <p:nvPr userDrawn="1"/>
          </p:nvSpPr>
          <p:spPr>
            <a:xfrm>
              <a:off x="12563819" y="3775695"/>
              <a:ext cx="238539" cy="238539"/>
            </a:xfrm>
            <a:prstGeom prst="roundRect">
              <a:avLst/>
            </a:prstGeom>
            <a:solidFill>
              <a:srgbClr val="F8C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4" name="Rounded Rectangle 211">
              <a:extLst>
                <a:ext uri="{FF2B5EF4-FFF2-40B4-BE49-F238E27FC236}">
                  <a16:creationId xmlns:a16="http://schemas.microsoft.com/office/drawing/2014/main" id="{2F36D0C6-C39A-9B5F-8EB9-27463903D769}"/>
                </a:ext>
              </a:extLst>
            </p:cNvPr>
            <p:cNvSpPr/>
            <p:nvPr userDrawn="1"/>
          </p:nvSpPr>
          <p:spPr>
            <a:xfrm>
              <a:off x="12826213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81818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5" name="Rounded Rectangle 212">
              <a:extLst>
                <a:ext uri="{FF2B5EF4-FFF2-40B4-BE49-F238E27FC236}">
                  <a16:creationId xmlns:a16="http://schemas.microsoft.com/office/drawing/2014/main" id="{0ADBA08E-81A8-97B6-DE53-FA396190B430}"/>
                </a:ext>
              </a:extLst>
            </p:cNvPr>
            <p:cNvSpPr/>
            <p:nvPr userDrawn="1"/>
          </p:nvSpPr>
          <p:spPr>
            <a:xfrm>
              <a:off x="13088607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1864FF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6" name="Rounded Rectangle 213">
              <a:extLst>
                <a:ext uri="{FF2B5EF4-FFF2-40B4-BE49-F238E27FC236}">
                  <a16:creationId xmlns:a16="http://schemas.microsoft.com/office/drawing/2014/main" id="{AB2BFFF9-6049-26DE-5969-5F83C0ECC2B4}"/>
                </a:ext>
              </a:extLst>
            </p:cNvPr>
            <p:cNvSpPr/>
            <p:nvPr userDrawn="1"/>
          </p:nvSpPr>
          <p:spPr>
            <a:xfrm>
              <a:off x="13351000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DF6838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7" name="Rounded Rectangle 214">
              <a:extLst>
                <a:ext uri="{FF2B5EF4-FFF2-40B4-BE49-F238E27FC236}">
                  <a16:creationId xmlns:a16="http://schemas.microsoft.com/office/drawing/2014/main" id="{DAE8DA0F-943B-B2BA-8A03-61406E8171A9}"/>
                </a:ext>
              </a:extLst>
            </p:cNvPr>
            <p:cNvSpPr/>
            <p:nvPr userDrawn="1"/>
          </p:nvSpPr>
          <p:spPr>
            <a:xfrm>
              <a:off x="12325443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ounded Rectangle 215">
              <a:extLst>
                <a:ext uri="{FF2B5EF4-FFF2-40B4-BE49-F238E27FC236}">
                  <a16:creationId xmlns:a16="http://schemas.microsoft.com/office/drawing/2014/main" id="{7DC515E9-8E21-049E-9C1A-9C1E666F4F4D}"/>
                </a:ext>
              </a:extLst>
            </p:cNvPr>
            <p:cNvSpPr/>
            <p:nvPr userDrawn="1"/>
          </p:nvSpPr>
          <p:spPr>
            <a:xfrm>
              <a:off x="12587837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1010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ounded Rectangle 216">
              <a:extLst>
                <a:ext uri="{FF2B5EF4-FFF2-40B4-BE49-F238E27FC236}">
                  <a16:creationId xmlns:a16="http://schemas.microsoft.com/office/drawing/2014/main" id="{4F13DD30-AC8C-5BAF-7D9E-17F37BF14CB1}"/>
                </a:ext>
              </a:extLst>
            </p:cNvPr>
            <p:cNvSpPr/>
            <p:nvPr userDrawn="1"/>
          </p:nvSpPr>
          <p:spPr>
            <a:xfrm>
              <a:off x="12850231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ounded Rectangle 217">
              <a:extLst>
                <a:ext uri="{FF2B5EF4-FFF2-40B4-BE49-F238E27FC236}">
                  <a16:creationId xmlns:a16="http://schemas.microsoft.com/office/drawing/2014/main" id="{E2AEF98F-B06C-F55B-CA49-DD758CEA97A3}"/>
                </a:ext>
              </a:extLst>
            </p:cNvPr>
            <p:cNvSpPr/>
            <p:nvPr userDrawn="1"/>
          </p:nvSpPr>
          <p:spPr>
            <a:xfrm>
              <a:off x="13112625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1864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ounded Rectangle 218">
              <a:extLst>
                <a:ext uri="{FF2B5EF4-FFF2-40B4-BE49-F238E27FC236}">
                  <a16:creationId xmlns:a16="http://schemas.microsoft.com/office/drawing/2014/main" id="{7D56B7A7-845C-60E2-31FD-20ABDD7B2125}"/>
                </a:ext>
              </a:extLst>
            </p:cNvPr>
            <p:cNvSpPr/>
            <p:nvPr userDrawn="1"/>
          </p:nvSpPr>
          <p:spPr>
            <a:xfrm>
              <a:off x="13375018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DF68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219">
              <a:extLst>
                <a:ext uri="{FF2B5EF4-FFF2-40B4-BE49-F238E27FC236}">
                  <a16:creationId xmlns:a16="http://schemas.microsoft.com/office/drawing/2014/main" id="{4A15EBF2-1689-F73E-531A-974E9DD60DCB}"/>
                </a:ext>
              </a:extLst>
            </p:cNvPr>
            <p:cNvSpPr txBox="1"/>
            <p:nvPr userDrawn="1"/>
          </p:nvSpPr>
          <p:spPr>
            <a:xfrm>
              <a:off x="12207792" y="1974299"/>
              <a:ext cx="7200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GREY TONES</a:t>
              </a:r>
            </a:p>
          </p:txBody>
        </p:sp>
        <p:sp>
          <p:nvSpPr>
            <p:cNvPr id="73" name="TextBox 220">
              <a:extLst>
                <a:ext uri="{FF2B5EF4-FFF2-40B4-BE49-F238E27FC236}">
                  <a16:creationId xmlns:a16="http://schemas.microsoft.com/office/drawing/2014/main" id="{83FD25DF-A8C4-97E8-16EE-50D23B1DB381}"/>
                </a:ext>
              </a:extLst>
            </p:cNvPr>
            <p:cNvSpPr txBox="1"/>
            <p:nvPr userDrawn="1"/>
          </p:nvSpPr>
          <p:spPr>
            <a:xfrm>
              <a:off x="12207792" y="2430257"/>
              <a:ext cx="12538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BRAND IDENTITY COLORS</a:t>
              </a:r>
            </a:p>
          </p:txBody>
        </p:sp>
        <p:sp>
          <p:nvSpPr>
            <p:cNvPr id="74" name="TextBox 222">
              <a:extLst>
                <a:ext uri="{FF2B5EF4-FFF2-40B4-BE49-F238E27FC236}">
                  <a16:creationId xmlns:a16="http://schemas.microsoft.com/office/drawing/2014/main" id="{4F150177-1E56-683E-55ED-3CCF98AA4117}"/>
                </a:ext>
              </a:extLst>
            </p:cNvPr>
            <p:cNvSpPr txBox="1"/>
            <p:nvPr userDrawn="1"/>
          </p:nvSpPr>
          <p:spPr>
            <a:xfrm>
              <a:off x="12207792" y="4531335"/>
              <a:ext cx="6655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GRADIENTS</a:t>
              </a:r>
            </a:p>
          </p:txBody>
        </p:sp>
        <p:sp>
          <p:nvSpPr>
            <p:cNvPr id="75" name="TextBox 223">
              <a:extLst>
                <a:ext uri="{FF2B5EF4-FFF2-40B4-BE49-F238E27FC236}">
                  <a16:creationId xmlns:a16="http://schemas.microsoft.com/office/drawing/2014/main" id="{762DD877-F163-49C0-9F2B-CE9A7CBD3D92}"/>
                </a:ext>
              </a:extLst>
            </p:cNvPr>
            <p:cNvSpPr txBox="1"/>
            <p:nvPr userDrawn="1"/>
          </p:nvSpPr>
          <p:spPr>
            <a:xfrm>
              <a:off x="12207792" y="5252309"/>
              <a:ext cx="116891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TRAFFIC LIGHT COLORS</a:t>
              </a:r>
            </a:p>
          </p:txBody>
        </p:sp>
        <p:pic>
          <p:nvPicPr>
            <p:cNvPr id="76" name="Picture 2" descr="color picker&quot; Icon - Download for free – Iconduck">
              <a:extLst>
                <a:ext uri="{FF2B5EF4-FFF2-40B4-BE49-F238E27FC236}">
                  <a16:creationId xmlns:a16="http://schemas.microsoft.com/office/drawing/2014/main" id="{DF8BA090-A25D-2EE1-1A71-E7DB99333FF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43048" y="1646506"/>
              <a:ext cx="178747" cy="178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879CA836-68ED-E044-092E-BF8651058649}"/>
                </a:ext>
              </a:extLst>
            </p:cNvPr>
            <p:cNvGrpSpPr/>
            <p:nvPr userDrawn="1"/>
          </p:nvGrpSpPr>
          <p:grpSpPr>
            <a:xfrm>
              <a:off x="12301425" y="3311063"/>
              <a:ext cx="1288114" cy="238539"/>
              <a:chOff x="12298208" y="5356993"/>
              <a:chExt cx="1288114" cy="238539"/>
            </a:xfrm>
          </p:grpSpPr>
          <p:sp>
            <p:nvSpPr>
              <p:cNvPr id="157" name="Rounded Rectangle 192">
                <a:extLst>
                  <a:ext uri="{FF2B5EF4-FFF2-40B4-BE49-F238E27FC236}">
                    <a16:creationId xmlns:a16="http://schemas.microsoft.com/office/drawing/2014/main" id="{F993CC58-58CA-2456-419A-28263CD7BB8F}"/>
                  </a:ext>
                </a:extLst>
              </p:cNvPr>
              <p:cNvSpPr/>
              <p:nvPr userDrawn="1"/>
            </p:nvSpPr>
            <p:spPr>
              <a:xfrm>
                <a:off x="12298208" y="5356993"/>
                <a:ext cx="238539" cy="238539"/>
              </a:xfrm>
              <a:prstGeom prst="roundRect">
                <a:avLst/>
              </a:prstGeom>
              <a:solidFill>
                <a:srgbClr val="14163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158" name="Rounded Rectangle 192">
                <a:extLst>
                  <a:ext uri="{FF2B5EF4-FFF2-40B4-BE49-F238E27FC236}">
                    <a16:creationId xmlns:a16="http://schemas.microsoft.com/office/drawing/2014/main" id="{A67E78A3-0778-9F29-B935-C89976310177}"/>
                  </a:ext>
                </a:extLst>
              </p:cNvPr>
              <p:cNvSpPr/>
              <p:nvPr userDrawn="1"/>
            </p:nvSpPr>
            <p:spPr>
              <a:xfrm>
                <a:off x="12403166" y="5356993"/>
                <a:ext cx="238539" cy="238539"/>
              </a:xfrm>
              <a:prstGeom prst="roundRect">
                <a:avLst/>
              </a:prstGeom>
              <a:solidFill>
                <a:srgbClr val="37302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159" name="Rounded Rectangle 192">
                <a:extLst>
                  <a:ext uri="{FF2B5EF4-FFF2-40B4-BE49-F238E27FC236}">
                    <a16:creationId xmlns:a16="http://schemas.microsoft.com/office/drawing/2014/main" id="{7653AA1D-C39A-A623-4D3B-538509434DB1}"/>
                  </a:ext>
                </a:extLst>
              </p:cNvPr>
              <p:cNvSpPr/>
              <p:nvPr userDrawn="1"/>
            </p:nvSpPr>
            <p:spPr>
              <a:xfrm>
                <a:off x="12508124" y="5356993"/>
                <a:ext cx="238539" cy="238539"/>
              </a:xfrm>
              <a:prstGeom prst="roundRect">
                <a:avLst/>
              </a:prstGeom>
              <a:solidFill>
                <a:srgbClr val="61522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160" name="Rounded Rectangle 192">
                <a:extLst>
                  <a:ext uri="{FF2B5EF4-FFF2-40B4-BE49-F238E27FC236}">
                    <a16:creationId xmlns:a16="http://schemas.microsoft.com/office/drawing/2014/main" id="{55D8BDCD-C25B-7886-9130-72592531F970}"/>
                  </a:ext>
                </a:extLst>
              </p:cNvPr>
              <p:cNvSpPr/>
              <p:nvPr userDrawn="1"/>
            </p:nvSpPr>
            <p:spPr>
              <a:xfrm>
                <a:off x="12613082" y="5356993"/>
                <a:ext cx="238539" cy="238539"/>
              </a:xfrm>
              <a:prstGeom prst="roundRect">
                <a:avLst/>
              </a:prstGeom>
              <a:solidFill>
                <a:srgbClr val="967B2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161" name="Rounded Rectangle 192">
                <a:extLst>
                  <a:ext uri="{FF2B5EF4-FFF2-40B4-BE49-F238E27FC236}">
                    <a16:creationId xmlns:a16="http://schemas.microsoft.com/office/drawing/2014/main" id="{B8FDA659-633D-A288-BEDE-927F2ADAA3AB}"/>
                  </a:ext>
                </a:extLst>
              </p:cNvPr>
              <p:cNvSpPr/>
              <p:nvPr userDrawn="1"/>
            </p:nvSpPr>
            <p:spPr>
              <a:xfrm>
                <a:off x="12718040" y="5356993"/>
                <a:ext cx="238539" cy="238539"/>
              </a:xfrm>
              <a:prstGeom prst="roundRect">
                <a:avLst/>
              </a:prstGeom>
              <a:solidFill>
                <a:srgbClr val="D7AE1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164" name="Rounded Rectangle 192">
                <a:extLst>
                  <a:ext uri="{FF2B5EF4-FFF2-40B4-BE49-F238E27FC236}">
                    <a16:creationId xmlns:a16="http://schemas.microsoft.com/office/drawing/2014/main" id="{F5F9A153-09FD-30C6-88AF-87F80EC600BA}"/>
                  </a:ext>
                </a:extLst>
              </p:cNvPr>
              <p:cNvSpPr/>
              <p:nvPr userDrawn="1"/>
            </p:nvSpPr>
            <p:spPr>
              <a:xfrm>
                <a:off x="13347783" y="5356993"/>
                <a:ext cx="238539" cy="238539"/>
              </a:xfrm>
              <a:prstGeom prst="roundRect">
                <a:avLst/>
              </a:prstGeom>
              <a:solidFill>
                <a:srgbClr val="F8EBC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171" name="Rounded Rectangle 192">
                <a:extLst>
                  <a:ext uri="{FF2B5EF4-FFF2-40B4-BE49-F238E27FC236}">
                    <a16:creationId xmlns:a16="http://schemas.microsoft.com/office/drawing/2014/main" id="{B7873913-C7E2-2303-9072-56FA55830009}"/>
                  </a:ext>
                </a:extLst>
              </p:cNvPr>
              <p:cNvSpPr/>
              <p:nvPr userDrawn="1"/>
            </p:nvSpPr>
            <p:spPr>
              <a:xfrm>
                <a:off x="13242830" y="5356993"/>
                <a:ext cx="238539" cy="238539"/>
              </a:xfrm>
              <a:prstGeom prst="roundRect">
                <a:avLst/>
              </a:prstGeom>
              <a:solidFill>
                <a:srgbClr val="F8E39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174" name="Rounded Rectangle 192">
                <a:extLst>
                  <a:ext uri="{FF2B5EF4-FFF2-40B4-BE49-F238E27FC236}">
                    <a16:creationId xmlns:a16="http://schemas.microsoft.com/office/drawing/2014/main" id="{F21ACD13-F33D-2338-B166-B265A58E000A}"/>
                  </a:ext>
                </a:extLst>
              </p:cNvPr>
              <p:cNvSpPr/>
              <p:nvPr userDrawn="1"/>
            </p:nvSpPr>
            <p:spPr>
              <a:xfrm>
                <a:off x="13137872" y="5356993"/>
                <a:ext cx="238539" cy="238539"/>
              </a:xfrm>
              <a:prstGeom prst="roundRect">
                <a:avLst/>
              </a:prstGeom>
              <a:solidFill>
                <a:srgbClr val="F8DB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175" name="Rounded Rectangle 192">
                <a:extLst>
                  <a:ext uri="{FF2B5EF4-FFF2-40B4-BE49-F238E27FC236}">
                    <a16:creationId xmlns:a16="http://schemas.microsoft.com/office/drawing/2014/main" id="{ED37EB85-248C-AAF4-5A6A-FB10B7F64600}"/>
                  </a:ext>
                </a:extLst>
              </p:cNvPr>
              <p:cNvSpPr/>
              <p:nvPr userDrawn="1"/>
            </p:nvSpPr>
            <p:spPr>
              <a:xfrm>
                <a:off x="13032914" y="5356993"/>
                <a:ext cx="238539" cy="238539"/>
              </a:xfrm>
              <a:prstGeom prst="roundRect">
                <a:avLst/>
              </a:prstGeom>
              <a:solidFill>
                <a:srgbClr val="F7D55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176" name="Rounded Rectangle 192">
                <a:extLst>
                  <a:ext uri="{FF2B5EF4-FFF2-40B4-BE49-F238E27FC236}">
                    <a16:creationId xmlns:a16="http://schemas.microsoft.com/office/drawing/2014/main" id="{8DC91DB4-2566-7C71-8BE3-EAA149BEF36E}"/>
                  </a:ext>
                </a:extLst>
              </p:cNvPr>
              <p:cNvSpPr/>
              <p:nvPr userDrawn="1"/>
            </p:nvSpPr>
            <p:spPr>
              <a:xfrm>
                <a:off x="12927956" y="5356993"/>
                <a:ext cx="238539" cy="238539"/>
              </a:xfrm>
              <a:prstGeom prst="roundRect">
                <a:avLst/>
              </a:prstGeom>
              <a:solidFill>
                <a:srgbClr val="FAD33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177" name="Rounded Rectangle 192">
                <a:extLst>
                  <a:ext uri="{FF2B5EF4-FFF2-40B4-BE49-F238E27FC236}">
                    <a16:creationId xmlns:a16="http://schemas.microsoft.com/office/drawing/2014/main" id="{5B2250DE-B47C-DE83-2A84-09EACF752A95}"/>
                  </a:ext>
                </a:extLst>
              </p:cNvPr>
              <p:cNvSpPr/>
              <p:nvPr userDrawn="1"/>
            </p:nvSpPr>
            <p:spPr>
              <a:xfrm>
                <a:off x="12822998" y="5356993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78" name="TextBox 220">
              <a:extLst>
                <a:ext uri="{FF2B5EF4-FFF2-40B4-BE49-F238E27FC236}">
                  <a16:creationId xmlns:a16="http://schemas.microsoft.com/office/drawing/2014/main" id="{B584D808-91BB-7BCD-9C3E-5F6058E4E2AF}"/>
                </a:ext>
              </a:extLst>
            </p:cNvPr>
            <p:cNvSpPr txBox="1"/>
            <p:nvPr userDrawn="1"/>
          </p:nvSpPr>
          <p:spPr>
            <a:xfrm>
              <a:off x="12207792" y="2884595"/>
              <a:ext cx="15552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MAIN COLORS – COLOR GRADES</a:t>
              </a:r>
            </a:p>
          </p:txBody>
        </p:sp>
        <p:grpSp>
          <p:nvGrpSpPr>
            <p:cNvPr id="79" name="Groep 78">
              <a:extLst>
                <a:ext uri="{FF2B5EF4-FFF2-40B4-BE49-F238E27FC236}">
                  <a16:creationId xmlns:a16="http://schemas.microsoft.com/office/drawing/2014/main" id="{AD2A4754-1E4F-4068-2170-DFBC5D3316F6}"/>
                </a:ext>
              </a:extLst>
            </p:cNvPr>
            <p:cNvGrpSpPr/>
            <p:nvPr userDrawn="1"/>
          </p:nvGrpSpPr>
          <p:grpSpPr>
            <a:xfrm>
              <a:off x="12301425" y="4952389"/>
              <a:ext cx="238539" cy="238539"/>
              <a:chOff x="12301425" y="4952389"/>
              <a:chExt cx="238539" cy="238539"/>
            </a:xfrm>
          </p:grpSpPr>
          <p:sp>
            <p:nvSpPr>
              <p:cNvPr id="155" name="Vrije vorm 154">
                <a:extLst>
                  <a:ext uri="{FF2B5EF4-FFF2-40B4-BE49-F238E27FC236}">
                    <a16:creationId xmlns:a16="http://schemas.microsoft.com/office/drawing/2014/main" id="{532D1363-26B6-F938-D22C-D85CDE9B8657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6" name="Vrije vorm 155">
                <a:extLst>
                  <a:ext uri="{FF2B5EF4-FFF2-40B4-BE49-F238E27FC236}">
                    <a16:creationId xmlns:a16="http://schemas.microsoft.com/office/drawing/2014/main" id="{AD2EDC69-F434-FEFE-DED5-EAC10B2F6FD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E88C3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0" name="Groep 79">
              <a:extLst>
                <a:ext uri="{FF2B5EF4-FFF2-40B4-BE49-F238E27FC236}">
                  <a16:creationId xmlns:a16="http://schemas.microsoft.com/office/drawing/2014/main" id="{43A159D0-3A59-0104-1C93-27959CC49CA9}"/>
                </a:ext>
              </a:extLst>
            </p:cNvPr>
            <p:cNvGrpSpPr/>
            <p:nvPr userDrawn="1"/>
          </p:nvGrpSpPr>
          <p:grpSpPr>
            <a:xfrm>
              <a:off x="12563819" y="4952389"/>
              <a:ext cx="238539" cy="238539"/>
              <a:chOff x="12301425" y="4952389"/>
              <a:chExt cx="238539" cy="238539"/>
            </a:xfrm>
          </p:grpSpPr>
          <p:sp>
            <p:nvSpPr>
              <p:cNvPr id="148" name="Vrije vorm 147">
                <a:extLst>
                  <a:ext uri="{FF2B5EF4-FFF2-40B4-BE49-F238E27FC236}">
                    <a16:creationId xmlns:a16="http://schemas.microsoft.com/office/drawing/2014/main" id="{3FE35D56-0BBE-9C75-BD0D-254A011F45CB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00215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4" name="Vrije vorm 153">
                <a:extLst>
                  <a:ext uri="{FF2B5EF4-FFF2-40B4-BE49-F238E27FC236}">
                    <a16:creationId xmlns:a16="http://schemas.microsoft.com/office/drawing/2014/main" id="{A1AE8FAA-D517-EE1D-BC44-E771B569D42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1" name="Groep 80">
              <a:extLst>
                <a:ext uri="{FF2B5EF4-FFF2-40B4-BE49-F238E27FC236}">
                  <a16:creationId xmlns:a16="http://schemas.microsoft.com/office/drawing/2014/main" id="{964AABD8-3BED-C343-6EA4-A3AFFC623BE5}"/>
                </a:ext>
              </a:extLst>
            </p:cNvPr>
            <p:cNvGrpSpPr/>
            <p:nvPr userDrawn="1"/>
          </p:nvGrpSpPr>
          <p:grpSpPr>
            <a:xfrm>
              <a:off x="12826213" y="4952389"/>
              <a:ext cx="238539" cy="238539"/>
              <a:chOff x="12301425" y="4952389"/>
              <a:chExt cx="238539" cy="238539"/>
            </a:xfrm>
          </p:grpSpPr>
          <p:sp>
            <p:nvSpPr>
              <p:cNvPr id="88" name="Vrije vorm 87">
                <a:extLst>
                  <a:ext uri="{FF2B5EF4-FFF2-40B4-BE49-F238E27FC236}">
                    <a16:creationId xmlns:a16="http://schemas.microsoft.com/office/drawing/2014/main" id="{CF408804-496A-4CEF-6352-5ED21F535C7A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9" name="Vrije vorm 88">
                <a:extLst>
                  <a:ext uri="{FF2B5EF4-FFF2-40B4-BE49-F238E27FC236}">
                    <a16:creationId xmlns:a16="http://schemas.microsoft.com/office/drawing/2014/main" id="{8D4DE3F5-B0B2-DCBB-0720-888ABA857B1F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DF67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2" name="Groep 81">
              <a:extLst>
                <a:ext uri="{FF2B5EF4-FFF2-40B4-BE49-F238E27FC236}">
                  <a16:creationId xmlns:a16="http://schemas.microsoft.com/office/drawing/2014/main" id="{AACF694F-9A3B-50EF-7841-C1F2EA0B1B70}"/>
                </a:ext>
              </a:extLst>
            </p:cNvPr>
            <p:cNvGrpSpPr/>
            <p:nvPr userDrawn="1"/>
          </p:nvGrpSpPr>
          <p:grpSpPr>
            <a:xfrm>
              <a:off x="13088607" y="4952389"/>
              <a:ext cx="238539" cy="238539"/>
              <a:chOff x="12301425" y="4952389"/>
              <a:chExt cx="238539" cy="238539"/>
            </a:xfrm>
          </p:grpSpPr>
          <p:sp>
            <p:nvSpPr>
              <p:cNvPr id="86" name="Vrije vorm 85">
                <a:extLst>
                  <a:ext uri="{FF2B5EF4-FFF2-40B4-BE49-F238E27FC236}">
                    <a16:creationId xmlns:a16="http://schemas.microsoft.com/office/drawing/2014/main" id="{7B74DFF1-5E09-B811-88D1-9B54957539EC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C7CD5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7" name="Vrije vorm 86">
                <a:extLst>
                  <a:ext uri="{FF2B5EF4-FFF2-40B4-BE49-F238E27FC236}">
                    <a16:creationId xmlns:a16="http://schemas.microsoft.com/office/drawing/2014/main" id="{CE6419B6-B15D-1FE3-CE6C-28FC30953400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FBDE7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AD7F2593-8F27-9D4E-266E-1AB2FF9361C3}"/>
                </a:ext>
              </a:extLst>
            </p:cNvPr>
            <p:cNvGrpSpPr/>
            <p:nvPr userDrawn="1"/>
          </p:nvGrpSpPr>
          <p:grpSpPr>
            <a:xfrm>
              <a:off x="13351000" y="4952389"/>
              <a:ext cx="238539" cy="238539"/>
              <a:chOff x="12301425" y="4952389"/>
              <a:chExt cx="238539" cy="238539"/>
            </a:xfrm>
          </p:grpSpPr>
          <p:sp>
            <p:nvSpPr>
              <p:cNvPr id="84" name="Vrije vorm 83">
                <a:extLst>
                  <a:ext uri="{FF2B5EF4-FFF2-40B4-BE49-F238E27FC236}">
                    <a16:creationId xmlns:a16="http://schemas.microsoft.com/office/drawing/2014/main" id="{6DCC535E-7254-C522-301C-D26974CE165D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93D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5" name="Vrije vorm 84">
                <a:extLst>
                  <a:ext uri="{FF2B5EF4-FFF2-40B4-BE49-F238E27FC236}">
                    <a16:creationId xmlns:a16="http://schemas.microsoft.com/office/drawing/2014/main" id="{29C2DACA-3E2D-64DB-DCDB-AB641F33D906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00B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69817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F8C716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>
          <p15:clr>
            <a:srgbClr val="F26B43"/>
          </p15:clr>
        </p15:guide>
        <p15:guide id="2" pos="98">
          <p15:clr>
            <a:srgbClr val="F26B43"/>
          </p15:clr>
        </p15:guide>
        <p15:guide id="3" pos="234">
          <p15:clr>
            <a:srgbClr val="5ACBF0"/>
          </p15:clr>
        </p15:guide>
        <p15:guide id="4" orient="horz" pos="4024">
          <p15:clr>
            <a:srgbClr val="F26B43"/>
          </p15:clr>
        </p15:guide>
        <p15:guide id="5" pos="7582">
          <p15:clr>
            <a:srgbClr val="F26B43"/>
          </p15:clr>
        </p15:guide>
        <p15:guide id="6" orient="horz" pos="3941">
          <p15:clr>
            <a:srgbClr val="5ACBF0"/>
          </p15:clr>
        </p15:guide>
        <p15:guide id="7" pos="7446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9.emf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2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9B1408E6-E399-3AB5-FA0C-216DAFB328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 err="1"/>
              <a:t>CUSTOMER_NAME</a:t>
            </a:r>
            <a:r>
              <a:rPr lang="en-US" noProof="0" dirty="0"/>
              <a:t> – </a:t>
            </a:r>
            <a:r>
              <a:rPr lang="en-US" noProof="0" dirty="0" err="1"/>
              <a:t>SYSTEM_NAME</a:t>
            </a:r>
            <a:endParaRPr lang="en-US" noProof="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344417F-5869-1AA1-3CB1-C663D0AA7B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Sigrid System Report</a:t>
            </a:r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F8AE1EA7-9945-5054-6361-8E1EAAA9FC90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96608443-E271-3AA0-6885-D7332E922B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noProof="0" dirty="0" err="1"/>
              <a:t>MAINT_DATE_DAY</a:t>
            </a:r>
            <a:r>
              <a:rPr lang="en-US" noProof="0" dirty="0"/>
              <a:t> </a:t>
            </a:r>
            <a:r>
              <a:rPr lang="en-US" noProof="0" dirty="0" err="1"/>
              <a:t>MAINT_DATE_MONTH_FULL</a:t>
            </a:r>
            <a:r>
              <a:rPr lang="en-US" noProof="0" dirty="0"/>
              <a:t> </a:t>
            </a:r>
            <a:r>
              <a:rPr lang="en-US" noProof="0" dirty="0" err="1"/>
              <a:t>MAINT_DATE_YEAR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37872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F1FBE-0EE4-1DE9-784A-DD4670182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EB7C8C91-AAEE-88A6-BA81-7A5C3377C97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8BE9C0E-8A97-0BC2-7291-A030EA223EC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A08CBCE-48E4-6A13-C16A-38E5FB27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 of topics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49B50A75-CF21-9538-EE61-6C987C97917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3750390"/>
          </a:xfrm>
        </p:spPr>
        <p:txBody>
          <a:bodyPr/>
          <a:lstStyle/>
          <a:p>
            <a:r>
              <a:rPr lang="en-US" noProof="0" dirty="0"/>
              <a:t>Summary</a:t>
            </a:r>
          </a:p>
          <a:p>
            <a:r>
              <a:rPr lang="en-US" noProof="0" dirty="0"/>
              <a:t>Key findings</a:t>
            </a:r>
          </a:p>
          <a:p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sz="200" noProof="0" dirty="0"/>
          </a:p>
          <a:p>
            <a:pPr marL="0" indent="0">
              <a:buNone/>
            </a:pPr>
            <a:endParaRPr lang="en-US" sz="800" noProof="0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79A0E4AB-1835-F9FC-08F8-B7688DC89C2B}"/>
              </a:ext>
            </a:extLst>
          </p:cNvPr>
          <p:cNvGrpSpPr/>
          <p:nvPr/>
        </p:nvGrpSpPr>
        <p:grpSpPr>
          <a:xfrm>
            <a:off x="4467601" y="1994958"/>
            <a:ext cx="8637048" cy="2061327"/>
            <a:chOff x="1187436" y="2607314"/>
            <a:chExt cx="8637048" cy="2061327"/>
          </a:xfrm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5939B06D-D176-9339-9185-77C476E3E6E7}"/>
                </a:ext>
              </a:extLst>
            </p:cNvPr>
            <p:cNvSpPr/>
            <p:nvPr/>
          </p:nvSpPr>
          <p:spPr>
            <a:xfrm>
              <a:off x="1187436" y="2607314"/>
              <a:ext cx="7567200" cy="17392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FF5BD665-CAB7-E865-0251-67BCDB5AE518}"/>
                </a:ext>
              </a:extLst>
            </p:cNvPr>
            <p:cNvSpPr/>
            <p:nvPr/>
          </p:nvSpPr>
          <p:spPr>
            <a:xfrm>
              <a:off x="2402756" y="278573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Rectangle 10">
              <a:extLst>
                <a:ext uri="{FF2B5EF4-FFF2-40B4-BE49-F238E27FC236}">
                  <a16:creationId xmlns:a16="http://schemas.microsoft.com/office/drawing/2014/main" id="{17B7A7D5-B584-1F9B-B4CC-9B65AD7A8E8D}"/>
                </a:ext>
              </a:extLst>
            </p:cNvPr>
            <p:cNvSpPr/>
            <p:nvPr/>
          </p:nvSpPr>
          <p:spPr>
            <a:xfrm>
              <a:off x="2402756" y="3306726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" name="Rectangle 11">
              <a:extLst>
                <a:ext uri="{FF2B5EF4-FFF2-40B4-BE49-F238E27FC236}">
                  <a16:creationId xmlns:a16="http://schemas.microsoft.com/office/drawing/2014/main" id="{6074CCE0-0194-F0EA-B27E-943120422D60}"/>
                </a:ext>
              </a:extLst>
            </p:cNvPr>
            <p:cNvSpPr/>
            <p:nvPr/>
          </p:nvSpPr>
          <p:spPr>
            <a:xfrm>
              <a:off x="2402756" y="382772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5" name="TextBox 6">
              <a:extLst>
                <a:ext uri="{FF2B5EF4-FFF2-40B4-BE49-F238E27FC236}">
                  <a16:creationId xmlns:a16="http://schemas.microsoft.com/office/drawing/2014/main" id="{0EF87031-3EF5-F01F-D64D-85C7CFBA18AE}"/>
                </a:ext>
              </a:extLst>
            </p:cNvPr>
            <p:cNvSpPr txBox="1"/>
            <p:nvPr/>
          </p:nvSpPr>
          <p:spPr>
            <a:xfrm>
              <a:off x="2828599" y="2796359"/>
              <a:ext cx="19709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Cost estimation</a:t>
              </a: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00B23D67-C548-2B66-EA13-9434D6FD697D}"/>
                </a:ext>
              </a:extLst>
            </p:cNvPr>
            <p:cNvSpPr txBox="1"/>
            <p:nvPr/>
          </p:nvSpPr>
          <p:spPr>
            <a:xfrm>
              <a:off x="2827099" y="3831388"/>
              <a:ext cx="19724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Architecture quality</a:t>
              </a: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BBBD1C3A-7C78-085E-9AAC-1418416B2E1B}"/>
                </a:ext>
              </a:extLst>
            </p:cNvPr>
            <p:cNvSpPr txBox="1"/>
            <p:nvPr/>
          </p:nvSpPr>
          <p:spPr>
            <a:xfrm>
              <a:off x="2827097" y="3313873"/>
              <a:ext cx="1972487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Maintainability</a:t>
              </a:r>
            </a:p>
          </p:txBody>
        </p:sp>
        <p:sp>
          <p:nvSpPr>
            <p:cNvPr id="23" name="TextBox 24">
              <a:extLst>
                <a:ext uri="{FF2B5EF4-FFF2-40B4-BE49-F238E27FC236}">
                  <a16:creationId xmlns:a16="http://schemas.microsoft.com/office/drawing/2014/main" id="{FC69EDAD-457C-318D-A7E6-DA9C35F4FAE1}"/>
                </a:ext>
              </a:extLst>
            </p:cNvPr>
            <p:cNvSpPr txBox="1"/>
            <p:nvPr/>
          </p:nvSpPr>
          <p:spPr>
            <a:xfrm>
              <a:off x="7232188" y="3306725"/>
              <a:ext cx="2592296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endParaRPr lang="en-US" sz="1400" noProof="0" dirty="0">
                <a:solidFill>
                  <a:schemeClr val="tx2"/>
                </a:solidFill>
              </a:endParaRPr>
            </a:p>
          </p:txBody>
        </p:sp>
        <p:sp>
          <p:nvSpPr>
            <p:cNvPr id="24" name="Rectangle 11">
              <a:extLst>
                <a:ext uri="{FF2B5EF4-FFF2-40B4-BE49-F238E27FC236}">
                  <a16:creationId xmlns:a16="http://schemas.microsoft.com/office/drawing/2014/main" id="{F1E7B407-491E-C161-9E2F-BB358CDF7912}"/>
                </a:ext>
              </a:extLst>
            </p:cNvPr>
            <p:cNvSpPr/>
            <p:nvPr/>
          </p:nvSpPr>
          <p:spPr>
            <a:xfrm>
              <a:off x="2402756" y="4339032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5" name="TextBox 16">
              <a:extLst>
                <a:ext uri="{FF2B5EF4-FFF2-40B4-BE49-F238E27FC236}">
                  <a16:creationId xmlns:a16="http://schemas.microsoft.com/office/drawing/2014/main" id="{C89DA33C-62C3-28D0-7E83-E5BCB3EC0D72}"/>
                </a:ext>
              </a:extLst>
            </p:cNvPr>
            <p:cNvSpPr txBox="1"/>
            <p:nvPr/>
          </p:nvSpPr>
          <p:spPr>
            <a:xfrm>
              <a:off x="2827099" y="4342700"/>
              <a:ext cx="19724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Open source health</a:t>
              </a:r>
            </a:p>
          </p:txBody>
        </p:sp>
      </p:grpSp>
      <p:sp>
        <p:nvSpPr>
          <p:cNvPr id="26" name="Afgeronde rechthoek 27">
            <a:extLst>
              <a:ext uri="{FF2B5EF4-FFF2-40B4-BE49-F238E27FC236}">
                <a16:creationId xmlns:a16="http://schemas.microsoft.com/office/drawing/2014/main" id="{11022F4E-7F91-B0CF-1E9A-F01F9CA23077}"/>
              </a:ext>
            </a:extLst>
          </p:cNvPr>
          <p:cNvSpPr/>
          <p:nvPr/>
        </p:nvSpPr>
        <p:spPr>
          <a:xfrm>
            <a:off x="4467599" y="761238"/>
            <a:ext cx="7567201" cy="724260"/>
          </a:xfrm>
          <a:prstGeom prst="roundRect">
            <a:avLst/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US" noProof="0" dirty="0">
              <a:solidFill>
                <a:schemeClr val="tx2"/>
              </a:solidFill>
              <a:latin typeface="Noir Pro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016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62927-47E6-44AC-6848-2A522D68C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01DDDD2-DA8F-47F7-F1AB-C656B7F764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663129" cy="228145"/>
          </a:xfrm>
        </p:spPr>
        <p:txBody>
          <a:bodyPr/>
          <a:lstStyle/>
          <a:p>
            <a:r>
              <a:rPr lang="en-US" noProof="0" dirty="0"/>
              <a:t>Management summary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A49DECDC-D2A6-44D4-EAD9-E018E7E62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US" noProof="0" dirty="0">
                <a:latin typeface="Noir Pro Medium"/>
              </a:rPr>
              <a:t>System "</a:t>
            </a:r>
            <a:r>
              <a:rPr lang="en-US" noProof="0" dirty="0" err="1"/>
              <a:t>SYSTEM_NAME</a:t>
            </a:r>
            <a:r>
              <a:rPr lang="en-US" noProof="0" dirty="0">
                <a:latin typeface="Noir Pro Medium"/>
              </a:rPr>
              <a:t>" technical quality: management summary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B1AA20-5D92-4ACB-8694-AFA2A56D394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941175" y="6550025"/>
            <a:ext cx="250825" cy="236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1000" b="1" kern="1200" spc="10" smtClean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42BD21-9B61-2246-BCB1-4BE5E1BEBE1C}" type="slidenum">
              <a:rPr lang="en-US" noProof="0" smtClean="0"/>
              <a:pPr/>
              <a:t>3</a:t>
            </a:fld>
            <a:endParaRPr lang="en-US" noProof="0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D9C1E99-12FA-EBBB-8F43-FD9A6A738FB3}"/>
              </a:ext>
            </a:extLst>
          </p:cNvPr>
          <p:cNvSpPr/>
          <p:nvPr/>
        </p:nvSpPr>
        <p:spPr>
          <a:xfrm>
            <a:off x="381600" y="1465144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</a:rPr>
              <a:t>Maintainability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659F6A8-A673-0A9C-A1B3-F382F0434C4C}"/>
              </a:ext>
            </a:extLst>
          </p:cNvPr>
          <p:cNvSpPr/>
          <p:nvPr/>
        </p:nvSpPr>
        <p:spPr>
          <a:xfrm>
            <a:off x="381600" y="2428035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  <a:ea typeface="+mn-lt"/>
                <a:cs typeface="+mn-lt"/>
              </a:rPr>
              <a:t>Technology choice</a:t>
            </a:r>
            <a:endParaRPr lang="en-US" sz="1600" noProof="0" dirty="0">
              <a:solidFill>
                <a:schemeClr val="accent2"/>
              </a:solidFill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1B6F40A-D941-D662-B986-01AE8191B15D}"/>
              </a:ext>
            </a:extLst>
          </p:cNvPr>
          <p:cNvSpPr/>
          <p:nvPr/>
        </p:nvSpPr>
        <p:spPr>
          <a:xfrm>
            <a:off x="381600" y="3390926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</a:rPr>
              <a:t>Test code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5697C66-3A15-D459-3D27-F256D4839B51}"/>
              </a:ext>
            </a:extLst>
          </p:cNvPr>
          <p:cNvSpPr/>
          <p:nvPr/>
        </p:nvSpPr>
        <p:spPr>
          <a:xfrm>
            <a:off x="381600" y="4353817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</a:rPr>
              <a:t>Architecture Quality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B5A0131-A470-60F6-4CE8-D7B7746B9737}"/>
              </a:ext>
            </a:extLst>
          </p:cNvPr>
          <p:cNvSpPr/>
          <p:nvPr/>
        </p:nvSpPr>
        <p:spPr>
          <a:xfrm>
            <a:off x="381600" y="5316709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  <a:ea typeface="+mn-lt"/>
                <a:cs typeface="+mn-lt"/>
              </a:rPr>
              <a:t>Open source health</a:t>
            </a:r>
            <a:endParaRPr lang="en-US" sz="1600" noProof="0" dirty="0">
              <a:solidFill>
                <a:schemeClr val="accent2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214DA1-21AC-CB54-8885-268F55934D9A}"/>
              </a:ext>
            </a:extLst>
          </p:cNvPr>
          <p:cNvSpPr txBox="1"/>
          <p:nvPr/>
        </p:nvSpPr>
        <p:spPr>
          <a:xfrm>
            <a:off x="2549236" y="1556170"/>
            <a:ext cx="9210962" cy="809261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400" noProof="0" dirty="0">
                <a:ea typeface="+mn-lt"/>
                <a:cs typeface="+mn-lt"/>
              </a:rPr>
              <a:t>The system scores </a:t>
            </a:r>
            <a:r>
              <a:rPr lang="en-US" sz="1400" noProof="0" dirty="0" err="1">
                <a:ea typeface="+mn-lt"/>
                <a:cs typeface="+mn-lt"/>
              </a:rPr>
              <a:t>MAINT_RELATIVE</a:t>
            </a:r>
            <a:r>
              <a:rPr lang="en-US" sz="1400" noProof="0" dirty="0">
                <a:ea typeface="+mn-lt"/>
                <a:cs typeface="+mn-lt"/>
              </a:rPr>
              <a:t> the market average with </a:t>
            </a:r>
            <a:r>
              <a:rPr lang="en-US" sz="1400" b="1" noProof="0" dirty="0" err="1">
                <a:solidFill>
                  <a:schemeClr val="accent2"/>
                </a:solidFill>
              </a:rPr>
              <a:t>MAINT_RATING</a:t>
            </a:r>
            <a:r>
              <a:rPr lang="en-US" sz="1400" b="1" noProof="0" dirty="0">
                <a:solidFill>
                  <a:schemeClr val="accent2"/>
                </a:solidFill>
              </a:rPr>
              <a:t> stars (</a:t>
            </a:r>
            <a:r>
              <a:rPr lang="en-US" sz="1400" b="1" noProof="0" dirty="0" err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MAINT_STARS</a:t>
            </a:r>
            <a:r>
              <a:rPr lang="en-US" sz="1400" b="1" noProof="0" dirty="0">
                <a:solidFill>
                  <a:schemeClr val="accent2"/>
                </a:solidFill>
              </a:rPr>
              <a:t>) </a:t>
            </a:r>
            <a:r>
              <a:rPr lang="en-US" sz="1400" noProof="0" dirty="0">
                <a:ea typeface="+mn-lt"/>
                <a:cs typeface="+mn-lt"/>
              </a:rPr>
              <a:t>on the SIG maintainability model. This indicates MAINT_COST maintenance costs and time to market for functional changes. </a:t>
            </a:r>
            <a:r>
              <a:rPr lang="en-US" sz="1400" noProof="0" dirty="0" err="1">
                <a:ea typeface="+mn-lt"/>
                <a:cs typeface="+mn-lt"/>
              </a:rPr>
              <a:t>MAINT_OBSERVATION</a:t>
            </a:r>
            <a:endParaRPr lang="en-US" sz="1400" noProof="0" dirty="0">
              <a:ea typeface="+mn-lt"/>
              <a:cs typeface="+mn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064188-8D2E-E6DB-CEA1-90C74176B0E2}"/>
              </a:ext>
            </a:extLst>
          </p:cNvPr>
          <p:cNvSpPr txBox="1"/>
          <p:nvPr/>
        </p:nvSpPr>
        <p:spPr>
          <a:xfrm>
            <a:off x="2549236" y="2594716"/>
            <a:ext cx="9210962" cy="52322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r>
              <a:rPr lang="en-US" sz="1400" noProof="0" dirty="0"/>
              <a:t>The system is </a:t>
            </a:r>
            <a:r>
              <a:rPr lang="en-US" sz="1400" noProof="0" dirty="0" err="1"/>
              <a:t>SYSTEM_PY</a:t>
            </a:r>
            <a:r>
              <a:rPr lang="en-US" sz="1400" noProof="0" dirty="0"/>
              <a:t> PY (</a:t>
            </a:r>
            <a:r>
              <a:rPr lang="en-US" sz="1400" noProof="0" dirty="0" err="1"/>
              <a:t>SYSTEM_LOC_FORMAT_COMMA</a:t>
            </a:r>
            <a:r>
              <a:rPr lang="en-US" sz="1400" noProof="0" dirty="0"/>
              <a:t> LOC) large. </a:t>
            </a:r>
            <a:r>
              <a:rPr lang="en-US" sz="1400" noProof="0" dirty="0" err="1"/>
              <a:t>TECH_SUMMARY</a:t>
            </a:r>
            <a:r>
              <a:rPr lang="en-US" sz="1400" noProof="0" dirty="0"/>
              <a:t> Its main technology is TECH_1_NAME.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9A5C80-18ED-D98C-0E78-B31D0C0E8B8E}"/>
              </a:ext>
            </a:extLst>
          </p:cNvPr>
          <p:cNvSpPr txBox="1"/>
          <p:nvPr/>
        </p:nvSpPr>
        <p:spPr>
          <a:xfrm>
            <a:off x="2549236" y="3579427"/>
            <a:ext cx="9210962" cy="307777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r>
              <a:rPr lang="en-US" sz="1400" noProof="0" dirty="0"/>
              <a:t>The system has a test/code ratio of </a:t>
            </a:r>
            <a:r>
              <a:rPr lang="en-US" sz="1400" noProof="0" dirty="0" err="1"/>
              <a:t>TEST_CODE_RATIO</a:t>
            </a:r>
            <a:r>
              <a:rPr lang="en-US" sz="1400" noProof="0" dirty="0"/>
              <a:t>. This indicates </a:t>
            </a:r>
            <a:r>
              <a:rPr lang="en-US" sz="1400" noProof="0" dirty="0" err="1"/>
              <a:t>TEST_CODE_SUMMARY</a:t>
            </a:r>
            <a:endParaRPr lang="en-US" sz="1400" noProof="0" dirty="0">
              <a:ea typeface="+mn-lt"/>
              <a:cs typeface="+mn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1767D0-0BD3-1B3E-29E4-4BF186AA0949}"/>
              </a:ext>
            </a:extLst>
          </p:cNvPr>
          <p:cNvSpPr txBox="1"/>
          <p:nvPr/>
        </p:nvSpPr>
        <p:spPr>
          <a:xfrm>
            <a:off x="2549236" y="4396144"/>
            <a:ext cx="9210962" cy="738664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r>
              <a:rPr lang="en-US" sz="1400" noProof="0" dirty="0"/>
              <a:t>The system rates </a:t>
            </a:r>
            <a:r>
              <a:rPr lang="en-US" sz="1400" b="1" noProof="0" dirty="0" err="1">
                <a:solidFill>
                  <a:schemeClr val="accent2"/>
                </a:solidFill>
                <a:ea typeface="+mn-lt"/>
                <a:cs typeface="+mn-lt"/>
              </a:rPr>
              <a:t>ARCH_RATING</a:t>
            </a:r>
            <a:r>
              <a:rPr lang="en-US" sz="1400" b="1" noProof="0" dirty="0">
                <a:solidFill>
                  <a:schemeClr val="accent2"/>
                </a:solidFill>
                <a:ea typeface="+mn-lt"/>
                <a:cs typeface="+mn-lt"/>
              </a:rPr>
              <a:t> stars (</a:t>
            </a:r>
            <a:r>
              <a:rPr lang="en-US" sz="1400" b="1" noProof="0" dirty="0" err="1">
                <a:solidFill>
                  <a:schemeClr val="accent2"/>
                </a:solidFill>
                <a:ea typeface="+mn-lt"/>
                <a:cs typeface="Calibri" panose="020F0502020204030204" pitchFamily="34" charset="0"/>
              </a:rPr>
              <a:t>ARCH_STARS</a:t>
            </a:r>
            <a:r>
              <a:rPr lang="en-US" sz="1400" b="1" noProof="0" dirty="0">
                <a:solidFill>
                  <a:schemeClr val="accent2"/>
                </a:solidFill>
                <a:ea typeface="+mn-lt"/>
                <a:cs typeface="+mn-lt"/>
              </a:rPr>
              <a:t>)</a:t>
            </a:r>
            <a:r>
              <a:rPr lang="en-US" sz="1400" b="1" noProof="0" dirty="0"/>
              <a:t> </a:t>
            </a:r>
            <a:r>
              <a:rPr lang="en-US" sz="1400" noProof="0" dirty="0"/>
              <a:t>on the SIG Architecture Quality model, </a:t>
            </a:r>
            <a:r>
              <a:rPr lang="en-US" sz="1400" noProof="0" dirty="0" err="1"/>
              <a:t>ARCH_AT_BELOW</a:t>
            </a:r>
            <a:r>
              <a:rPr lang="en-US" sz="1400" noProof="0" dirty="0"/>
              <a:t> the market average. </a:t>
            </a:r>
            <a:r>
              <a:rPr lang="en-US" sz="1400" noProof="0" dirty="0" err="1"/>
              <a:t>ARCH_WORST_METRIC_REMARK</a:t>
            </a:r>
            <a:endParaRPr lang="en-US" sz="1400" noProof="0" dirty="0"/>
          </a:p>
          <a:p>
            <a:endParaRPr lang="en-US" sz="1400" noProof="0" dirty="0">
              <a:ea typeface="+mn-lt"/>
              <a:cs typeface="+mn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09E68C-FA1E-7A85-89ED-807D0028D6CD}"/>
              </a:ext>
            </a:extLst>
          </p:cNvPr>
          <p:cNvSpPr txBox="1"/>
          <p:nvPr/>
        </p:nvSpPr>
        <p:spPr>
          <a:xfrm>
            <a:off x="2549236" y="5309422"/>
            <a:ext cx="9210962" cy="307777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r>
              <a:rPr lang="en-US" sz="1400" noProof="0" dirty="0" err="1"/>
              <a:t>OSH_RISK_SUMMARY</a:t>
            </a:r>
            <a:r>
              <a:rPr lang="en-US" sz="1400" noProof="0" dirty="0"/>
              <a:t>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14C37A4-1787-88B8-87EC-3BC4E6617034}"/>
              </a:ext>
            </a:extLst>
          </p:cNvPr>
          <p:cNvCxnSpPr>
            <a:cxnSpLocks/>
          </p:cNvCxnSpPr>
          <p:nvPr/>
        </p:nvCxnSpPr>
        <p:spPr>
          <a:xfrm flipH="1">
            <a:off x="2707067" y="2428035"/>
            <a:ext cx="9053131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6DF079F-BE0F-B539-6133-ADDCFA9385E8}"/>
              </a:ext>
            </a:extLst>
          </p:cNvPr>
          <p:cNvCxnSpPr>
            <a:cxnSpLocks/>
          </p:cNvCxnSpPr>
          <p:nvPr/>
        </p:nvCxnSpPr>
        <p:spPr>
          <a:xfrm flipH="1">
            <a:off x="2707067" y="3331283"/>
            <a:ext cx="9053131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9F180A7-BAC8-2121-6EB8-9B376B75A7AC}"/>
              </a:ext>
            </a:extLst>
          </p:cNvPr>
          <p:cNvCxnSpPr>
            <a:cxnSpLocks/>
          </p:cNvCxnSpPr>
          <p:nvPr/>
        </p:nvCxnSpPr>
        <p:spPr>
          <a:xfrm flipH="1">
            <a:off x="2707067" y="4290288"/>
            <a:ext cx="9053131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E24B4CB-EC74-75E7-077A-96C2F71EE536}"/>
              </a:ext>
            </a:extLst>
          </p:cNvPr>
          <p:cNvCxnSpPr>
            <a:cxnSpLocks/>
          </p:cNvCxnSpPr>
          <p:nvPr/>
        </p:nvCxnSpPr>
        <p:spPr>
          <a:xfrm flipH="1">
            <a:off x="2707067" y="5260444"/>
            <a:ext cx="9053131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452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CF9DD-0462-016F-8E23-2DB264387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CC222B10-C35A-E1BF-3C6F-DEEE0250026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D8EBEE6-089D-3692-A341-C90A7CEA81E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E936A79-6AD8-007A-80E2-F8397B01E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 of topics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25467FEE-6B64-E34F-E27E-DF526B04708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3658057"/>
          </a:xfrm>
        </p:spPr>
        <p:txBody>
          <a:bodyPr/>
          <a:lstStyle/>
          <a:p>
            <a:r>
              <a:rPr lang="en-US" noProof="0" dirty="0"/>
              <a:t>Summary</a:t>
            </a:r>
          </a:p>
          <a:p>
            <a:r>
              <a:rPr lang="en-US" noProof="0" dirty="0"/>
              <a:t>Key findings</a:t>
            </a:r>
          </a:p>
          <a:p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sz="200" noProof="0" dirty="0"/>
          </a:p>
          <a:p>
            <a:pPr marL="0" indent="0">
              <a:buNone/>
            </a:pPr>
            <a:endParaRPr lang="en-US" sz="800" noProof="0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3A2FF08D-E383-A4D7-D0D5-04C5B7D9BE55}"/>
              </a:ext>
            </a:extLst>
          </p:cNvPr>
          <p:cNvGrpSpPr/>
          <p:nvPr/>
        </p:nvGrpSpPr>
        <p:grpSpPr>
          <a:xfrm>
            <a:off x="4467601" y="1994958"/>
            <a:ext cx="8637048" cy="2061327"/>
            <a:chOff x="1187436" y="2607314"/>
            <a:chExt cx="8637048" cy="2061327"/>
          </a:xfrm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88C42531-C38E-90CC-55B2-1CA03B964DCC}"/>
                </a:ext>
              </a:extLst>
            </p:cNvPr>
            <p:cNvSpPr/>
            <p:nvPr/>
          </p:nvSpPr>
          <p:spPr>
            <a:xfrm>
              <a:off x="1187436" y="2607314"/>
              <a:ext cx="7567200" cy="17392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21C615A6-2657-F686-ACB4-31C3780AC53F}"/>
                </a:ext>
              </a:extLst>
            </p:cNvPr>
            <p:cNvSpPr/>
            <p:nvPr/>
          </p:nvSpPr>
          <p:spPr>
            <a:xfrm>
              <a:off x="2402756" y="278573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Rectangle 10">
              <a:extLst>
                <a:ext uri="{FF2B5EF4-FFF2-40B4-BE49-F238E27FC236}">
                  <a16:creationId xmlns:a16="http://schemas.microsoft.com/office/drawing/2014/main" id="{9E8041A3-4CF8-83F0-839C-439C8A2903BA}"/>
                </a:ext>
              </a:extLst>
            </p:cNvPr>
            <p:cNvSpPr/>
            <p:nvPr/>
          </p:nvSpPr>
          <p:spPr>
            <a:xfrm>
              <a:off x="2402756" y="3306726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" name="Rectangle 11">
              <a:extLst>
                <a:ext uri="{FF2B5EF4-FFF2-40B4-BE49-F238E27FC236}">
                  <a16:creationId xmlns:a16="http://schemas.microsoft.com/office/drawing/2014/main" id="{1E4A6A55-D491-B64E-8117-725CFD0054C7}"/>
                </a:ext>
              </a:extLst>
            </p:cNvPr>
            <p:cNvSpPr/>
            <p:nvPr/>
          </p:nvSpPr>
          <p:spPr>
            <a:xfrm>
              <a:off x="2402756" y="382772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5" name="TextBox 6">
              <a:extLst>
                <a:ext uri="{FF2B5EF4-FFF2-40B4-BE49-F238E27FC236}">
                  <a16:creationId xmlns:a16="http://schemas.microsoft.com/office/drawing/2014/main" id="{9FBD725A-A3B4-2FE9-5308-553FDD9CC914}"/>
                </a:ext>
              </a:extLst>
            </p:cNvPr>
            <p:cNvSpPr txBox="1"/>
            <p:nvPr/>
          </p:nvSpPr>
          <p:spPr>
            <a:xfrm>
              <a:off x="2828599" y="2796359"/>
              <a:ext cx="19709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Cost estimation</a:t>
              </a: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24F69592-6EC4-3A3F-03CA-A0EB53B047AF}"/>
                </a:ext>
              </a:extLst>
            </p:cNvPr>
            <p:cNvSpPr txBox="1"/>
            <p:nvPr/>
          </p:nvSpPr>
          <p:spPr>
            <a:xfrm>
              <a:off x="2827099" y="3831388"/>
              <a:ext cx="19724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Architecture quality</a:t>
              </a: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37D4889B-9E40-C9DF-1B1F-087D453F8571}"/>
                </a:ext>
              </a:extLst>
            </p:cNvPr>
            <p:cNvSpPr txBox="1"/>
            <p:nvPr/>
          </p:nvSpPr>
          <p:spPr>
            <a:xfrm>
              <a:off x="2827097" y="3313873"/>
              <a:ext cx="1972487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Maintainability</a:t>
              </a:r>
            </a:p>
          </p:txBody>
        </p:sp>
        <p:sp>
          <p:nvSpPr>
            <p:cNvPr id="23" name="TextBox 24">
              <a:extLst>
                <a:ext uri="{FF2B5EF4-FFF2-40B4-BE49-F238E27FC236}">
                  <a16:creationId xmlns:a16="http://schemas.microsoft.com/office/drawing/2014/main" id="{2104FF65-775F-390F-A413-19E80C39A131}"/>
                </a:ext>
              </a:extLst>
            </p:cNvPr>
            <p:cNvSpPr txBox="1"/>
            <p:nvPr/>
          </p:nvSpPr>
          <p:spPr>
            <a:xfrm>
              <a:off x="7232188" y="3306725"/>
              <a:ext cx="2592296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endParaRPr lang="en-US" sz="1400" noProof="0" dirty="0">
                <a:solidFill>
                  <a:schemeClr val="tx2"/>
                </a:solidFill>
              </a:endParaRPr>
            </a:p>
          </p:txBody>
        </p:sp>
        <p:sp>
          <p:nvSpPr>
            <p:cNvPr id="24" name="Rectangle 11">
              <a:extLst>
                <a:ext uri="{FF2B5EF4-FFF2-40B4-BE49-F238E27FC236}">
                  <a16:creationId xmlns:a16="http://schemas.microsoft.com/office/drawing/2014/main" id="{79D70F5D-0B0B-6234-A662-2C0A1687FCA9}"/>
                </a:ext>
              </a:extLst>
            </p:cNvPr>
            <p:cNvSpPr/>
            <p:nvPr/>
          </p:nvSpPr>
          <p:spPr>
            <a:xfrm>
              <a:off x="2402756" y="4339032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5" name="TextBox 16">
              <a:extLst>
                <a:ext uri="{FF2B5EF4-FFF2-40B4-BE49-F238E27FC236}">
                  <a16:creationId xmlns:a16="http://schemas.microsoft.com/office/drawing/2014/main" id="{BDEAA53F-F465-CAD1-D039-210FAB636309}"/>
                </a:ext>
              </a:extLst>
            </p:cNvPr>
            <p:cNvSpPr txBox="1"/>
            <p:nvPr/>
          </p:nvSpPr>
          <p:spPr>
            <a:xfrm>
              <a:off x="2827099" y="4342700"/>
              <a:ext cx="19724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Open source health</a:t>
              </a:r>
            </a:p>
          </p:txBody>
        </p:sp>
      </p:grpSp>
      <p:sp>
        <p:nvSpPr>
          <p:cNvPr id="34" name="Afgeronde rechthoek 33">
            <a:extLst>
              <a:ext uri="{FF2B5EF4-FFF2-40B4-BE49-F238E27FC236}">
                <a16:creationId xmlns:a16="http://schemas.microsoft.com/office/drawing/2014/main" id="{1432F4D9-898D-1F7C-1B68-01CBDDFBCED8}"/>
              </a:ext>
            </a:extLst>
          </p:cNvPr>
          <p:cNvSpPr/>
          <p:nvPr/>
        </p:nvSpPr>
        <p:spPr>
          <a:xfrm>
            <a:off x="4454347" y="1472806"/>
            <a:ext cx="7567201" cy="2923251"/>
          </a:xfrm>
          <a:prstGeom prst="roundRect">
            <a:avLst>
              <a:gd name="adj" fmla="val 4868"/>
            </a:avLst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US" noProof="0" dirty="0">
              <a:solidFill>
                <a:schemeClr val="tx2"/>
              </a:solidFill>
              <a:latin typeface="Noir Pro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29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83691-EEF8-B68C-5A5F-30410C866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Oval 64">
            <a:extLst>
              <a:ext uri="{FF2B5EF4-FFF2-40B4-BE49-F238E27FC236}">
                <a16:creationId xmlns:a16="http://schemas.microsoft.com/office/drawing/2014/main" id="{95C27F98-D0CE-D5B9-C55D-97BBC5A5BFF2}"/>
              </a:ext>
            </a:extLst>
          </p:cNvPr>
          <p:cNvSpPr>
            <a:spLocks/>
          </p:cNvSpPr>
          <p:nvPr/>
        </p:nvSpPr>
        <p:spPr>
          <a:xfrm>
            <a:off x="4004388" y="1634792"/>
            <a:ext cx="4180824" cy="4180824"/>
          </a:xfrm>
          <a:prstGeom prst="ellipse">
            <a:avLst/>
          </a:prstGeom>
          <a:gradFill>
            <a:gsLst>
              <a:gs pos="0">
                <a:schemeClr val="accent3">
                  <a:alpha val="30871"/>
                </a:schemeClr>
              </a:gs>
              <a:gs pos="43000">
                <a:schemeClr val="accent3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B6C70F8F-27F3-4CF3-FECD-439D34C6752D}"/>
              </a:ext>
            </a:extLst>
          </p:cNvPr>
          <p:cNvSpPr>
            <a:spLocks/>
          </p:cNvSpPr>
          <p:nvPr/>
        </p:nvSpPr>
        <p:spPr>
          <a:xfrm>
            <a:off x="3385191" y="1063763"/>
            <a:ext cx="5340638" cy="5340638"/>
          </a:xfrm>
          <a:prstGeom prst="ellipse">
            <a:avLst/>
          </a:prstGeom>
          <a:gradFill>
            <a:gsLst>
              <a:gs pos="0">
                <a:schemeClr val="accent3">
                  <a:alpha val="15000"/>
                </a:schemeClr>
              </a:gs>
              <a:gs pos="43000">
                <a:schemeClr val="accent3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C9D0E3-9C9E-5F23-111D-96C14386A39D}"/>
              </a:ext>
            </a:extLst>
          </p:cNvPr>
          <p:cNvSpPr txBox="1">
            <a:spLocks/>
          </p:cNvSpPr>
          <p:nvPr/>
        </p:nvSpPr>
        <p:spPr>
          <a:xfrm>
            <a:off x="4420303" y="2076017"/>
            <a:ext cx="3351394" cy="3317250"/>
          </a:xfrm>
          <a:prstGeom prst="rect">
            <a:avLst/>
          </a:prstGeom>
          <a:noFill/>
        </p:spPr>
        <p:txBody>
          <a:bodyPr wrap="none" lIns="90000" rtlCol="0" anchor="t">
            <a:prstTxWarp prst="textArchUp">
              <a:avLst>
                <a:gd name="adj" fmla="val 9056230"/>
              </a:avLst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43000">
                      <a:srgbClr val="FFFFFF"/>
                    </a:gs>
                    <a:gs pos="9000">
                      <a:srgbClr val="88ADF5">
                        <a:lumMod val="60000"/>
                        <a:lumOff val="40000"/>
                      </a:srgbClr>
                    </a:gs>
                  </a:gsLst>
                  <a:lin ang="9600000" scaled="0"/>
                </a:gradFill>
                <a:effectLst>
                  <a:outerShdw blurRad="113571" dist="44478" dir="16200000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Noir Pro Semi Bold" pitchFamily="2" charset="0"/>
                <a:ea typeface="+mn-ea"/>
                <a:cs typeface="+mn-cs"/>
              </a:rPr>
              <a:t>Cost Estimation Model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4470666D-AB22-177C-6C7A-D16FF6FB97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5F5EE4F-BA36-EEBF-BA2F-29E8865194E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Confidential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5FAE676-1E79-98D7-3514-335462A7999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42BD21-9B61-2246-BCB1-4BE5E1BEBE1C}" type="slidenum">
              <a:rPr kumimoji="0" lang="en-US" sz="900" b="0" i="0" u="none" strike="noStrike" kern="1200" cap="none" spc="1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900" b="0" i="0" u="none" strike="noStrike" kern="1200" cap="none" spc="1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</p:txBody>
      </p:sp>
      <p:sp>
        <p:nvSpPr>
          <p:cNvPr id="70" name="Title 69">
            <a:extLst>
              <a:ext uri="{FF2B5EF4-FFF2-40B4-BE49-F238E27FC236}">
                <a16:creationId xmlns:a16="http://schemas.microsoft.com/office/drawing/2014/main" id="{3EF7774A-211E-088E-C9B6-6A86C4405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Explanation: The Cost Estimation model combines Sigrid analysis results with SIG benchmarks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9F3FDDD-3858-C838-0AD0-612548D292DE}"/>
              </a:ext>
            </a:extLst>
          </p:cNvPr>
          <p:cNvSpPr>
            <a:spLocks/>
          </p:cNvSpPr>
          <p:nvPr/>
        </p:nvSpPr>
        <p:spPr>
          <a:xfrm>
            <a:off x="4673297" y="2304400"/>
            <a:ext cx="2849490" cy="2849490"/>
          </a:xfrm>
          <a:prstGeom prst="ellipse">
            <a:avLst/>
          </a:prstGeom>
          <a:solidFill>
            <a:schemeClr val="accent3">
              <a:alpha val="2567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533F8D7-DBCC-1E52-6611-0BE5FFCA74B9}"/>
              </a:ext>
            </a:extLst>
          </p:cNvPr>
          <p:cNvSpPr>
            <a:spLocks/>
          </p:cNvSpPr>
          <p:nvPr/>
        </p:nvSpPr>
        <p:spPr>
          <a:xfrm>
            <a:off x="5029556" y="2660659"/>
            <a:ext cx="2136972" cy="2136972"/>
          </a:xfrm>
          <a:prstGeom prst="ellipse">
            <a:avLst/>
          </a:prstGeom>
          <a:gradFill>
            <a:gsLst>
              <a:gs pos="23000">
                <a:schemeClr val="accent3">
                  <a:lumMod val="60000"/>
                  <a:lumOff val="40000"/>
                  <a:alpha val="33841"/>
                </a:schemeClr>
              </a:gs>
              <a:gs pos="61000">
                <a:schemeClr val="accent3">
                  <a:lumMod val="60000"/>
                  <a:lumOff val="40000"/>
                  <a:alpha val="16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63A583D-6BE0-A8F1-39D1-114B3FDEE8C6}"/>
              </a:ext>
            </a:extLst>
          </p:cNvPr>
          <p:cNvSpPr>
            <a:spLocks/>
          </p:cNvSpPr>
          <p:nvPr/>
        </p:nvSpPr>
        <p:spPr>
          <a:xfrm>
            <a:off x="5326438" y="2957541"/>
            <a:ext cx="1543208" cy="1543208"/>
          </a:xfrm>
          <a:prstGeom prst="ellipse">
            <a:avLst/>
          </a:prstGeom>
          <a:gradFill>
            <a:gsLst>
              <a:gs pos="23000">
                <a:schemeClr val="bg1"/>
              </a:gs>
              <a:gs pos="61000">
                <a:schemeClr val="accent3">
                  <a:lumMod val="40000"/>
                  <a:lumOff val="60000"/>
                  <a:alpha val="29000"/>
                </a:schemeClr>
              </a:gs>
            </a:gsLst>
            <a:lin ang="2700000" scaled="0"/>
          </a:gradFill>
          <a:ln w="12700">
            <a:solidFill>
              <a:schemeClr val="accent3">
                <a:alpha val="2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E6CC9E-A042-4D41-4D82-5012869DD8F0}"/>
              </a:ext>
            </a:extLst>
          </p:cNvPr>
          <p:cNvSpPr>
            <a:spLocks/>
          </p:cNvSpPr>
          <p:nvPr/>
        </p:nvSpPr>
        <p:spPr>
          <a:xfrm>
            <a:off x="5568436" y="2929751"/>
            <a:ext cx="80980" cy="809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E013D36-4866-963A-B984-D0771F1F8F91}"/>
              </a:ext>
            </a:extLst>
          </p:cNvPr>
          <p:cNvSpPr>
            <a:spLocks/>
          </p:cNvSpPr>
          <p:nvPr/>
        </p:nvSpPr>
        <p:spPr>
          <a:xfrm>
            <a:off x="5366019" y="4285002"/>
            <a:ext cx="53706" cy="53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61F8860-D3BD-ADF7-947C-66743FAA2346}"/>
              </a:ext>
            </a:extLst>
          </p:cNvPr>
          <p:cNvSpPr>
            <a:spLocks/>
          </p:cNvSpPr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/>
              </a:gs>
              <a:gs pos="55000">
                <a:schemeClr val="tx2"/>
              </a:gs>
              <a:gs pos="97000">
                <a:schemeClr val="accent1"/>
              </a:gs>
            </a:gsLst>
            <a:lin ang="150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EEE0137-8821-1C78-1860-272D52AD6A69}"/>
              </a:ext>
            </a:extLst>
          </p:cNvPr>
          <p:cNvCxnSpPr>
            <a:cxnSpLocks/>
          </p:cNvCxnSpPr>
          <p:nvPr/>
        </p:nvCxnSpPr>
        <p:spPr>
          <a:xfrm>
            <a:off x="6096000" y="4363444"/>
            <a:ext cx="0" cy="263379"/>
          </a:xfrm>
          <a:prstGeom prst="line">
            <a:avLst/>
          </a:prstGeom>
          <a:ln w="9525">
            <a:solidFill>
              <a:schemeClr val="accent1">
                <a:alpha val="8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D035F2BD-9708-0AD0-BD3B-D333B7293EE0}"/>
              </a:ext>
            </a:extLst>
          </p:cNvPr>
          <p:cNvSpPr>
            <a:spLocks/>
          </p:cNvSpPr>
          <p:nvPr/>
        </p:nvSpPr>
        <p:spPr>
          <a:xfrm>
            <a:off x="6060913" y="4603426"/>
            <a:ext cx="70174" cy="7017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A041D92-70F1-8E69-18DA-1A12061BCB4D}"/>
              </a:ext>
            </a:extLst>
          </p:cNvPr>
          <p:cNvSpPr>
            <a:spLocks/>
          </p:cNvSpPr>
          <p:nvPr/>
        </p:nvSpPr>
        <p:spPr>
          <a:xfrm>
            <a:off x="6040908" y="4313883"/>
            <a:ext cx="112242" cy="11224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Content Placeholder 70">
            <a:extLst>
              <a:ext uri="{FF2B5EF4-FFF2-40B4-BE49-F238E27FC236}">
                <a16:creationId xmlns:a16="http://schemas.microsoft.com/office/drawing/2014/main" id="{D5037DEE-D3A7-543A-B3E5-6F22ECB1E9B3}"/>
              </a:ext>
            </a:extLst>
          </p:cNvPr>
          <p:cNvSpPr txBox="1">
            <a:spLocks/>
          </p:cNvSpPr>
          <p:nvPr/>
        </p:nvSpPr>
        <p:spPr>
          <a:xfrm>
            <a:off x="8148338" y="1411200"/>
            <a:ext cx="3650085" cy="4842000"/>
          </a:xfrm>
          <a:prstGeom prst="rect">
            <a:avLst/>
          </a:prstGeom>
        </p:spPr>
        <p:txBody>
          <a:bodyPr vert="horz" lIns="216000" tIns="0" rIns="91440" bIns="72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400" noProof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rPr>
              <a:t>The Cost Estimation Model (CEM) enables translating technical analysis results to cost estimations. </a:t>
            </a:r>
            <a:endParaRPr kumimoji="0" lang="en-US" sz="3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The most important input for the CEM are the maintainability analysis results. This is mandatory. CEM then combines this with </a:t>
            </a:r>
            <a:r>
              <a:rPr lang="en-US" sz="1400" noProof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rPr>
              <a:t>SIG’s benchmarks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 on productivity and maintainability.</a:t>
            </a:r>
            <a:endParaRPr kumimoji="0" lang="en-US" sz="1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Cost estimations form key input for scenario comparison.</a:t>
            </a:r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AE202C74-D8C9-84F4-7CCF-66BFEFFF7D22}"/>
              </a:ext>
            </a:extLst>
          </p:cNvPr>
          <p:cNvSpPr>
            <a:spLocks/>
          </p:cNvSpPr>
          <p:nvPr/>
        </p:nvSpPr>
        <p:spPr>
          <a:xfrm>
            <a:off x="4403883" y="2031167"/>
            <a:ext cx="3381834" cy="3405830"/>
          </a:xfrm>
          <a:prstGeom prst="arc">
            <a:avLst>
              <a:gd name="adj1" fmla="val 19163152"/>
              <a:gd name="adj2" fmla="val 13132678"/>
            </a:avLst>
          </a:prstGeom>
          <a:ln w="12700">
            <a:gradFill>
              <a:gsLst>
                <a:gs pos="98000">
                  <a:schemeClr val="bg1">
                    <a:alpha val="0"/>
                  </a:schemeClr>
                </a:gs>
                <a:gs pos="68000">
                  <a:schemeClr val="bg1">
                    <a:alpha val="29485"/>
                  </a:schemeClr>
                </a:gs>
                <a:gs pos="8000">
                  <a:schemeClr val="accent3"/>
                </a:gs>
                <a:gs pos="18000">
                  <a:schemeClr val="accent3">
                    <a:alpha val="45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Arc 98">
            <a:extLst>
              <a:ext uri="{FF2B5EF4-FFF2-40B4-BE49-F238E27FC236}">
                <a16:creationId xmlns:a16="http://schemas.microsoft.com/office/drawing/2014/main" id="{86B057A7-8157-80A0-0AA7-9BDCD7BBB467}"/>
              </a:ext>
            </a:extLst>
          </p:cNvPr>
          <p:cNvSpPr>
            <a:spLocks/>
          </p:cNvSpPr>
          <p:nvPr/>
        </p:nvSpPr>
        <p:spPr>
          <a:xfrm>
            <a:off x="5176684" y="2825556"/>
            <a:ext cx="1850921" cy="1820186"/>
          </a:xfrm>
          <a:prstGeom prst="arc">
            <a:avLst>
              <a:gd name="adj1" fmla="val 5508426"/>
              <a:gd name="adj2" fmla="val 14121050"/>
            </a:avLst>
          </a:prstGeom>
          <a:ln w="9525">
            <a:gradFill>
              <a:gsLst>
                <a:gs pos="0">
                  <a:schemeClr val="accent1">
                    <a:alpha val="90000"/>
                  </a:schemeClr>
                </a:gs>
                <a:gs pos="99000">
                  <a:schemeClr val="accent1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5FF9DAC-CBE3-1B3F-9290-7F5D371A54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00476" y="1505595"/>
            <a:ext cx="403047" cy="343715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488B6BB2-C968-8F30-797C-D8BF8F77AD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40162" y="3488675"/>
            <a:ext cx="709276" cy="472846"/>
          </a:xfrm>
          <a:prstGeom prst="rect">
            <a:avLst/>
          </a:prstGeom>
          <a:effectLst/>
        </p:spPr>
      </p:pic>
      <p:sp>
        <p:nvSpPr>
          <p:cNvPr id="11" name="Oval 43">
            <a:extLst>
              <a:ext uri="{FF2B5EF4-FFF2-40B4-BE49-F238E27FC236}">
                <a16:creationId xmlns:a16="http://schemas.microsoft.com/office/drawing/2014/main" id="{72B4FB6F-6763-191D-367B-6D9493FDE909}"/>
              </a:ext>
            </a:extLst>
          </p:cNvPr>
          <p:cNvSpPr>
            <a:spLocks/>
          </p:cNvSpPr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>
                  <a:alpha val="0"/>
                </a:schemeClr>
              </a:gs>
              <a:gs pos="55000">
                <a:schemeClr val="accent1">
                  <a:alpha val="14976"/>
                </a:schemeClr>
              </a:gs>
              <a:gs pos="100000">
                <a:schemeClr val="accent1"/>
              </a:gs>
            </a:gsLst>
            <a:lin ang="15000000" scaled="0"/>
          </a:gradFill>
          <a:ln w="9525">
            <a:gradFill>
              <a:gsLst>
                <a:gs pos="8000">
                  <a:schemeClr val="accent3">
                    <a:lumMod val="20000"/>
                    <a:lumOff val="80000"/>
                    <a:alpha val="52718"/>
                  </a:schemeClr>
                </a:gs>
                <a:gs pos="24000">
                  <a:schemeClr val="accent3">
                    <a:alpha val="49000"/>
                  </a:schemeClr>
                </a:gs>
                <a:gs pos="51000">
                  <a:schemeClr val="accent3">
                    <a:alpha val="0"/>
                  </a:schemeClr>
                </a:gs>
              </a:gsLst>
              <a:lin ang="13200000" scaled="0"/>
            </a:gradFill>
          </a:ln>
          <a:effectLst>
            <a:innerShdw blurRad="209594" dist="204382" dir="13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sp>
        <p:nvSpPr>
          <p:cNvPr id="31" name="Boog 30">
            <a:extLst>
              <a:ext uri="{FF2B5EF4-FFF2-40B4-BE49-F238E27FC236}">
                <a16:creationId xmlns:a16="http://schemas.microsoft.com/office/drawing/2014/main" id="{2E76718F-E362-2675-C4E3-B79D88D026C1}"/>
              </a:ext>
            </a:extLst>
          </p:cNvPr>
          <p:cNvSpPr>
            <a:spLocks noChangeAspect="1"/>
          </p:cNvSpPr>
          <p:nvPr/>
        </p:nvSpPr>
        <p:spPr>
          <a:xfrm>
            <a:off x="3385191" y="1063763"/>
            <a:ext cx="5342400" cy="5342400"/>
          </a:xfrm>
          <a:prstGeom prst="arc">
            <a:avLst>
              <a:gd name="adj1" fmla="val 8266711"/>
              <a:gd name="adj2" fmla="val 12416581"/>
            </a:avLst>
          </a:prstGeom>
          <a:ln w="12700">
            <a:gradFill>
              <a:gsLst>
                <a:gs pos="83000">
                  <a:schemeClr val="accent3"/>
                </a:gs>
                <a:gs pos="16000">
                  <a:schemeClr val="accent3"/>
                </a:gs>
                <a:gs pos="0">
                  <a:schemeClr val="accent3">
                    <a:alpha val="0"/>
                  </a:schemeClr>
                </a:gs>
                <a:gs pos="100000">
                  <a:schemeClr val="accent3">
                    <a:alpha val="0"/>
                  </a:scheme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DE8DECA9-24CF-753A-9E3D-ED81D7412706}"/>
              </a:ext>
            </a:extLst>
          </p:cNvPr>
          <p:cNvSpPr txBox="1">
            <a:spLocks/>
          </p:cNvSpPr>
          <p:nvPr/>
        </p:nvSpPr>
        <p:spPr>
          <a:xfrm>
            <a:off x="773951" y="2467036"/>
            <a:ext cx="2725576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>
                  <a:outerShdw blurRad="229337" sx="102000" sy="102000" algn="ctr" rotWithShape="0">
                    <a:srgbClr val="1763FF">
                      <a:alpha val="20000"/>
                    </a:srgbClr>
                  </a:outerShdw>
                </a:effectLst>
                <a:uLnTx/>
                <a:uFillTx/>
                <a:latin typeface="☞NOIR PRO MEDIUM" pitchFamily="2" charset="0"/>
                <a:ea typeface="+mn-ea"/>
                <a:cs typeface="+mn-cs"/>
              </a:rPr>
              <a:t>Model sub-characteristics</a:t>
            </a:r>
          </a:p>
        </p:txBody>
      </p:sp>
      <p:sp>
        <p:nvSpPr>
          <p:cNvPr id="29" name="Ovaal 28">
            <a:extLst>
              <a:ext uri="{FF2B5EF4-FFF2-40B4-BE49-F238E27FC236}">
                <a16:creationId xmlns:a16="http://schemas.microsoft.com/office/drawing/2014/main" id="{FB20B4AB-9225-343C-3039-7D6D4668EBFC}"/>
              </a:ext>
            </a:extLst>
          </p:cNvPr>
          <p:cNvSpPr>
            <a:spLocks/>
          </p:cNvSpPr>
          <p:nvPr/>
        </p:nvSpPr>
        <p:spPr>
          <a:xfrm>
            <a:off x="3385191" y="3111240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vaal 29">
            <a:extLst>
              <a:ext uri="{FF2B5EF4-FFF2-40B4-BE49-F238E27FC236}">
                <a16:creationId xmlns:a16="http://schemas.microsoft.com/office/drawing/2014/main" id="{2E5481D9-8C0E-A2F0-820F-EC973CFB7F55}"/>
              </a:ext>
            </a:extLst>
          </p:cNvPr>
          <p:cNvSpPr>
            <a:spLocks/>
          </p:cNvSpPr>
          <p:nvPr/>
        </p:nvSpPr>
        <p:spPr>
          <a:xfrm>
            <a:off x="3324388" y="3825339"/>
            <a:ext cx="126489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vaal 31">
            <a:extLst>
              <a:ext uri="{FF2B5EF4-FFF2-40B4-BE49-F238E27FC236}">
                <a16:creationId xmlns:a16="http://schemas.microsoft.com/office/drawing/2014/main" id="{F992DA66-29D9-1466-1F41-2D8827291212}"/>
              </a:ext>
            </a:extLst>
          </p:cNvPr>
          <p:cNvSpPr>
            <a:spLocks/>
          </p:cNvSpPr>
          <p:nvPr/>
        </p:nvSpPr>
        <p:spPr>
          <a:xfrm>
            <a:off x="3467971" y="4563771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vaal 35">
            <a:extLst>
              <a:ext uri="{FF2B5EF4-FFF2-40B4-BE49-F238E27FC236}">
                <a16:creationId xmlns:a16="http://schemas.microsoft.com/office/drawing/2014/main" id="{B435B4C7-661B-FDF9-E7D5-7747088120FF}"/>
              </a:ext>
            </a:extLst>
          </p:cNvPr>
          <p:cNvSpPr>
            <a:spLocks/>
          </p:cNvSpPr>
          <p:nvPr/>
        </p:nvSpPr>
        <p:spPr>
          <a:xfrm>
            <a:off x="3645999" y="4985107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kstvak 37">
            <a:extLst>
              <a:ext uri="{FF2B5EF4-FFF2-40B4-BE49-F238E27FC236}">
                <a16:creationId xmlns:a16="http://schemas.microsoft.com/office/drawing/2014/main" id="{10D3DB77-BAAE-D993-38A8-5175851EB1D3}"/>
              </a:ext>
            </a:extLst>
          </p:cNvPr>
          <p:cNvSpPr txBox="1">
            <a:spLocks/>
          </p:cNvSpPr>
          <p:nvPr/>
        </p:nvSpPr>
        <p:spPr>
          <a:xfrm>
            <a:off x="393577" y="2957541"/>
            <a:ext cx="2933901" cy="63543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SIG Language productivity benchmark</a:t>
            </a:r>
          </a:p>
        </p:txBody>
      </p:sp>
      <p:sp>
        <p:nvSpPr>
          <p:cNvPr id="39" name="Tekstvak 38">
            <a:extLst>
              <a:ext uri="{FF2B5EF4-FFF2-40B4-BE49-F238E27FC236}">
                <a16:creationId xmlns:a16="http://schemas.microsoft.com/office/drawing/2014/main" id="{7E259356-0193-A86A-4CEE-5A1813E29242}"/>
              </a:ext>
            </a:extLst>
          </p:cNvPr>
          <p:cNvSpPr txBox="1">
            <a:spLocks/>
          </p:cNvSpPr>
          <p:nvPr/>
        </p:nvSpPr>
        <p:spPr>
          <a:xfrm>
            <a:off x="225737" y="3691833"/>
            <a:ext cx="3058740" cy="63543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SIG Maintainability benchmark</a:t>
            </a:r>
          </a:p>
        </p:txBody>
      </p:sp>
      <p:sp>
        <p:nvSpPr>
          <p:cNvPr id="40" name="Tekstvak 39">
            <a:extLst>
              <a:ext uri="{FF2B5EF4-FFF2-40B4-BE49-F238E27FC236}">
                <a16:creationId xmlns:a16="http://schemas.microsoft.com/office/drawing/2014/main" id="{5F0DC96E-F7E0-F74E-E1F1-46E5AC30F48C}"/>
              </a:ext>
            </a:extLst>
          </p:cNvPr>
          <p:cNvSpPr txBox="1">
            <a:spLocks/>
          </p:cNvSpPr>
          <p:nvPr/>
        </p:nvSpPr>
        <p:spPr>
          <a:xfrm>
            <a:off x="942233" y="4426125"/>
            <a:ext cx="2472300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Software metric results</a:t>
            </a:r>
          </a:p>
        </p:txBody>
      </p:sp>
      <p:sp>
        <p:nvSpPr>
          <p:cNvPr id="41" name="Tekstvak 40">
            <a:extLst>
              <a:ext uri="{FF2B5EF4-FFF2-40B4-BE49-F238E27FC236}">
                <a16:creationId xmlns:a16="http://schemas.microsoft.com/office/drawing/2014/main" id="{F793CE3A-19AA-C87F-F0EE-2C1B9143E48E}"/>
              </a:ext>
            </a:extLst>
          </p:cNvPr>
          <p:cNvSpPr txBox="1">
            <a:spLocks/>
          </p:cNvSpPr>
          <p:nvPr/>
        </p:nvSpPr>
        <p:spPr>
          <a:xfrm>
            <a:off x="2044729" y="4851797"/>
            <a:ext cx="1518514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Configuration</a:t>
            </a:r>
          </a:p>
        </p:txBody>
      </p:sp>
    </p:spTree>
    <p:extLst>
      <p:ext uri="{BB962C8B-B14F-4D97-AF65-F5344CB8AC3E}">
        <p14:creationId xmlns:p14="http://schemas.microsoft.com/office/powerpoint/2010/main" val="837537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D655E-F97C-8287-6A0E-D45434C8F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4ABE8-C279-D9E6-AC8C-52F1BD5E75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674945" cy="228145"/>
          </a:xfrm>
        </p:spPr>
        <p:txBody>
          <a:bodyPr/>
          <a:lstStyle/>
          <a:p>
            <a:r>
              <a:rPr lang="en-US" noProof="0" dirty="0"/>
              <a:t>Key findings – Cost estimation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14C925DB-E118-F4E3-AF41-5BD45439B8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5575" y="1411288"/>
            <a:ext cx="8245902" cy="484187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The code volume totals </a:t>
            </a:r>
            <a:r>
              <a:rPr lang="en-US" noProof="0" dirty="0" err="1"/>
              <a:t>SYSTEM_PY</a:t>
            </a:r>
            <a:r>
              <a:rPr lang="en-US" noProof="0" dirty="0"/>
              <a:t> person years of theoretical rebuild volume.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The average maintainability level is </a:t>
            </a:r>
            <a:r>
              <a:rPr lang="en-US" noProof="0" dirty="0" err="1"/>
              <a:t>MAINT_RELATIVE</a:t>
            </a:r>
            <a:r>
              <a:rPr lang="en-US" noProof="0" dirty="0"/>
              <a:t>. For modern systems built in common technologies, at minimum a 4-star rating is recommended to avoid unnecessary maintenance cost.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 err="1"/>
              <a:t>MAINTENANCE_FTE</a:t>
            </a:r>
            <a:r>
              <a:rPr lang="en-US" noProof="0" dirty="0"/>
              <a:t> FTE of development effort is recommended for maintenance alone.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Approximately </a:t>
            </a:r>
            <a:r>
              <a:rPr lang="en-US" dirty="0"/>
              <a:t>RENOVATION_EFFORT_PY</a:t>
            </a:r>
            <a:r>
              <a:rPr lang="en-US" noProof="0" dirty="0"/>
              <a:t> person years is required to renovate the system towards the recommended 4-star level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6403D236-46DC-F53D-82C2-4D20A0AF68A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B92D6C-0D69-FCB1-5EE4-95B2A83103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657FF3-6619-08B7-D7FA-29D947004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US" noProof="0" dirty="0"/>
              <a:t>SYSTEM_NAME technical debt is RENOVATION_EFFORT_PY person </a:t>
            </a:r>
            <a:r>
              <a:rPr lang="en-US" noProof="0"/>
              <a:t>years (RENOVATION_EFFORT_PERCENTAGE% </a:t>
            </a:r>
            <a:r>
              <a:rPr lang="en-US" noProof="0" dirty="0"/>
              <a:t>of its volume)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899634-9D42-069D-8642-EC64A877D766}"/>
              </a:ext>
            </a:extLst>
          </p:cNvPr>
          <p:cNvSpPr/>
          <p:nvPr/>
        </p:nvSpPr>
        <p:spPr>
          <a:xfrm>
            <a:off x="8202139" y="1711842"/>
            <a:ext cx="3600840" cy="4338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TextBox 20">
            <a:extLst>
              <a:ext uri="{FF2B5EF4-FFF2-40B4-BE49-F238E27FC236}">
                <a16:creationId xmlns:a16="http://schemas.microsoft.com/office/drawing/2014/main" id="{C4DC25EC-B24A-5D12-8A8F-843FC11DA1F0}"/>
              </a:ext>
            </a:extLst>
          </p:cNvPr>
          <p:cNvSpPr txBox="1"/>
          <p:nvPr/>
        </p:nvSpPr>
        <p:spPr>
          <a:xfrm>
            <a:off x="2096093" y="6441308"/>
            <a:ext cx="9428642" cy="256609"/>
          </a:xfrm>
          <a:prstGeom prst="rect">
            <a:avLst/>
          </a:prstGeom>
          <a:noFill/>
        </p:spPr>
        <p:txBody>
          <a:bodyPr wrap="square" lIns="0" tIns="45720" rIns="0" bIns="4572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000" noProof="0" dirty="0">
                <a:solidFill>
                  <a:schemeClr val="bg2">
                    <a:lumMod val="50000"/>
                  </a:schemeClr>
                </a:solidFill>
              </a:rPr>
              <a:t>* At an assumed cost of </a:t>
            </a:r>
            <a:r>
              <a:rPr lang="en-US" sz="1000" b="1" i="0" noProof="0" dirty="0">
                <a:solidFill>
                  <a:schemeClr val="bg2">
                    <a:lumMod val="50000"/>
                  </a:schemeClr>
                </a:solidFill>
                <a:effectLst/>
                <a:latin typeface="Google Sans"/>
              </a:rPr>
              <a:t>€</a:t>
            </a:r>
            <a:r>
              <a:rPr lang="en-US" sz="1000" b="1" noProof="0" dirty="0">
                <a:solidFill>
                  <a:schemeClr val="bg2">
                    <a:lumMod val="50000"/>
                  </a:schemeClr>
                </a:solidFill>
              </a:rPr>
              <a:t>150K/FTE per year</a:t>
            </a:r>
            <a:r>
              <a:rPr lang="en-US" sz="1000" noProof="0" dirty="0">
                <a:solidFill>
                  <a:schemeClr val="bg2">
                    <a:lumMod val="50000"/>
                  </a:schemeClr>
                </a:solidFill>
              </a:rPr>
              <a:t>; Costs address software development effort, no additional project (management) costs.</a:t>
            </a:r>
          </a:p>
        </p:txBody>
      </p:sp>
      <p:cxnSp>
        <p:nvCxnSpPr>
          <p:cNvPr id="28" name="Straight Connector 6">
            <a:extLst>
              <a:ext uri="{FF2B5EF4-FFF2-40B4-BE49-F238E27FC236}">
                <a16:creationId xmlns:a16="http://schemas.microsoft.com/office/drawing/2014/main" id="{BC9E30B0-576B-88A2-00C1-921F32E0F2D8}"/>
              </a:ext>
            </a:extLst>
          </p:cNvPr>
          <p:cNvCxnSpPr>
            <a:cxnSpLocks/>
          </p:cNvCxnSpPr>
          <p:nvPr/>
        </p:nvCxnSpPr>
        <p:spPr>
          <a:xfrm>
            <a:off x="8460712" y="1525524"/>
            <a:ext cx="0" cy="4505033"/>
          </a:xfrm>
          <a:prstGeom prst="line">
            <a:avLst/>
          </a:prstGeom>
          <a:ln w="12700">
            <a:solidFill>
              <a:srgbClr val="B3BECD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14">
            <a:extLst>
              <a:ext uri="{FF2B5EF4-FFF2-40B4-BE49-F238E27FC236}">
                <a16:creationId xmlns:a16="http://schemas.microsoft.com/office/drawing/2014/main" id="{D9EF6390-5FE2-830E-BA6B-5297C426F1C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81292" y="1420924"/>
            <a:ext cx="1379052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600" noProof="0" dirty="0">
                <a:latin typeface="☞NOIR PRO MEDIUM" pitchFamily="2" charset="0"/>
              </a:rPr>
              <a:t>Terminology</a:t>
            </a:r>
          </a:p>
        </p:txBody>
      </p:sp>
      <p:graphicFrame>
        <p:nvGraphicFramePr>
          <p:cNvPr id="6" name="Table 10">
            <a:extLst>
              <a:ext uri="{FF2B5EF4-FFF2-40B4-BE49-F238E27FC236}">
                <a16:creationId xmlns:a16="http://schemas.microsoft.com/office/drawing/2014/main" id="{5EC81CC7-8162-6B1C-495A-A6286EDF4C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280873"/>
              </p:ext>
            </p:extLst>
          </p:nvPr>
        </p:nvGraphicFramePr>
        <p:xfrm>
          <a:off x="154800" y="3881008"/>
          <a:ext cx="8104657" cy="135480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2065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14339150"/>
                    </a:ext>
                  </a:extLst>
                </a:gridCol>
                <a:gridCol w="1197428">
                  <a:extLst>
                    <a:ext uri="{9D8B030D-6E8A-4147-A177-3AD203B41FA5}">
                      <a16:colId xmlns:a16="http://schemas.microsoft.com/office/drawing/2014/main" val="2067085742"/>
                    </a:ext>
                  </a:extLst>
                </a:gridCol>
                <a:gridCol w="1230086">
                  <a:extLst>
                    <a:ext uri="{9D8B030D-6E8A-4147-A177-3AD203B41FA5}">
                      <a16:colId xmlns:a16="http://schemas.microsoft.com/office/drawing/2014/main" val="3304719765"/>
                    </a:ext>
                  </a:extLst>
                </a:gridCol>
                <a:gridCol w="1184218">
                  <a:extLst>
                    <a:ext uri="{9D8B030D-6E8A-4147-A177-3AD203B41FA5}">
                      <a16:colId xmlns:a16="http://schemas.microsoft.com/office/drawing/2014/main" val="377289107"/>
                    </a:ext>
                  </a:extLst>
                </a:gridCol>
                <a:gridCol w="1251382">
                  <a:extLst>
                    <a:ext uri="{9D8B030D-6E8A-4147-A177-3AD203B41FA5}">
                      <a16:colId xmlns:a16="http://schemas.microsoft.com/office/drawing/2014/main" val="16993432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tx1"/>
                          </a:solidFill>
                          <a:latin typeface="Noir Pro Medium" pitchFamily="2" charset="0"/>
                        </a:rPr>
                        <a:t>System</a:t>
                      </a:r>
                      <a:endParaRPr lang="en-US" sz="1400" b="0" i="0" noProof="0" dirty="0">
                        <a:solidFill>
                          <a:schemeClr val="tx1"/>
                        </a:solidFill>
                        <a:latin typeface="Noir Pro Medium" pitchFamily="2" charset="0"/>
                        <a:cs typeface="TheSans B4 SemiLight"/>
                      </a:endParaRPr>
                    </a:p>
                  </a:txBody>
                  <a:tcPr marL="216000" marR="108000" marT="72000" marB="72000" anchor="ctr"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bg1"/>
                          </a:solidFill>
                          <a:latin typeface="Noir Pro Medium" pitchFamily="2" charset="0"/>
                          <a:cs typeface="TheSans B4 SemiLight"/>
                        </a:rPr>
                        <a:t>Code </a:t>
                      </a:r>
                      <a:br>
                        <a:rPr lang="en-US" sz="1400" b="0" i="0" noProof="0" dirty="0">
                          <a:solidFill>
                            <a:schemeClr val="bg1"/>
                          </a:solidFill>
                          <a:latin typeface="Noir Pro Medium" pitchFamily="2" charset="0"/>
                          <a:cs typeface="TheSans B4 SemiLight"/>
                        </a:rPr>
                      </a:br>
                      <a:r>
                        <a:rPr lang="en-US" sz="1400" b="0" i="0" noProof="0" dirty="0">
                          <a:solidFill>
                            <a:schemeClr val="bg1"/>
                          </a:solidFill>
                          <a:latin typeface="Noir Pro Medium" pitchFamily="2" charset="0"/>
                          <a:cs typeface="TheSans B4 SemiLight"/>
                        </a:rPr>
                        <a:t>volume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bg1"/>
                          </a:solidFill>
                          <a:latin typeface="Noir Pro Medium" pitchFamily="2" charset="0"/>
                          <a:cs typeface="TheSans B4 SemiLight"/>
                        </a:rPr>
                        <a:t>Technical debt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tx1"/>
                          </a:solidFill>
                          <a:latin typeface="Noir Pro Medium" pitchFamily="2" charset="0"/>
                          <a:cs typeface="TheSans B4 SemiLight"/>
                        </a:rPr>
                        <a:t>Projected maintenance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tx1"/>
                          </a:solidFill>
                          <a:latin typeface="Noir Pro Medium" pitchFamily="2" charset="0"/>
                          <a:cs typeface="TheSans B4 SemiLight"/>
                        </a:rPr>
                        <a:t>Available capacity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tx1"/>
                          </a:solidFill>
                          <a:latin typeface="Noir Pro Medium" pitchFamily="2" charset="0"/>
                          <a:cs typeface="TheSans B4 SemiLight"/>
                        </a:rPr>
                        <a:t>Innovation capacity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7C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b="0" noProof="0" dirty="0" err="1">
                          <a:solidFill>
                            <a:schemeClr val="tx1"/>
                          </a:solidFill>
                        </a:rPr>
                        <a:t>SYSTEM_NAME</a:t>
                      </a:r>
                      <a:endParaRPr lang="en-US" sz="14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216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noProof="0" dirty="0" err="1">
                          <a:solidFill>
                            <a:schemeClr val="tx1"/>
                          </a:solidFill>
                        </a:rPr>
                        <a:t>SYSTEM_PY</a:t>
                      </a:r>
                      <a:r>
                        <a:rPr lang="en-US" sz="1400" b="0" i="0" noProof="0" dirty="0">
                          <a:solidFill>
                            <a:schemeClr val="tx1"/>
                          </a:solidFill>
                        </a:rPr>
                        <a:t> PY</a:t>
                      </a:r>
                    </a:p>
                  </a:txBody>
                  <a:tcPr marT="72000" marB="72000" anchor="ctr">
                    <a:lnL w="9525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RENOVATION_EFFORT_PY PY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MAINTENANCE_FTE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FTE</a:t>
                      </a:r>
                    </a:p>
                  </a:txBody>
                  <a:tcPr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@@ FTE</a:t>
                      </a:r>
                    </a:p>
                  </a:txBody>
                  <a:tcPr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noProof="0" dirty="0">
                          <a:solidFill>
                            <a:schemeClr val="tx1"/>
                          </a:solidFill>
                        </a:rPr>
                        <a:t>@@ FTE (@@%)</a:t>
                      </a:r>
                    </a:p>
                  </a:txBody>
                  <a:tcPr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98F1D6A9-6AA2-B77F-75EA-F5693038D876}"/>
              </a:ext>
            </a:extLst>
          </p:cNvPr>
          <p:cNvSpPr/>
          <p:nvPr/>
        </p:nvSpPr>
        <p:spPr>
          <a:xfrm>
            <a:off x="8202139" y="1711842"/>
            <a:ext cx="3600840" cy="4338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Rectangle 51">
            <a:extLst>
              <a:ext uri="{FF2B5EF4-FFF2-40B4-BE49-F238E27FC236}">
                <a16:creationId xmlns:a16="http://schemas.microsoft.com/office/drawing/2014/main" id="{6B7B3571-B154-08F5-EAB8-EDBD315AC9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581291" y="1762133"/>
            <a:ext cx="3453503" cy="4513424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80975" indent="-17145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b="1" noProof="0" dirty="0">
                <a:solidFill>
                  <a:schemeClr val="accent2"/>
                </a:solidFill>
              </a:rPr>
              <a:t>Code volume </a:t>
            </a:r>
            <a:r>
              <a:rPr lang="en-US" sz="1200" noProof="0" dirty="0">
                <a:solidFill>
                  <a:schemeClr val="tx1"/>
                </a:solidFill>
              </a:rPr>
              <a:t>is the estimated amount of development effort to produce the current amount of lines of code.</a:t>
            </a:r>
          </a:p>
          <a:p>
            <a:pPr marL="171450" indent="-17145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b="1" noProof="0" dirty="0">
                <a:solidFill>
                  <a:schemeClr val="accent5"/>
                </a:solidFill>
              </a:rPr>
              <a:t>Technical debt</a:t>
            </a:r>
            <a:r>
              <a:rPr lang="en-US" sz="1200" noProof="0" dirty="0">
                <a:solidFill>
                  <a:schemeClr val="accent5"/>
                </a:solidFill>
              </a:rPr>
              <a:t> </a:t>
            </a:r>
            <a:r>
              <a:rPr lang="en-US" sz="1200" noProof="0" dirty="0">
                <a:solidFill>
                  <a:schemeClr val="tx1"/>
                </a:solidFill>
              </a:rPr>
              <a:t>is the estimated amount of development effort to improve the Maintainability of the system to a given target rating (typically 3.5). The recommended target level can be adjusted, depending on the context of the system.</a:t>
            </a:r>
          </a:p>
          <a:p>
            <a:pPr marL="171450" indent="-17145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The yearly </a:t>
            </a:r>
            <a:r>
              <a:rPr lang="en-US" sz="1200" b="1" noProof="0" dirty="0">
                <a:solidFill>
                  <a:schemeClr val="accent4">
                    <a:lumMod val="75000"/>
                  </a:schemeClr>
                </a:solidFill>
              </a:rPr>
              <a:t>Projected maintenance </a:t>
            </a:r>
            <a:r>
              <a:rPr lang="en-US" sz="1200" noProof="0" dirty="0">
                <a:solidFill>
                  <a:schemeClr val="tx1"/>
                </a:solidFill>
              </a:rPr>
              <a:t>is calculated using the code volume and quality. It assumes an annual 15% required change rate in the code base (where 5% is considered the minimum in an EOL lifecycle phase). </a:t>
            </a:r>
            <a:r>
              <a:rPr lang="en-US" sz="1200" b="1" noProof="0" dirty="0">
                <a:solidFill>
                  <a:schemeClr val="tx1"/>
                </a:solidFill>
              </a:rPr>
              <a:t>Spending less effort is likely to deteriorate the maintainability.</a:t>
            </a:r>
            <a:endParaRPr lang="en-US" sz="1200" b="1" noProof="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b="1" noProof="0" dirty="0">
                <a:solidFill>
                  <a:schemeClr val="accent3"/>
                </a:solidFill>
              </a:rPr>
              <a:t>Available capacity </a:t>
            </a:r>
            <a:r>
              <a:rPr lang="en-US" sz="1200" noProof="0" dirty="0">
                <a:solidFill>
                  <a:schemeClr val="tx1"/>
                </a:solidFill>
              </a:rPr>
              <a:t>is checked based on the number of developers working on the codebase in the past 12 months.</a:t>
            </a:r>
          </a:p>
          <a:p>
            <a:pPr marL="171450" indent="-17145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b="1" noProof="0" dirty="0">
                <a:solidFill>
                  <a:srgbClr val="57C968"/>
                </a:solidFill>
              </a:rPr>
              <a:t>Innovation capacity </a:t>
            </a:r>
            <a:r>
              <a:rPr lang="en-US" sz="1200" noProof="0" dirty="0">
                <a:solidFill>
                  <a:schemeClr val="tx1"/>
                </a:solidFill>
              </a:rPr>
              <a:t>is the number of FTE available for innovation, calculated by subtracting projected FTE from the available FTE</a:t>
            </a:r>
          </a:p>
          <a:p>
            <a:pPr marL="285750" indent="-285750">
              <a:buClr>
                <a:schemeClr val="tx1">
                  <a:lumMod val="50000"/>
                  <a:lumOff val="50000"/>
                </a:schemeClr>
              </a:buClr>
              <a:buFont typeface=".AppleSystemUIFont"/>
              <a:buChar char="&gt;"/>
            </a:pPr>
            <a:endParaRPr lang="en-US" sz="1400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3" name="Straight Connector 16">
            <a:extLst>
              <a:ext uri="{FF2B5EF4-FFF2-40B4-BE49-F238E27FC236}">
                <a16:creationId xmlns:a16="http://schemas.microsoft.com/office/drawing/2014/main" id="{513C36C2-BD39-7400-5EF7-2B2BE3F5165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703278" y="1873108"/>
            <a:ext cx="0" cy="414914"/>
          </a:xfrm>
          <a:prstGeom prst="line">
            <a:avLst/>
          </a:prstGeom>
          <a:ln w="63500" cap="rnd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7">
            <a:extLst>
              <a:ext uri="{FF2B5EF4-FFF2-40B4-BE49-F238E27FC236}">
                <a16:creationId xmlns:a16="http://schemas.microsoft.com/office/drawing/2014/main" id="{33E8D316-CE81-857A-9A37-7374096B09B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703278" y="2564969"/>
            <a:ext cx="0" cy="996937"/>
          </a:xfrm>
          <a:prstGeom prst="line">
            <a:avLst/>
          </a:prstGeom>
          <a:ln w="63500" cap="rnd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8">
            <a:extLst>
              <a:ext uri="{FF2B5EF4-FFF2-40B4-BE49-F238E27FC236}">
                <a16:creationId xmlns:a16="http://schemas.microsoft.com/office/drawing/2014/main" id="{031E0116-E325-3696-9898-7AEA82AA33E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703278" y="3814079"/>
            <a:ext cx="0" cy="972937"/>
          </a:xfrm>
          <a:prstGeom prst="line">
            <a:avLst/>
          </a:prstGeom>
          <a:ln w="63500" cap="rnd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6">
            <a:extLst>
              <a:ext uri="{FF2B5EF4-FFF2-40B4-BE49-F238E27FC236}">
                <a16:creationId xmlns:a16="http://schemas.microsoft.com/office/drawing/2014/main" id="{F2890E64-F917-1103-3B56-C727E285854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703278" y="5082702"/>
            <a:ext cx="0" cy="414914"/>
          </a:xfrm>
          <a:prstGeom prst="line">
            <a:avLst/>
          </a:prstGeom>
          <a:ln w="63500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0578821-521C-DF0B-77D9-5727D80D243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703278" y="5788878"/>
            <a:ext cx="0" cy="414914"/>
          </a:xfrm>
          <a:prstGeom prst="line">
            <a:avLst/>
          </a:prstGeom>
          <a:ln w="63500" cap="rnd">
            <a:solidFill>
              <a:srgbClr val="57C96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6569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99029-494E-D668-93B1-7F49FC34F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Oval 91">
            <a:extLst>
              <a:ext uri="{FF2B5EF4-FFF2-40B4-BE49-F238E27FC236}">
                <a16:creationId xmlns:a16="http://schemas.microsoft.com/office/drawing/2014/main" id="{378968FB-3711-3026-1330-401242361C5B}"/>
              </a:ext>
            </a:extLst>
          </p:cNvPr>
          <p:cNvSpPr/>
          <p:nvPr/>
        </p:nvSpPr>
        <p:spPr>
          <a:xfrm>
            <a:off x="3385191" y="1063763"/>
            <a:ext cx="5340638" cy="5340638"/>
          </a:xfrm>
          <a:prstGeom prst="ellipse">
            <a:avLst/>
          </a:prstGeom>
          <a:gradFill>
            <a:gsLst>
              <a:gs pos="0">
                <a:schemeClr val="accent2">
                  <a:alpha val="15073"/>
                </a:schemeClr>
              </a:gs>
              <a:gs pos="43000">
                <a:schemeClr val="accent2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D589D5F7-9445-B968-24E7-C852C6FE25B8}"/>
              </a:ext>
            </a:extLst>
          </p:cNvPr>
          <p:cNvSpPr/>
          <p:nvPr/>
        </p:nvSpPr>
        <p:spPr>
          <a:xfrm>
            <a:off x="4004388" y="1634792"/>
            <a:ext cx="4180824" cy="4180824"/>
          </a:xfrm>
          <a:prstGeom prst="ellipse">
            <a:avLst/>
          </a:prstGeom>
          <a:gradFill>
            <a:gsLst>
              <a:gs pos="0">
                <a:schemeClr val="accent2">
                  <a:alpha val="20000"/>
                </a:schemeClr>
              </a:gs>
              <a:gs pos="43000">
                <a:schemeClr val="accent2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8492BCF5-82F4-DA5D-4789-A5B31042FC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571F068-8C71-3D21-62FF-DAD3558519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0CE3D29-F258-C742-2A14-BCF03986DEC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70" name="Title 69">
            <a:extLst>
              <a:ext uri="{FF2B5EF4-FFF2-40B4-BE49-F238E27FC236}">
                <a16:creationId xmlns:a16="http://schemas.microsoft.com/office/drawing/2014/main" id="{FEE2E2EB-95CB-3211-6E1B-4E3530EAF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Explanation: The ISO 25010 standard for Maintainability has 5 sub-characteristics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BBBE6C2-E269-6739-DCEE-23464110F405}"/>
              </a:ext>
            </a:extLst>
          </p:cNvPr>
          <p:cNvSpPr/>
          <p:nvPr/>
        </p:nvSpPr>
        <p:spPr>
          <a:xfrm>
            <a:off x="4673297" y="2304400"/>
            <a:ext cx="2849490" cy="2849490"/>
          </a:xfrm>
          <a:prstGeom prst="ellipse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FA26AD2-CD18-09AA-6259-47A153EFE58B}"/>
              </a:ext>
            </a:extLst>
          </p:cNvPr>
          <p:cNvSpPr/>
          <p:nvPr/>
        </p:nvSpPr>
        <p:spPr>
          <a:xfrm>
            <a:off x="5029556" y="2660659"/>
            <a:ext cx="2136972" cy="2136972"/>
          </a:xfrm>
          <a:prstGeom prst="ellipse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FAF19FF-BA37-4380-8088-C15619A977BB}"/>
              </a:ext>
            </a:extLst>
          </p:cNvPr>
          <p:cNvSpPr/>
          <p:nvPr/>
        </p:nvSpPr>
        <p:spPr>
          <a:xfrm>
            <a:off x="5326438" y="2957541"/>
            <a:ext cx="1543208" cy="1543208"/>
          </a:xfrm>
          <a:prstGeom prst="ellipse">
            <a:avLst/>
          </a:prstGeom>
          <a:gradFill>
            <a:gsLst>
              <a:gs pos="9000">
                <a:schemeClr val="accent2"/>
              </a:gs>
              <a:gs pos="50000">
                <a:schemeClr val="accent2">
                  <a:alpha val="15753"/>
                </a:schemeClr>
              </a:gs>
            </a:gsLst>
            <a:lin ang="2700000" scaled="0"/>
          </a:gradFill>
          <a:ln w="12700">
            <a:solidFill>
              <a:schemeClr val="accent2">
                <a:alpha val="2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307C4FC-5D3C-8B82-ABE5-E660625B78E4}"/>
              </a:ext>
            </a:extLst>
          </p:cNvPr>
          <p:cNvSpPr/>
          <p:nvPr/>
        </p:nvSpPr>
        <p:spPr>
          <a:xfrm>
            <a:off x="5568436" y="2929751"/>
            <a:ext cx="80980" cy="809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3E6D6D2-88F4-7BC7-6A46-956C025FCA17}"/>
              </a:ext>
            </a:extLst>
          </p:cNvPr>
          <p:cNvSpPr/>
          <p:nvPr/>
        </p:nvSpPr>
        <p:spPr>
          <a:xfrm>
            <a:off x="6273956" y="2796588"/>
            <a:ext cx="80980" cy="809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B747E2F-C70D-5244-BE82-8BC4127DBA7A}"/>
              </a:ext>
            </a:extLst>
          </p:cNvPr>
          <p:cNvSpPr/>
          <p:nvPr/>
        </p:nvSpPr>
        <p:spPr>
          <a:xfrm>
            <a:off x="5366019" y="4285002"/>
            <a:ext cx="53706" cy="53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E0BE4FB-999C-BF27-B8A7-24066A3BA8E6}"/>
              </a:ext>
            </a:extLst>
          </p:cNvPr>
          <p:cNvSpPr/>
          <p:nvPr/>
        </p:nvSpPr>
        <p:spPr>
          <a:xfrm>
            <a:off x="6782160" y="4192256"/>
            <a:ext cx="125744" cy="125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8056860-5CC6-F621-9AF7-D77ECA38E4A9}"/>
              </a:ext>
            </a:extLst>
          </p:cNvPr>
          <p:cNvSpPr/>
          <p:nvPr/>
        </p:nvSpPr>
        <p:spPr>
          <a:xfrm>
            <a:off x="5869449" y="4879641"/>
            <a:ext cx="64650" cy="646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1D96119-A37F-9FA6-9D63-881C9E5767A1}"/>
              </a:ext>
            </a:extLst>
          </p:cNvPr>
          <p:cNvSpPr/>
          <p:nvPr/>
        </p:nvSpPr>
        <p:spPr>
          <a:xfrm>
            <a:off x="6914740" y="4575176"/>
            <a:ext cx="114710" cy="11471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14CEDFBA-98DB-3774-1CF7-DBB1D4C2DAFF}"/>
              </a:ext>
            </a:extLst>
          </p:cNvPr>
          <p:cNvSpPr/>
          <p:nvPr/>
        </p:nvSpPr>
        <p:spPr>
          <a:xfrm>
            <a:off x="4854843" y="2491915"/>
            <a:ext cx="2499248" cy="2476634"/>
          </a:xfrm>
          <a:prstGeom prst="arc">
            <a:avLst>
              <a:gd name="adj1" fmla="val 17025432"/>
              <a:gd name="adj2" fmla="val 2774786"/>
            </a:avLst>
          </a:prstGeom>
          <a:ln w="9525">
            <a:gradFill>
              <a:gsLst>
                <a:gs pos="0">
                  <a:schemeClr val="accent4">
                    <a:alpha val="50179"/>
                  </a:schemeClr>
                </a:gs>
                <a:gs pos="99000">
                  <a:schemeClr val="accent4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50F3A37-B10B-6BF3-08EA-55E6FC5DEEC4}"/>
              </a:ext>
            </a:extLst>
          </p:cNvPr>
          <p:cNvCxnSpPr>
            <a:cxnSpLocks/>
          </p:cNvCxnSpPr>
          <p:nvPr/>
        </p:nvCxnSpPr>
        <p:spPr>
          <a:xfrm flipH="1">
            <a:off x="6308248" y="2534585"/>
            <a:ext cx="87026" cy="323621"/>
          </a:xfrm>
          <a:prstGeom prst="line">
            <a:avLst/>
          </a:prstGeom>
          <a:ln w="9525">
            <a:solidFill>
              <a:schemeClr val="accent4">
                <a:alpha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8E941E86-D981-FF71-D949-E2216C1311D3}"/>
              </a:ext>
            </a:extLst>
          </p:cNvPr>
          <p:cNvSpPr/>
          <p:nvPr/>
        </p:nvSpPr>
        <p:spPr>
          <a:xfrm>
            <a:off x="6357959" y="2486875"/>
            <a:ext cx="80980" cy="809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0731FB3-842F-CE4C-6A7D-C66BFBA979CB}"/>
              </a:ext>
            </a:extLst>
          </p:cNvPr>
          <p:cNvSpPr/>
          <p:nvPr/>
        </p:nvSpPr>
        <p:spPr>
          <a:xfrm>
            <a:off x="7254794" y="3280294"/>
            <a:ext cx="45720" cy="45720"/>
          </a:xfrm>
          <a:prstGeom prst="ellipse">
            <a:avLst/>
          </a:prstGeom>
          <a:solidFill>
            <a:srgbClr val="E98C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0BBCB73-C7CC-EF8D-3A7C-FC0B4B1C56A1}"/>
              </a:ext>
            </a:extLst>
          </p:cNvPr>
          <p:cNvSpPr/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/>
              </a:gs>
              <a:gs pos="55000">
                <a:schemeClr val="tx2"/>
              </a:gs>
              <a:gs pos="97000">
                <a:schemeClr val="accent1"/>
              </a:gs>
            </a:gsLst>
            <a:lin ang="150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E15D319-A4BF-BADF-EA8F-108D5DB2E930}"/>
              </a:ext>
            </a:extLst>
          </p:cNvPr>
          <p:cNvSpPr/>
          <p:nvPr/>
        </p:nvSpPr>
        <p:spPr>
          <a:xfrm>
            <a:off x="4827909" y="3511470"/>
            <a:ext cx="80980" cy="809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3B8DC8C-B95F-EDCF-F8D6-2F12C41BCD78}"/>
              </a:ext>
            </a:extLst>
          </p:cNvPr>
          <p:cNvCxnSpPr>
            <a:cxnSpLocks/>
          </p:cNvCxnSpPr>
          <p:nvPr/>
        </p:nvCxnSpPr>
        <p:spPr>
          <a:xfrm>
            <a:off x="6096000" y="4363444"/>
            <a:ext cx="0" cy="263379"/>
          </a:xfrm>
          <a:prstGeom prst="line">
            <a:avLst/>
          </a:prstGeom>
          <a:ln w="9525">
            <a:solidFill>
              <a:schemeClr val="accent2">
                <a:alpha val="80425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4FB75F26-044E-8FDB-8FC7-48A801F00A33}"/>
              </a:ext>
            </a:extLst>
          </p:cNvPr>
          <p:cNvSpPr/>
          <p:nvPr/>
        </p:nvSpPr>
        <p:spPr>
          <a:xfrm>
            <a:off x="6060913" y="4603426"/>
            <a:ext cx="70174" cy="7017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BC0DD81-BAF5-A5D9-3061-E49E7A4ED10C}"/>
              </a:ext>
            </a:extLst>
          </p:cNvPr>
          <p:cNvSpPr/>
          <p:nvPr/>
        </p:nvSpPr>
        <p:spPr>
          <a:xfrm>
            <a:off x="6040908" y="4313883"/>
            <a:ext cx="112242" cy="1122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72" name="Content Placeholder 70">
            <a:extLst>
              <a:ext uri="{FF2B5EF4-FFF2-40B4-BE49-F238E27FC236}">
                <a16:creationId xmlns:a16="http://schemas.microsoft.com/office/drawing/2014/main" id="{E6055D41-C03E-E248-ACEE-166CE141D420}"/>
              </a:ext>
            </a:extLst>
          </p:cNvPr>
          <p:cNvSpPr txBox="1">
            <a:spLocks/>
          </p:cNvSpPr>
          <p:nvPr/>
        </p:nvSpPr>
        <p:spPr>
          <a:xfrm>
            <a:off x="8399369" y="1411200"/>
            <a:ext cx="3399054" cy="4842000"/>
          </a:xfrm>
          <a:prstGeom prst="rect">
            <a:avLst/>
          </a:prstGeom>
        </p:spPr>
        <p:txBody>
          <a:bodyPr vert="horz" lIns="216000" tIns="0" rIns="91440" bIns="2743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400" noProof="0" dirty="0">
                <a:solidFill>
                  <a:schemeClr val="accent3"/>
                </a:solidFill>
                <a:latin typeface="Azeret Mono" pitchFamily="2" charset="77"/>
                <a:cs typeface="Azeret Mono" pitchFamily="2" charset="77"/>
              </a:rPr>
              <a:t>Maintainability is the </a:t>
            </a:r>
            <a:r>
              <a:rPr lang="en-US" sz="1400" noProof="0" dirty="0">
                <a:latin typeface="Azeret Mono" pitchFamily="2" charset="77"/>
                <a:cs typeface="Azeret Mono" pitchFamily="2" charset="77"/>
              </a:rPr>
              <a:t>degree of effectiveness and efficiency</a:t>
            </a:r>
            <a:r>
              <a:rPr lang="en-US" sz="1400" noProof="0" dirty="0">
                <a:solidFill>
                  <a:schemeClr val="accent3"/>
                </a:solidFill>
                <a:latin typeface="Azeret Mono" pitchFamily="2" charset="77"/>
                <a:cs typeface="Azeret Mono" pitchFamily="2" charset="77"/>
              </a:rPr>
              <a:t> with which a product or system </a:t>
            </a:r>
            <a:r>
              <a:rPr lang="en-US" sz="1400" noProof="0" dirty="0">
                <a:latin typeface="Azeret Mono" pitchFamily="2" charset="77"/>
                <a:cs typeface="Azeret Mono" pitchFamily="2" charset="77"/>
              </a:rPr>
              <a:t>can be modified</a:t>
            </a:r>
            <a:r>
              <a:rPr lang="en-US" sz="1400" noProof="0" dirty="0">
                <a:solidFill>
                  <a:schemeClr val="accent3"/>
                </a:solidFill>
                <a:latin typeface="Azeret Mono" pitchFamily="2" charset="77"/>
                <a:cs typeface="Azeret Mono" pitchFamily="2" charset="77"/>
              </a:rPr>
              <a:t> to improve it, correct it or adapt it to changes in environment, and in requirements.</a:t>
            </a:r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7CA71824-DE20-DA21-5CC7-3D536499FC0C}"/>
              </a:ext>
            </a:extLst>
          </p:cNvPr>
          <p:cNvSpPr/>
          <p:nvPr/>
        </p:nvSpPr>
        <p:spPr>
          <a:xfrm>
            <a:off x="4403883" y="2031167"/>
            <a:ext cx="3381834" cy="3405830"/>
          </a:xfrm>
          <a:prstGeom prst="arc">
            <a:avLst>
              <a:gd name="adj1" fmla="val 20386561"/>
              <a:gd name="adj2" fmla="val 13132678"/>
            </a:avLst>
          </a:prstGeom>
          <a:ln w="12700">
            <a:gradFill>
              <a:gsLst>
                <a:gs pos="98000">
                  <a:schemeClr val="bg1">
                    <a:alpha val="0"/>
                  </a:schemeClr>
                </a:gs>
                <a:gs pos="68000">
                  <a:schemeClr val="bg1">
                    <a:alpha val="29485"/>
                  </a:schemeClr>
                </a:gs>
                <a:gs pos="8000">
                  <a:schemeClr val="accent4"/>
                </a:gs>
                <a:gs pos="18000">
                  <a:schemeClr val="accent4">
                    <a:alpha val="45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9" name="Graphic 78">
            <a:extLst>
              <a:ext uri="{FF2B5EF4-FFF2-40B4-BE49-F238E27FC236}">
                <a16:creationId xmlns:a16="http://schemas.microsoft.com/office/drawing/2014/main" id="{DB38BDF3-5B3D-61AB-2CFF-AC99F2B0DD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8177" y="5298575"/>
            <a:ext cx="433246" cy="288828"/>
          </a:xfrm>
          <a:prstGeom prst="rect">
            <a:avLst/>
          </a:prstGeom>
          <a:effectLst/>
        </p:spPr>
      </p:pic>
      <p:grpSp>
        <p:nvGrpSpPr>
          <p:cNvPr id="2" name="Groep 1">
            <a:extLst>
              <a:ext uri="{FF2B5EF4-FFF2-40B4-BE49-F238E27FC236}">
                <a16:creationId xmlns:a16="http://schemas.microsoft.com/office/drawing/2014/main" id="{7CC85480-4E9F-88F0-82A3-297861B80249}"/>
              </a:ext>
            </a:extLst>
          </p:cNvPr>
          <p:cNvGrpSpPr/>
          <p:nvPr/>
        </p:nvGrpSpPr>
        <p:grpSpPr>
          <a:xfrm>
            <a:off x="5727023" y="3352101"/>
            <a:ext cx="750242" cy="750242"/>
            <a:chOff x="5933559" y="1864863"/>
            <a:chExt cx="328966" cy="328966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5EBEB883-B167-9258-9B3C-2408558E83C0}"/>
                </a:ext>
              </a:extLst>
            </p:cNvPr>
            <p:cNvSpPr/>
            <p:nvPr/>
          </p:nvSpPr>
          <p:spPr>
            <a:xfrm>
              <a:off x="5933559" y="1864863"/>
              <a:ext cx="328966" cy="328966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pic>
          <p:nvPicPr>
            <p:cNvPr id="98" name="Graphic 97">
              <a:extLst>
                <a:ext uri="{FF2B5EF4-FFF2-40B4-BE49-F238E27FC236}">
                  <a16:creationId xmlns:a16="http://schemas.microsoft.com/office/drawing/2014/main" id="{A1F63EEE-282A-49B8-7F1F-6C06CA264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80605" y="1902449"/>
              <a:ext cx="247724" cy="245928"/>
            </a:xfrm>
            <a:prstGeom prst="rect">
              <a:avLst/>
            </a:prstGeom>
          </p:spPr>
        </p:pic>
      </p:grpSp>
      <p:sp>
        <p:nvSpPr>
          <p:cNvPr id="99" name="Arc 98">
            <a:extLst>
              <a:ext uri="{FF2B5EF4-FFF2-40B4-BE49-F238E27FC236}">
                <a16:creationId xmlns:a16="http://schemas.microsoft.com/office/drawing/2014/main" id="{BC3F6D0B-39A8-7839-4108-79110D4A7C29}"/>
              </a:ext>
            </a:extLst>
          </p:cNvPr>
          <p:cNvSpPr/>
          <p:nvPr/>
        </p:nvSpPr>
        <p:spPr>
          <a:xfrm>
            <a:off x="5176684" y="2825556"/>
            <a:ext cx="1850921" cy="1820186"/>
          </a:xfrm>
          <a:prstGeom prst="arc">
            <a:avLst>
              <a:gd name="adj1" fmla="val 5508426"/>
              <a:gd name="adj2" fmla="val 14121050"/>
            </a:avLst>
          </a:prstGeom>
          <a:ln w="9525">
            <a:gradFill>
              <a:gsLst>
                <a:gs pos="0">
                  <a:schemeClr val="accent2">
                    <a:alpha val="90000"/>
                  </a:schemeClr>
                </a:gs>
                <a:gs pos="99000">
                  <a:schemeClr val="accent2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Oval 43">
            <a:extLst>
              <a:ext uri="{FF2B5EF4-FFF2-40B4-BE49-F238E27FC236}">
                <a16:creationId xmlns:a16="http://schemas.microsoft.com/office/drawing/2014/main" id="{FC31513E-AADB-57EA-8918-A3D07FEEF498}"/>
              </a:ext>
            </a:extLst>
          </p:cNvPr>
          <p:cNvSpPr/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>
                  <a:alpha val="0"/>
                </a:schemeClr>
              </a:gs>
              <a:gs pos="55000">
                <a:schemeClr val="accent1">
                  <a:alpha val="47523"/>
                </a:schemeClr>
              </a:gs>
              <a:gs pos="100000">
                <a:schemeClr val="accent1"/>
              </a:gs>
            </a:gsLst>
            <a:lin ang="15000000" scaled="0"/>
          </a:gradFill>
          <a:ln w="9525">
            <a:gradFill>
              <a:gsLst>
                <a:gs pos="8000">
                  <a:schemeClr val="accent3">
                    <a:lumMod val="20000"/>
                    <a:lumOff val="80000"/>
                    <a:alpha val="52718"/>
                  </a:schemeClr>
                </a:gs>
                <a:gs pos="24000">
                  <a:schemeClr val="accent3">
                    <a:alpha val="49000"/>
                  </a:schemeClr>
                </a:gs>
                <a:gs pos="51000">
                  <a:schemeClr val="accent3">
                    <a:alpha val="0"/>
                  </a:schemeClr>
                </a:gs>
              </a:gsLst>
              <a:lin ang="13200000" scaled="0"/>
            </a:gradFill>
          </a:ln>
          <a:effectLst>
            <a:innerShdw blurRad="209594" dist="204382" dir="13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DDA7093A-1B01-B016-708F-AB00927B2C3C}"/>
              </a:ext>
            </a:extLst>
          </p:cNvPr>
          <p:cNvSpPr txBox="1"/>
          <p:nvPr/>
        </p:nvSpPr>
        <p:spPr>
          <a:xfrm>
            <a:off x="381216" y="2467036"/>
            <a:ext cx="3118311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accent2"/>
                </a:solidFill>
                <a:effectLst>
                  <a:outerShdw blurRad="229337" sx="102000" sy="102000" algn="ctr" rotWithShape="0">
                    <a:schemeClr val="accent2">
                      <a:alpha val="20000"/>
                    </a:schemeClr>
                  </a:outerShdw>
                </a:effectLst>
                <a:latin typeface="☞NOIR PRO MEDIUM" pitchFamily="2" charset="0"/>
              </a:rPr>
              <a:t>ISO 25010 sub-characteristics</a:t>
            </a:r>
          </a:p>
        </p:txBody>
      </p:sp>
      <p:sp>
        <p:nvSpPr>
          <p:cNvPr id="12" name="Boog 11">
            <a:extLst>
              <a:ext uri="{FF2B5EF4-FFF2-40B4-BE49-F238E27FC236}">
                <a16:creationId xmlns:a16="http://schemas.microsoft.com/office/drawing/2014/main" id="{9C79D787-D6AD-4F8F-4E1E-93558DDEBC19}"/>
              </a:ext>
            </a:extLst>
          </p:cNvPr>
          <p:cNvSpPr>
            <a:spLocks noChangeAspect="1"/>
          </p:cNvSpPr>
          <p:nvPr/>
        </p:nvSpPr>
        <p:spPr>
          <a:xfrm>
            <a:off x="3385191" y="1063763"/>
            <a:ext cx="5342400" cy="5342400"/>
          </a:xfrm>
          <a:prstGeom prst="arc">
            <a:avLst>
              <a:gd name="adj1" fmla="val 8378942"/>
              <a:gd name="adj2" fmla="val 12416581"/>
            </a:avLst>
          </a:prstGeom>
          <a:ln w="12700">
            <a:gradFill>
              <a:gsLst>
                <a:gs pos="83000">
                  <a:schemeClr val="accent2"/>
                </a:gs>
                <a:gs pos="16000">
                  <a:srgbClr val="1763FF"/>
                </a:gs>
                <a:gs pos="0">
                  <a:srgbClr val="1763FF">
                    <a:alpha val="0"/>
                  </a:srgb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Ovaal 12">
            <a:extLst>
              <a:ext uri="{FF2B5EF4-FFF2-40B4-BE49-F238E27FC236}">
                <a16:creationId xmlns:a16="http://schemas.microsoft.com/office/drawing/2014/main" id="{7370D5DE-BDC4-C35E-9C2E-91716BD02B09}"/>
              </a:ext>
            </a:extLst>
          </p:cNvPr>
          <p:cNvSpPr/>
          <p:nvPr/>
        </p:nvSpPr>
        <p:spPr>
          <a:xfrm>
            <a:off x="3385191" y="3111240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" name="Ovaal 13">
            <a:extLst>
              <a:ext uri="{FF2B5EF4-FFF2-40B4-BE49-F238E27FC236}">
                <a16:creationId xmlns:a16="http://schemas.microsoft.com/office/drawing/2014/main" id="{05F72ED1-5264-5B67-3E36-3014750C4C2F}"/>
              </a:ext>
            </a:extLst>
          </p:cNvPr>
          <p:cNvSpPr/>
          <p:nvPr/>
        </p:nvSpPr>
        <p:spPr>
          <a:xfrm>
            <a:off x="3323073" y="3590288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" name="Ovaal 14">
            <a:extLst>
              <a:ext uri="{FF2B5EF4-FFF2-40B4-BE49-F238E27FC236}">
                <a16:creationId xmlns:a16="http://schemas.microsoft.com/office/drawing/2014/main" id="{D527CEC1-161B-AAA5-0623-23D5400DE1FD}"/>
              </a:ext>
            </a:extLst>
          </p:cNvPr>
          <p:cNvSpPr/>
          <p:nvPr/>
        </p:nvSpPr>
        <p:spPr>
          <a:xfrm>
            <a:off x="3364103" y="4093669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7" name="Ovaal 16">
            <a:extLst>
              <a:ext uri="{FF2B5EF4-FFF2-40B4-BE49-F238E27FC236}">
                <a16:creationId xmlns:a16="http://schemas.microsoft.com/office/drawing/2014/main" id="{76D1A933-8CFE-0DCE-2D90-AA32A2AEAE8A}"/>
              </a:ext>
            </a:extLst>
          </p:cNvPr>
          <p:cNvSpPr/>
          <p:nvPr/>
        </p:nvSpPr>
        <p:spPr>
          <a:xfrm>
            <a:off x="3496656" y="4588574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9" name="Ovaal 18">
            <a:extLst>
              <a:ext uri="{FF2B5EF4-FFF2-40B4-BE49-F238E27FC236}">
                <a16:creationId xmlns:a16="http://schemas.microsoft.com/office/drawing/2014/main" id="{018CDC19-0EC4-9F41-5100-944A5A79A3FA}"/>
              </a:ext>
            </a:extLst>
          </p:cNvPr>
          <p:cNvSpPr/>
          <p:nvPr/>
        </p:nvSpPr>
        <p:spPr>
          <a:xfrm>
            <a:off x="3728666" y="5089348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411E51BD-8E0A-61AA-F8D8-E2C22B791EE6}"/>
              </a:ext>
            </a:extLst>
          </p:cNvPr>
          <p:cNvSpPr txBox="1"/>
          <p:nvPr/>
        </p:nvSpPr>
        <p:spPr>
          <a:xfrm>
            <a:off x="1897130" y="2957541"/>
            <a:ext cx="1430348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Analyzability</a:t>
            </a:r>
          </a:p>
        </p:txBody>
      </p:sp>
      <p:sp>
        <p:nvSpPr>
          <p:cNvPr id="29" name="Tekstvak 28">
            <a:extLst>
              <a:ext uri="{FF2B5EF4-FFF2-40B4-BE49-F238E27FC236}">
                <a16:creationId xmlns:a16="http://schemas.microsoft.com/office/drawing/2014/main" id="{6A376295-9E29-C7D4-23E5-9B1234CB0463}"/>
              </a:ext>
            </a:extLst>
          </p:cNvPr>
          <p:cNvSpPr txBox="1"/>
          <p:nvPr/>
        </p:nvSpPr>
        <p:spPr>
          <a:xfrm>
            <a:off x="1875926" y="3456782"/>
            <a:ext cx="1395083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Modifiability</a:t>
            </a:r>
          </a:p>
        </p:txBody>
      </p:sp>
      <p:sp>
        <p:nvSpPr>
          <p:cNvPr id="31" name="Tekstvak 30">
            <a:extLst>
              <a:ext uri="{FF2B5EF4-FFF2-40B4-BE49-F238E27FC236}">
                <a16:creationId xmlns:a16="http://schemas.microsoft.com/office/drawing/2014/main" id="{1D693990-F9F5-6A3F-373A-F98CAD402E8F}"/>
              </a:ext>
            </a:extLst>
          </p:cNvPr>
          <p:cNvSpPr txBox="1"/>
          <p:nvPr/>
        </p:nvSpPr>
        <p:spPr>
          <a:xfrm>
            <a:off x="2119163" y="3956023"/>
            <a:ext cx="1191501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Testability</a:t>
            </a:r>
          </a:p>
        </p:txBody>
      </p:sp>
      <p:sp>
        <p:nvSpPr>
          <p:cNvPr id="33" name="Tekstvak 32">
            <a:extLst>
              <a:ext uri="{FF2B5EF4-FFF2-40B4-BE49-F238E27FC236}">
                <a16:creationId xmlns:a16="http://schemas.microsoft.com/office/drawing/2014/main" id="{2093B8B8-8C79-64C9-64E5-517C5AA9AA30}"/>
              </a:ext>
            </a:extLst>
          </p:cNvPr>
          <p:cNvSpPr txBox="1"/>
          <p:nvPr/>
        </p:nvSpPr>
        <p:spPr>
          <a:xfrm>
            <a:off x="2177515" y="4455264"/>
            <a:ext cx="1236385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Modularity</a:t>
            </a:r>
          </a:p>
        </p:txBody>
      </p:sp>
      <p:sp>
        <p:nvSpPr>
          <p:cNvPr id="34" name="Tekstvak 33">
            <a:extLst>
              <a:ext uri="{FF2B5EF4-FFF2-40B4-BE49-F238E27FC236}">
                <a16:creationId xmlns:a16="http://schemas.microsoft.com/office/drawing/2014/main" id="{1C9C562C-B3AC-5C48-5694-72B1C7FF5D8F}"/>
              </a:ext>
            </a:extLst>
          </p:cNvPr>
          <p:cNvSpPr txBox="1"/>
          <p:nvPr/>
        </p:nvSpPr>
        <p:spPr>
          <a:xfrm>
            <a:off x="2387522" y="4954505"/>
            <a:ext cx="1247606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Reusability</a:t>
            </a:r>
          </a:p>
        </p:txBody>
      </p:sp>
      <p:sp>
        <p:nvSpPr>
          <p:cNvPr id="35" name="TextBox 41">
            <a:extLst>
              <a:ext uri="{FF2B5EF4-FFF2-40B4-BE49-F238E27FC236}">
                <a16:creationId xmlns:a16="http://schemas.microsoft.com/office/drawing/2014/main" id="{206057EE-BF64-9DF8-554C-8935F9D2B966}"/>
              </a:ext>
            </a:extLst>
          </p:cNvPr>
          <p:cNvSpPr txBox="1"/>
          <p:nvPr/>
        </p:nvSpPr>
        <p:spPr>
          <a:xfrm rot="4314380">
            <a:off x="4420303" y="2076017"/>
            <a:ext cx="3351394" cy="3317250"/>
          </a:xfrm>
          <a:prstGeom prst="rect">
            <a:avLst/>
          </a:prstGeom>
          <a:noFill/>
        </p:spPr>
        <p:txBody>
          <a:bodyPr wrap="none" lIns="90000" rtlCol="0" anchor="t">
            <a:prstTxWarp prst="textArchUp">
              <a:avLst>
                <a:gd name="adj" fmla="val 9056230"/>
              </a:avLst>
            </a:prstTxWarp>
            <a:spAutoFit/>
          </a:bodyPr>
          <a:lstStyle/>
          <a:p>
            <a:pPr>
              <a:lnSpc>
                <a:spcPct val="113000"/>
              </a:lnSpc>
            </a:pPr>
            <a:r>
              <a:rPr lang="en-US" noProof="0" dirty="0">
                <a:gradFill>
                  <a:gsLst>
                    <a:gs pos="26000">
                      <a:srgbClr val="E98C36"/>
                    </a:gs>
                    <a:gs pos="67000">
                      <a:schemeClr val="accent4"/>
                    </a:gs>
                  </a:gsLst>
                  <a:lin ang="9600000" scaled="0"/>
                </a:gradFill>
                <a:latin typeface="Noir Pro Semi Bold" pitchFamily="2" charset="0"/>
              </a:rPr>
              <a:t>ISO 25010       Maintainability</a:t>
            </a:r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C6AEC9BC-2562-04CA-C1D9-0C7137DF20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06764" y="1826081"/>
            <a:ext cx="393006" cy="33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98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81D5E-A2B9-C328-B774-190AA227C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el 19">
            <a:extLst>
              <a:ext uri="{FF2B5EF4-FFF2-40B4-BE49-F238E27FC236}">
                <a16:creationId xmlns:a16="http://schemas.microsoft.com/office/drawing/2014/main" id="{4348BD50-B7D4-1657-172B-FF11CBC247D8}"/>
              </a:ext>
            </a:extLst>
          </p:cNvPr>
          <p:cNvGraphicFramePr>
            <a:graphicFrameLocks noGrp="1"/>
          </p:cNvGraphicFramePr>
          <p:nvPr/>
        </p:nvGraphicFramePr>
        <p:xfrm>
          <a:off x="154798" y="2717216"/>
          <a:ext cx="11880000" cy="23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0000">
                  <a:extLst>
                    <a:ext uri="{9D8B030D-6E8A-4147-A177-3AD203B41FA5}">
                      <a16:colId xmlns:a16="http://schemas.microsoft.com/office/drawing/2014/main" val="946129596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Analyzability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69143651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Modifiability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02612570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Testability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2841778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Modularity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50096536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Reusability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866552359"/>
                  </a:ext>
                </a:extLst>
              </a:tr>
            </a:tbl>
          </a:graphicData>
        </a:graphic>
      </p:graphicFrame>
      <p:sp>
        <p:nvSpPr>
          <p:cNvPr id="2" name="Afgeronde rechthoek 1">
            <a:extLst>
              <a:ext uri="{FF2B5EF4-FFF2-40B4-BE49-F238E27FC236}">
                <a16:creationId xmlns:a16="http://schemas.microsoft.com/office/drawing/2014/main" id="{B727BF5E-99B6-49EF-E4BA-CF8DCB737B80}"/>
              </a:ext>
            </a:extLst>
          </p:cNvPr>
          <p:cNvSpPr>
            <a:spLocks/>
          </p:cNvSpPr>
          <p:nvPr/>
        </p:nvSpPr>
        <p:spPr>
          <a:xfrm>
            <a:off x="2404922" y="2119302"/>
            <a:ext cx="9173128" cy="3422188"/>
          </a:xfrm>
          <a:prstGeom prst="roundRect">
            <a:avLst>
              <a:gd name="adj" fmla="val 4344"/>
            </a:avLst>
          </a:prstGeom>
          <a:gradFill>
            <a:gsLst>
              <a:gs pos="0">
                <a:srgbClr val="1763FF">
                  <a:alpha val="26798"/>
                </a:srgbClr>
              </a:gs>
              <a:gs pos="7000">
                <a:schemeClr val="accent2">
                  <a:alpha val="9069"/>
                </a:schemeClr>
              </a:gs>
              <a:gs pos="42000">
                <a:schemeClr val="accent2">
                  <a:alpha val="0"/>
                </a:schemeClr>
              </a:gs>
            </a:gsLst>
            <a:lin ang="4200000" scaled="0"/>
          </a:gradFill>
          <a:ln w="9525">
            <a:gradFill>
              <a:gsLst>
                <a:gs pos="0">
                  <a:schemeClr val="accent3">
                    <a:alpha val="34000"/>
                  </a:schemeClr>
                </a:gs>
                <a:gs pos="23000">
                  <a:schemeClr val="accent3">
                    <a:alpha val="0"/>
                  </a:schemeClr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70" name="Text Placeholder 169">
            <a:extLst>
              <a:ext uri="{FF2B5EF4-FFF2-40B4-BE49-F238E27FC236}">
                <a16:creationId xmlns:a16="http://schemas.microsoft.com/office/drawing/2014/main" id="{8A7018F4-6ACE-298D-AE34-CBEDCC026F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6251E5-A1AC-6CFF-9472-C53DC41655B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980CA-BB04-6BB3-C0C8-A9D4C2BCC14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169" name="Title 168">
            <a:extLst>
              <a:ext uri="{FF2B5EF4-FFF2-40B4-BE49-F238E27FC236}">
                <a16:creationId xmlns:a16="http://schemas.microsoft.com/office/drawing/2014/main" id="{BC78F56D-3B9B-285C-51D5-D64BCFD4E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SIG/</a:t>
            </a:r>
            <a:r>
              <a:rPr lang="en-US" noProof="0" dirty="0" err="1"/>
              <a:t>TÜViT</a:t>
            </a:r>
            <a:r>
              <a:rPr lang="en-US" noProof="0" dirty="0"/>
              <a:t> model maps the sub-characteristics to the system properties</a:t>
            </a:r>
          </a:p>
        </p:txBody>
      </p:sp>
      <p:grpSp>
        <p:nvGrpSpPr>
          <p:cNvPr id="16" name="Groep 15">
            <a:extLst>
              <a:ext uri="{FF2B5EF4-FFF2-40B4-BE49-F238E27FC236}">
                <a16:creationId xmlns:a16="http://schemas.microsoft.com/office/drawing/2014/main" id="{2EB7272D-F604-D956-AAE5-B2981212C033}"/>
              </a:ext>
            </a:extLst>
          </p:cNvPr>
          <p:cNvGrpSpPr/>
          <p:nvPr/>
        </p:nvGrpSpPr>
        <p:grpSpPr>
          <a:xfrm>
            <a:off x="2807936" y="2780488"/>
            <a:ext cx="2635602" cy="339865"/>
            <a:chOff x="2807936" y="2830273"/>
            <a:chExt cx="2635602" cy="339865"/>
          </a:xfrm>
        </p:grpSpPr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10F67CCC-4965-E170-13FB-4DE08A2FB12B}"/>
                </a:ext>
              </a:extLst>
            </p:cNvPr>
            <p:cNvGrpSpPr/>
            <p:nvPr/>
          </p:nvGrpSpPr>
          <p:grpSpPr>
            <a:xfrm>
              <a:off x="2906989" y="2918313"/>
              <a:ext cx="2445855" cy="157941"/>
              <a:chOff x="3149473" y="2702807"/>
              <a:chExt cx="2445855" cy="157941"/>
            </a:xfrm>
          </p:grpSpPr>
          <p:sp>
            <p:nvSpPr>
              <p:cNvPr id="10" name="Ovaal 9">
                <a:extLst>
                  <a:ext uri="{FF2B5EF4-FFF2-40B4-BE49-F238E27FC236}">
                    <a16:creationId xmlns:a16="http://schemas.microsoft.com/office/drawing/2014/main" id="{EEC047B5-4675-87BB-C77D-525A9C15C89C}"/>
                  </a:ext>
                </a:extLst>
              </p:cNvPr>
              <p:cNvSpPr/>
              <p:nvPr/>
            </p:nvSpPr>
            <p:spPr>
              <a:xfrm>
                <a:off x="3149473" y="270280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Ovaal 10">
                <a:extLst>
                  <a:ext uri="{FF2B5EF4-FFF2-40B4-BE49-F238E27FC236}">
                    <a16:creationId xmlns:a16="http://schemas.microsoft.com/office/drawing/2014/main" id="{B27E223E-7F96-98A3-1BCE-3C7E3476061A}"/>
                  </a:ext>
                </a:extLst>
              </p:cNvPr>
              <p:cNvSpPr/>
              <p:nvPr/>
            </p:nvSpPr>
            <p:spPr>
              <a:xfrm>
                <a:off x="4307640" y="270280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Ovaal 11">
                <a:extLst>
                  <a:ext uri="{FF2B5EF4-FFF2-40B4-BE49-F238E27FC236}">
                    <a16:creationId xmlns:a16="http://schemas.microsoft.com/office/drawing/2014/main" id="{0490248B-B552-3119-224F-718F14ACB6C5}"/>
                  </a:ext>
                </a:extLst>
              </p:cNvPr>
              <p:cNvSpPr/>
              <p:nvPr/>
            </p:nvSpPr>
            <p:spPr>
              <a:xfrm>
                <a:off x="5437387" y="270280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" name="Afgeronde rechthoek 4">
              <a:extLst>
                <a:ext uri="{FF2B5EF4-FFF2-40B4-BE49-F238E27FC236}">
                  <a16:creationId xmlns:a16="http://schemas.microsoft.com/office/drawing/2014/main" id="{C0978B86-C287-03A1-FB46-4DAE9843BB13}"/>
                </a:ext>
              </a:extLst>
            </p:cNvPr>
            <p:cNvSpPr/>
            <p:nvPr/>
          </p:nvSpPr>
          <p:spPr>
            <a:xfrm>
              <a:off x="2807936" y="2830273"/>
              <a:ext cx="2635602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17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Groep 14">
            <a:extLst>
              <a:ext uri="{FF2B5EF4-FFF2-40B4-BE49-F238E27FC236}">
                <a16:creationId xmlns:a16="http://schemas.microsoft.com/office/drawing/2014/main" id="{6D345AE2-E02E-D32F-9CBD-7FC86770FA07}"/>
              </a:ext>
            </a:extLst>
          </p:cNvPr>
          <p:cNvGrpSpPr/>
          <p:nvPr/>
        </p:nvGrpSpPr>
        <p:grpSpPr>
          <a:xfrm>
            <a:off x="3955803" y="3249198"/>
            <a:ext cx="5018263" cy="339865"/>
            <a:chOff x="3955803" y="3291298"/>
            <a:chExt cx="5018263" cy="339865"/>
          </a:xfrm>
        </p:grpSpPr>
        <p:grpSp>
          <p:nvGrpSpPr>
            <p:cNvPr id="22" name="Groep 21">
              <a:extLst>
                <a:ext uri="{FF2B5EF4-FFF2-40B4-BE49-F238E27FC236}">
                  <a16:creationId xmlns:a16="http://schemas.microsoft.com/office/drawing/2014/main" id="{1BF8A6A9-6A5F-3E6F-8302-59A7894DA250}"/>
                </a:ext>
              </a:extLst>
            </p:cNvPr>
            <p:cNvGrpSpPr/>
            <p:nvPr/>
          </p:nvGrpSpPr>
          <p:grpSpPr>
            <a:xfrm>
              <a:off x="4065156" y="3376902"/>
              <a:ext cx="4813858" cy="157941"/>
              <a:chOff x="4307640" y="3166426"/>
              <a:chExt cx="4813858" cy="157941"/>
            </a:xfrm>
          </p:grpSpPr>
          <p:sp>
            <p:nvSpPr>
              <p:cNvPr id="30" name="Ovaal 29">
                <a:extLst>
                  <a:ext uri="{FF2B5EF4-FFF2-40B4-BE49-F238E27FC236}">
                    <a16:creationId xmlns:a16="http://schemas.microsoft.com/office/drawing/2014/main" id="{A1A0F8C2-9323-45A0-6442-CD6CF9F3DC4F}"/>
                  </a:ext>
                </a:extLst>
              </p:cNvPr>
              <p:cNvSpPr/>
              <p:nvPr/>
            </p:nvSpPr>
            <p:spPr>
              <a:xfrm>
                <a:off x="4307640" y="316642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Ovaal 30">
                <a:extLst>
                  <a:ext uri="{FF2B5EF4-FFF2-40B4-BE49-F238E27FC236}">
                    <a16:creationId xmlns:a16="http://schemas.microsoft.com/office/drawing/2014/main" id="{5D327F0B-D25F-E912-D40A-438F2DD37A48}"/>
                  </a:ext>
                </a:extLst>
              </p:cNvPr>
              <p:cNvSpPr/>
              <p:nvPr/>
            </p:nvSpPr>
            <p:spPr>
              <a:xfrm>
                <a:off x="6596940" y="316642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BAEEFB57-DC37-56B7-9F13-3DEE86B7E6F4}"/>
                  </a:ext>
                </a:extLst>
              </p:cNvPr>
              <p:cNvSpPr/>
              <p:nvPr/>
            </p:nvSpPr>
            <p:spPr>
              <a:xfrm>
                <a:off x="8963557" y="316642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9" name="Afgeronde rechthoek 8">
              <a:extLst>
                <a:ext uri="{FF2B5EF4-FFF2-40B4-BE49-F238E27FC236}">
                  <a16:creationId xmlns:a16="http://schemas.microsoft.com/office/drawing/2014/main" id="{DBAC85F2-D462-26C2-8480-06B8112AEB41}"/>
                </a:ext>
              </a:extLst>
            </p:cNvPr>
            <p:cNvSpPr/>
            <p:nvPr/>
          </p:nvSpPr>
          <p:spPr>
            <a:xfrm>
              <a:off x="3955803" y="3291298"/>
              <a:ext cx="5018263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ep 7">
            <a:extLst>
              <a:ext uri="{FF2B5EF4-FFF2-40B4-BE49-F238E27FC236}">
                <a16:creationId xmlns:a16="http://schemas.microsoft.com/office/drawing/2014/main" id="{24A25421-1B5F-3753-AFD8-FEDCF2499C6D}"/>
              </a:ext>
            </a:extLst>
          </p:cNvPr>
          <p:cNvGrpSpPr/>
          <p:nvPr/>
        </p:nvGrpSpPr>
        <p:grpSpPr>
          <a:xfrm>
            <a:off x="2807935" y="3717908"/>
            <a:ext cx="8456177" cy="339865"/>
            <a:chOff x="2807935" y="3744528"/>
            <a:chExt cx="8456177" cy="339865"/>
          </a:xfrm>
        </p:grpSpPr>
        <p:grpSp>
          <p:nvGrpSpPr>
            <p:cNvPr id="24" name="Groep 23">
              <a:extLst>
                <a:ext uri="{FF2B5EF4-FFF2-40B4-BE49-F238E27FC236}">
                  <a16:creationId xmlns:a16="http://schemas.microsoft.com/office/drawing/2014/main" id="{34C2642E-BD9E-B164-9B50-9F6044701472}"/>
                </a:ext>
              </a:extLst>
            </p:cNvPr>
            <p:cNvGrpSpPr/>
            <p:nvPr/>
          </p:nvGrpSpPr>
          <p:grpSpPr>
            <a:xfrm>
              <a:off x="2906989" y="3835491"/>
              <a:ext cx="8258926" cy="157941"/>
              <a:chOff x="3149473" y="3796856"/>
              <a:chExt cx="8258926" cy="157941"/>
            </a:xfrm>
          </p:grpSpPr>
          <p:sp>
            <p:nvSpPr>
              <p:cNvPr id="33" name="Ovaal 32">
                <a:extLst>
                  <a:ext uri="{FF2B5EF4-FFF2-40B4-BE49-F238E27FC236}">
                    <a16:creationId xmlns:a16="http://schemas.microsoft.com/office/drawing/2014/main" id="{6B6535E0-9B87-4936-01E5-3207BED2217D}"/>
                  </a:ext>
                </a:extLst>
              </p:cNvPr>
              <p:cNvSpPr/>
              <p:nvPr/>
            </p:nvSpPr>
            <p:spPr>
              <a:xfrm>
                <a:off x="3149473" y="379685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Ovaal 33">
                <a:extLst>
                  <a:ext uri="{FF2B5EF4-FFF2-40B4-BE49-F238E27FC236}">
                    <a16:creationId xmlns:a16="http://schemas.microsoft.com/office/drawing/2014/main" id="{5C7E45C1-1A48-CBA8-888A-1A6A9F926F5C}"/>
                  </a:ext>
                </a:extLst>
              </p:cNvPr>
              <p:cNvSpPr/>
              <p:nvPr/>
            </p:nvSpPr>
            <p:spPr>
              <a:xfrm>
                <a:off x="6610746" y="379685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Ovaal 34">
                <a:extLst>
                  <a:ext uri="{FF2B5EF4-FFF2-40B4-BE49-F238E27FC236}">
                    <a16:creationId xmlns:a16="http://schemas.microsoft.com/office/drawing/2014/main" id="{D04F3E43-6E0B-8BCD-7228-E5FF88C02653}"/>
                  </a:ext>
                </a:extLst>
              </p:cNvPr>
              <p:cNvSpPr/>
              <p:nvPr/>
            </p:nvSpPr>
            <p:spPr>
              <a:xfrm>
                <a:off x="11250458" y="379685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3" name="Afgeronde rechthoek 12">
              <a:extLst>
                <a:ext uri="{FF2B5EF4-FFF2-40B4-BE49-F238E27FC236}">
                  <a16:creationId xmlns:a16="http://schemas.microsoft.com/office/drawing/2014/main" id="{0FED46CD-0272-D4D6-12BE-438AFB4120B1}"/>
                </a:ext>
              </a:extLst>
            </p:cNvPr>
            <p:cNvSpPr/>
            <p:nvPr/>
          </p:nvSpPr>
          <p:spPr>
            <a:xfrm>
              <a:off x="2807935" y="3744528"/>
              <a:ext cx="8456177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5E3456A8-CC1F-BB43-8D8C-7D6557414C9D}"/>
              </a:ext>
            </a:extLst>
          </p:cNvPr>
          <p:cNvGrpSpPr/>
          <p:nvPr/>
        </p:nvGrpSpPr>
        <p:grpSpPr>
          <a:xfrm>
            <a:off x="8601834" y="4186618"/>
            <a:ext cx="2662278" cy="339865"/>
            <a:chOff x="8601834" y="4197760"/>
            <a:chExt cx="2662278" cy="339865"/>
          </a:xfrm>
        </p:grpSpPr>
        <p:grpSp>
          <p:nvGrpSpPr>
            <p:cNvPr id="25" name="Groep 24">
              <a:extLst>
                <a:ext uri="{FF2B5EF4-FFF2-40B4-BE49-F238E27FC236}">
                  <a16:creationId xmlns:a16="http://schemas.microsoft.com/office/drawing/2014/main" id="{1A7CBC52-328C-B2D0-C7F6-04728E853D42}"/>
                </a:ext>
              </a:extLst>
            </p:cNvPr>
            <p:cNvGrpSpPr/>
            <p:nvPr/>
          </p:nvGrpSpPr>
          <p:grpSpPr>
            <a:xfrm>
              <a:off x="8708612" y="4294080"/>
              <a:ext cx="2457303" cy="157941"/>
              <a:chOff x="8951096" y="4294237"/>
              <a:chExt cx="2457303" cy="157941"/>
            </a:xfrm>
          </p:grpSpPr>
          <p:sp>
            <p:nvSpPr>
              <p:cNvPr id="36" name="Ovaal 35">
                <a:extLst>
                  <a:ext uri="{FF2B5EF4-FFF2-40B4-BE49-F238E27FC236}">
                    <a16:creationId xmlns:a16="http://schemas.microsoft.com/office/drawing/2014/main" id="{4334F243-08B2-6786-25B4-FF32DB399AA8}"/>
                  </a:ext>
                </a:extLst>
              </p:cNvPr>
              <p:cNvSpPr/>
              <p:nvPr/>
            </p:nvSpPr>
            <p:spPr>
              <a:xfrm>
                <a:off x="11250458" y="429423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Ovaal 36">
                <a:extLst>
                  <a:ext uri="{FF2B5EF4-FFF2-40B4-BE49-F238E27FC236}">
                    <a16:creationId xmlns:a16="http://schemas.microsoft.com/office/drawing/2014/main" id="{9E687F8D-E767-F317-E2C8-5013133A3E6C}"/>
                  </a:ext>
                </a:extLst>
              </p:cNvPr>
              <p:cNvSpPr/>
              <p:nvPr/>
            </p:nvSpPr>
            <p:spPr>
              <a:xfrm>
                <a:off x="10152377" y="429423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8" name="Ovaal 37">
                <a:extLst>
                  <a:ext uri="{FF2B5EF4-FFF2-40B4-BE49-F238E27FC236}">
                    <a16:creationId xmlns:a16="http://schemas.microsoft.com/office/drawing/2014/main" id="{36312CC0-E81D-1F88-7500-78BCB99C111F}"/>
                  </a:ext>
                </a:extLst>
              </p:cNvPr>
              <p:cNvSpPr/>
              <p:nvPr/>
            </p:nvSpPr>
            <p:spPr>
              <a:xfrm>
                <a:off x="8951096" y="429423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4" name="Afgeronde rechthoek 13">
              <a:extLst>
                <a:ext uri="{FF2B5EF4-FFF2-40B4-BE49-F238E27FC236}">
                  <a16:creationId xmlns:a16="http://schemas.microsoft.com/office/drawing/2014/main" id="{0C28EA2C-ADB2-610A-9843-B711D6BF6AD7}"/>
                </a:ext>
              </a:extLst>
            </p:cNvPr>
            <p:cNvSpPr/>
            <p:nvPr/>
          </p:nvSpPr>
          <p:spPr>
            <a:xfrm>
              <a:off x="8601834" y="4197760"/>
              <a:ext cx="2662278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oep 5">
            <a:extLst>
              <a:ext uri="{FF2B5EF4-FFF2-40B4-BE49-F238E27FC236}">
                <a16:creationId xmlns:a16="http://schemas.microsoft.com/office/drawing/2014/main" id="{1F44224B-F24D-C427-53AD-5E37EBAF3383}"/>
              </a:ext>
            </a:extLst>
          </p:cNvPr>
          <p:cNvGrpSpPr/>
          <p:nvPr/>
        </p:nvGrpSpPr>
        <p:grpSpPr>
          <a:xfrm>
            <a:off x="5089890" y="4655327"/>
            <a:ext cx="2759384" cy="339865"/>
            <a:chOff x="5089890" y="4658783"/>
            <a:chExt cx="2759384" cy="339865"/>
          </a:xfrm>
        </p:grpSpPr>
        <p:grpSp>
          <p:nvGrpSpPr>
            <p:cNvPr id="26" name="Groep 25">
              <a:extLst>
                <a:ext uri="{FF2B5EF4-FFF2-40B4-BE49-F238E27FC236}">
                  <a16:creationId xmlns:a16="http://schemas.microsoft.com/office/drawing/2014/main" id="{580DDB05-E7F6-E9B6-6EB5-93816E666A05}"/>
                </a:ext>
              </a:extLst>
            </p:cNvPr>
            <p:cNvGrpSpPr/>
            <p:nvPr/>
          </p:nvGrpSpPr>
          <p:grpSpPr>
            <a:xfrm>
              <a:off x="5194635" y="4752669"/>
              <a:ext cx="2555987" cy="157941"/>
              <a:chOff x="5437119" y="4812269"/>
              <a:chExt cx="2555987" cy="157941"/>
            </a:xfrm>
          </p:grpSpPr>
          <p:sp>
            <p:nvSpPr>
              <p:cNvPr id="39" name="Ovaal 38">
                <a:extLst>
                  <a:ext uri="{FF2B5EF4-FFF2-40B4-BE49-F238E27FC236}">
                    <a16:creationId xmlns:a16="http://schemas.microsoft.com/office/drawing/2014/main" id="{50BA0F96-2A00-CE63-9D2F-2D16A95C2D15}"/>
                  </a:ext>
                </a:extLst>
              </p:cNvPr>
              <p:cNvSpPr/>
              <p:nvPr/>
            </p:nvSpPr>
            <p:spPr>
              <a:xfrm>
                <a:off x="7835165" y="4812269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Ovaal 39">
                <a:extLst>
                  <a:ext uri="{FF2B5EF4-FFF2-40B4-BE49-F238E27FC236}">
                    <a16:creationId xmlns:a16="http://schemas.microsoft.com/office/drawing/2014/main" id="{CE1D0E13-4B48-1770-693F-792379748CC8}"/>
                  </a:ext>
                </a:extLst>
              </p:cNvPr>
              <p:cNvSpPr/>
              <p:nvPr/>
            </p:nvSpPr>
            <p:spPr>
              <a:xfrm>
                <a:off x="5437119" y="4812269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7" name="Afgeronde rechthoek 26">
              <a:extLst>
                <a:ext uri="{FF2B5EF4-FFF2-40B4-BE49-F238E27FC236}">
                  <a16:creationId xmlns:a16="http://schemas.microsoft.com/office/drawing/2014/main" id="{70808160-862B-ECE4-6A3E-5050F5A9C883}"/>
                </a:ext>
              </a:extLst>
            </p:cNvPr>
            <p:cNvSpPr/>
            <p:nvPr/>
          </p:nvSpPr>
          <p:spPr>
            <a:xfrm>
              <a:off x="5089890" y="4658783"/>
              <a:ext cx="2759384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sp>
        <p:nvSpPr>
          <p:cNvPr id="44" name="Text Placeholder 169">
            <a:extLst>
              <a:ext uri="{FF2B5EF4-FFF2-40B4-BE49-F238E27FC236}">
                <a16:creationId xmlns:a16="http://schemas.microsoft.com/office/drawing/2014/main" id="{1AB1CC70-BC7D-E198-3D05-AE50FFA71C7D}"/>
              </a:ext>
            </a:extLst>
          </p:cNvPr>
          <p:cNvSpPr txBox="1"/>
          <p:nvPr/>
        </p:nvSpPr>
        <p:spPr>
          <a:xfrm>
            <a:off x="154798" y="1481773"/>
            <a:ext cx="2831161" cy="383335"/>
          </a:xfrm>
          <a:prstGeom prst="rect">
            <a:avLst/>
          </a:prstGeom>
          <a:noFill/>
        </p:spPr>
        <p:txBody>
          <a:bodyPr vert="horz" wrap="square" lIns="720000" tIns="18000" rIns="108000" bIns="36000" rtlCol="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defRPr lang="en-US" sz="1050" b="0" kern="120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pc="0" noProof="0" dirty="0">
                <a:gradFill>
                  <a:gsLst>
                    <a:gs pos="100000">
                      <a:srgbClr val="EC9232"/>
                    </a:gs>
                    <a:gs pos="24000">
                      <a:srgbClr val="F9C716"/>
                    </a:gs>
                  </a:gsLst>
                  <a:lin ang="3600000" scaled="0"/>
                </a:gradFill>
                <a:latin typeface="Noir Pro Semi Bold" pitchFamily="2" charset="0"/>
              </a:rPr>
              <a:t>Maintainability</a:t>
            </a:r>
          </a:p>
        </p:txBody>
      </p:sp>
      <p:sp>
        <p:nvSpPr>
          <p:cNvPr id="46" name="Tekstvak 45">
            <a:extLst>
              <a:ext uri="{FF2B5EF4-FFF2-40B4-BE49-F238E27FC236}">
                <a16:creationId xmlns:a16="http://schemas.microsoft.com/office/drawing/2014/main" id="{A31936F0-9E5C-E499-ABD8-64AAF5C184BD}"/>
              </a:ext>
            </a:extLst>
          </p:cNvPr>
          <p:cNvSpPr txBox="1"/>
          <p:nvPr/>
        </p:nvSpPr>
        <p:spPr>
          <a:xfrm>
            <a:off x="154801" y="2129913"/>
            <a:ext cx="1853613" cy="593975"/>
          </a:xfrm>
          <a:custGeom>
            <a:avLst/>
            <a:gdLst>
              <a:gd name="connsiteX0" fmla="*/ 169271 w 1969367"/>
              <a:gd name="connsiteY0" fmla="*/ 0 h 631068"/>
              <a:gd name="connsiteX1" fmla="*/ 1800096 w 1969367"/>
              <a:gd name="connsiteY1" fmla="*/ 0 h 631068"/>
              <a:gd name="connsiteX2" fmla="*/ 1969367 w 1969367"/>
              <a:gd name="connsiteY2" fmla="*/ 169271 h 631068"/>
              <a:gd name="connsiteX3" fmla="*/ 1969367 w 1969367"/>
              <a:gd name="connsiteY3" fmla="*/ 461797 h 631068"/>
              <a:gd name="connsiteX4" fmla="*/ 1800096 w 1969367"/>
              <a:gd name="connsiteY4" fmla="*/ 631068 h 631068"/>
              <a:gd name="connsiteX5" fmla="*/ 640829 w 1969367"/>
              <a:gd name="connsiteY5" fmla="*/ 631068 h 631068"/>
              <a:gd name="connsiteX6" fmla="*/ 169271 w 1969367"/>
              <a:gd name="connsiteY6" fmla="*/ 631068 h 631068"/>
              <a:gd name="connsiteX7" fmla="*/ 0 w 1969367"/>
              <a:gd name="connsiteY7" fmla="*/ 631068 h 631068"/>
              <a:gd name="connsiteX8" fmla="*/ 0 w 1969367"/>
              <a:gd name="connsiteY8" fmla="*/ 461797 h 631068"/>
              <a:gd name="connsiteX9" fmla="*/ 0 w 1969367"/>
              <a:gd name="connsiteY9" fmla="*/ 228683 h 631068"/>
              <a:gd name="connsiteX10" fmla="*/ 0 w 1969367"/>
              <a:gd name="connsiteY10" fmla="*/ 169271 h 631068"/>
              <a:gd name="connsiteX11" fmla="*/ 169271 w 1969367"/>
              <a:gd name="connsiteY11" fmla="*/ 0 h 631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69367" h="631068">
                <a:moveTo>
                  <a:pt x="169271" y="0"/>
                </a:moveTo>
                <a:lnTo>
                  <a:pt x="1800096" y="0"/>
                </a:lnTo>
                <a:cubicBezTo>
                  <a:pt x="1893582" y="0"/>
                  <a:pt x="1969367" y="75785"/>
                  <a:pt x="1969367" y="169271"/>
                </a:cubicBezTo>
                <a:lnTo>
                  <a:pt x="1969367" y="461797"/>
                </a:lnTo>
                <a:cubicBezTo>
                  <a:pt x="1969367" y="555283"/>
                  <a:pt x="1893582" y="631068"/>
                  <a:pt x="1800096" y="631068"/>
                </a:cubicBezTo>
                <a:lnTo>
                  <a:pt x="640829" y="631068"/>
                </a:lnTo>
                <a:lnTo>
                  <a:pt x="169271" y="631068"/>
                </a:lnTo>
                <a:lnTo>
                  <a:pt x="0" y="631068"/>
                </a:lnTo>
                <a:lnTo>
                  <a:pt x="0" y="461797"/>
                </a:lnTo>
                <a:lnTo>
                  <a:pt x="0" y="228683"/>
                </a:lnTo>
                <a:lnTo>
                  <a:pt x="0" y="169271"/>
                </a:lnTo>
                <a:cubicBezTo>
                  <a:pt x="0" y="75785"/>
                  <a:pt x="75785" y="0"/>
                  <a:pt x="169271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effectLst>
            <a:outerShdw blurRad="286568" dist="101276" dir="16200000" rotWithShape="0">
              <a:prstClr val="black">
                <a:alpha val="15439"/>
              </a:prstClr>
            </a:outerShdw>
          </a:effectLst>
        </p:spPr>
        <p:txBody>
          <a:bodyPr wrap="square" lIns="720000" tIns="234000" rIns="0" bIns="108000" rtlCol="0" anchor="t">
            <a:noAutofit/>
          </a:bodyPr>
          <a:lstStyle/>
          <a:p>
            <a:pPr>
              <a:lnSpc>
                <a:spcPct val="80000"/>
              </a:lnSpc>
            </a:pPr>
            <a:r>
              <a:rPr lang="en-US" sz="1400" noProof="0" dirty="0">
                <a:solidFill>
                  <a:schemeClr val="bg1"/>
                </a:solidFill>
                <a:latin typeface="☞NOIR PRO MEDIUM" pitchFamily="2" charset="0"/>
              </a:rPr>
              <a:t>25010</a:t>
            </a:r>
          </a:p>
        </p:txBody>
      </p:sp>
      <p:sp>
        <p:nvSpPr>
          <p:cNvPr id="19" name="TextBox 121">
            <a:extLst>
              <a:ext uri="{FF2B5EF4-FFF2-40B4-BE49-F238E27FC236}">
                <a16:creationId xmlns:a16="http://schemas.microsoft.com/office/drawing/2014/main" id="{ABDAF8EC-3B95-C9D7-0FE9-71A7721CFF9D}"/>
              </a:ext>
            </a:extLst>
          </p:cNvPr>
          <p:cNvSpPr txBox="1"/>
          <p:nvPr/>
        </p:nvSpPr>
        <p:spPr>
          <a:xfrm>
            <a:off x="1738994" y="2111134"/>
            <a:ext cx="10295804" cy="631068"/>
          </a:xfrm>
          <a:prstGeom prst="roundRect">
            <a:avLst>
              <a:gd name="adj" fmla="val 26823"/>
            </a:avLst>
          </a:prstGeom>
          <a:solidFill>
            <a:schemeClr val="accent2"/>
          </a:solidFill>
          <a:effectLst>
            <a:outerShdw blurRad="286568" dist="101276" dir="16200000" rotWithShape="0">
              <a:prstClr val="black">
                <a:alpha val="15439"/>
              </a:prstClr>
            </a:outerShdw>
          </a:effectLst>
        </p:spPr>
        <p:txBody>
          <a:bodyPr wrap="square" lIns="648000" tIns="125999" rIns="0" bIns="108000" rtlCol="0" anchor="t">
            <a:noAutofit/>
          </a:bodyPr>
          <a:lstStyle/>
          <a:p>
            <a:pPr>
              <a:lnSpc>
                <a:spcPct val="80000"/>
              </a:lnSpc>
            </a:pPr>
            <a:endParaRPr lang="en-US" sz="1400" noProof="0" dirty="0">
              <a:solidFill>
                <a:schemeClr val="bg1"/>
              </a:solidFill>
              <a:latin typeface="☞NOIR PRO MEDIUM" pitchFamily="2" charset="0"/>
            </a:endParaRPr>
          </a:p>
        </p:txBody>
      </p:sp>
      <p:pic>
        <p:nvPicPr>
          <p:cNvPr id="21" name="Picture 166">
            <a:extLst>
              <a:ext uri="{FF2B5EF4-FFF2-40B4-BE49-F238E27FC236}">
                <a16:creationId xmlns:a16="http://schemas.microsoft.com/office/drawing/2014/main" id="{0E781429-EAE9-5D29-21EF-7E7387F6E91F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342438" y="2225598"/>
            <a:ext cx="454660" cy="386461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568E0D71-CA53-AF66-00DE-458ABAFFFE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53658" y="2306414"/>
            <a:ext cx="359504" cy="239668"/>
          </a:xfrm>
          <a:prstGeom prst="rect">
            <a:avLst/>
          </a:prstGeom>
          <a:effectLst>
            <a:outerShdw blurRad="237234" sx="102000" sy="102000" algn="ctr" rotWithShape="0">
              <a:schemeClr val="accent4">
                <a:alpha val="0"/>
              </a:schemeClr>
            </a:outerShdw>
          </a:effectLst>
        </p:spPr>
      </p:pic>
      <p:graphicFrame>
        <p:nvGraphicFramePr>
          <p:cNvPr id="48" name="Tabel 47">
            <a:extLst>
              <a:ext uri="{FF2B5EF4-FFF2-40B4-BE49-F238E27FC236}">
                <a16:creationId xmlns:a16="http://schemas.microsoft.com/office/drawing/2014/main" id="{FC0D4C37-D231-E6B4-2BEB-A2CB6974D4EA}"/>
              </a:ext>
            </a:extLst>
          </p:cNvPr>
          <p:cNvGraphicFramePr>
            <a:graphicFrameLocks noGrp="1"/>
          </p:cNvGraphicFramePr>
          <p:nvPr/>
        </p:nvGraphicFramePr>
        <p:xfrm>
          <a:off x="2404922" y="2200267"/>
          <a:ext cx="9173128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6641">
                  <a:extLst>
                    <a:ext uri="{9D8B030D-6E8A-4147-A177-3AD203B41FA5}">
                      <a16:colId xmlns:a16="http://schemas.microsoft.com/office/drawing/2014/main" val="3756218328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2899638353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3980836888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337405862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2409438331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1015334204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1771938756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26023810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Volume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Duplication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Unit </a:t>
                      </a:r>
                      <a:b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size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Unit </a:t>
                      </a:r>
                      <a:b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complexity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Unit interfacing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Module coupling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 entanglement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 independence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627965"/>
                  </a:ext>
                </a:extLst>
              </a:tr>
            </a:tbl>
          </a:graphicData>
        </a:graphic>
      </p:graphicFrame>
      <p:sp>
        <p:nvSpPr>
          <p:cNvPr id="49" name="Driehoek 48">
            <a:extLst>
              <a:ext uri="{FF2B5EF4-FFF2-40B4-BE49-F238E27FC236}">
                <a16:creationId xmlns:a16="http://schemas.microsoft.com/office/drawing/2014/main" id="{76614EDA-4914-AB80-9A45-AF481E7E5AAA}"/>
              </a:ext>
            </a:extLst>
          </p:cNvPr>
          <p:cNvSpPr/>
          <p:nvPr/>
        </p:nvSpPr>
        <p:spPr>
          <a:xfrm rot="10800000">
            <a:off x="1075993" y="2580143"/>
            <a:ext cx="92249" cy="45719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>
                  <a:alpha val="50000"/>
                </a:schemeClr>
              </a:solidFill>
            </a:endParaRPr>
          </a:p>
        </p:txBody>
      </p:sp>
      <p:sp>
        <p:nvSpPr>
          <p:cNvPr id="50" name="Driehoek 49">
            <a:extLst>
              <a:ext uri="{FF2B5EF4-FFF2-40B4-BE49-F238E27FC236}">
                <a16:creationId xmlns:a16="http://schemas.microsoft.com/office/drawing/2014/main" id="{2C9FFFED-5DCC-8361-E111-40B1639E7797}"/>
              </a:ext>
            </a:extLst>
          </p:cNvPr>
          <p:cNvSpPr/>
          <p:nvPr/>
        </p:nvSpPr>
        <p:spPr>
          <a:xfrm rot="5400000">
            <a:off x="2409413" y="2405190"/>
            <a:ext cx="92249" cy="45719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>
                  <a:alpha val="50000"/>
                </a:schemeClr>
              </a:solidFill>
            </a:endParaRPr>
          </a:p>
        </p:txBody>
      </p:sp>
      <p:sp>
        <p:nvSpPr>
          <p:cNvPr id="52" name="Ovaal 51">
            <a:extLst>
              <a:ext uri="{FF2B5EF4-FFF2-40B4-BE49-F238E27FC236}">
                <a16:creationId xmlns:a16="http://schemas.microsoft.com/office/drawing/2014/main" id="{9E752103-7BCC-D47D-0E41-3D3118080490}"/>
              </a:ext>
            </a:extLst>
          </p:cNvPr>
          <p:cNvSpPr/>
          <p:nvPr/>
        </p:nvSpPr>
        <p:spPr>
          <a:xfrm>
            <a:off x="399461" y="1502952"/>
            <a:ext cx="354604" cy="354604"/>
          </a:xfrm>
          <a:prstGeom prst="ellipse">
            <a:avLst/>
          </a:prstGeom>
          <a:gradFill>
            <a:gsLst>
              <a:gs pos="19000">
                <a:srgbClr val="E98C36"/>
              </a:gs>
              <a:gs pos="53000">
                <a:srgbClr val="F9C716"/>
              </a:gs>
            </a:gsLst>
            <a:lin ang="2700000" scaled="0"/>
          </a:gradFill>
          <a:ln>
            <a:noFill/>
          </a:ln>
          <a:effectLst>
            <a:outerShdw blurRad="216637" dist="38100" dir="5400000" algn="t" rotWithShape="0">
              <a:schemeClr val="accent4">
                <a:alpha val="14645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pic>
        <p:nvPicPr>
          <p:cNvPr id="58" name="Graphic 57">
            <a:extLst>
              <a:ext uri="{FF2B5EF4-FFF2-40B4-BE49-F238E27FC236}">
                <a16:creationId xmlns:a16="http://schemas.microsoft.com/office/drawing/2014/main" id="{22A25979-9B27-41E5-42F3-4829A8820D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1092" y="1549761"/>
            <a:ext cx="262890" cy="260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745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7DD908C-8690-F25E-621E-BA91971FCA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3518124" cy="228209"/>
          </a:xfrm>
        </p:spPr>
        <p:txBody>
          <a:bodyPr/>
          <a:lstStyle/>
          <a:p>
            <a:r>
              <a:rPr lang="en-US" noProof="0" dirty="0"/>
              <a:t>Key findings – Maintainability benchmark</a:t>
            </a:r>
          </a:p>
        </p:txBody>
      </p:sp>
      <p:sp>
        <p:nvSpPr>
          <p:cNvPr id="15" name="Tijdelijke aanduiding voor voettekst 14">
            <a:extLst>
              <a:ext uri="{FF2B5EF4-FFF2-40B4-BE49-F238E27FC236}">
                <a16:creationId xmlns:a16="http://schemas.microsoft.com/office/drawing/2014/main" id="{E61F4EF7-95D6-9141-8632-993E0F35179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CCB8DCC3-F66F-678F-F50D-598DB85F85F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0CAB926-82A1-B092-F316-4902EAC4D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SYSTEM_NAME</a:t>
            </a:r>
            <a:r>
              <a:rPr lang="en-US" noProof="0" dirty="0"/>
              <a:t> is a </a:t>
            </a:r>
            <a:r>
              <a:rPr lang="en-US" noProof="0" dirty="0" err="1"/>
              <a:t>MAINT_SIZE</a:t>
            </a:r>
            <a:r>
              <a:rPr lang="en-US" noProof="0" dirty="0"/>
              <a:t> system of </a:t>
            </a:r>
            <a:r>
              <a:rPr lang="en-US" noProof="0" dirty="0" err="1"/>
              <a:t>SYSTEM_PY</a:t>
            </a:r>
            <a:r>
              <a:rPr lang="en-US" noProof="0" dirty="0"/>
              <a:t> PY which scores </a:t>
            </a:r>
            <a:r>
              <a:rPr lang="en-US" noProof="0" dirty="0" err="1"/>
              <a:t>MAINT_RATING</a:t>
            </a:r>
            <a:r>
              <a:rPr lang="en-US" noProof="0" dirty="0"/>
              <a:t> for maintainability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2C3C6B-FDFF-1D49-A1BC-305B68E0B083}"/>
              </a:ext>
            </a:extLst>
          </p:cNvPr>
          <p:cNvSpPr txBox="1"/>
          <p:nvPr/>
        </p:nvSpPr>
        <p:spPr>
          <a:xfrm>
            <a:off x="711225" y="1798115"/>
            <a:ext cx="1040819" cy="36400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</a:t>
            </a:r>
            <a:r>
              <a:rPr lang="en-US" sz="160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6B9F2E-1FAA-6147-8D4B-123937F3FA14}"/>
              </a:ext>
            </a:extLst>
          </p:cNvPr>
          <p:cNvSpPr txBox="1"/>
          <p:nvPr/>
        </p:nvSpPr>
        <p:spPr>
          <a:xfrm rot="16200000">
            <a:off x="-41294" y="3636790"/>
            <a:ext cx="1181883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chemeClr val="accent4"/>
                </a:solidFill>
                <a:latin typeface="☞NOIR PRO MEDIUM" pitchFamily="2" charset="0"/>
              </a:rPr>
              <a:t>Maintainability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CA2804-3BBC-1243-B252-3606CEE166D1}"/>
              </a:ext>
            </a:extLst>
          </p:cNvPr>
          <p:cNvSpPr txBox="1"/>
          <p:nvPr/>
        </p:nvSpPr>
        <p:spPr>
          <a:xfrm>
            <a:off x="5449035" y="5901169"/>
            <a:ext cx="2783283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chemeClr val="accent4"/>
                </a:solidFill>
                <a:latin typeface="☞NOIR PRO MEDIUM" pitchFamily="2" charset="0"/>
              </a:rPr>
              <a:t>System rebuild volume in person years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D40947C-5676-1242-AEC0-87071DBECADF}"/>
              </a:ext>
            </a:extLst>
          </p:cNvPr>
          <p:cNvCxnSpPr>
            <a:cxnSpLocks/>
          </p:cNvCxnSpPr>
          <p:nvPr/>
        </p:nvCxnSpPr>
        <p:spPr>
          <a:xfrm flipV="1">
            <a:off x="723627" y="3266661"/>
            <a:ext cx="0" cy="987287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C24D10E-589B-A645-A73D-2DF5671E5BCE}"/>
              </a:ext>
            </a:extLst>
          </p:cNvPr>
          <p:cNvCxnSpPr>
            <a:cxnSpLocks/>
          </p:cNvCxnSpPr>
          <p:nvPr/>
        </p:nvCxnSpPr>
        <p:spPr>
          <a:xfrm>
            <a:off x="5546035" y="6223288"/>
            <a:ext cx="2590800" cy="0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4719D613-2D86-324E-B31C-9B748075401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5560" y="1842711"/>
            <a:ext cx="9781201" cy="3899777"/>
          </a:xfrm>
          <a:prstGeom prst="rect">
            <a:avLst/>
          </a:prstGeom>
        </p:spPr>
      </p:pic>
      <p:graphicFrame>
        <p:nvGraphicFramePr>
          <p:cNvPr id="25" name="CHART_1">
            <a:extLst>
              <a:ext uri="{FF2B5EF4-FFF2-40B4-BE49-F238E27FC236}">
                <a16:creationId xmlns:a16="http://schemas.microsoft.com/office/drawing/2014/main" id="{71473021-ED8B-E048-AE80-928BC05FB04C}"/>
              </a:ext>
            </a:extLst>
          </p:cNvPr>
          <p:cNvGraphicFramePr/>
          <p:nvPr/>
        </p:nvGraphicFramePr>
        <p:xfrm>
          <a:off x="1482154" y="1834937"/>
          <a:ext cx="10279108" cy="4131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27" name="Group 26">
            <a:extLst>
              <a:ext uri="{FF2B5EF4-FFF2-40B4-BE49-F238E27FC236}">
                <a16:creationId xmlns:a16="http://schemas.microsoft.com/office/drawing/2014/main" id="{4FC400F9-4DE2-8F42-8C2D-4150A26F3F2C}"/>
              </a:ext>
            </a:extLst>
          </p:cNvPr>
          <p:cNvGrpSpPr/>
          <p:nvPr/>
        </p:nvGrpSpPr>
        <p:grpSpPr>
          <a:xfrm>
            <a:off x="5118606" y="1363956"/>
            <a:ext cx="3444121" cy="390363"/>
            <a:chOff x="4652159" y="1363956"/>
            <a:chExt cx="3444121" cy="390363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5046831-DB71-A940-A48A-8B3192963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4652159" y="1380274"/>
              <a:ext cx="355600" cy="30226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26023ED-8DC0-D241-985A-9479E28D34EC}"/>
                </a:ext>
              </a:extLst>
            </p:cNvPr>
            <p:cNvSpPr txBox="1"/>
            <p:nvPr/>
          </p:nvSpPr>
          <p:spPr>
            <a:xfrm>
              <a:off x="4987587" y="1363956"/>
              <a:ext cx="3108693" cy="390363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noProof="0" dirty="0">
                  <a:solidFill>
                    <a:schemeClr val="bg1"/>
                  </a:solidFill>
                  <a:latin typeface="☞NOIR PRO MEDIUM" pitchFamily="2" charset="0"/>
                </a:rPr>
                <a:t>maintainability benchmark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966B7EB-EB40-8F4F-BFE2-14F8A482C1E9}"/>
              </a:ext>
            </a:extLst>
          </p:cNvPr>
          <p:cNvGrpSpPr/>
          <p:nvPr/>
        </p:nvGrpSpPr>
        <p:grpSpPr>
          <a:xfrm>
            <a:off x="1894777" y="5911258"/>
            <a:ext cx="1800067" cy="289438"/>
            <a:chOff x="1894777" y="5954803"/>
            <a:chExt cx="1800067" cy="289438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F1D2BB0-4FB7-FD48-9491-1CC2359747A2}"/>
                </a:ext>
              </a:extLst>
            </p:cNvPr>
            <p:cNvSpPr/>
            <p:nvPr/>
          </p:nvSpPr>
          <p:spPr>
            <a:xfrm>
              <a:off x="1894777" y="6061515"/>
              <a:ext cx="79513" cy="79513"/>
            </a:xfrm>
            <a:prstGeom prst="ellipse">
              <a:avLst/>
            </a:prstGeom>
            <a:solidFill>
              <a:schemeClr val="bg1"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BD5F066-D653-7244-8E79-CAE5026508C0}"/>
                </a:ext>
              </a:extLst>
            </p:cNvPr>
            <p:cNvSpPr txBox="1"/>
            <p:nvPr/>
          </p:nvSpPr>
          <p:spPr>
            <a:xfrm>
              <a:off x="1934534" y="5954803"/>
              <a:ext cx="1760310" cy="289438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200" noProof="0" dirty="0">
                  <a:solidFill>
                    <a:schemeClr val="bg1"/>
                  </a:solidFill>
                </a:rPr>
                <a:t>System in SIG benchmark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67471FA-A9FE-8926-C136-F5A56280E365}"/>
              </a:ext>
            </a:extLst>
          </p:cNvPr>
          <p:cNvSpPr txBox="1"/>
          <p:nvPr/>
        </p:nvSpPr>
        <p:spPr>
          <a:xfrm>
            <a:off x="10854411" y="-307357"/>
            <a:ext cx="1404700" cy="355225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600" dirty="0" err="1">
                <a:solidFill>
                  <a:schemeClr val="tx2"/>
                </a:solidFill>
              </a:rPr>
              <a:t>GALAXY_SLIDE</a:t>
            </a:r>
            <a:endParaRPr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9317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3D0FC-1E69-5405-8D25-E89771A79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F1B609EF-4181-E74F-FF39-E0761C89B7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674945" cy="228145"/>
          </a:xfrm>
        </p:spPr>
        <p:txBody>
          <a:bodyPr/>
          <a:lstStyle/>
          <a:p>
            <a:r>
              <a:rPr lang="en-US" noProof="0" dirty="0"/>
              <a:t>Key findings – Maintainability</a:t>
            </a:r>
          </a:p>
        </p:txBody>
      </p:sp>
      <p:sp>
        <p:nvSpPr>
          <p:cNvPr id="54" name="Tijdelijke aanduiding voor inhoud 53">
            <a:extLst>
              <a:ext uri="{FF2B5EF4-FFF2-40B4-BE49-F238E27FC236}">
                <a16:creationId xmlns:a16="http://schemas.microsoft.com/office/drawing/2014/main" id="{C9D4FD2A-29C7-977B-F942-DDDC53AD6A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799" y="2738112"/>
            <a:ext cx="8090297" cy="3525887"/>
          </a:xfrm>
        </p:spPr>
        <p:txBody>
          <a:bodyPr/>
          <a:lstStyle/>
          <a:p>
            <a:r>
              <a:rPr lang="en-US" sz="1400" noProof="0" dirty="0" err="1"/>
              <a:t>SYSTEM_NAME</a:t>
            </a:r>
            <a:r>
              <a:rPr lang="en-US" sz="1400" noProof="0" dirty="0"/>
              <a:t> scores </a:t>
            </a:r>
            <a:r>
              <a:rPr lang="en-US" sz="1400" noProof="0" dirty="0" err="1"/>
              <a:t>MAINT_RELATIVE</a:t>
            </a:r>
            <a:r>
              <a:rPr lang="en-US" sz="1400" noProof="0" dirty="0"/>
              <a:t> market average for maintainability. This indicates MAINT_COST maintenance costs and time to market for functional changes. </a:t>
            </a:r>
          </a:p>
          <a:p>
            <a:endParaRPr lang="en-US" sz="1400" noProof="0" dirty="0"/>
          </a:p>
          <a:p>
            <a:r>
              <a:rPr lang="en-US" sz="1400" noProof="0" dirty="0">
                <a:latin typeface="Noir Pro Semi Bold" pitchFamily="2" charset="0"/>
              </a:rPr>
              <a:t>Notable metrics</a:t>
            </a:r>
          </a:p>
          <a:p>
            <a:r>
              <a:rPr lang="en-US" sz="1400" noProof="0" dirty="0" err="1"/>
              <a:t>MAINT_MULTIPLE_OBSERVATIONS</a:t>
            </a:r>
            <a:endParaRPr lang="en-US" sz="1400" noProof="0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C752FB1-03C1-7292-253C-C8435A815C2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65651B26-96DD-EACD-2E25-B80757D07B9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53" name="Titel 52">
            <a:extLst>
              <a:ext uri="{FF2B5EF4-FFF2-40B4-BE49-F238E27FC236}">
                <a16:creationId xmlns:a16="http://schemas.microsoft.com/office/drawing/2014/main" id="{A6914BE1-1869-02E9-03A8-308091307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SYSTEM_NAME scores MAINT_RELATIVE for maintainability</a:t>
            </a:r>
          </a:p>
        </p:txBody>
      </p:sp>
      <p:cxnSp>
        <p:nvCxnSpPr>
          <p:cNvPr id="47" name="Rechte verbindingslijn 46">
            <a:extLst>
              <a:ext uri="{FF2B5EF4-FFF2-40B4-BE49-F238E27FC236}">
                <a16:creationId xmlns:a16="http://schemas.microsoft.com/office/drawing/2014/main" id="{EF8E65C2-A45F-F7BE-50AD-120C0B0578A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378314" y="2821727"/>
            <a:ext cx="0" cy="2617144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ep 6">
            <a:extLst>
              <a:ext uri="{FF2B5EF4-FFF2-40B4-BE49-F238E27FC236}">
                <a16:creationId xmlns:a16="http://schemas.microsoft.com/office/drawing/2014/main" id="{8058F19A-8E04-B773-2F63-975EE437CF7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34319" y="1137285"/>
            <a:ext cx="11923362" cy="1426530"/>
            <a:chOff x="134319" y="1137285"/>
            <a:chExt cx="11923362" cy="1426530"/>
          </a:xfrm>
        </p:grpSpPr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0DCAE605-6045-AE2B-8209-321411B56E1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900832" y="2202282"/>
              <a:ext cx="2383616" cy="361533"/>
            </a:xfrm>
            <a:prstGeom prst="rect">
              <a:avLst/>
            </a:prstGeom>
            <a:gradFill>
              <a:gsLst>
                <a:gs pos="8900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20000"/>
                    <a:lumOff val="80000"/>
                  </a:schemeClr>
                </a:gs>
              </a:gsLst>
              <a:lin ang="15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7" name="Afgeronde rechthoek 36">
              <a:extLst>
                <a:ext uri="{FF2B5EF4-FFF2-40B4-BE49-F238E27FC236}">
                  <a16:creationId xmlns:a16="http://schemas.microsoft.com/office/drawing/2014/main" id="{A519506A-F642-8B0A-0CD2-170BCE2AA5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54799" y="1137285"/>
              <a:ext cx="11875047" cy="1426530"/>
            </a:xfrm>
            <a:prstGeom prst="roundRect">
              <a:avLst>
                <a:gd name="adj" fmla="val 8464"/>
              </a:avLst>
            </a:prstGeom>
            <a:gradFill>
              <a:gsLst>
                <a:gs pos="89000">
                  <a:schemeClr val="accent3">
                    <a:lumMod val="20000"/>
                    <a:lumOff val="80000"/>
                  </a:schemeClr>
                </a:gs>
                <a:gs pos="60000">
                  <a:schemeClr val="accent3">
                    <a:lumMod val="20000"/>
                    <a:lumOff val="80000"/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73" name="TextBox 39">
              <a:extLst>
                <a:ext uri="{FF2B5EF4-FFF2-40B4-BE49-F238E27FC236}">
                  <a16:creationId xmlns:a16="http://schemas.microsoft.com/office/drawing/2014/main" id="{8A515EA8-6F7F-CB57-EEF9-6A988D6515A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900832" y="2291359"/>
              <a:ext cx="2378985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000" noProof="0" dirty="0">
                  <a:solidFill>
                    <a:schemeClr val="accent1"/>
                  </a:solidFill>
                  <a:latin typeface="☞NOIR PRO MEDIUM" pitchFamily="2" charset="0"/>
                </a:rPr>
                <a:t>Market average</a:t>
              </a:r>
            </a:p>
          </p:txBody>
        </p:sp>
        <p:sp>
          <p:nvSpPr>
            <p:cNvPr id="3" name="Afgeronde rechthoek 2">
              <a:extLst>
                <a:ext uri="{FF2B5EF4-FFF2-40B4-BE49-F238E27FC236}">
                  <a16:creationId xmlns:a16="http://schemas.microsoft.com/office/drawing/2014/main" id="{E2EE68DC-9DD1-19EB-B084-5915863A13C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54800" y="1918860"/>
              <a:ext cx="11875046" cy="353488"/>
            </a:xfrm>
            <a:prstGeom prst="roundRect">
              <a:avLst>
                <a:gd name="adj" fmla="val 34390"/>
              </a:avLst>
            </a:prstGeom>
            <a:gradFill>
              <a:gsLst>
                <a:gs pos="50000">
                  <a:schemeClr val="accent2"/>
                </a:gs>
                <a:gs pos="100000">
                  <a:schemeClr val="accent1"/>
                </a:gs>
                <a:gs pos="0">
                  <a:schemeClr val="accent3">
                    <a:lumMod val="20000"/>
                    <a:lumOff val="80000"/>
                  </a:scheme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9" name="Rechte verbindingslijn 8">
              <a:extLst>
                <a:ext uri="{FF2B5EF4-FFF2-40B4-BE49-F238E27FC236}">
                  <a16:creationId xmlns:a16="http://schemas.microsoft.com/office/drawing/2014/main" id="{16341FD7-C449-69BD-197B-554C11DA7F1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529808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Rechte verbindingslijn 9">
              <a:extLst>
                <a:ext uri="{FF2B5EF4-FFF2-40B4-BE49-F238E27FC236}">
                  <a16:creationId xmlns:a16="http://schemas.microsoft.com/office/drawing/2014/main" id="{A4959127-23CE-B5B2-54D8-24915B5D939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904817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Rechte verbindingslijn 10">
              <a:extLst>
                <a:ext uri="{FF2B5EF4-FFF2-40B4-BE49-F238E27FC236}">
                  <a16:creationId xmlns:a16="http://schemas.microsoft.com/office/drawing/2014/main" id="{467EED00-A9A4-745B-FA74-A2589E0935F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279826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Rechte verbindingslijn 12">
              <a:extLst>
                <a:ext uri="{FF2B5EF4-FFF2-40B4-BE49-F238E27FC236}">
                  <a16:creationId xmlns:a16="http://schemas.microsoft.com/office/drawing/2014/main" id="{65D273F6-15EF-5B5D-F9A4-4D7671E31A9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654835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9B50D10F-F915-DCFC-A5F9-B9784D2E0A4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4319" y="1914033"/>
              <a:ext cx="11923362" cy="299225"/>
            </a:xfrm>
            <a:prstGeom prst="rect">
              <a:avLst/>
            </a:prstGeom>
            <a:gradFill>
              <a:gsLst>
                <a:gs pos="53000">
                  <a:schemeClr val="bg1">
                    <a:alpha val="15000"/>
                  </a:schemeClr>
                </a:gs>
                <a:gs pos="15000">
                  <a:schemeClr val="bg1">
                    <a:alpha val="0"/>
                  </a:schemeClr>
                </a:gs>
              </a:gsLst>
              <a:lin ang="5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19" name="Afgeronde rechthoek 18">
              <a:extLst>
                <a:ext uri="{FF2B5EF4-FFF2-40B4-BE49-F238E27FC236}">
                  <a16:creationId xmlns:a16="http://schemas.microsoft.com/office/drawing/2014/main" id="{7222BC8B-9E66-91BE-A862-E4B0A9707F5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43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1.5</a:t>
              </a:r>
            </a:p>
          </p:txBody>
        </p:sp>
        <p:sp>
          <p:nvSpPr>
            <p:cNvPr id="20" name="Afgeronde rechthoek 19">
              <a:extLst>
                <a:ext uri="{FF2B5EF4-FFF2-40B4-BE49-F238E27FC236}">
                  <a16:creationId xmlns:a16="http://schemas.microsoft.com/office/drawing/2014/main" id="{0372C655-B475-E870-9B73-C457C94299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444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2.5</a:t>
              </a:r>
            </a:p>
          </p:txBody>
        </p:sp>
        <p:sp>
          <p:nvSpPr>
            <p:cNvPr id="21" name="Afgeronde rechthoek 20">
              <a:extLst>
                <a:ext uri="{FF2B5EF4-FFF2-40B4-BE49-F238E27FC236}">
                  <a16:creationId xmlns:a16="http://schemas.microsoft.com/office/drawing/2014/main" id="{A4495646-4CD8-7FE9-D6FA-E6A32F32680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96406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3.5</a:t>
              </a:r>
            </a:p>
          </p:txBody>
        </p:sp>
        <p:sp>
          <p:nvSpPr>
            <p:cNvPr id="22" name="Afgeronde rechthoek 21">
              <a:extLst>
                <a:ext uri="{FF2B5EF4-FFF2-40B4-BE49-F238E27FC236}">
                  <a16:creationId xmlns:a16="http://schemas.microsoft.com/office/drawing/2014/main" id="{81E714D1-2EDD-E6C5-CAAA-EB02239A0D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571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4.5</a:t>
              </a:r>
            </a:p>
          </p:txBody>
        </p:sp>
        <p:sp>
          <p:nvSpPr>
            <p:cNvPr id="23" name="Afgeronde rechthoek 22">
              <a:extLst>
                <a:ext uri="{FF2B5EF4-FFF2-40B4-BE49-F238E27FC236}">
                  <a16:creationId xmlns:a16="http://schemas.microsoft.com/office/drawing/2014/main" id="{9FA94012-C64B-FEAF-BEF5-6E878110F9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297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0.5</a:t>
              </a:r>
            </a:p>
          </p:txBody>
        </p:sp>
        <p:sp>
          <p:nvSpPr>
            <p:cNvPr id="24" name="Afgeronde rechthoek 23">
              <a:extLst>
                <a:ext uri="{FF2B5EF4-FFF2-40B4-BE49-F238E27FC236}">
                  <a16:creationId xmlns:a16="http://schemas.microsoft.com/office/drawing/2014/main" id="{06245C99-D1A2-81E1-7A2A-9B3FA54DB5D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7157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5.5</a:t>
              </a:r>
            </a:p>
          </p:txBody>
        </p:sp>
        <p:sp>
          <p:nvSpPr>
            <p:cNvPr id="32" name="Rectangle 29">
              <a:extLst>
                <a:ext uri="{FF2B5EF4-FFF2-40B4-BE49-F238E27FC236}">
                  <a16:creationId xmlns:a16="http://schemas.microsoft.com/office/drawing/2014/main" id="{0D680DAE-6A0A-5F80-9D73-1B3434F7C52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0766" y="1922220"/>
              <a:ext cx="23740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★☆☆☆☆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3" name="Rectangle 34">
              <a:extLst>
                <a:ext uri="{FF2B5EF4-FFF2-40B4-BE49-F238E27FC236}">
                  <a16:creationId xmlns:a16="http://schemas.microsoft.com/office/drawing/2014/main" id="{B95F3709-4127-653F-563F-EB0A748FB34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534850" y="1919492"/>
              <a:ext cx="23659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4" name="Rectangle 35">
              <a:extLst>
                <a:ext uri="{FF2B5EF4-FFF2-40B4-BE49-F238E27FC236}">
                  <a16:creationId xmlns:a16="http://schemas.microsoft.com/office/drawing/2014/main" id="{DB3E36D4-BB81-8AF0-CEF6-CCC2706BF8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900833" y="1916764"/>
              <a:ext cx="2381966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noProof="0" dirty="0">
                  <a:solidFill>
                    <a:schemeClr val="bg1"/>
                  </a:solidFill>
                  <a:cs typeface="Sigsterren"/>
                </a:rPr>
                <a:t>★★★☆☆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5" name="Rectangle 36">
              <a:extLst>
                <a:ext uri="{FF2B5EF4-FFF2-40B4-BE49-F238E27FC236}">
                  <a16:creationId xmlns:a16="http://schemas.microsoft.com/office/drawing/2014/main" id="{3A492A1F-5A7A-07F8-8C38-7C13295E7C4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84448" y="1925283"/>
              <a:ext cx="2376000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6" name="Rectangle 37">
              <a:extLst>
                <a:ext uri="{FF2B5EF4-FFF2-40B4-BE49-F238E27FC236}">
                  <a16:creationId xmlns:a16="http://schemas.microsoft.com/office/drawing/2014/main" id="{8D18C5C7-06E2-49CE-D02A-344D110428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660447" y="1925283"/>
              <a:ext cx="236940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★★★★★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78" name="Rechte verbindingslijn 77">
              <a:extLst>
                <a:ext uri="{FF2B5EF4-FFF2-40B4-BE49-F238E27FC236}">
                  <a16:creationId xmlns:a16="http://schemas.microsoft.com/office/drawing/2014/main" id="{B27569F3-74B0-C2D8-CBC7-DCBA58B39A6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906583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Rechte verbindingslijn 79">
              <a:extLst>
                <a:ext uri="{FF2B5EF4-FFF2-40B4-BE49-F238E27FC236}">
                  <a16:creationId xmlns:a16="http://schemas.microsoft.com/office/drawing/2014/main" id="{37D11895-5EFF-93B7-DE3D-9A9E9F09F8C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279817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5" name="Graphic 74">
              <a:extLst>
                <a:ext uri="{FF2B5EF4-FFF2-40B4-BE49-F238E27FC236}">
                  <a16:creationId xmlns:a16="http://schemas.microsoft.com/office/drawing/2014/main" id="{B5BD83E5-4A87-97B5-1F20-E26F1CC99FB7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3416" y="2285629"/>
              <a:ext cx="270098" cy="228966"/>
            </a:xfrm>
            <a:prstGeom prst="rect">
              <a:avLst/>
            </a:prstGeom>
          </p:spPr>
        </p:pic>
        <p:cxnSp>
          <p:nvCxnSpPr>
            <p:cNvPr id="28" name="Rechte verbindingslijn 27">
              <a:extLst>
                <a:ext uri="{FF2B5EF4-FFF2-40B4-BE49-F238E27FC236}">
                  <a16:creationId xmlns:a16="http://schemas.microsoft.com/office/drawing/2014/main" id="{D9F659BC-E5C3-0EB3-2FDA-3439436410A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09721" y="2346696"/>
              <a:ext cx="0" cy="135023"/>
            </a:xfrm>
            <a:prstGeom prst="line">
              <a:avLst/>
            </a:prstGeom>
            <a:ln w="952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0F81F54D-AD5F-2ED7-41E7-B4244E747E5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764650" y="2307999"/>
              <a:ext cx="217800" cy="216422"/>
            </a:xfrm>
            <a:prstGeom prst="rect">
              <a:avLst/>
            </a:prstGeom>
          </p:spPr>
        </p:pic>
      </p:grpSp>
      <p:sp>
        <p:nvSpPr>
          <p:cNvPr id="65" name="TextBox 39">
            <a:extLst>
              <a:ext uri="{FF2B5EF4-FFF2-40B4-BE49-F238E27FC236}">
                <a16:creationId xmlns:a16="http://schemas.microsoft.com/office/drawing/2014/main" id="{DDB8BF03-352C-7912-CA4F-E637BDD54DF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71496" y="2735427"/>
            <a:ext cx="237898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 noProof="0" dirty="0">
                <a:latin typeface="☞NOIR PRO MEDIUM" pitchFamily="2" charset="0"/>
              </a:rPr>
              <a:t>System metric ratings</a:t>
            </a:r>
          </a:p>
        </p:txBody>
      </p:sp>
      <p:graphicFrame>
        <p:nvGraphicFramePr>
          <p:cNvPr id="38" name="Group 52">
            <a:extLst>
              <a:ext uri="{FF2B5EF4-FFF2-40B4-BE49-F238E27FC236}">
                <a16:creationId xmlns:a16="http://schemas.microsoft.com/office/drawing/2014/main" id="{402C79F4-6E42-178E-24B7-07CA9240FF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213525"/>
              </p:ext>
            </p:extLst>
          </p:nvPr>
        </p:nvGraphicFramePr>
        <p:xfrm>
          <a:off x="8571496" y="3035953"/>
          <a:ext cx="3116504" cy="18681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63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823">
                  <a:extLst>
                    <a:ext uri="{9D8B030D-6E8A-4147-A177-3AD203B41FA5}">
                      <a16:colId xmlns:a16="http://schemas.microsoft.com/office/drawing/2014/main" val="335839943"/>
                    </a:ext>
                  </a:extLst>
                </a:gridCol>
                <a:gridCol w="445949">
                  <a:extLst>
                    <a:ext uri="{9D8B030D-6E8A-4147-A177-3AD203B41FA5}">
                      <a16:colId xmlns:a16="http://schemas.microsoft.com/office/drawing/2014/main" val="2689889332"/>
                    </a:ext>
                  </a:extLst>
                </a:gridCol>
              </a:tblGrid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Volume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STARS_VOLUME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MAINT_RATING_VOLUME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Duplication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STARS_DUPLICATION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MAINT_RATING_DUPLICATION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Unit size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STARS_UNIT_SIZE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MAINT_RATING_UNIT_SIZE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Unit complexity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STARS_UNIT_COMPLEXITY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MAINT_RATING_UNIT_COMPLEXITY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93642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Unit interfacing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STARS_UNIT_INTERFACING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MAINT_RATING_UNIT_INTERFACING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257320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Module coupling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STARS_MODULE_COUPLING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MAINT_RATING_MODULE_COUPLING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660516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entanglement 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STARS_COMPONENT_ENTANGLEMENT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MAINT_RATING_COMPONENT_ENTANGLEMENT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530004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independence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STARS_COMPONENT_INDEPENDENCE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MAINT_RATING_COMPONENT_INDEPENDENCE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207179"/>
                  </a:ext>
                </a:extLst>
              </a:tr>
            </a:tbl>
          </a:graphicData>
        </a:graphic>
      </p:graphicFrame>
      <p:graphicFrame>
        <p:nvGraphicFramePr>
          <p:cNvPr id="74" name="Table 3">
            <a:extLst>
              <a:ext uri="{FF2B5EF4-FFF2-40B4-BE49-F238E27FC236}">
                <a16:creationId xmlns:a16="http://schemas.microsoft.com/office/drawing/2014/main" id="{77E3437B-5074-14E8-36C7-3DF76B44157A}"/>
              </a:ext>
            </a:extLst>
          </p:cNvPr>
          <p:cNvGraphicFramePr>
            <a:graphicFrameLocks noGrp="1" noDrilldown="1" noMove="1" noResize="1"/>
          </p:cNvGraphicFramePr>
          <p:nvPr/>
        </p:nvGraphicFramePr>
        <p:xfrm>
          <a:off x="154799" y="2234594"/>
          <a:ext cx="11875047" cy="45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501">
                  <a:extLst>
                    <a:ext uri="{9D8B030D-6E8A-4147-A177-3AD203B41FA5}">
                      <a16:colId xmlns:a16="http://schemas.microsoft.com/office/drawing/2014/main" val="21329541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0366675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85156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49515327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5742420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1630431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5063804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10544337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26902984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2413616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795042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66322978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4242559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144399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6432939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5213939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6923494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50055385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87502831"/>
                    </a:ext>
                  </a:extLst>
                </a:gridCol>
                <a:gridCol w="233731">
                  <a:extLst>
                    <a:ext uri="{9D8B030D-6E8A-4147-A177-3AD203B41FA5}">
                      <a16:colId xmlns:a16="http://schemas.microsoft.com/office/drawing/2014/main" val="3396659716"/>
                    </a:ext>
                  </a:extLst>
                </a:gridCol>
                <a:gridCol w="241272">
                  <a:extLst>
                    <a:ext uri="{9D8B030D-6E8A-4147-A177-3AD203B41FA5}">
                      <a16:colId xmlns:a16="http://schemas.microsoft.com/office/drawing/2014/main" val="247530210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9367140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8570833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48299825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87070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6762079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63124691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59043620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76769573"/>
                    </a:ext>
                  </a:extLst>
                </a:gridCol>
                <a:gridCol w="234041">
                  <a:extLst>
                    <a:ext uri="{9D8B030D-6E8A-4147-A177-3AD203B41FA5}">
                      <a16:colId xmlns:a16="http://schemas.microsoft.com/office/drawing/2014/main" val="3064695449"/>
                    </a:ext>
                  </a:extLst>
                </a:gridCol>
                <a:gridCol w="240960">
                  <a:extLst>
                    <a:ext uri="{9D8B030D-6E8A-4147-A177-3AD203B41FA5}">
                      <a16:colId xmlns:a16="http://schemas.microsoft.com/office/drawing/2014/main" val="48298187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12332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159638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7928651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578829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81430440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0700881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84992126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765944989"/>
                    </a:ext>
                  </a:extLst>
                </a:gridCol>
                <a:gridCol w="248004">
                  <a:extLst>
                    <a:ext uri="{9D8B030D-6E8A-4147-A177-3AD203B41FA5}">
                      <a16:colId xmlns:a16="http://schemas.microsoft.com/office/drawing/2014/main" val="1071605657"/>
                    </a:ext>
                  </a:extLst>
                </a:gridCol>
                <a:gridCol w="226995">
                  <a:extLst>
                    <a:ext uri="{9D8B030D-6E8A-4147-A177-3AD203B41FA5}">
                      <a16:colId xmlns:a16="http://schemas.microsoft.com/office/drawing/2014/main" val="1361273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6987088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37811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74854653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789603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01967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7220572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1028153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0180731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32458597"/>
                    </a:ext>
                  </a:extLst>
                </a:gridCol>
              </a:tblGrid>
              <a:tr h="45720"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78863"/>
                  </a:ext>
                </a:extLst>
              </a:tr>
            </a:tbl>
          </a:graphicData>
        </a:graphic>
      </p:graphicFrame>
      <p:sp>
        <p:nvSpPr>
          <p:cNvPr id="6" name="TextBox 39">
            <a:extLst>
              <a:ext uri="{FF2B5EF4-FFF2-40B4-BE49-F238E27FC236}">
                <a16:creationId xmlns:a16="http://schemas.microsoft.com/office/drawing/2014/main" id="{8AC4EC13-23AB-04D5-0F9F-2B74B25C4A9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8831" y="2291359"/>
            <a:ext cx="4665609" cy="246221"/>
          </a:xfrm>
          <a:prstGeom prst="rect">
            <a:avLst/>
          </a:prstGeom>
          <a:noFill/>
        </p:spPr>
        <p:txBody>
          <a:bodyPr wrap="square" lIns="648000" rtlCol="0" anchor="ctr">
            <a:spAutoFit/>
          </a:bodyPr>
          <a:lstStyle/>
          <a:p>
            <a:r>
              <a:rPr lang="en-US" sz="1000" noProof="0" dirty="0">
                <a:solidFill>
                  <a:schemeClr val="accent1"/>
                </a:solidFill>
                <a:latin typeface="☞NOIR PRO MEDIUM" pitchFamily="2" charset="0"/>
              </a:rPr>
              <a:t>Maintainability</a:t>
            </a:r>
          </a:p>
        </p:txBody>
      </p:sp>
      <p:sp>
        <p:nvSpPr>
          <p:cNvPr id="76" name="TextBox 39">
            <a:extLst>
              <a:ext uri="{FF2B5EF4-FFF2-40B4-BE49-F238E27FC236}">
                <a16:creationId xmlns:a16="http://schemas.microsoft.com/office/drawing/2014/main" id="{26078FB0-8A8E-B3F7-4DCB-48A08F72175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618617" y="2316946"/>
            <a:ext cx="4167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Snapshot date: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MAINT_DATE_DAY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MAINT_DATE_MONTH_FULL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MAINT_DATE_YEAR</a:t>
            </a:r>
            <a:endParaRPr lang="en-US" sz="800" noProof="0" dirty="0">
              <a:solidFill>
                <a:srgbClr val="152F73"/>
              </a:solidFill>
              <a:latin typeface="Azeret Mono" pitchFamily="2" charset="77"/>
              <a:cs typeface="Azeret Mono" pitchFamily="2" charset="77"/>
            </a:endParaRPr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D89227F0-045C-CC55-9916-9690A349C77E}"/>
              </a:ext>
            </a:extLst>
          </p:cNvPr>
          <p:cNvGrpSpPr/>
          <p:nvPr/>
        </p:nvGrpSpPr>
        <p:grpSpPr>
          <a:xfrm>
            <a:off x="5633468" y="1466322"/>
            <a:ext cx="913712" cy="884878"/>
            <a:chOff x="5633468" y="1730647"/>
            <a:chExt cx="913712" cy="884878"/>
          </a:xfrm>
        </p:grpSpPr>
        <p:sp>
          <p:nvSpPr>
            <p:cNvPr id="71" name="TextBox 42">
              <a:extLst>
                <a:ext uri="{FF2B5EF4-FFF2-40B4-BE49-F238E27FC236}">
                  <a16:creationId xmlns:a16="http://schemas.microsoft.com/office/drawing/2014/main" id="{630C82FE-1178-32D8-EC14-6C21317BE3E9}"/>
                </a:ext>
              </a:extLst>
            </p:cNvPr>
            <p:cNvSpPr txBox="1">
              <a:spLocks/>
            </p:cNvSpPr>
            <p:nvPr/>
          </p:nvSpPr>
          <p:spPr>
            <a:xfrm>
              <a:off x="5633468" y="1730647"/>
              <a:ext cx="913712" cy="246221"/>
            </a:xfrm>
            <a:prstGeom prst="rect">
              <a:avLst/>
            </a:prstGeom>
            <a:noFill/>
          </p:spPr>
          <p:txBody>
            <a:bodyPr wrap="none" lIns="0" rIns="0" rtlCol="0" anchor="ctr">
              <a:spAutoFit/>
            </a:bodyPr>
            <a:lstStyle/>
            <a:p>
              <a:pPr algn="ctr"/>
              <a:r>
                <a:rPr lang="en-US" sz="1000" noProof="0" dirty="0" err="1">
                  <a:latin typeface="☞NOIR PRO MEDIUM" pitchFamily="2" charset="0"/>
                </a:rPr>
                <a:t>SYSTEM_NAME</a:t>
              </a:r>
              <a:endParaRPr lang="en-US" sz="1000" noProof="0" dirty="0">
                <a:latin typeface="☞NOIR PRO MEDIUM" pitchFamily="2" charset="0"/>
              </a:endParaRPr>
            </a:p>
          </p:txBody>
        </p:sp>
        <p:sp>
          <p:nvSpPr>
            <p:cNvPr id="18" name="Vrije vorm 17">
              <a:extLst>
                <a:ext uri="{FF2B5EF4-FFF2-40B4-BE49-F238E27FC236}">
                  <a16:creationId xmlns:a16="http://schemas.microsoft.com/office/drawing/2014/main" id="{EF195F66-2F7D-44D7-BBBD-D6BE8D7F6FC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5853585" y="2310386"/>
              <a:ext cx="479242" cy="131036"/>
            </a:xfrm>
            <a:custGeom>
              <a:avLst/>
              <a:gdLst>
                <a:gd name="connsiteX0" fmla="*/ 0 w 1420201"/>
                <a:gd name="connsiteY0" fmla="*/ 194158 h 388315"/>
                <a:gd name="connsiteX1" fmla="*/ 155027 w 1420201"/>
                <a:gd name="connsiteY1" fmla="*/ 3946 h 388315"/>
                <a:gd name="connsiteX2" fmla="*/ 193835 w 1420201"/>
                <a:gd name="connsiteY2" fmla="*/ 34 h 388315"/>
                <a:gd name="connsiteX3" fmla="*/ 193835 w 1420201"/>
                <a:gd name="connsiteY3" fmla="*/ 0 h 388315"/>
                <a:gd name="connsiteX4" fmla="*/ 1180182 w 1420201"/>
                <a:gd name="connsiteY4" fmla="*/ 0 h 388315"/>
                <a:gd name="connsiteX5" fmla="*/ 1420201 w 1420201"/>
                <a:gd name="connsiteY5" fmla="*/ 193317 h 388315"/>
                <a:gd name="connsiteX6" fmla="*/ 1180182 w 1420201"/>
                <a:gd name="connsiteY6" fmla="*/ 386634 h 388315"/>
                <a:gd name="connsiteX7" fmla="*/ 210832 w 1420201"/>
                <a:gd name="connsiteY7" fmla="*/ 386634 h 388315"/>
                <a:gd name="connsiteX8" fmla="*/ 194157 w 1420201"/>
                <a:gd name="connsiteY8" fmla="*/ 388315 h 388315"/>
                <a:gd name="connsiteX9" fmla="*/ 0 w 1420201"/>
                <a:gd name="connsiteY9" fmla="*/ 194158 h 388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0201" h="388315">
                  <a:moveTo>
                    <a:pt x="0" y="194158"/>
                  </a:moveTo>
                  <a:cubicBezTo>
                    <a:pt x="0" y="100332"/>
                    <a:pt x="66553" y="22050"/>
                    <a:pt x="155027" y="3946"/>
                  </a:cubicBezTo>
                  <a:lnTo>
                    <a:pt x="193835" y="34"/>
                  </a:lnTo>
                  <a:lnTo>
                    <a:pt x="193835" y="0"/>
                  </a:lnTo>
                  <a:lnTo>
                    <a:pt x="1180182" y="0"/>
                  </a:lnTo>
                  <a:lnTo>
                    <a:pt x="1420201" y="193317"/>
                  </a:lnTo>
                  <a:lnTo>
                    <a:pt x="1180182" y="386634"/>
                  </a:lnTo>
                  <a:lnTo>
                    <a:pt x="210832" y="386634"/>
                  </a:lnTo>
                  <a:lnTo>
                    <a:pt x="194157" y="388315"/>
                  </a:lnTo>
                  <a:cubicBezTo>
                    <a:pt x="86927" y="388315"/>
                    <a:pt x="0" y="301388"/>
                    <a:pt x="0" y="194158"/>
                  </a:cubicBezTo>
                  <a:close/>
                </a:path>
              </a:pathLst>
            </a:custGeom>
            <a:gradFill>
              <a:gsLst>
                <a:gs pos="85000">
                  <a:srgbClr val="F09619"/>
                </a:gs>
                <a:gs pos="41000">
                  <a:srgbClr val="F8C818"/>
                </a:gs>
              </a:gsLst>
              <a:lin ang="2700000" scaled="0"/>
            </a:gradFill>
            <a:ln w="9525">
              <a:gradFill>
                <a:gsLst>
                  <a:gs pos="65000">
                    <a:schemeClr val="bg1"/>
                  </a:gs>
                  <a:gs pos="28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  <a:effectLst>
              <a:outerShdw blurRad="166161" algn="ctr" rotWithShape="0">
                <a:schemeClr val="accent4"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ctr">
              <a:noAutofit/>
            </a:bodyPr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27" name="Afgeronde rechthoek 26">
              <a:extLst>
                <a:ext uri="{FF2B5EF4-FFF2-40B4-BE49-F238E27FC236}">
                  <a16:creationId xmlns:a16="http://schemas.microsoft.com/office/drawing/2014/main" id="{58D67A48-2556-2ED0-85E0-5AC6B13B7FD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971615" y="2006746"/>
              <a:ext cx="243182" cy="243180"/>
            </a:xfrm>
            <a:prstGeom prst="roundRect">
              <a:avLst>
                <a:gd name="adj" fmla="val 2765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000" noProof="0" dirty="0" err="1">
                  <a:solidFill>
                    <a:schemeClr val="tx1"/>
                  </a:solidFill>
                  <a:latin typeface="☞NOIR PRO MEDIUM" pitchFamily="2" charset="0"/>
                </a:rPr>
                <a:t>MARKER_MAINT_RATING</a:t>
              </a:r>
              <a:endParaRPr lang="en-US" sz="1000" noProof="0" dirty="0">
                <a:solidFill>
                  <a:schemeClr val="tx1"/>
                </a:solidFill>
                <a:latin typeface="☞NOIR PRO MEDIUM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1129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B4D6E7B-3114-F989-0221-CF083D29CE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253356" cy="228145"/>
          </a:xfrm>
        </p:spPr>
        <p:txBody>
          <a:bodyPr/>
          <a:lstStyle/>
          <a:p>
            <a:r>
              <a:rPr lang="en-US" noProof="0" dirty="0"/>
              <a:t>Key findings – Technology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770E21-F741-00F2-0514-4F39688D23D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DBA139-C731-CD59-94C7-031326B415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94009D2-574F-A208-29BC-1338E3FDD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system is </a:t>
            </a:r>
            <a:r>
              <a:rPr lang="en-US" noProof="0" dirty="0" err="1"/>
              <a:t>VOLUME_RELATIVE</a:t>
            </a:r>
            <a:r>
              <a:rPr lang="en-US" noProof="0" dirty="0"/>
              <a:t> in size and is built primarily in TECH_1_NAME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1AEDC6C-8C3E-727E-1418-2D7B541D7525}"/>
              </a:ext>
            </a:extLst>
          </p:cNvPr>
          <p:cNvSpPr txBox="1">
            <a:spLocks/>
          </p:cNvSpPr>
          <p:nvPr/>
        </p:nvSpPr>
        <p:spPr>
          <a:xfrm>
            <a:off x="154800" y="1411199"/>
            <a:ext cx="3927600" cy="4161697"/>
          </a:xfrm>
          <a:prstGeom prst="rect">
            <a:avLst/>
          </a:prstGeom>
        </p:spPr>
        <p:txBody>
          <a:bodyPr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noProof="0" dirty="0" err="1"/>
              <a:t>TECH_COMMON_SUMMARY</a:t>
            </a:r>
            <a:endParaRPr lang="en-US" noProof="0" dirty="0"/>
          </a:p>
          <a:p>
            <a:pPr marL="285750" indent="-285750"/>
            <a:r>
              <a:rPr lang="en-US" noProof="0" dirty="0" err="1"/>
              <a:t>TECH_VARIANCE</a:t>
            </a:r>
            <a:endParaRPr lang="en-US" noProof="0" dirty="0"/>
          </a:p>
        </p:txBody>
      </p:sp>
      <p:cxnSp>
        <p:nvCxnSpPr>
          <p:cNvPr id="8" name="Straight Connector 31">
            <a:extLst>
              <a:ext uri="{FF2B5EF4-FFF2-40B4-BE49-F238E27FC236}">
                <a16:creationId xmlns:a16="http://schemas.microsoft.com/office/drawing/2014/main" id="{DD55A41C-2B82-26B6-9D2A-766F671176C0}"/>
              </a:ext>
            </a:extLst>
          </p:cNvPr>
          <p:cNvCxnSpPr>
            <a:cxnSpLocks/>
          </p:cNvCxnSpPr>
          <p:nvPr/>
        </p:nvCxnSpPr>
        <p:spPr>
          <a:xfrm>
            <a:off x="4176367" y="1366988"/>
            <a:ext cx="0" cy="4823259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E5DDF9E1-26B6-EE58-18CE-4DBED266C4BE}"/>
              </a:ext>
            </a:extLst>
          </p:cNvPr>
          <p:cNvGraphicFramePr/>
          <p:nvPr/>
        </p:nvGraphicFramePr>
        <p:xfrm>
          <a:off x="4258899" y="1366989"/>
          <a:ext cx="7486768" cy="19407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C4B4064B-3666-8F9B-FEDF-E1E1A99275BE}"/>
              </a:ext>
            </a:extLst>
          </p:cNvPr>
          <p:cNvGraphicFramePr>
            <a:graphicFrameLocks noGrp="1"/>
          </p:cNvGraphicFramePr>
          <p:nvPr/>
        </p:nvGraphicFramePr>
        <p:xfrm>
          <a:off x="4258898" y="3328130"/>
          <a:ext cx="7486769" cy="2154574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3740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444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</a:tblGrid>
              <a:tr h="36777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Technology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216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Lines of Code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Rebuild size (PM)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TECH_1_NAME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TECH_1_LOC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TECH_1_PY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TECH_2_NAME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TECH_2_LOC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TECH_2_PY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TECH_3_NAME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TECH_3_LOC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TECH_3_PY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TECH_4_NAME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TECH_4_LOC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TECH_4_PY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TECH_5_NAME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TECH_5_LOC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TECH_5_PY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</a:tbl>
          </a:graphicData>
        </a:graphic>
      </p:graphicFrame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F6F2A0BE-E3E4-9A47-906A-32FD433FB0F7}"/>
              </a:ext>
            </a:extLst>
          </p:cNvPr>
          <p:cNvSpPr txBox="1">
            <a:spLocks/>
          </p:cNvSpPr>
          <p:nvPr/>
        </p:nvSpPr>
        <p:spPr>
          <a:xfrm>
            <a:off x="4478812" y="5781286"/>
            <a:ext cx="1797438" cy="221497"/>
          </a:xfrm>
          <a:prstGeom prst="rect">
            <a:avLst/>
          </a:prstGeom>
          <a:noFill/>
        </p:spPr>
        <p:txBody>
          <a:bodyPr wrap="none" lIns="0" tIns="0" rIns="108000" bIns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noProof="0" dirty="0">
                <a:solidFill>
                  <a:schemeClr val="tx1"/>
                </a:solidFill>
              </a:rPr>
              <a:t>System rebuild size:</a:t>
            </a:r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4E5F2948-2383-E59A-7528-F3A85A416090}"/>
              </a:ext>
            </a:extLst>
          </p:cNvPr>
          <p:cNvSpPr txBox="1">
            <a:spLocks/>
          </p:cNvSpPr>
          <p:nvPr/>
        </p:nvSpPr>
        <p:spPr>
          <a:xfrm>
            <a:off x="9695543" y="5781287"/>
            <a:ext cx="2050125" cy="221497"/>
          </a:xfrm>
          <a:prstGeom prst="rect">
            <a:avLst/>
          </a:prstGeom>
          <a:noFill/>
        </p:spPr>
        <p:txBody>
          <a:bodyPr wrap="none" lIns="0" tIns="0" rIns="108000" bIns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 dirty="0" err="1">
                <a:solidFill>
                  <a:schemeClr val="tx1"/>
                </a:solidFill>
              </a:rPr>
              <a:t>SYSTEM_PY</a:t>
            </a:r>
            <a:r>
              <a:rPr lang="en-US" noProof="0" dirty="0">
                <a:solidFill>
                  <a:schemeClr val="tx1"/>
                </a:solidFill>
              </a:rPr>
              <a:t> PY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EDF7FCC4-80F8-93F6-F4FE-6E60740CE42A}"/>
              </a:ext>
            </a:extLst>
          </p:cNvPr>
          <p:cNvSpPr txBox="1">
            <a:spLocks/>
          </p:cNvSpPr>
          <p:nvPr/>
        </p:nvSpPr>
        <p:spPr>
          <a:xfrm>
            <a:off x="6628412" y="5781286"/>
            <a:ext cx="2906219" cy="221497"/>
          </a:xfrm>
          <a:prstGeom prst="rect">
            <a:avLst/>
          </a:prstGeom>
          <a:noFill/>
        </p:spPr>
        <p:txBody>
          <a:bodyPr wrap="none" lIns="0" tIns="0" rIns="108000" bIns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 dirty="0" err="1">
                <a:solidFill>
                  <a:schemeClr val="tx1"/>
                </a:solidFill>
              </a:rPr>
              <a:t>SYSTEM_LOC_FORMAT_COMMA</a:t>
            </a:r>
            <a:r>
              <a:rPr lang="en-US" noProof="0" dirty="0">
                <a:solidFill>
                  <a:schemeClr val="tx1"/>
                </a:solidFill>
              </a:rPr>
              <a:t> LOC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20EE1A-4478-B644-31B7-C378F5EED1D8}"/>
              </a:ext>
            </a:extLst>
          </p:cNvPr>
          <p:cNvSpPr txBox="1"/>
          <p:nvPr/>
        </p:nvSpPr>
        <p:spPr>
          <a:xfrm>
            <a:off x="10058400" y="-373182"/>
            <a:ext cx="2000312" cy="355225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600" noProof="0" dirty="0" err="1">
                <a:solidFill>
                  <a:schemeClr val="tx2"/>
                </a:solidFill>
              </a:rPr>
              <a:t>TECHNOLOGY_CHART</a:t>
            </a:r>
            <a:endParaRPr lang="en-US" sz="1600" noProof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148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72F7C4-C3B1-B0C2-D389-99A8407F9C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169037" cy="228145"/>
          </a:xfrm>
        </p:spPr>
        <p:txBody>
          <a:bodyPr/>
          <a:lstStyle/>
          <a:p>
            <a:r>
              <a:rPr lang="en-US" noProof="0" dirty="0"/>
              <a:t>Key findings – Test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CAEBE-164D-836E-049D-4910A21076B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800" y="1411200"/>
            <a:ext cx="5620353" cy="4842000"/>
          </a:xfrm>
        </p:spPr>
        <p:txBody>
          <a:bodyPr/>
          <a:lstStyle/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noProof="0" dirty="0" err="1">
                <a:solidFill>
                  <a:schemeClr val="tx2"/>
                </a:solidFill>
              </a:rPr>
              <a:t>SYSTEM_NAME</a:t>
            </a:r>
            <a:r>
              <a:rPr lang="en-US" noProof="0" dirty="0">
                <a:solidFill>
                  <a:schemeClr val="tx2"/>
                </a:solidFill>
              </a:rPr>
              <a:t> scores </a:t>
            </a:r>
            <a:r>
              <a:rPr lang="en-US" noProof="0" dirty="0" err="1">
                <a:solidFill>
                  <a:schemeClr val="tx2"/>
                </a:solidFill>
              </a:rPr>
              <a:t>TEST_CODE_RELATIVE</a:t>
            </a:r>
            <a:r>
              <a:rPr lang="en-US" noProof="0" dirty="0">
                <a:solidFill>
                  <a:schemeClr val="tx2"/>
                </a:solidFill>
              </a:rPr>
              <a:t>, with </a:t>
            </a:r>
            <a:r>
              <a:rPr lang="en-US" noProof="0" dirty="0" err="1">
                <a:solidFill>
                  <a:schemeClr val="tx2"/>
                </a:solidFill>
              </a:rPr>
              <a:t>TEST_CODE_RATIO</a:t>
            </a:r>
            <a:r>
              <a:rPr lang="en-US" noProof="0" dirty="0">
                <a:solidFill>
                  <a:schemeClr val="tx2"/>
                </a:solidFill>
              </a:rPr>
              <a:t> test/production code ratio. </a:t>
            </a:r>
          </a:p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noProof="0" dirty="0" err="1">
                <a:solidFill>
                  <a:schemeClr val="tx2"/>
                </a:solidFill>
              </a:rPr>
              <a:t>TEST_CODE_SUMMARY</a:t>
            </a:r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151CEE-B969-2DB6-0530-EA6B0263716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6DF9A9-2EED-6BE7-6C07-F39D9AF03C5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94AA2B4-9A41-D6AF-11A8-87EF447EE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SYSTEM_NAME</a:t>
            </a:r>
            <a:r>
              <a:rPr lang="en-US" noProof="0" dirty="0"/>
              <a:t> has a </a:t>
            </a:r>
            <a:r>
              <a:rPr lang="en-US" noProof="0" dirty="0" err="1"/>
              <a:t>TEST_CODE_RELATIVE</a:t>
            </a:r>
            <a:r>
              <a:rPr lang="en-US" noProof="0" dirty="0"/>
              <a:t> test/code ratio</a:t>
            </a:r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5736F781-52FC-C240-8546-50219238C95E}"/>
              </a:ext>
            </a:extLst>
          </p:cNvPr>
          <p:cNvCxnSpPr>
            <a:cxnSpLocks/>
          </p:cNvCxnSpPr>
          <p:nvPr/>
        </p:nvCxnSpPr>
        <p:spPr>
          <a:xfrm>
            <a:off x="6094800" y="1366988"/>
            <a:ext cx="0" cy="4823259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95AD662-7602-636C-AACA-DB9C425C5BB8}"/>
              </a:ext>
            </a:extLst>
          </p:cNvPr>
          <p:cNvSpPr txBox="1"/>
          <p:nvPr/>
        </p:nvSpPr>
        <p:spPr>
          <a:xfrm>
            <a:off x="6618419" y="1366988"/>
            <a:ext cx="5201030" cy="35355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600" noProof="0" dirty="0" err="1">
                <a:latin typeface="Noir Pro Semi Bold" pitchFamily="2" charset="0"/>
              </a:rPr>
              <a:t>TEST_CODE_RATIO</a:t>
            </a:r>
            <a:r>
              <a:rPr lang="en-US" sz="1600" noProof="0" dirty="0">
                <a:latin typeface="Noir Pro Semi Bold" pitchFamily="2" charset="0"/>
              </a:rPr>
              <a:t> overall Test/code ratio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33388D-52FF-10DF-3C03-01B6DD6936E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39649" y="5882683"/>
            <a:ext cx="4758570" cy="307564"/>
          </a:xfrm>
          <a:prstGeom prst="rect">
            <a:avLst/>
          </a:prstGeom>
        </p:spPr>
      </p:pic>
      <p:graphicFrame>
        <p:nvGraphicFramePr>
          <p:cNvPr id="10" name="Content Placeholder 17">
            <a:extLst>
              <a:ext uri="{FF2B5EF4-FFF2-40B4-BE49-F238E27FC236}">
                <a16:creationId xmlns:a16="http://schemas.microsoft.com/office/drawing/2014/main" id="{09595FD5-5B13-CF14-5B29-9E2438F6DBA0}"/>
              </a:ext>
            </a:extLst>
          </p:cNvPr>
          <p:cNvGraphicFramePr>
            <a:graphicFrameLocks/>
          </p:cNvGraphicFramePr>
          <p:nvPr/>
        </p:nvGraphicFramePr>
        <p:xfrm>
          <a:off x="7109907" y="1819134"/>
          <a:ext cx="4218054" cy="4026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6B3C2CD-CAEE-824E-753F-A5DE9CEE5263}"/>
              </a:ext>
            </a:extLst>
          </p:cNvPr>
          <p:cNvSpPr txBox="1"/>
          <p:nvPr/>
        </p:nvSpPr>
        <p:spPr>
          <a:xfrm>
            <a:off x="9771765" y="-373182"/>
            <a:ext cx="2420235" cy="355225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600" noProof="0" dirty="0" err="1">
                <a:solidFill>
                  <a:schemeClr val="tx2"/>
                </a:solidFill>
              </a:rPr>
              <a:t>TEST_CODE_RATIO_CHART</a:t>
            </a:r>
            <a:endParaRPr lang="en-US" sz="1600" noProof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5961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99029-494E-D668-93B1-7F49FC34F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Oval 91">
            <a:extLst>
              <a:ext uri="{FF2B5EF4-FFF2-40B4-BE49-F238E27FC236}">
                <a16:creationId xmlns:a16="http://schemas.microsoft.com/office/drawing/2014/main" id="{378968FB-3711-3026-1330-401242361C5B}"/>
              </a:ext>
            </a:extLst>
          </p:cNvPr>
          <p:cNvSpPr/>
          <p:nvPr/>
        </p:nvSpPr>
        <p:spPr>
          <a:xfrm>
            <a:off x="3385191" y="1063763"/>
            <a:ext cx="5340638" cy="5340638"/>
          </a:xfrm>
          <a:prstGeom prst="ellipse">
            <a:avLst/>
          </a:prstGeom>
          <a:gradFill>
            <a:gsLst>
              <a:gs pos="0">
                <a:schemeClr val="accent2">
                  <a:alpha val="15073"/>
                </a:schemeClr>
              </a:gs>
              <a:gs pos="43000">
                <a:schemeClr val="accent2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D589D5F7-9445-B968-24E7-C852C6FE25B8}"/>
              </a:ext>
            </a:extLst>
          </p:cNvPr>
          <p:cNvSpPr/>
          <p:nvPr/>
        </p:nvSpPr>
        <p:spPr>
          <a:xfrm>
            <a:off x="4004388" y="1634792"/>
            <a:ext cx="4180824" cy="4180824"/>
          </a:xfrm>
          <a:prstGeom prst="ellipse">
            <a:avLst/>
          </a:prstGeom>
          <a:gradFill>
            <a:gsLst>
              <a:gs pos="0">
                <a:schemeClr val="accent2">
                  <a:alpha val="20000"/>
                </a:schemeClr>
              </a:gs>
              <a:gs pos="43000">
                <a:schemeClr val="accent2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8492BCF5-82F4-DA5D-4789-A5B31042FC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571F068-8C71-3D21-62FF-DAD3558519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0CE3D29-F258-C742-2A14-BCF03986DEC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70" name="Title 69">
            <a:extLst>
              <a:ext uri="{FF2B5EF4-FFF2-40B4-BE49-F238E27FC236}">
                <a16:creationId xmlns:a16="http://schemas.microsoft.com/office/drawing/2014/main" id="{FEE2E2EB-95CB-3211-6E1B-4E3530EAF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Explanation: The Architecture Quality model has 5 sub-characteristics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BBBE6C2-E269-6739-DCEE-23464110F405}"/>
              </a:ext>
            </a:extLst>
          </p:cNvPr>
          <p:cNvSpPr/>
          <p:nvPr/>
        </p:nvSpPr>
        <p:spPr>
          <a:xfrm>
            <a:off x="4673297" y="2304400"/>
            <a:ext cx="2849490" cy="2849490"/>
          </a:xfrm>
          <a:prstGeom prst="ellipse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FA26AD2-CD18-09AA-6259-47A153EFE58B}"/>
              </a:ext>
            </a:extLst>
          </p:cNvPr>
          <p:cNvSpPr/>
          <p:nvPr/>
        </p:nvSpPr>
        <p:spPr>
          <a:xfrm>
            <a:off x="5029556" y="2660659"/>
            <a:ext cx="2136972" cy="2136972"/>
          </a:xfrm>
          <a:prstGeom prst="ellipse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FAF19FF-BA37-4380-8088-C15619A977BB}"/>
              </a:ext>
            </a:extLst>
          </p:cNvPr>
          <p:cNvSpPr/>
          <p:nvPr/>
        </p:nvSpPr>
        <p:spPr>
          <a:xfrm>
            <a:off x="5326438" y="2957541"/>
            <a:ext cx="1543208" cy="1543208"/>
          </a:xfrm>
          <a:prstGeom prst="ellipse">
            <a:avLst/>
          </a:prstGeom>
          <a:gradFill>
            <a:gsLst>
              <a:gs pos="9000">
                <a:schemeClr val="accent2"/>
              </a:gs>
              <a:gs pos="50000">
                <a:schemeClr val="accent2">
                  <a:alpha val="15753"/>
                </a:schemeClr>
              </a:gs>
            </a:gsLst>
            <a:lin ang="2700000" scaled="0"/>
          </a:gradFill>
          <a:ln w="12700">
            <a:solidFill>
              <a:schemeClr val="accent2">
                <a:alpha val="2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307C4FC-5D3C-8B82-ABE5-E660625B78E4}"/>
              </a:ext>
            </a:extLst>
          </p:cNvPr>
          <p:cNvSpPr/>
          <p:nvPr/>
        </p:nvSpPr>
        <p:spPr>
          <a:xfrm>
            <a:off x="5568436" y="2929751"/>
            <a:ext cx="80980" cy="809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3E6D6D2-88F4-7BC7-6A46-956C025FCA17}"/>
              </a:ext>
            </a:extLst>
          </p:cNvPr>
          <p:cNvSpPr/>
          <p:nvPr/>
        </p:nvSpPr>
        <p:spPr>
          <a:xfrm>
            <a:off x="6273956" y="2796588"/>
            <a:ext cx="80980" cy="809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B747E2F-C70D-5244-BE82-8BC4127DBA7A}"/>
              </a:ext>
            </a:extLst>
          </p:cNvPr>
          <p:cNvSpPr/>
          <p:nvPr/>
        </p:nvSpPr>
        <p:spPr>
          <a:xfrm>
            <a:off x="5366019" y="4285002"/>
            <a:ext cx="53706" cy="53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E0BE4FB-999C-BF27-B8A7-24066A3BA8E6}"/>
              </a:ext>
            </a:extLst>
          </p:cNvPr>
          <p:cNvSpPr/>
          <p:nvPr/>
        </p:nvSpPr>
        <p:spPr>
          <a:xfrm>
            <a:off x="6782160" y="4192256"/>
            <a:ext cx="125744" cy="125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8056860-5CC6-F621-9AF7-D77ECA38E4A9}"/>
              </a:ext>
            </a:extLst>
          </p:cNvPr>
          <p:cNvSpPr/>
          <p:nvPr/>
        </p:nvSpPr>
        <p:spPr>
          <a:xfrm>
            <a:off x="5869449" y="4879641"/>
            <a:ext cx="64650" cy="646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1D96119-A37F-9FA6-9D63-881C9E5767A1}"/>
              </a:ext>
            </a:extLst>
          </p:cNvPr>
          <p:cNvSpPr/>
          <p:nvPr/>
        </p:nvSpPr>
        <p:spPr>
          <a:xfrm>
            <a:off x="6914740" y="4575176"/>
            <a:ext cx="114710" cy="11471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14CEDFBA-98DB-3774-1CF7-DBB1D4C2DAFF}"/>
              </a:ext>
            </a:extLst>
          </p:cNvPr>
          <p:cNvSpPr/>
          <p:nvPr/>
        </p:nvSpPr>
        <p:spPr>
          <a:xfrm>
            <a:off x="4854843" y="2491915"/>
            <a:ext cx="2499248" cy="2476634"/>
          </a:xfrm>
          <a:prstGeom prst="arc">
            <a:avLst>
              <a:gd name="adj1" fmla="val 17025432"/>
              <a:gd name="adj2" fmla="val 2774786"/>
            </a:avLst>
          </a:prstGeom>
          <a:ln w="9525">
            <a:gradFill>
              <a:gsLst>
                <a:gs pos="0">
                  <a:schemeClr val="accent4">
                    <a:alpha val="50179"/>
                  </a:schemeClr>
                </a:gs>
                <a:gs pos="99000">
                  <a:schemeClr val="accent4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50F3A37-B10B-6BF3-08EA-55E6FC5DEEC4}"/>
              </a:ext>
            </a:extLst>
          </p:cNvPr>
          <p:cNvCxnSpPr>
            <a:cxnSpLocks/>
          </p:cNvCxnSpPr>
          <p:nvPr/>
        </p:nvCxnSpPr>
        <p:spPr>
          <a:xfrm flipH="1">
            <a:off x="6308248" y="2534585"/>
            <a:ext cx="87026" cy="323621"/>
          </a:xfrm>
          <a:prstGeom prst="line">
            <a:avLst/>
          </a:prstGeom>
          <a:ln w="9525">
            <a:solidFill>
              <a:schemeClr val="accent4">
                <a:alpha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8E941E86-D981-FF71-D949-E2216C1311D3}"/>
              </a:ext>
            </a:extLst>
          </p:cNvPr>
          <p:cNvSpPr/>
          <p:nvPr/>
        </p:nvSpPr>
        <p:spPr>
          <a:xfrm>
            <a:off x="6357959" y="2486875"/>
            <a:ext cx="80980" cy="809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0731FB3-842F-CE4C-6A7D-C66BFBA979CB}"/>
              </a:ext>
            </a:extLst>
          </p:cNvPr>
          <p:cNvSpPr/>
          <p:nvPr/>
        </p:nvSpPr>
        <p:spPr>
          <a:xfrm>
            <a:off x="7254794" y="3280294"/>
            <a:ext cx="45720" cy="45720"/>
          </a:xfrm>
          <a:prstGeom prst="ellipse">
            <a:avLst/>
          </a:prstGeom>
          <a:solidFill>
            <a:srgbClr val="E98C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E15D319-A4BF-BADF-EA8F-108D5DB2E930}"/>
              </a:ext>
            </a:extLst>
          </p:cNvPr>
          <p:cNvSpPr/>
          <p:nvPr/>
        </p:nvSpPr>
        <p:spPr>
          <a:xfrm>
            <a:off x="4827909" y="3511470"/>
            <a:ext cx="80980" cy="809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3B8DC8C-B95F-EDCF-F8D6-2F12C41BCD78}"/>
              </a:ext>
            </a:extLst>
          </p:cNvPr>
          <p:cNvCxnSpPr>
            <a:cxnSpLocks/>
          </p:cNvCxnSpPr>
          <p:nvPr/>
        </p:nvCxnSpPr>
        <p:spPr>
          <a:xfrm>
            <a:off x="6096000" y="4363444"/>
            <a:ext cx="0" cy="263379"/>
          </a:xfrm>
          <a:prstGeom prst="line">
            <a:avLst/>
          </a:prstGeom>
          <a:ln w="9525">
            <a:solidFill>
              <a:schemeClr val="accent2">
                <a:alpha val="80425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4FB75F26-044E-8FDB-8FC7-48A801F00A33}"/>
              </a:ext>
            </a:extLst>
          </p:cNvPr>
          <p:cNvSpPr/>
          <p:nvPr/>
        </p:nvSpPr>
        <p:spPr>
          <a:xfrm>
            <a:off x="6060913" y="4603426"/>
            <a:ext cx="70174" cy="7017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BC0DD81-BAF5-A5D9-3061-E49E7A4ED10C}"/>
              </a:ext>
            </a:extLst>
          </p:cNvPr>
          <p:cNvSpPr/>
          <p:nvPr/>
        </p:nvSpPr>
        <p:spPr>
          <a:xfrm>
            <a:off x="6040908" y="4313883"/>
            <a:ext cx="112242" cy="1122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72" name="Content Placeholder 70">
            <a:extLst>
              <a:ext uri="{FF2B5EF4-FFF2-40B4-BE49-F238E27FC236}">
                <a16:creationId xmlns:a16="http://schemas.microsoft.com/office/drawing/2014/main" id="{E6055D41-C03E-E248-ACEE-166CE141D420}"/>
              </a:ext>
            </a:extLst>
          </p:cNvPr>
          <p:cNvSpPr txBox="1">
            <a:spLocks/>
          </p:cNvSpPr>
          <p:nvPr/>
        </p:nvSpPr>
        <p:spPr>
          <a:xfrm>
            <a:off x="8399369" y="1411200"/>
            <a:ext cx="3399054" cy="4842000"/>
          </a:xfrm>
          <a:prstGeom prst="rect">
            <a:avLst/>
          </a:prstGeom>
        </p:spPr>
        <p:txBody>
          <a:bodyPr vert="horz" lIns="216000" tIns="0" rIns="91440" bIns="2743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>
                <a:solidFill>
                  <a:schemeClr val="accent3"/>
                </a:solidFill>
                <a:latin typeface="Azeret Mono" pitchFamily="2" charset="77"/>
                <a:cs typeface="Azeret Mono" pitchFamily="2" charset="77"/>
              </a:rPr>
              <a:t>The SIG Architecture Quality model</a:t>
            </a:r>
            <a:r>
              <a:rPr lang="en-US" sz="1400" noProof="0" dirty="0">
                <a:latin typeface="Azeret Mono" pitchFamily="2" charset="77"/>
                <a:cs typeface="Azeret Mono" pitchFamily="2" charset="77"/>
              </a:rPr>
              <a:t> provides insight into the ability for an application to evolve as business needs change. </a:t>
            </a:r>
          </a:p>
          <a:p>
            <a:r>
              <a:rPr lang="en-US" sz="1400" noProof="0" dirty="0">
                <a:latin typeface="Azeret Mono" pitchFamily="2" charset="77"/>
                <a:cs typeface="Azeret Mono" pitchFamily="2" charset="77"/>
              </a:rPr>
              <a:t>Each of the 5 sub-characteristics represent properties of software architecture that affect the velocity in which foundational changes can be made to a software system.</a:t>
            </a:r>
            <a:endParaRPr lang="en-US" sz="1400" noProof="0" dirty="0">
              <a:solidFill>
                <a:schemeClr val="accent3"/>
              </a:solidFill>
              <a:latin typeface="Azeret Mono" pitchFamily="2" charset="77"/>
              <a:cs typeface="Azeret Mono" pitchFamily="2" charset="77"/>
            </a:endParaRPr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7CA71824-DE20-DA21-5CC7-3D536499FC0C}"/>
              </a:ext>
            </a:extLst>
          </p:cNvPr>
          <p:cNvSpPr/>
          <p:nvPr/>
        </p:nvSpPr>
        <p:spPr>
          <a:xfrm>
            <a:off x="4403883" y="2031167"/>
            <a:ext cx="3381834" cy="3405830"/>
          </a:xfrm>
          <a:prstGeom prst="arc">
            <a:avLst>
              <a:gd name="adj1" fmla="val 20386561"/>
              <a:gd name="adj2" fmla="val 13132678"/>
            </a:avLst>
          </a:prstGeom>
          <a:ln w="12700">
            <a:gradFill>
              <a:gsLst>
                <a:gs pos="98000">
                  <a:schemeClr val="bg1">
                    <a:alpha val="0"/>
                  </a:schemeClr>
                </a:gs>
                <a:gs pos="68000">
                  <a:schemeClr val="bg1">
                    <a:alpha val="29485"/>
                  </a:schemeClr>
                </a:gs>
                <a:gs pos="8000">
                  <a:schemeClr val="accent4"/>
                </a:gs>
                <a:gs pos="18000">
                  <a:schemeClr val="accent4">
                    <a:alpha val="45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9" name="Graphic 78">
            <a:extLst>
              <a:ext uri="{FF2B5EF4-FFF2-40B4-BE49-F238E27FC236}">
                <a16:creationId xmlns:a16="http://schemas.microsoft.com/office/drawing/2014/main" id="{DB38BDF3-5B3D-61AB-2CFF-AC99F2B0DD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8177" y="5298575"/>
            <a:ext cx="433246" cy="288828"/>
          </a:xfrm>
          <a:prstGeom prst="rect">
            <a:avLst/>
          </a:prstGeom>
          <a:effectLst/>
        </p:spPr>
      </p:pic>
      <p:sp>
        <p:nvSpPr>
          <p:cNvPr id="99" name="Arc 98">
            <a:extLst>
              <a:ext uri="{FF2B5EF4-FFF2-40B4-BE49-F238E27FC236}">
                <a16:creationId xmlns:a16="http://schemas.microsoft.com/office/drawing/2014/main" id="{BC3F6D0B-39A8-7839-4108-79110D4A7C29}"/>
              </a:ext>
            </a:extLst>
          </p:cNvPr>
          <p:cNvSpPr/>
          <p:nvPr/>
        </p:nvSpPr>
        <p:spPr>
          <a:xfrm>
            <a:off x="5176684" y="2825556"/>
            <a:ext cx="1850921" cy="1820186"/>
          </a:xfrm>
          <a:prstGeom prst="arc">
            <a:avLst>
              <a:gd name="adj1" fmla="val 5508426"/>
              <a:gd name="adj2" fmla="val 14121050"/>
            </a:avLst>
          </a:prstGeom>
          <a:ln w="9525">
            <a:gradFill>
              <a:gsLst>
                <a:gs pos="0">
                  <a:schemeClr val="accent2">
                    <a:alpha val="90000"/>
                  </a:schemeClr>
                </a:gs>
                <a:gs pos="99000">
                  <a:schemeClr val="accent2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DDA7093A-1B01-B016-708F-AB00927B2C3C}"/>
              </a:ext>
            </a:extLst>
          </p:cNvPr>
          <p:cNvSpPr txBox="1"/>
          <p:nvPr/>
        </p:nvSpPr>
        <p:spPr>
          <a:xfrm>
            <a:off x="1362254" y="2467036"/>
            <a:ext cx="2137273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accent2"/>
                </a:solidFill>
                <a:effectLst>
                  <a:outerShdw blurRad="229337" sx="102000" sy="102000" algn="ctr" rotWithShape="0">
                    <a:schemeClr val="accent2">
                      <a:alpha val="20000"/>
                    </a:schemeClr>
                  </a:outerShdw>
                </a:effectLst>
                <a:latin typeface="☞NOIR PRO MEDIUM" pitchFamily="2" charset="0"/>
              </a:rPr>
              <a:t>Architecture Quality</a:t>
            </a:r>
          </a:p>
        </p:txBody>
      </p:sp>
      <p:sp>
        <p:nvSpPr>
          <p:cNvPr id="12" name="Boog 11">
            <a:extLst>
              <a:ext uri="{FF2B5EF4-FFF2-40B4-BE49-F238E27FC236}">
                <a16:creationId xmlns:a16="http://schemas.microsoft.com/office/drawing/2014/main" id="{9C79D787-D6AD-4F8F-4E1E-93558DDEBC19}"/>
              </a:ext>
            </a:extLst>
          </p:cNvPr>
          <p:cNvSpPr>
            <a:spLocks noChangeAspect="1"/>
          </p:cNvSpPr>
          <p:nvPr/>
        </p:nvSpPr>
        <p:spPr>
          <a:xfrm>
            <a:off x="3385191" y="1063763"/>
            <a:ext cx="5342400" cy="5342400"/>
          </a:xfrm>
          <a:prstGeom prst="arc">
            <a:avLst>
              <a:gd name="adj1" fmla="val 8378942"/>
              <a:gd name="adj2" fmla="val 12416581"/>
            </a:avLst>
          </a:prstGeom>
          <a:ln w="12700">
            <a:gradFill>
              <a:gsLst>
                <a:gs pos="83000">
                  <a:schemeClr val="accent2"/>
                </a:gs>
                <a:gs pos="16000">
                  <a:srgbClr val="1763FF"/>
                </a:gs>
                <a:gs pos="0">
                  <a:srgbClr val="1763FF">
                    <a:alpha val="0"/>
                  </a:srgb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Ovaal 12">
            <a:extLst>
              <a:ext uri="{FF2B5EF4-FFF2-40B4-BE49-F238E27FC236}">
                <a16:creationId xmlns:a16="http://schemas.microsoft.com/office/drawing/2014/main" id="{7370D5DE-BDC4-C35E-9C2E-91716BD02B09}"/>
              </a:ext>
            </a:extLst>
          </p:cNvPr>
          <p:cNvSpPr/>
          <p:nvPr/>
        </p:nvSpPr>
        <p:spPr>
          <a:xfrm>
            <a:off x="3385191" y="3111240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" name="Ovaal 13">
            <a:extLst>
              <a:ext uri="{FF2B5EF4-FFF2-40B4-BE49-F238E27FC236}">
                <a16:creationId xmlns:a16="http://schemas.microsoft.com/office/drawing/2014/main" id="{05F72ED1-5264-5B67-3E36-3014750C4C2F}"/>
              </a:ext>
            </a:extLst>
          </p:cNvPr>
          <p:cNvSpPr/>
          <p:nvPr/>
        </p:nvSpPr>
        <p:spPr>
          <a:xfrm>
            <a:off x="3323073" y="3590288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" name="Ovaal 14">
            <a:extLst>
              <a:ext uri="{FF2B5EF4-FFF2-40B4-BE49-F238E27FC236}">
                <a16:creationId xmlns:a16="http://schemas.microsoft.com/office/drawing/2014/main" id="{D527CEC1-161B-AAA5-0623-23D5400DE1FD}"/>
              </a:ext>
            </a:extLst>
          </p:cNvPr>
          <p:cNvSpPr/>
          <p:nvPr/>
        </p:nvSpPr>
        <p:spPr>
          <a:xfrm>
            <a:off x="3364103" y="4093669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7" name="Ovaal 16">
            <a:extLst>
              <a:ext uri="{FF2B5EF4-FFF2-40B4-BE49-F238E27FC236}">
                <a16:creationId xmlns:a16="http://schemas.microsoft.com/office/drawing/2014/main" id="{76D1A933-8CFE-0DCE-2D90-AA32A2AEAE8A}"/>
              </a:ext>
            </a:extLst>
          </p:cNvPr>
          <p:cNvSpPr/>
          <p:nvPr/>
        </p:nvSpPr>
        <p:spPr>
          <a:xfrm>
            <a:off x="3496656" y="4588574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9" name="Ovaal 18">
            <a:extLst>
              <a:ext uri="{FF2B5EF4-FFF2-40B4-BE49-F238E27FC236}">
                <a16:creationId xmlns:a16="http://schemas.microsoft.com/office/drawing/2014/main" id="{018CDC19-0EC4-9F41-5100-944A5A79A3FA}"/>
              </a:ext>
            </a:extLst>
          </p:cNvPr>
          <p:cNvSpPr/>
          <p:nvPr/>
        </p:nvSpPr>
        <p:spPr>
          <a:xfrm>
            <a:off x="3728666" y="5089348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411E51BD-8E0A-61AA-F8D8-E2C22B791EE6}"/>
              </a:ext>
            </a:extLst>
          </p:cNvPr>
          <p:cNvSpPr txBox="1"/>
          <p:nvPr/>
        </p:nvSpPr>
        <p:spPr>
          <a:xfrm>
            <a:off x="2233759" y="2957541"/>
            <a:ext cx="1093719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Structure</a:t>
            </a:r>
          </a:p>
        </p:txBody>
      </p:sp>
      <p:sp>
        <p:nvSpPr>
          <p:cNvPr id="29" name="Tekstvak 28">
            <a:extLst>
              <a:ext uri="{FF2B5EF4-FFF2-40B4-BE49-F238E27FC236}">
                <a16:creationId xmlns:a16="http://schemas.microsoft.com/office/drawing/2014/main" id="{6A376295-9E29-C7D4-23E5-9B1234CB0463}"/>
              </a:ext>
            </a:extLst>
          </p:cNvPr>
          <p:cNvSpPr txBox="1"/>
          <p:nvPr/>
        </p:nvSpPr>
        <p:spPr>
          <a:xfrm>
            <a:off x="1738004" y="3456782"/>
            <a:ext cx="1533005" cy="35676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>
            <a:defPPr>
              <a:defRPr lang="en-US"/>
            </a:defPPr>
            <a:lvl1pPr algn="r">
              <a:lnSpc>
                <a:spcPct val="113000"/>
              </a:lnSpc>
              <a:defRPr sz="1600">
                <a:solidFill>
                  <a:schemeClr val="bg1"/>
                </a:solidFill>
                <a:latin typeface="☞NOIR PRO MEDIUM" pitchFamily="2" charset="0"/>
              </a:defRPr>
            </a:lvl1pPr>
          </a:lstStyle>
          <a:p>
            <a:r>
              <a:rPr lang="en-US" noProof="0" dirty="0"/>
              <a:t>Communication</a:t>
            </a:r>
          </a:p>
        </p:txBody>
      </p:sp>
      <p:sp>
        <p:nvSpPr>
          <p:cNvPr id="31" name="Tekstvak 30">
            <a:extLst>
              <a:ext uri="{FF2B5EF4-FFF2-40B4-BE49-F238E27FC236}">
                <a16:creationId xmlns:a16="http://schemas.microsoft.com/office/drawing/2014/main" id="{1D693990-F9F5-6A3F-373A-F98CAD402E8F}"/>
              </a:ext>
            </a:extLst>
          </p:cNvPr>
          <p:cNvSpPr txBox="1"/>
          <p:nvPr/>
        </p:nvSpPr>
        <p:spPr>
          <a:xfrm>
            <a:off x="1928405" y="3956023"/>
            <a:ext cx="1382259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Data access</a:t>
            </a:r>
          </a:p>
        </p:txBody>
      </p:sp>
      <p:sp>
        <p:nvSpPr>
          <p:cNvPr id="33" name="Tekstvak 32">
            <a:extLst>
              <a:ext uri="{FF2B5EF4-FFF2-40B4-BE49-F238E27FC236}">
                <a16:creationId xmlns:a16="http://schemas.microsoft.com/office/drawing/2014/main" id="{2093B8B8-8C79-64C9-64E5-517C5AA9AA30}"/>
              </a:ext>
            </a:extLst>
          </p:cNvPr>
          <p:cNvSpPr txBox="1"/>
          <p:nvPr/>
        </p:nvSpPr>
        <p:spPr>
          <a:xfrm>
            <a:off x="2353845" y="4455264"/>
            <a:ext cx="1060055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Evolution</a:t>
            </a:r>
          </a:p>
        </p:txBody>
      </p:sp>
      <p:sp>
        <p:nvSpPr>
          <p:cNvPr id="34" name="Tekstvak 33">
            <a:extLst>
              <a:ext uri="{FF2B5EF4-FFF2-40B4-BE49-F238E27FC236}">
                <a16:creationId xmlns:a16="http://schemas.microsoft.com/office/drawing/2014/main" id="{1C9C562C-B3AC-5C48-5694-72B1C7FF5D8F}"/>
              </a:ext>
            </a:extLst>
          </p:cNvPr>
          <p:cNvSpPr txBox="1"/>
          <p:nvPr/>
        </p:nvSpPr>
        <p:spPr>
          <a:xfrm>
            <a:off x="2385919" y="4954505"/>
            <a:ext cx="1249209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Knowledge</a:t>
            </a:r>
          </a:p>
        </p:txBody>
      </p:sp>
      <p:sp>
        <p:nvSpPr>
          <p:cNvPr id="35" name="TextBox 41">
            <a:extLst>
              <a:ext uri="{FF2B5EF4-FFF2-40B4-BE49-F238E27FC236}">
                <a16:creationId xmlns:a16="http://schemas.microsoft.com/office/drawing/2014/main" id="{206057EE-BF64-9DF8-554C-8935F9D2B966}"/>
              </a:ext>
            </a:extLst>
          </p:cNvPr>
          <p:cNvSpPr txBox="1"/>
          <p:nvPr/>
        </p:nvSpPr>
        <p:spPr>
          <a:xfrm rot="4534123">
            <a:off x="4420303" y="2076017"/>
            <a:ext cx="3351394" cy="3317250"/>
          </a:xfrm>
          <a:prstGeom prst="rect">
            <a:avLst/>
          </a:prstGeom>
          <a:noFill/>
        </p:spPr>
        <p:txBody>
          <a:bodyPr wrap="none" lIns="90000" rtlCol="0" anchor="t">
            <a:prstTxWarp prst="textArchUp">
              <a:avLst>
                <a:gd name="adj" fmla="val 9056230"/>
              </a:avLst>
            </a:prstTxWarp>
            <a:spAutoFit/>
          </a:bodyPr>
          <a:lstStyle/>
          <a:p>
            <a:pPr>
              <a:lnSpc>
                <a:spcPct val="113000"/>
              </a:lnSpc>
            </a:pPr>
            <a:r>
              <a:rPr lang="en-US" spc="140" noProof="0" dirty="0">
                <a:gradFill>
                  <a:gsLst>
                    <a:gs pos="26000">
                      <a:srgbClr val="E98C36"/>
                    </a:gs>
                    <a:gs pos="67000">
                      <a:schemeClr val="accent4"/>
                    </a:gs>
                  </a:gsLst>
                  <a:lin ang="9600000" scaled="0"/>
                </a:gradFill>
                <a:latin typeface="Noir Pro Semi Bold" pitchFamily="2" charset="0"/>
              </a:rPr>
              <a:t>SIG Architecture Quality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2E0CFBB-7A9C-9929-8E23-E856E40EC156}"/>
              </a:ext>
            </a:extLst>
          </p:cNvPr>
          <p:cNvSpPr/>
          <p:nvPr/>
        </p:nvSpPr>
        <p:spPr>
          <a:xfrm>
            <a:off x="5543925" y="3154882"/>
            <a:ext cx="1057490" cy="1057490"/>
          </a:xfrm>
          <a:prstGeom prst="ellipse">
            <a:avLst/>
          </a:prstGeom>
          <a:gradFill>
            <a:gsLst>
              <a:gs pos="21000">
                <a:schemeClr val="tx2"/>
              </a:gs>
              <a:gs pos="55000">
                <a:schemeClr val="tx2"/>
              </a:gs>
              <a:gs pos="97000">
                <a:schemeClr val="accent1"/>
              </a:gs>
            </a:gsLst>
            <a:lin ang="150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75772D6-9BAE-9A49-D31B-F33891E3DF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0611" y="3175250"/>
            <a:ext cx="881625" cy="876046"/>
          </a:xfrm>
          <a:prstGeom prst="rect">
            <a:avLst/>
          </a:prstGeom>
        </p:spPr>
      </p:pic>
      <p:sp>
        <p:nvSpPr>
          <p:cNvPr id="81" name="Oval 43">
            <a:extLst>
              <a:ext uri="{FF2B5EF4-FFF2-40B4-BE49-F238E27FC236}">
                <a16:creationId xmlns:a16="http://schemas.microsoft.com/office/drawing/2014/main" id="{272F2F13-0896-623C-F051-A762F0144832}"/>
              </a:ext>
            </a:extLst>
          </p:cNvPr>
          <p:cNvSpPr/>
          <p:nvPr/>
        </p:nvSpPr>
        <p:spPr>
          <a:xfrm>
            <a:off x="5541883" y="3153205"/>
            <a:ext cx="1057490" cy="1057490"/>
          </a:xfrm>
          <a:prstGeom prst="ellipse">
            <a:avLst/>
          </a:prstGeom>
          <a:gradFill>
            <a:gsLst>
              <a:gs pos="21000">
                <a:schemeClr val="tx2">
                  <a:alpha val="0"/>
                </a:schemeClr>
              </a:gs>
              <a:gs pos="55000">
                <a:schemeClr val="accent1">
                  <a:alpha val="47523"/>
                </a:schemeClr>
              </a:gs>
              <a:gs pos="100000">
                <a:schemeClr val="accent1"/>
              </a:gs>
            </a:gsLst>
            <a:lin ang="15000000" scaled="0"/>
          </a:gradFill>
          <a:ln w="9525">
            <a:gradFill>
              <a:gsLst>
                <a:gs pos="8000">
                  <a:schemeClr val="accent3">
                    <a:lumMod val="20000"/>
                    <a:lumOff val="80000"/>
                    <a:alpha val="52718"/>
                  </a:schemeClr>
                </a:gs>
                <a:gs pos="24000">
                  <a:schemeClr val="accent3">
                    <a:alpha val="49000"/>
                  </a:schemeClr>
                </a:gs>
                <a:gs pos="51000">
                  <a:schemeClr val="accent3">
                    <a:alpha val="0"/>
                  </a:schemeClr>
                </a:gs>
              </a:gsLst>
              <a:lin ang="13200000" scaled="0"/>
            </a:gradFill>
          </a:ln>
          <a:effectLst>
            <a:innerShdw blurRad="209594" dist="204382" dir="13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4463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81D5E-A2B9-C328-B774-190AA227C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el 19">
            <a:extLst>
              <a:ext uri="{FF2B5EF4-FFF2-40B4-BE49-F238E27FC236}">
                <a16:creationId xmlns:a16="http://schemas.microsoft.com/office/drawing/2014/main" id="{4348BD50-B7D4-1657-172B-FF11CBC247D8}"/>
              </a:ext>
            </a:extLst>
          </p:cNvPr>
          <p:cNvGraphicFramePr>
            <a:graphicFrameLocks noGrp="1"/>
          </p:cNvGraphicFramePr>
          <p:nvPr/>
        </p:nvGraphicFramePr>
        <p:xfrm>
          <a:off x="154798" y="2717216"/>
          <a:ext cx="11880000" cy="23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0000">
                  <a:extLst>
                    <a:ext uri="{9D8B030D-6E8A-4147-A177-3AD203B41FA5}">
                      <a16:colId xmlns:a16="http://schemas.microsoft.com/office/drawing/2014/main" val="946129596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Structure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69143651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Communication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02612570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Data access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2841778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Evolution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50096536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Knowledge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866552359"/>
                  </a:ext>
                </a:extLst>
              </a:tr>
            </a:tbl>
          </a:graphicData>
        </a:graphic>
      </p:graphicFrame>
      <p:sp>
        <p:nvSpPr>
          <p:cNvPr id="2" name="Afgeronde rechthoek 1">
            <a:extLst>
              <a:ext uri="{FF2B5EF4-FFF2-40B4-BE49-F238E27FC236}">
                <a16:creationId xmlns:a16="http://schemas.microsoft.com/office/drawing/2014/main" id="{B727BF5E-99B6-49EF-E4BA-CF8DCB737B80}"/>
              </a:ext>
            </a:extLst>
          </p:cNvPr>
          <p:cNvSpPr>
            <a:spLocks/>
          </p:cNvSpPr>
          <p:nvPr/>
        </p:nvSpPr>
        <p:spPr>
          <a:xfrm>
            <a:off x="1738994" y="2119302"/>
            <a:ext cx="9839056" cy="3422188"/>
          </a:xfrm>
          <a:prstGeom prst="roundRect">
            <a:avLst>
              <a:gd name="adj" fmla="val 4344"/>
            </a:avLst>
          </a:prstGeom>
          <a:gradFill>
            <a:gsLst>
              <a:gs pos="0">
                <a:srgbClr val="1763FF">
                  <a:alpha val="26798"/>
                </a:srgbClr>
              </a:gs>
              <a:gs pos="7000">
                <a:schemeClr val="accent2">
                  <a:alpha val="9069"/>
                </a:schemeClr>
              </a:gs>
              <a:gs pos="42000">
                <a:schemeClr val="accent2">
                  <a:alpha val="0"/>
                </a:schemeClr>
              </a:gs>
            </a:gsLst>
            <a:lin ang="4200000" scaled="0"/>
          </a:gradFill>
          <a:ln w="9525">
            <a:gradFill>
              <a:gsLst>
                <a:gs pos="0">
                  <a:schemeClr val="accent3">
                    <a:alpha val="34000"/>
                  </a:schemeClr>
                </a:gs>
                <a:gs pos="23000">
                  <a:schemeClr val="accent3">
                    <a:alpha val="0"/>
                  </a:schemeClr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70" name="Text Placeholder 169">
            <a:extLst>
              <a:ext uri="{FF2B5EF4-FFF2-40B4-BE49-F238E27FC236}">
                <a16:creationId xmlns:a16="http://schemas.microsoft.com/office/drawing/2014/main" id="{8A7018F4-6ACE-298D-AE34-CBEDCC026F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6251E5-A1AC-6CFF-9472-C53DC41655B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980CA-BB04-6BB3-C0C8-A9D4C2BCC14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169" name="Title 168">
            <a:extLst>
              <a:ext uri="{FF2B5EF4-FFF2-40B4-BE49-F238E27FC236}">
                <a16:creationId xmlns:a16="http://schemas.microsoft.com/office/drawing/2014/main" id="{BC78F56D-3B9B-285C-51D5-D64BCFD4E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SIG’s Architecture Model maps the sub-characteristics to 9 system properties</a:t>
            </a:r>
          </a:p>
        </p:txBody>
      </p:sp>
      <p:sp>
        <p:nvSpPr>
          <p:cNvPr id="5" name="Afgeronde rechthoek 4">
            <a:extLst>
              <a:ext uri="{FF2B5EF4-FFF2-40B4-BE49-F238E27FC236}">
                <a16:creationId xmlns:a16="http://schemas.microsoft.com/office/drawing/2014/main" id="{C0978B86-C287-03A1-FB46-4DAE9843BB13}"/>
              </a:ext>
            </a:extLst>
          </p:cNvPr>
          <p:cNvSpPr/>
          <p:nvPr/>
        </p:nvSpPr>
        <p:spPr>
          <a:xfrm>
            <a:off x="2079450" y="2800306"/>
            <a:ext cx="5010198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44" name="Text Placeholder 169">
            <a:extLst>
              <a:ext uri="{FF2B5EF4-FFF2-40B4-BE49-F238E27FC236}">
                <a16:creationId xmlns:a16="http://schemas.microsoft.com/office/drawing/2014/main" id="{1AB1CC70-BC7D-E198-3D05-AE50FFA71C7D}"/>
              </a:ext>
            </a:extLst>
          </p:cNvPr>
          <p:cNvSpPr txBox="1"/>
          <p:nvPr/>
        </p:nvSpPr>
        <p:spPr>
          <a:xfrm>
            <a:off x="154798" y="1481773"/>
            <a:ext cx="3513435" cy="383335"/>
          </a:xfrm>
          <a:prstGeom prst="rect">
            <a:avLst/>
          </a:prstGeom>
          <a:noFill/>
        </p:spPr>
        <p:txBody>
          <a:bodyPr vert="horz" wrap="square" lIns="720000" tIns="18000" rIns="108000" bIns="36000" rtlCol="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defRPr lang="en-US" sz="1050" b="0" kern="120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pc="0" noProof="0" dirty="0">
                <a:gradFill>
                  <a:gsLst>
                    <a:gs pos="100000">
                      <a:srgbClr val="EC9232"/>
                    </a:gs>
                    <a:gs pos="24000">
                      <a:srgbClr val="F9C716"/>
                    </a:gs>
                  </a:gsLst>
                  <a:lin ang="3600000" scaled="0"/>
                </a:gradFill>
                <a:latin typeface="Noir Pro Semi Bold" pitchFamily="2" charset="0"/>
              </a:rPr>
              <a:t>Architecture Quality</a:t>
            </a:r>
          </a:p>
        </p:txBody>
      </p:sp>
      <p:sp>
        <p:nvSpPr>
          <p:cNvPr id="46" name="Tekstvak 45">
            <a:extLst>
              <a:ext uri="{FF2B5EF4-FFF2-40B4-BE49-F238E27FC236}">
                <a16:creationId xmlns:a16="http://schemas.microsoft.com/office/drawing/2014/main" id="{A31936F0-9E5C-E499-ABD8-64AAF5C184BD}"/>
              </a:ext>
            </a:extLst>
          </p:cNvPr>
          <p:cNvSpPr txBox="1"/>
          <p:nvPr/>
        </p:nvSpPr>
        <p:spPr>
          <a:xfrm>
            <a:off x="154801" y="2129913"/>
            <a:ext cx="1853613" cy="593975"/>
          </a:xfrm>
          <a:custGeom>
            <a:avLst/>
            <a:gdLst>
              <a:gd name="connsiteX0" fmla="*/ 169271 w 1969367"/>
              <a:gd name="connsiteY0" fmla="*/ 0 h 631068"/>
              <a:gd name="connsiteX1" fmla="*/ 1800096 w 1969367"/>
              <a:gd name="connsiteY1" fmla="*/ 0 h 631068"/>
              <a:gd name="connsiteX2" fmla="*/ 1969367 w 1969367"/>
              <a:gd name="connsiteY2" fmla="*/ 169271 h 631068"/>
              <a:gd name="connsiteX3" fmla="*/ 1969367 w 1969367"/>
              <a:gd name="connsiteY3" fmla="*/ 461797 h 631068"/>
              <a:gd name="connsiteX4" fmla="*/ 1800096 w 1969367"/>
              <a:gd name="connsiteY4" fmla="*/ 631068 h 631068"/>
              <a:gd name="connsiteX5" fmla="*/ 640829 w 1969367"/>
              <a:gd name="connsiteY5" fmla="*/ 631068 h 631068"/>
              <a:gd name="connsiteX6" fmla="*/ 169271 w 1969367"/>
              <a:gd name="connsiteY6" fmla="*/ 631068 h 631068"/>
              <a:gd name="connsiteX7" fmla="*/ 0 w 1969367"/>
              <a:gd name="connsiteY7" fmla="*/ 631068 h 631068"/>
              <a:gd name="connsiteX8" fmla="*/ 0 w 1969367"/>
              <a:gd name="connsiteY8" fmla="*/ 461797 h 631068"/>
              <a:gd name="connsiteX9" fmla="*/ 0 w 1969367"/>
              <a:gd name="connsiteY9" fmla="*/ 228683 h 631068"/>
              <a:gd name="connsiteX10" fmla="*/ 0 w 1969367"/>
              <a:gd name="connsiteY10" fmla="*/ 169271 h 631068"/>
              <a:gd name="connsiteX11" fmla="*/ 169271 w 1969367"/>
              <a:gd name="connsiteY11" fmla="*/ 0 h 631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69367" h="631068">
                <a:moveTo>
                  <a:pt x="169271" y="0"/>
                </a:moveTo>
                <a:lnTo>
                  <a:pt x="1800096" y="0"/>
                </a:lnTo>
                <a:cubicBezTo>
                  <a:pt x="1893582" y="0"/>
                  <a:pt x="1969367" y="75785"/>
                  <a:pt x="1969367" y="169271"/>
                </a:cubicBezTo>
                <a:lnTo>
                  <a:pt x="1969367" y="461797"/>
                </a:lnTo>
                <a:cubicBezTo>
                  <a:pt x="1969367" y="555283"/>
                  <a:pt x="1893582" y="631068"/>
                  <a:pt x="1800096" y="631068"/>
                </a:cubicBezTo>
                <a:lnTo>
                  <a:pt x="640829" y="631068"/>
                </a:lnTo>
                <a:lnTo>
                  <a:pt x="169271" y="631068"/>
                </a:lnTo>
                <a:lnTo>
                  <a:pt x="0" y="631068"/>
                </a:lnTo>
                <a:lnTo>
                  <a:pt x="0" y="461797"/>
                </a:lnTo>
                <a:lnTo>
                  <a:pt x="0" y="228683"/>
                </a:lnTo>
                <a:lnTo>
                  <a:pt x="0" y="169271"/>
                </a:lnTo>
                <a:cubicBezTo>
                  <a:pt x="0" y="75785"/>
                  <a:pt x="75785" y="0"/>
                  <a:pt x="169271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effectLst>
            <a:outerShdw blurRad="286568" dist="101276" dir="16200000" rotWithShape="0">
              <a:prstClr val="black">
                <a:alpha val="15439"/>
              </a:prstClr>
            </a:outerShdw>
          </a:effectLst>
        </p:spPr>
        <p:txBody>
          <a:bodyPr wrap="square" lIns="720000" tIns="234000" rIns="0" bIns="108000" rtlCol="0" anchor="t">
            <a:noAutofit/>
          </a:bodyPr>
          <a:lstStyle/>
          <a:p>
            <a:pPr>
              <a:lnSpc>
                <a:spcPct val="80000"/>
              </a:lnSpc>
            </a:pPr>
            <a:endParaRPr lang="en-US" sz="1400" noProof="0" dirty="0">
              <a:solidFill>
                <a:schemeClr val="bg1"/>
              </a:solidFill>
              <a:latin typeface="☞NOIR PRO MEDIUM" pitchFamily="2" charset="0"/>
            </a:endParaRPr>
          </a:p>
        </p:txBody>
      </p:sp>
      <p:sp>
        <p:nvSpPr>
          <p:cNvPr id="19" name="TextBox 121">
            <a:extLst>
              <a:ext uri="{FF2B5EF4-FFF2-40B4-BE49-F238E27FC236}">
                <a16:creationId xmlns:a16="http://schemas.microsoft.com/office/drawing/2014/main" id="{ABDAF8EC-3B95-C9D7-0FE9-71A7721CFF9D}"/>
              </a:ext>
            </a:extLst>
          </p:cNvPr>
          <p:cNvSpPr txBox="1"/>
          <p:nvPr/>
        </p:nvSpPr>
        <p:spPr>
          <a:xfrm>
            <a:off x="1738994" y="2111134"/>
            <a:ext cx="10295804" cy="631068"/>
          </a:xfrm>
          <a:prstGeom prst="roundRect">
            <a:avLst>
              <a:gd name="adj" fmla="val 26823"/>
            </a:avLst>
          </a:prstGeom>
          <a:solidFill>
            <a:schemeClr val="accent2"/>
          </a:solidFill>
          <a:effectLst>
            <a:outerShdw blurRad="286568" dist="101276" dir="16200000" rotWithShape="0">
              <a:prstClr val="black">
                <a:alpha val="15439"/>
              </a:prstClr>
            </a:outerShdw>
          </a:effectLst>
        </p:spPr>
        <p:txBody>
          <a:bodyPr wrap="square" lIns="648000" tIns="125999" rIns="0" bIns="108000" rtlCol="0" anchor="t">
            <a:noAutofit/>
          </a:bodyPr>
          <a:lstStyle/>
          <a:p>
            <a:pPr>
              <a:lnSpc>
                <a:spcPct val="80000"/>
              </a:lnSpc>
            </a:pPr>
            <a:endParaRPr lang="en-US" sz="1400" noProof="0" dirty="0">
              <a:solidFill>
                <a:schemeClr val="bg1"/>
              </a:solidFill>
              <a:latin typeface="☞NOIR PRO MEDIUM" pitchFamily="2" charset="0"/>
            </a:endParaRP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568E0D71-CA53-AF66-00DE-458ABAFFFE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6740" y="2226642"/>
            <a:ext cx="590770" cy="393845"/>
          </a:xfrm>
          <a:prstGeom prst="rect">
            <a:avLst/>
          </a:prstGeom>
          <a:effectLst>
            <a:outerShdw blurRad="237234" sx="102000" sy="102000" algn="ctr" rotWithShape="0">
              <a:schemeClr val="accent4">
                <a:alpha val="0"/>
              </a:schemeClr>
            </a:outerShdw>
          </a:effectLst>
        </p:spPr>
      </p:pic>
      <p:graphicFrame>
        <p:nvGraphicFramePr>
          <p:cNvPr id="48" name="Tabel 47">
            <a:extLst>
              <a:ext uri="{FF2B5EF4-FFF2-40B4-BE49-F238E27FC236}">
                <a16:creationId xmlns:a16="http://schemas.microsoft.com/office/drawing/2014/main" id="{FC0D4C37-D231-E6B4-2BEB-A2CB6974D4EA}"/>
              </a:ext>
            </a:extLst>
          </p:cNvPr>
          <p:cNvGraphicFramePr>
            <a:graphicFrameLocks noGrp="1"/>
          </p:cNvGraphicFramePr>
          <p:nvPr/>
        </p:nvGraphicFramePr>
        <p:xfrm>
          <a:off x="1724258" y="2210220"/>
          <a:ext cx="10295802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3978">
                  <a:extLst>
                    <a:ext uri="{9D8B030D-6E8A-4147-A177-3AD203B41FA5}">
                      <a16:colId xmlns:a16="http://schemas.microsoft.com/office/drawing/2014/main" val="3756218328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2899638353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3980836888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337405862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2409438331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1015334204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1771938756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2602381078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1643199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Code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breakdown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coupling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 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adjacency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cohesion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Communication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centralization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Data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coupling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Bounded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evolution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Knowledge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distribution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freshness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627965"/>
                  </a:ext>
                </a:extLst>
              </a:tr>
            </a:tbl>
          </a:graphicData>
        </a:graphic>
      </p:graphicFrame>
      <p:sp>
        <p:nvSpPr>
          <p:cNvPr id="52" name="Ovaal 51">
            <a:extLst>
              <a:ext uri="{FF2B5EF4-FFF2-40B4-BE49-F238E27FC236}">
                <a16:creationId xmlns:a16="http://schemas.microsoft.com/office/drawing/2014/main" id="{9E752103-7BCC-D47D-0E41-3D3118080490}"/>
              </a:ext>
            </a:extLst>
          </p:cNvPr>
          <p:cNvSpPr/>
          <p:nvPr/>
        </p:nvSpPr>
        <p:spPr>
          <a:xfrm>
            <a:off x="399461" y="1502952"/>
            <a:ext cx="354604" cy="354604"/>
          </a:xfrm>
          <a:prstGeom prst="ellipse">
            <a:avLst/>
          </a:prstGeom>
          <a:gradFill>
            <a:gsLst>
              <a:gs pos="19000">
                <a:srgbClr val="E98C36"/>
              </a:gs>
              <a:gs pos="53000">
                <a:srgbClr val="F9C716"/>
              </a:gs>
            </a:gsLst>
            <a:lin ang="2700000" scaled="0"/>
          </a:gradFill>
          <a:ln>
            <a:noFill/>
          </a:ln>
          <a:effectLst>
            <a:outerShdw blurRad="216637" dist="38100" dir="5400000" algn="t" rotWithShape="0">
              <a:schemeClr val="accent4">
                <a:alpha val="14645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E447C6ED-5A30-ACDA-F05F-C9EE4524BE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9035" y="1523454"/>
            <a:ext cx="295455" cy="293586"/>
          </a:xfrm>
          <a:prstGeom prst="rect">
            <a:avLst/>
          </a:prstGeom>
        </p:spPr>
      </p:pic>
      <p:sp>
        <p:nvSpPr>
          <p:cNvPr id="10" name="Ovaal 9">
            <a:extLst>
              <a:ext uri="{FF2B5EF4-FFF2-40B4-BE49-F238E27FC236}">
                <a16:creationId xmlns:a16="http://schemas.microsoft.com/office/drawing/2014/main" id="{EEC047B5-4675-87BB-C77D-525A9C15C89C}"/>
              </a:ext>
            </a:extLst>
          </p:cNvPr>
          <p:cNvSpPr/>
          <p:nvPr/>
        </p:nvSpPr>
        <p:spPr>
          <a:xfrm>
            <a:off x="2218728" y="2881025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B27E223E-7F96-98A3-1BCE-3C7E3476061A}"/>
              </a:ext>
            </a:extLst>
          </p:cNvPr>
          <p:cNvSpPr/>
          <p:nvPr/>
        </p:nvSpPr>
        <p:spPr>
          <a:xfrm>
            <a:off x="5654945" y="2881025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2" name="Ovaal 11">
            <a:extLst>
              <a:ext uri="{FF2B5EF4-FFF2-40B4-BE49-F238E27FC236}">
                <a16:creationId xmlns:a16="http://schemas.microsoft.com/office/drawing/2014/main" id="{0490248B-B552-3119-224F-718F14ACB6C5}"/>
              </a:ext>
            </a:extLst>
          </p:cNvPr>
          <p:cNvSpPr/>
          <p:nvPr/>
        </p:nvSpPr>
        <p:spPr>
          <a:xfrm>
            <a:off x="6797392" y="2881025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38" name="Ovaal 11">
            <a:extLst>
              <a:ext uri="{FF2B5EF4-FFF2-40B4-BE49-F238E27FC236}">
                <a16:creationId xmlns:a16="http://schemas.microsoft.com/office/drawing/2014/main" id="{6874EC91-042A-605C-8D6E-0521908AC107}"/>
              </a:ext>
            </a:extLst>
          </p:cNvPr>
          <p:cNvSpPr/>
          <p:nvPr/>
        </p:nvSpPr>
        <p:spPr>
          <a:xfrm>
            <a:off x="6797394" y="334365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39" name="Ovaal 10">
            <a:extLst>
              <a:ext uri="{FF2B5EF4-FFF2-40B4-BE49-F238E27FC236}">
                <a16:creationId xmlns:a16="http://schemas.microsoft.com/office/drawing/2014/main" id="{7E0F3336-7E00-3017-BF4A-E0D62E8C679F}"/>
              </a:ext>
            </a:extLst>
          </p:cNvPr>
          <p:cNvSpPr/>
          <p:nvPr/>
        </p:nvSpPr>
        <p:spPr>
          <a:xfrm>
            <a:off x="4512500" y="3344750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0" name="Ovaal 10">
            <a:extLst>
              <a:ext uri="{FF2B5EF4-FFF2-40B4-BE49-F238E27FC236}">
                <a16:creationId xmlns:a16="http://schemas.microsoft.com/office/drawing/2014/main" id="{4CBA9FF2-A29A-B056-CCF4-3E8F6BF1E2B9}"/>
              </a:ext>
            </a:extLst>
          </p:cNvPr>
          <p:cNvSpPr/>
          <p:nvPr/>
        </p:nvSpPr>
        <p:spPr>
          <a:xfrm>
            <a:off x="3374154" y="334729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1" name="Ovaal 11">
            <a:extLst>
              <a:ext uri="{FF2B5EF4-FFF2-40B4-BE49-F238E27FC236}">
                <a16:creationId xmlns:a16="http://schemas.microsoft.com/office/drawing/2014/main" id="{BC564ED3-A53F-4681-0C82-114FB291ABF6}"/>
              </a:ext>
            </a:extLst>
          </p:cNvPr>
          <p:cNvSpPr/>
          <p:nvPr/>
        </p:nvSpPr>
        <p:spPr>
          <a:xfrm>
            <a:off x="7951314" y="334729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2" name="Ovaal 11">
            <a:extLst>
              <a:ext uri="{FF2B5EF4-FFF2-40B4-BE49-F238E27FC236}">
                <a16:creationId xmlns:a16="http://schemas.microsoft.com/office/drawing/2014/main" id="{498A5593-0A46-DE2F-22E7-1DCB40AE2D00}"/>
              </a:ext>
            </a:extLst>
          </p:cNvPr>
          <p:cNvSpPr/>
          <p:nvPr/>
        </p:nvSpPr>
        <p:spPr>
          <a:xfrm>
            <a:off x="9090244" y="3349541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8" name="Ovaal 11">
            <a:extLst>
              <a:ext uri="{FF2B5EF4-FFF2-40B4-BE49-F238E27FC236}">
                <a16:creationId xmlns:a16="http://schemas.microsoft.com/office/drawing/2014/main" id="{9CC9673A-F89B-12EB-21B8-75E30C9D2080}"/>
              </a:ext>
            </a:extLst>
          </p:cNvPr>
          <p:cNvSpPr/>
          <p:nvPr/>
        </p:nvSpPr>
        <p:spPr>
          <a:xfrm>
            <a:off x="6793863" y="3814797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9" name="Ovaal 10">
            <a:extLst>
              <a:ext uri="{FF2B5EF4-FFF2-40B4-BE49-F238E27FC236}">
                <a16:creationId xmlns:a16="http://schemas.microsoft.com/office/drawing/2014/main" id="{828AC1A7-9160-FEB7-DB79-3435941438F6}"/>
              </a:ext>
            </a:extLst>
          </p:cNvPr>
          <p:cNvSpPr/>
          <p:nvPr/>
        </p:nvSpPr>
        <p:spPr>
          <a:xfrm>
            <a:off x="4508969" y="3815895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0" name="Ovaal 10">
            <a:extLst>
              <a:ext uri="{FF2B5EF4-FFF2-40B4-BE49-F238E27FC236}">
                <a16:creationId xmlns:a16="http://schemas.microsoft.com/office/drawing/2014/main" id="{61B86929-CAFC-4B95-0C1C-51AC05D784F0}"/>
              </a:ext>
            </a:extLst>
          </p:cNvPr>
          <p:cNvSpPr/>
          <p:nvPr/>
        </p:nvSpPr>
        <p:spPr>
          <a:xfrm>
            <a:off x="3370623" y="3818437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1" name="Ovaal 11">
            <a:extLst>
              <a:ext uri="{FF2B5EF4-FFF2-40B4-BE49-F238E27FC236}">
                <a16:creationId xmlns:a16="http://schemas.microsoft.com/office/drawing/2014/main" id="{C9115110-8ADA-848B-D863-F06FB80DED4F}"/>
              </a:ext>
            </a:extLst>
          </p:cNvPr>
          <p:cNvSpPr/>
          <p:nvPr/>
        </p:nvSpPr>
        <p:spPr>
          <a:xfrm>
            <a:off x="7947783" y="3818437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6" name="Ovaal 9">
            <a:extLst>
              <a:ext uri="{FF2B5EF4-FFF2-40B4-BE49-F238E27FC236}">
                <a16:creationId xmlns:a16="http://schemas.microsoft.com/office/drawing/2014/main" id="{9BDEE888-167D-966F-C1F2-B5417B5DA84B}"/>
              </a:ext>
            </a:extLst>
          </p:cNvPr>
          <p:cNvSpPr/>
          <p:nvPr/>
        </p:nvSpPr>
        <p:spPr>
          <a:xfrm>
            <a:off x="2215199" y="4275894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7" name="Ovaal 10">
            <a:extLst>
              <a:ext uri="{FF2B5EF4-FFF2-40B4-BE49-F238E27FC236}">
                <a16:creationId xmlns:a16="http://schemas.microsoft.com/office/drawing/2014/main" id="{A8E55C29-424F-C86E-9059-BB74D2141A3C}"/>
              </a:ext>
            </a:extLst>
          </p:cNvPr>
          <p:cNvSpPr/>
          <p:nvPr/>
        </p:nvSpPr>
        <p:spPr>
          <a:xfrm>
            <a:off x="5651416" y="4281950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9" name="Ovaal 10">
            <a:extLst>
              <a:ext uri="{FF2B5EF4-FFF2-40B4-BE49-F238E27FC236}">
                <a16:creationId xmlns:a16="http://schemas.microsoft.com/office/drawing/2014/main" id="{1C67472D-7DB0-3A78-43FA-FFD2DD48FC01}"/>
              </a:ext>
            </a:extLst>
          </p:cNvPr>
          <p:cNvSpPr/>
          <p:nvPr/>
        </p:nvSpPr>
        <p:spPr>
          <a:xfrm>
            <a:off x="4508969" y="427699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60" name="Ovaal 10">
            <a:extLst>
              <a:ext uri="{FF2B5EF4-FFF2-40B4-BE49-F238E27FC236}">
                <a16:creationId xmlns:a16="http://schemas.microsoft.com/office/drawing/2014/main" id="{1FC6962A-C121-CBE7-BDBD-17AB17923A72}"/>
              </a:ext>
            </a:extLst>
          </p:cNvPr>
          <p:cNvSpPr/>
          <p:nvPr/>
        </p:nvSpPr>
        <p:spPr>
          <a:xfrm>
            <a:off x="3370623" y="4273478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62" name="Ovaal 11">
            <a:extLst>
              <a:ext uri="{FF2B5EF4-FFF2-40B4-BE49-F238E27FC236}">
                <a16:creationId xmlns:a16="http://schemas.microsoft.com/office/drawing/2014/main" id="{1F2D0029-FADC-9339-9382-49C8069FF25F}"/>
              </a:ext>
            </a:extLst>
          </p:cNvPr>
          <p:cNvSpPr/>
          <p:nvPr/>
        </p:nvSpPr>
        <p:spPr>
          <a:xfrm>
            <a:off x="9086713" y="4281783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63" name="Ovaal 11">
            <a:extLst>
              <a:ext uri="{FF2B5EF4-FFF2-40B4-BE49-F238E27FC236}">
                <a16:creationId xmlns:a16="http://schemas.microsoft.com/office/drawing/2014/main" id="{6E7AABD6-937F-DAFB-B1F0-EE0A04634B74}"/>
              </a:ext>
            </a:extLst>
          </p:cNvPr>
          <p:cNvSpPr/>
          <p:nvPr/>
        </p:nvSpPr>
        <p:spPr>
          <a:xfrm>
            <a:off x="10236612" y="4281783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64" name="Ovaal 11">
            <a:extLst>
              <a:ext uri="{FF2B5EF4-FFF2-40B4-BE49-F238E27FC236}">
                <a16:creationId xmlns:a16="http://schemas.microsoft.com/office/drawing/2014/main" id="{1A485405-125F-7FAC-A51E-ADEA50ADBF11}"/>
              </a:ext>
            </a:extLst>
          </p:cNvPr>
          <p:cNvSpPr/>
          <p:nvPr/>
        </p:nvSpPr>
        <p:spPr>
          <a:xfrm>
            <a:off x="11375001" y="4281783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85" name="Ovaal 11">
            <a:extLst>
              <a:ext uri="{FF2B5EF4-FFF2-40B4-BE49-F238E27FC236}">
                <a16:creationId xmlns:a16="http://schemas.microsoft.com/office/drawing/2014/main" id="{A8F5F29E-A2FB-9091-E6B6-74785EEC2691}"/>
              </a:ext>
            </a:extLst>
          </p:cNvPr>
          <p:cNvSpPr/>
          <p:nvPr/>
        </p:nvSpPr>
        <p:spPr>
          <a:xfrm>
            <a:off x="10236613" y="4738868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86" name="Ovaal 11">
            <a:extLst>
              <a:ext uri="{FF2B5EF4-FFF2-40B4-BE49-F238E27FC236}">
                <a16:creationId xmlns:a16="http://schemas.microsoft.com/office/drawing/2014/main" id="{2B5D5729-583E-8BF0-5AC8-486005BA6A0F}"/>
              </a:ext>
            </a:extLst>
          </p:cNvPr>
          <p:cNvSpPr/>
          <p:nvPr/>
        </p:nvSpPr>
        <p:spPr>
          <a:xfrm>
            <a:off x="11375002" y="4738868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87" name="Afgeronde rechthoek 4">
            <a:extLst>
              <a:ext uri="{FF2B5EF4-FFF2-40B4-BE49-F238E27FC236}">
                <a16:creationId xmlns:a16="http://schemas.microsoft.com/office/drawing/2014/main" id="{6512E9E4-9B95-7954-3745-5B7DFC710C19}"/>
              </a:ext>
            </a:extLst>
          </p:cNvPr>
          <p:cNvSpPr/>
          <p:nvPr/>
        </p:nvSpPr>
        <p:spPr>
          <a:xfrm>
            <a:off x="3234047" y="3252689"/>
            <a:ext cx="6112511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88" name="Afgeronde rechthoek 4">
            <a:extLst>
              <a:ext uri="{FF2B5EF4-FFF2-40B4-BE49-F238E27FC236}">
                <a16:creationId xmlns:a16="http://schemas.microsoft.com/office/drawing/2014/main" id="{F27BC448-4468-EA9E-A482-26966DD5E0A7}"/>
              </a:ext>
            </a:extLst>
          </p:cNvPr>
          <p:cNvSpPr/>
          <p:nvPr/>
        </p:nvSpPr>
        <p:spPr>
          <a:xfrm>
            <a:off x="3234047" y="3727474"/>
            <a:ext cx="4995554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89" name="Afgeronde rechthoek 4">
            <a:extLst>
              <a:ext uri="{FF2B5EF4-FFF2-40B4-BE49-F238E27FC236}">
                <a16:creationId xmlns:a16="http://schemas.microsoft.com/office/drawing/2014/main" id="{DCBB745F-1E7A-DCD4-F9CA-B9BE6C18EB8A}"/>
              </a:ext>
            </a:extLst>
          </p:cNvPr>
          <p:cNvSpPr/>
          <p:nvPr/>
        </p:nvSpPr>
        <p:spPr>
          <a:xfrm>
            <a:off x="2079450" y="4184931"/>
            <a:ext cx="9597669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90" name="Afgeronde rechthoek 4">
            <a:extLst>
              <a:ext uri="{FF2B5EF4-FFF2-40B4-BE49-F238E27FC236}">
                <a16:creationId xmlns:a16="http://schemas.microsoft.com/office/drawing/2014/main" id="{8FDE29E0-E140-7AE4-ABB5-5DF38D348344}"/>
              </a:ext>
            </a:extLst>
          </p:cNvPr>
          <p:cNvSpPr/>
          <p:nvPr/>
        </p:nvSpPr>
        <p:spPr>
          <a:xfrm>
            <a:off x="10137228" y="4644690"/>
            <a:ext cx="1539891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537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F6B8A-7C00-C575-7457-191C7FD7C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ep 6">
            <a:extLst>
              <a:ext uri="{FF2B5EF4-FFF2-40B4-BE49-F238E27FC236}">
                <a16:creationId xmlns:a16="http://schemas.microsoft.com/office/drawing/2014/main" id="{6B0DEB51-B2FE-F834-8777-2603B3D20B39}"/>
              </a:ext>
            </a:extLst>
          </p:cNvPr>
          <p:cNvGrpSpPr/>
          <p:nvPr/>
        </p:nvGrpSpPr>
        <p:grpSpPr>
          <a:xfrm>
            <a:off x="134319" y="1137285"/>
            <a:ext cx="11923362" cy="1426530"/>
            <a:chOff x="134319" y="1137285"/>
            <a:chExt cx="11923362" cy="1426530"/>
          </a:xfrm>
        </p:grpSpPr>
        <p:sp>
          <p:nvSpPr>
            <p:cNvPr id="69" name="Rechthoek 25">
              <a:extLst>
                <a:ext uri="{FF2B5EF4-FFF2-40B4-BE49-F238E27FC236}">
                  <a16:creationId xmlns:a16="http://schemas.microsoft.com/office/drawing/2014/main" id="{F62F3BBE-F027-D806-FFCD-85040BCE7D01}"/>
                </a:ext>
              </a:extLst>
            </p:cNvPr>
            <p:cNvSpPr/>
            <p:nvPr/>
          </p:nvSpPr>
          <p:spPr>
            <a:xfrm>
              <a:off x="4900832" y="2202282"/>
              <a:ext cx="2383616" cy="361533"/>
            </a:xfrm>
            <a:prstGeom prst="rect">
              <a:avLst/>
            </a:prstGeom>
            <a:gradFill>
              <a:gsLst>
                <a:gs pos="8900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20000"/>
                    <a:lumOff val="80000"/>
                  </a:schemeClr>
                </a:gs>
              </a:gsLst>
              <a:lin ang="15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70" name="Afgeronde rechthoek 36">
              <a:extLst>
                <a:ext uri="{FF2B5EF4-FFF2-40B4-BE49-F238E27FC236}">
                  <a16:creationId xmlns:a16="http://schemas.microsoft.com/office/drawing/2014/main" id="{E1A4E865-37F0-9A34-FD7D-835BA918DD1E}"/>
                </a:ext>
              </a:extLst>
            </p:cNvPr>
            <p:cNvSpPr/>
            <p:nvPr/>
          </p:nvSpPr>
          <p:spPr>
            <a:xfrm>
              <a:off x="154799" y="1137285"/>
              <a:ext cx="11875047" cy="1426530"/>
            </a:xfrm>
            <a:prstGeom prst="roundRect">
              <a:avLst>
                <a:gd name="adj" fmla="val 8464"/>
              </a:avLst>
            </a:prstGeom>
            <a:gradFill>
              <a:gsLst>
                <a:gs pos="89000">
                  <a:schemeClr val="accent3">
                    <a:lumMod val="20000"/>
                    <a:lumOff val="80000"/>
                  </a:schemeClr>
                </a:gs>
                <a:gs pos="60000">
                  <a:schemeClr val="accent3">
                    <a:lumMod val="20000"/>
                    <a:lumOff val="80000"/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72" name="TextBox 39">
              <a:extLst>
                <a:ext uri="{FF2B5EF4-FFF2-40B4-BE49-F238E27FC236}">
                  <a16:creationId xmlns:a16="http://schemas.microsoft.com/office/drawing/2014/main" id="{E0DB69D7-1842-B942-7F31-5E79154351F4}"/>
                </a:ext>
              </a:extLst>
            </p:cNvPr>
            <p:cNvSpPr txBox="1"/>
            <p:nvPr/>
          </p:nvSpPr>
          <p:spPr>
            <a:xfrm>
              <a:off x="4900832" y="2291359"/>
              <a:ext cx="2378985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000" noProof="0" dirty="0">
                  <a:solidFill>
                    <a:schemeClr val="accent1"/>
                  </a:solidFill>
                  <a:latin typeface="☞NOIR PRO MEDIUM" pitchFamily="2" charset="0"/>
                </a:rPr>
                <a:t>Market average</a:t>
              </a:r>
            </a:p>
          </p:txBody>
        </p:sp>
        <p:sp>
          <p:nvSpPr>
            <p:cNvPr id="77" name="Afgeronde rechthoek 2">
              <a:extLst>
                <a:ext uri="{FF2B5EF4-FFF2-40B4-BE49-F238E27FC236}">
                  <a16:creationId xmlns:a16="http://schemas.microsoft.com/office/drawing/2014/main" id="{4E632430-34C6-9115-5659-8CA345289B29}"/>
                </a:ext>
              </a:extLst>
            </p:cNvPr>
            <p:cNvSpPr/>
            <p:nvPr/>
          </p:nvSpPr>
          <p:spPr>
            <a:xfrm>
              <a:off x="154800" y="1918860"/>
              <a:ext cx="11875046" cy="353488"/>
            </a:xfrm>
            <a:prstGeom prst="roundRect">
              <a:avLst>
                <a:gd name="adj" fmla="val 34390"/>
              </a:avLst>
            </a:prstGeom>
            <a:gradFill>
              <a:gsLst>
                <a:gs pos="50000">
                  <a:schemeClr val="accent2"/>
                </a:gs>
                <a:gs pos="100000">
                  <a:schemeClr val="accent1"/>
                </a:gs>
                <a:gs pos="0">
                  <a:schemeClr val="accent3">
                    <a:lumMod val="20000"/>
                    <a:lumOff val="80000"/>
                  </a:scheme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79" name="Rechte verbindingslijn 8">
              <a:extLst>
                <a:ext uri="{FF2B5EF4-FFF2-40B4-BE49-F238E27FC236}">
                  <a16:creationId xmlns:a16="http://schemas.microsoft.com/office/drawing/2014/main" id="{DF949A42-8A7E-EEDC-FDCB-2F42B36E3D8F}"/>
                </a:ext>
              </a:extLst>
            </p:cNvPr>
            <p:cNvCxnSpPr/>
            <p:nvPr/>
          </p:nvCxnSpPr>
          <p:spPr>
            <a:xfrm>
              <a:off x="2529808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Rechte verbindingslijn 9">
              <a:extLst>
                <a:ext uri="{FF2B5EF4-FFF2-40B4-BE49-F238E27FC236}">
                  <a16:creationId xmlns:a16="http://schemas.microsoft.com/office/drawing/2014/main" id="{82321C5C-F1A3-1ADC-CFDB-1BE9EE1CFE45}"/>
                </a:ext>
              </a:extLst>
            </p:cNvPr>
            <p:cNvCxnSpPr/>
            <p:nvPr/>
          </p:nvCxnSpPr>
          <p:spPr>
            <a:xfrm>
              <a:off x="4904817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Rechte verbindingslijn 10">
              <a:extLst>
                <a:ext uri="{FF2B5EF4-FFF2-40B4-BE49-F238E27FC236}">
                  <a16:creationId xmlns:a16="http://schemas.microsoft.com/office/drawing/2014/main" id="{E108268E-41B0-FD95-ED4E-7897ADD92B47}"/>
                </a:ext>
              </a:extLst>
            </p:cNvPr>
            <p:cNvCxnSpPr/>
            <p:nvPr/>
          </p:nvCxnSpPr>
          <p:spPr>
            <a:xfrm>
              <a:off x="7279826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Rechte verbindingslijn 12">
              <a:extLst>
                <a:ext uri="{FF2B5EF4-FFF2-40B4-BE49-F238E27FC236}">
                  <a16:creationId xmlns:a16="http://schemas.microsoft.com/office/drawing/2014/main" id="{03CDD57C-F5C9-5D96-0FF3-F3D5249E2A9E}"/>
                </a:ext>
              </a:extLst>
            </p:cNvPr>
            <p:cNvCxnSpPr/>
            <p:nvPr/>
          </p:nvCxnSpPr>
          <p:spPr>
            <a:xfrm>
              <a:off x="9654835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echthoek 14">
              <a:extLst>
                <a:ext uri="{FF2B5EF4-FFF2-40B4-BE49-F238E27FC236}">
                  <a16:creationId xmlns:a16="http://schemas.microsoft.com/office/drawing/2014/main" id="{7663298D-4D08-EA75-E570-301709FB63B5}"/>
                </a:ext>
              </a:extLst>
            </p:cNvPr>
            <p:cNvSpPr/>
            <p:nvPr/>
          </p:nvSpPr>
          <p:spPr>
            <a:xfrm>
              <a:off x="134319" y="1914033"/>
              <a:ext cx="11923362" cy="299225"/>
            </a:xfrm>
            <a:prstGeom prst="rect">
              <a:avLst/>
            </a:prstGeom>
            <a:gradFill>
              <a:gsLst>
                <a:gs pos="53000">
                  <a:schemeClr val="bg1">
                    <a:alpha val="15000"/>
                  </a:schemeClr>
                </a:gs>
                <a:gs pos="15000">
                  <a:schemeClr val="bg1">
                    <a:alpha val="0"/>
                  </a:schemeClr>
                </a:gs>
              </a:gsLst>
              <a:lin ang="5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85" name="Afgeronde rechthoek 18">
              <a:extLst>
                <a:ext uri="{FF2B5EF4-FFF2-40B4-BE49-F238E27FC236}">
                  <a16:creationId xmlns:a16="http://schemas.microsoft.com/office/drawing/2014/main" id="{A5FAAF41-C124-ED48-3B06-0E05FE2716BD}"/>
                </a:ext>
              </a:extLst>
            </p:cNvPr>
            <p:cNvSpPr/>
            <p:nvPr/>
          </p:nvSpPr>
          <p:spPr>
            <a:xfrm>
              <a:off x="2443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1.5</a:t>
              </a:r>
            </a:p>
          </p:txBody>
        </p:sp>
        <p:sp>
          <p:nvSpPr>
            <p:cNvPr id="86" name="Afgeronde rechthoek 19">
              <a:extLst>
                <a:ext uri="{FF2B5EF4-FFF2-40B4-BE49-F238E27FC236}">
                  <a16:creationId xmlns:a16="http://schemas.microsoft.com/office/drawing/2014/main" id="{498A98D2-8FFB-F176-FF97-11B1FF459B19}"/>
                </a:ext>
              </a:extLst>
            </p:cNvPr>
            <p:cNvSpPr/>
            <p:nvPr/>
          </p:nvSpPr>
          <p:spPr>
            <a:xfrm>
              <a:off x="481444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2.5</a:t>
              </a:r>
            </a:p>
          </p:txBody>
        </p:sp>
        <p:sp>
          <p:nvSpPr>
            <p:cNvPr id="87" name="Afgeronde rechthoek 20">
              <a:extLst>
                <a:ext uri="{FF2B5EF4-FFF2-40B4-BE49-F238E27FC236}">
                  <a16:creationId xmlns:a16="http://schemas.microsoft.com/office/drawing/2014/main" id="{7F5F2E8F-73B0-A7E0-AAF4-9EE5770CF8D5}"/>
                </a:ext>
              </a:extLst>
            </p:cNvPr>
            <p:cNvSpPr/>
            <p:nvPr/>
          </p:nvSpPr>
          <p:spPr>
            <a:xfrm>
              <a:off x="7196406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3.5</a:t>
              </a:r>
            </a:p>
          </p:txBody>
        </p:sp>
        <p:sp>
          <p:nvSpPr>
            <p:cNvPr id="88" name="Afgeronde rechthoek 21">
              <a:extLst>
                <a:ext uri="{FF2B5EF4-FFF2-40B4-BE49-F238E27FC236}">
                  <a16:creationId xmlns:a16="http://schemas.microsoft.com/office/drawing/2014/main" id="{CE4A8CD8-E211-19E8-2A9B-E2339DFE182C}"/>
                </a:ext>
              </a:extLst>
            </p:cNvPr>
            <p:cNvSpPr/>
            <p:nvPr/>
          </p:nvSpPr>
          <p:spPr>
            <a:xfrm>
              <a:off x="9571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4.5</a:t>
              </a:r>
            </a:p>
          </p:txBody>
        </p:sp>
        <p:sp>
          <p:nvSpPr>
            <p:cNvPr id="89" name="Afgeronde rechthoek 22">
              <a:extLst>
                <a:ext uri="{FF2B5EF4-FFF2-40B4-BE49-F238E27FC236}">
                  <a16:creationId xmlns:a16="http://schemas.microsoft.com/office/drawing/2014/main" id="{91EA6B1C-419C-984B-628F-BF569F9E6635}"/>
                </a:ext>
              </a:extLst>
            </p:cNvPr>
            <p:cNvSpPr/>
            <p:nvPr/>
          </p:nvSpPr>
          <p:spPr>
            <a:xfrm>
              <a:off x="22297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0.5</a:t>
              </a:r>
            </a:p>
          </p:txBody>
        </p:sp>
        <p:sp>
          <p:nvSpPr>
            <p:cNvPr id="90" name="Afgeronde rechthoek 23">
              <a:extLst>
                <a:ext uri="{FF2B5EF4-FFF2-40B4-BE49-F238E27FC236}">
                  <a16:creationId xmlns:a16="http://schemas.microsoft.com/office/drawing/2014/main" id="{57F1BCDC-2201-676E-E672-58D1F045E3EC}"/>
                </a:ext>
              </a:extLst>
            </p:cNvPr>
            <p:cNvSpPr/>
            <p:nvPr/>
          </p:nvSpPr>
          <p:spPr>
            <a:xfrm>
              <a:off x="11787157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5.5</a:t>
              </a:r>
            </a:p>
          </p:txBody>
        </p:sp>
        <p:sp>
          <p:nvSpPr>
            <p:cNvPr id="91" name="Rectangle 29">
              <a:extLst>
                <a:ext uri="{FF2B5EF4-FFF2-40B4-BE49-F238E27FC236}">
                  <a16:creationId xmlns:a16="http://schemas.microsoft.com/office/drawing/2014/main" id="{8F2CF3F5-6DDD-DD26-B94B-228E7E2A9207}"/>
                </a:ext>
              </a:extLst>
            </p:cNvPr>
            <p:cNvSpPr/>
            <p:nvPr/>
          </p:nvSpPr>
          <p:spPr>
            <a:xfrm>
              <a:off x="160766" y="1922220"/>
              <a:ext cx="23740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★☆☆☆☆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92" name="Rectangle 34">
              <a:extLst>
                <a:ext uri="{FF2B5EF4-FFF2-40B4-BE49-F238E27FC236}">
                  <a16:creationId xmlns:a16="http://schemas.microsoft.com/office/drawing/2014/main" id="{A9B6994F-DDB5-543C-0A4C-09D790753C2A}"/>
                </a:ext>
              </a:extLst>
            </p:cNvPr>
            <p:cNvSpPr/>
            <p:nvPr/>
          </p:nvSpPr>
          <p:spPr>
            <a:xfrm>
              <a:off x="2534850" y="1919492"/>
              <a:ext cx="23659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93" name="Rectangle 35">
              <a:extLst>
                <a:ext uri="{FF2B5EF4-FFF2-40B4-BE49-F238E27FC236}">
                  <a16:creationId xmlns:a16="http://schemas.microsoft.com/office/drawing/2014/main" id="{CDFCB27B-9C34-D648-B912-48313CC5A18A}"/>
                </a:ext>
              </a:extLst>
            </p:cNvPr>
            <p:cNvSpPr/>
            <p:nvPr/>
          </p:nvSpPr>
          <p:spPr>
            <a:xfrm>
              <a:off x="4900833" y="1916764"/>
              <a:ext cx="2381966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noProof="0" dirty="0">
                  <a:solidFill>
                    <a:schemeClr val="bg1"/>
                  </a:solidFill>
                  <a:cs typeface="Sigsterren"/>
                </a:rPr>
                <a:t>★★★☆☆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sp>
          <p:nvSpPr>
            <p:cNvPr id="94" name="Rectangle 36">
              <a:extLst>
                <a:ext uri="{FF2B5EF4-FFF2-40B4-BE49-F238E27FC236}">
                  <a16:creationId xmlns:a16="http://schemas.microsoft.com/office/drawing/2014/main" id="{D6D645DA-F400-D23F-2E6A-8F7B3B74EB03}"/>
                </a:ext>
              </a:extLst>
            </p:cNvPr>
            <p:cNvSpPr/>
            <p:nvPr/>
          </p:nvSpPr>
          <p:spPr>
            <a:xfrm>
              <a:off x="7284448" y="1925283"/>
              <a:ext cx="2376000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95" name="Rectangle 37">
              <a:extLst>
                <a:ext uri="{FF2B5EF4-FFF2-40B4-BE49-F238E27FC236}">
                  <a16:creationId xmlns:a16="http://schemas.microsoft.com/office/drawing/2014/main" id="{02A52E32-90C2-9F1D-5BEC-07FB7A0CC76C}"/>
                </a:ext>
              </a:extLst>
            </p:cNvPr>
            <p:cNvSpPr/>
            <p:nvPr/>
          </p:nvSpPr>
          <p:spPr>
            <a:xfrm>
              <a:off x="9660447" y="1925283"/>
              <a:ext cx="236940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★★★★★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96" name="Rechte verbindingslijn 77">
              <a:extLst>
                <a:ext uri="{FF2B5EF4-FFF2-40B4-BE49-F238E27FC236}">
                  <a16:creationId xmlns:a16="http://schemas.microsoft.com/office/drawing/2014/main" id="{A6E6830D-28D0-4E29-B40C-0F125AB5CEB2}"/>
                </a:ext>
              </a:extLst>
            </p:cNvPr>
            <p:cNvCxnSpPr/>
            <p:nvPr/>
          </p:nvCxnSpPr>
          <p:spPr>
            <a:xfrm>
              <a:off x="4906583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Rechte verbindingslijn 79">
              <a:extLst>
                <a:ext uri="{FF2B5EF4-FFF2-40B4-BE49-F238E27FC236}">
                  <a16:creationId xmlns:a16="http://schemas.microsoft.com/office/drawing/2014/main" id="{E3D5E980-DCCD-CC53-AEBE-BD8A28D28CDF}"/>
                </a:ext>
              </a:extLst>
            </p:cNvPr>
            <p:cNvCxnSpPr/>
            <p:nvPr/>
          </p:nvCxnSpPr>
          <p:spPr>
            <a:xfrm>
              <a:off x="7279817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8" name="Graphic 97">
              <a:extLst>
                <a:ext uri="{FF2B5EF4-FFF2-40B4-BE49-F238E27FC236}">
                  <a16:creationId xmlns:a16="http://schemas.microsoft.com/office/drawing/2014/main" id="{6184C160-E2F7-3EE1-80A1-FA0E7C453FAF}"/>
                </a:ext>
              </a:extLst>
            </p:cNvPr>
            <p:cNvPicPr/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3416" y="2285629"/>
              <a:ext cx="270098" cy="228966"/>
            </a:xfrm>
            <a:prstGeom prst="rect">
              <a:avLst/>
            </a:prstGeom>
          </p:spPr>
        </p:pic>
        <p:cxnSp>
          <p:nvCxnSpPr>
            <p:cNvPr id="99" name="Rechte verbindingslijn 27">
              <a:extLst>
                <a:ext uri="{FF2B5EF4-FFF2-40B4-BE49-F238E27FC236}">
                  <a16:creationId xmlns:a16="http://schemas.microsoft.com/office/drawing/2014/main" id="{D4B51BB0-9CB9-13BD-8469-038BBA75B4CA}"/>
                </a:ext>
              </a:extLst>
            </p:cNvPr>
            <p:cNvCxnSpPr/>
            <p:nvPr/>
          </p:nvCxnSpPr>
          <p:spPr>
            <a:xfrm>
              <a:off x="709721" y="2346696"/>
              <a:ext cx="0" cy="135023"/>
            </a:xfrm>
            <a:prstGeom prst="line">
              <a:avLst/>
            </a:prstGeom>
            <a:ln w="952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0" name="Graphic 99">
              <a:extLst>
                <a:ext uri="{FF2B5EF4-FFF2-40B4-BE49-F238E27FC236}">
                  <a16:creationId xmlns:a16="http://schemas.microsoft.com/office/drawing/2014/main" id="{00092586-1408-3B9B-0915-DD60B92E3ACB}"/>
                </a:ext>
              </a:extLst>
            </p:cNvPr>
            <p:cNvPicPr/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764650" y="2307999"/>
              <a:ext cx="217800" cy="216422"/>
            </a:xfrm>
            <a:prstGeom prst="rect">
              <a:avLst/>
            </a:prstGeom>
          </p:spPr>
        </p:pic>
      </p:grpSp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C9023B7C-A473-4E6D-F108-E3D1F0A95D9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3096535" cy="228145"/>
          </a:xfrm>
        </p:spPr>
        <p:txBody>
          <a:bodyPr/>
          <a:lstStyle/>
          <a:p>
            <a:r>
              <a:rPr lang="en-US" noProof="0" dirty="0"/>
              <a:t>Key findings – Architecture quality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5D74ABEF-BBA7-7EB8-0A5E-BB2FB1DE2F0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278C1DA-0A09-03B2-12F4-1C97F1DE444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53" name="Titel 52">
            <a:extLst>
              <a:ext uri="{FF2B5EF4-FFF2-40B4-BE49-F238E27FC236}">
                <a16:creationId xmlns:a16="http://schemas.microsoft.com/office/drawing/2014/main" id="{096AE361-6DBC-B794-EDAB-4DC17958C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US" noProof="0" dirty="0"/>
              <a:t>SYSTEM_NAME scores ARCH_AT_BELOW market average (ARCH_RATING </a:t>
            </a:r>
            <a:r>
              <a:rPr lang="en-US" noProof="0" dirty="0"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  <a:r>
              <a:rPr lang="en-US" noProof="0" dirty="0"/>
              <a:t>) for Architecture Quality</a:t>
            </a:r>
          </a:p>
        </p:txBody>
      </p:sp>
      <p:cxnSp>
        <p:nvCxnSpPr>
          <p:cNvPr id="47" name="Rechte verbindingslijn 46">
            <a:extLst>
              <a:ext uri="{FF2B5EF4-FFF2-40B4-BE49-F238E27FC236}">
                <a16:creationId xmlns:a16="http://schemas.microsoft.com/office/drawing/2014/main" id="{25670B74-994D-55A0-AD07-98A248D48DB6}"/>
              </a:ext>
            </a:extLst>
          </p:cNvPr>
          <p:cNvCxnSpPr>
            <a:cxnSpLocks/>
          </p:cNvCxnSpPr>
          <p:nvPr/>
        </p:nvCxnSpPr>
        <p:spPr>
          <a:xfrm>
            <a:off x="8234879" y="2821727"/>
            <a:ext cx="0" cy="2897755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39">
            <a:extLst>
              <a:ext uri="{FF2B5EF4-FFF2-40B4-BE49-F238E27FC236}">
                <a16:creationId xmlns:a16="http://schemas.microsoft.com/office/drawing/2014/main" id="{4DBF2D50-43B3-9D1D-1C7D-6BB92C13BC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95675" y="2735427"/>
            <a:ext cx="237898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 noProof="0" dirty="0">
                <a:latin typeface="☞NOIR PRO MEDIUM" pitchFamily="2" charset="0"/>
              </a:rPr>
              <a:t>System metric ratings</a:t>
            </a:r>
          </a:p>
        </p:txBody>
      </p:sp>
      <p:graphicFrame>
        <p:nvGraphicFramePr>
          <p:cNvPr id="38" name="Group 52">
            <a:extLst>
              <a:ext uri="{FF2B5EF4-FFF2-40B4-BE49-F238E27FC236}">
                <a16:creationId xmlns:a16="http://schemas.microsoft.com/office/drawing/2014/main" id="{EC064487-82CA-6298-4D63-838846DA7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534412"/>
              </p:ext>
            </p:extLst>
          </p:nvPr>
        </p:nvGraphicFramePr>
        <p:xfrm>
          <a:off x="8395675" y="3035953"/>
          <a:ext cx="3292327" cy="259311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46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445">
                  <a:extLst>
                    <a:ext uri="{9D8B030D-6E8A-4147-A177-3AD203B41FA5}">
                      <a16:colId xmlns:a16="http://schemas.microsoft.com/office/drawing/2014/main" val="335839943"/>
                    </a:ext>
                  </a:extLst>
                </a:gridCol>
                <a:gridCol w="428201">
                  <a:extLst>
                    <a:ext uri="{9D8B030D-6E8A-4147-A177-3AD203B41FA5}">
                      <a16:colId xmlns:a16="http://schemas.microsoft.com/office/drawing/2014/main" val="2689889332"/>
                    </a:ext>
                  </a:extLst>
                </a:gridCol>
              </a:tblGrid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Code breakdown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STARS_CODE_BREAKDOWN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ARCH_RATING_CODE_BREAKDOWN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coupling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STARS_COMPONENT_COUPLING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ARCH_RATING_COMPONENT_COUPLING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adjacency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STARS_COMPONENT_ADJACENCY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ARCH_RATING_COMPONENT_ADJACENCY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cohesion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STARS_COMPONENT_COHESION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ARCH_RATING_COMPONENT_COHESION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93642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Communication centralization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STARS_COMMUNICATION_CENTRALIZATION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ARCH_RATING_COMMUNICATION_CENTRALIZATION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257320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Data coupling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STARS_DATA_COUPLING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ARCH_RATING_DATA_COUPLING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660516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Bounded evolution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STARS_BOUNDED_EVOLUTION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ARCH_RATING_BOUNDED_EVOLUTION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530004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Knowledge distribution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STARS_KNOWLEDGE_DISTRIBUTION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ARCH_RATING_KNOWLEDGE_DISTRIBUTION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207179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freshness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STARS_COMPONENT_FRESHNESS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ARCH_RATING_COMPONENT_FRESHNESS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1855687"/>
                  </a:ext>
                </a:extLst>
              </a:tr>
            </a:tbl>
          </a:graphicData>
        </a:graphic>
      </p:graphicFrame>
      <p:graphicFrame>
        <p:nvGraphicFramePr>
          <p:cNvPr id="74" name="Table 3">
            <a:extLst>
              <a:ext uri="{FF2B5EF4-FFF2-40B4-BE49-F238E27FC236}">
                <a16:creationId xmlns:a16="http://schemas.microsoft.com/office/drawing/2014/main" id="{823BDAA0-459C-E350-9690-A1457832995E}"/>
              </a:ext>
            </a:extLst>
          </p:cNvPr>
          <p:cNvGraphicFramePr>
            <a:graphicFrameLocks noGrp="1" noDrilldown="1" noMove="1" noResize="1"/>
          </p:cNvGraphicFramePr>
          <p:nvPr/>
        </p:nvGraphicFramePr>
        <p:xfrm>
          <a:off x="154799" y="2234594"/>
          <a:ext cx="11875047" cy="45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501">
                  <a:extLst>
                    <a:ext uri="{9D8B030D-6E8A-4147-A177-3AD203B41FA5}">
                      <a16:colId xmlns:a16="http://schemas.microsoft.com/office/drawing/2014/main" val="21329541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0366675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85156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49515327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5742420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1630431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5063804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10544337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26902984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2413616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795042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66322978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4242559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144399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6432939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5213939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6923494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50055385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87502831"/>
                    </a:ext>
                  </a:extLst>
                </a:gridCol>
                <a:gridCol w="233731">
                  <a:extLst>
                    <a:ext uri="{9D8B030D-6E8A-4147-A177-3AD203B41FA5}">
                      <a16:colId xmlns:a16="http://schemas.microsoft.com/office/drawing/2014/main" val="3396659716"/>
                    </a:ext>
                  </a:extLst>
                </a:gridCol>
                <a:gridCol w="241272">
                  <a:extLst>
                    <a:ext uri="{9D8B030D-6E8A-4147-A177-3AD203B41FA5}">
                      <a16:colId xmlns:a16="http://schemas.microsoft.com/office/drawing/2014/main" val="247530210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9367140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8570833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48299825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87070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6762079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63124691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59043620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76769573"/>
                    </a:ext>
                  </a:extLst>
                </a:gridCol>
                <a:gridCol w="234041">
                  <a:extLst>
                    <a:ext uri="{9D8B030D-6E8A-4147-A177-3AD203B41FA5}">
                      <a16:colId xmlns:a16="http://schemas.microsoft.com/office/drawing/2014/main" val="3064695449"/>
                    </a:ext>
                  </a:extLst>
                </a:gridCol>
                <a:gridCol w="240960">
                  <a:extLst>
                    <a:ext uri="{9D8B030D-6E8A-4147-A177-3AD203B41FA5}">
                      <a16:colId xmlns:a16="http://schemas.microsoft.com/office/drawing/2014/main" val="48298187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12332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159638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7928651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578829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81430440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0700881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84992126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765944989"/>
                    </a:ext>
                  </a:extLst>
                </a:gridCol>
                <a:gridCol w="248004">
                  <a:extLst>
                    <a:ext uri="{9D8B030D-6E8A-4147-A177-3AD203B41FA5}">
                      <a16:colId xmlns:a16="http://schemas.microsoft.com/office/drawing/2014/main" val="1071605657"/>
                    </a:ext>
                  </a:extLst>
                </a:gridCol>
                <a:gridCol w="226995">
                  <a:extLst>
                    <a:ext uri="{9D8B030D-6E8A-4147-A177-3AD203B41FA5}">
                      <a16:colId xmlns:a16="http://schemas.microsoft.com/office/drawing/2014/main" val="1361273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6987088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37811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74854653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789603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01967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7220572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1028153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0180731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32458597"/>
                    </a:ext>
                  </a:extLst>
                </a:gridCol>
              </a:tblGrid>
              <a:tr h="45720"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78863"/>
                  </a:ext>
                </a:extLst>
              </a:tr>
            </a:tbl>
          </a:graphicData>
        </a:graphic>
      </p:graphicFrame>
      <p:sp>
        <p:nvSpPr>
          <p:cNvPr id="6" name="TextBox 39">
            <a:extLst>
              <a:ext uri="{FF2B5EF4-FFF2-40B4-BE49-F238E27FC236}">
                <a16:creationId xmlns:a16="http://schemas.microsoft.com/office/drawing/2014/main" id="{A05C33E1-20E4-89ED-347A-3028FC9719E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8831" y="2291359"/>
            <a:ext cx="4665609" cy="246221"/>
          </a:xfrm>
          <a:prstGeom prst="rect">
            <a:avLst/>
          </a:prstGeom>
          <a:noFill/>
        </p:spPr>
        <p:txBody>
          <a:bodyPr wrap="square" lIns="648000" rtlCol="0" anchor="ctr">
            <a:spAutoFit/>
          </a:bodyPr>
          <a:lstStyle/>
          <a:p>
            <a:r>
              <a:rPr lang="en-US" sz="1000" noProof="0" dirty="0">
                <a:solidFill>
                  <a:schemeClr val="accent1"/>
                </a:solidFill>
                <a:latin typeface="☞NOIR PRO MEDIUM" pitchFamily="2" charset="0"/>
              </a:rPr>
              <a:t>Architecture quality</a:t>
            </a:r>
          </a:p>
        </p:txBody>
      </p:sp>
      <p:sp>
        <p:nvSpPr>
          <p:cNvPr id="76" name="TextBox 39">
            <a:extLst>
              <a:ext uri="{FF2B5EF4-FFF2-40B4-BE49-F238E27FC236}">
                <a16:creationId xmlns:a16="http://schemas.microsoft.com/office/drawing/2014/main" id="{627BA5DB-ADE1-55DF-349E-456F831C423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618617" y="2316946"/>
            <a:ext cx="4167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Snapshot date: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ARCH_DATE_DAY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ARCH_DATE_MONTH_FULL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ARCH_DATE_YEAR</a:t>
            </a:r>
            <a:endParaRPr lang="en-US" sz="800" noProof="0" dirty="0">
              <a:solidFill>
                <a:srgbClr val="152F73"/>
              </a:solidFill>
              <a:latin typeface="Azeret Mono" pitchFamily="2" charset="77"/>
              <a:cs typeface="Azeret Mono" pitchFamily="2" charset="77"/>
            </a:endParaRPr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A90CCEF1-0D7F-A990-DCAA-3B1F056EDCF7}"/>
              </a:ext>
            </a:extLst>
          </p:cNvPr>
          <p:cNvGrpSpPr/>
          <p:nvPr/>
        </p:nvGrpSpPr>
        <p:grpSpPr>
          <a:xfrm>
            <a:off x="5633468" y="1466322"/>
            <a:ext cx="913712" cy="884878"/>
            <a:chOff x="5633468" y="1730647"/>
            <a:chExt cx="913712" cy="884878"/>
          </a:xfrm>
        </p:grpSpPr>
        <p:sp>
          <p:nvSpPr>
            <p:cNvPr id="71" name="TextBox 42">
              <a:extLst>
                <a:ext uri="{FF2B5EF4-FFF2-40B4-BE49-F238E27FC236}">
                  <a16:creationId xmlns:a16="http://schemas.microsoft.com/office/drawing/2014/main" id="{83DAF973-8321-71A3-7FE1-2C44138B02F1}"/>
                </a:ext>
              </a:extLst>
            </p:cNvPr>
            <p:cNvSpPr txBox="1">
              <a:spLocks/>
            </p:cNvSpPr>
            <p:nvPr/>
          </p:nvSpPr>
          <p:spPr>
            <a:xfrm>
              <a:off x="5633468" y="1730647"/>
              <a:ext cx="913712" cy="246221"/>
            </a:xfrm>
            <a:prstGeom prst="rect">
              <a:avLst/>
            </a:prstGeom>
            <a:noFill/>
          </p:spPr>
          <p:txBody>
            <a:bodyPr wrap="none" lIns="0" rIns="0" rtlCol="0" anchor="ctr">
              <a:spAutoFit/>
            </a:bodyPr>
            <a:lstStyle/>
            <a:p>
              <a:pPr algn="ctr"/>
              <a:r>
                <a:rPr lang="en-US" sz="1000" noProof="0" dirty="0" err="1">
                  <a:latin typeface="☞NOIR PRO MEDIUM" pitchFamily="2" charset="0"/>
                </a:rPr>
                <a:t>SYSTEM_NAME</a:t>
              </a:r>
              <a:endParaRPr lang="en-US" sz="1000" noProof="0" dirty="0">
                <a:latin typeface="☞NOIR PRO MEDIUM" pitchFamily="2" charset="0"/>
              </a:endParaRPr>
            </a:p>
          </p:txBody>
        </p:sp>
        <p:sp>
          <p:nvSpPr>
            <p:cNvPr id="18" name="Vrije vorm 17">
              <a:extLst>
                <a:ext uri="{FF2B5EF4-FFF2-40B4-BE49-F238E27FC236}">
                  <a16:creationId xmlns:a16="http://schemas.microsoft.com/office/drawing/2014/main" id="{EE0ABF83-8B60-6866-F885-2186595DE31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5853585" y="2310386"/>
              <a:ext cx="479242" cy="131036"/>
            </a:xfrm>
            <a:custGeom>
              <a:avLst/>
              <a:gdLst>
                <a:gd name="connsiteX0" fmla="*/ 0 w 1420201"/>
                <a:gd name="connsiteY0" fmla="*/ 194158 h 388315"/>
                <a:gd name="connsiteX1" fmla="*/ 155027 w 1420201"/>
                <a:gd name="connsiteY1" fmla="*/ 3946 h 388315"/>
                <a:gd name="connsiteX2" fmla="*/ 193835 w 1420201"/>
                <a:gd name="connsiteY2" fmla="*/ 34 h 388315"/>
                <a:gd name="connsiteX3" fmla="*/ 193835 w 1420201"/>
                <a:gd name="connsiteY3" fmla="*/ 0 h 388315"/>
                <a:gd name="connsiteX4" fmla="*/ 1180182 w 1420201"/>
                <a:gd name="connsiteY4" fmla="*/ 0 h 388315"/>
                <a:gd name="connsiteX5" fmla="*/ 1420201 w 1420201"/>
                <a:gd name="connsiteY5" fmla="*/ 193317 h 388315"/>
                <a:gd name="connsiteX6" fmla="*/ 1180182 w 1420201"/>
                <a:gd name="connsiteY6" fmla="*/ 386634 h 388315"/>
                <a:gd name="connsiteX7" fmla="*/ 210832 w 1420201"/>
                <a:gd name="connsiteY7" fmla="*/ 386634 h 388315"/>
                <a:gd name="connsiteX8" fmla="*/ 194157 w 1420201"/>
                <a:gd name="connsiteY8" fmla="*/ 388315 h 388315"/>
                <a:gd name="connsiteX9" fmla="*/ 0 w 1420201"/>
                <a:gd name="connsiteY9" fmla="*/ 194158 h 388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0201" h="388315">
                  <a:moveTo>
                    <a:pt x="0" y="194158"/>
                  </a:moveTo>
                  <a:cubicBezTo>
                    <a:pt x="0" y="100332"/>
                    <a:pt x="66553" y="22050"/>
                    <a:pt x="155027" y="3946"/>
                  </a:cubicBezTo>
                  <a:lnTo>
                    <a:pt x="193835" y="34"/>
                  </a:lnTo>
                  <a:lnTo>
                    <a:pt x="193835" y="0"/>
                  </a:lnTo>
                  <a:lnTo>
                    <a:pt x="1180182" y="0"/>
                  </a:lnTo>
                  <a:lnTo>
                    <a:pt x="1420201" y="193317"/>
                  </a:lnTo>
                  <a:lnTo>
                    <a:pt x="1180182" y="386634"/>
                  </a:lnTo>
                  <a:lnTo>
                    <a:pt x="210832" y="386634"/>
                  </a:lnTo>
                  <a:lnTo>
                    <a:pt x="194157" y="388315"/>
                  </a:lnTo>
                  <a:cubicBezTo>
                    <a:pt x="86927" y="388315"/>
                    <a:pt x="0" y="301388"/>
                    <a:pt x="0" y="194158"/>
                  </a:cubicBezTo>
                  <a:close/>
                </a:path>
              </a:pathLst>
            </a:custGeom>
            <a:gradFill>
              <a:gsLst>
                <a:gs pos="85000">
                  <a:srgbClr val="F09619"/>
                </a:gs>
                <a:gs pos="41000">
                  <a:srgbClr val="F8C818"/>
                </a:gs>
              </a:gsLst>
              <a:lin ang="2700000" scaled="0"/>
            </a:gradFill>
            <a:ln w="9525">
              <a:gradFill>
                <a:gsLst>
                  <a:gs pos="65000">
                    <a:schemeClr val="bg1"/>
                  </a:gs>
                  <a:gs pos="28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  <a:effectLst>
              <a:outerShdw blurRad="166161" algn="ctr" rotWithShape="0">
                <a:schemeClr val="accent4"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ctr">
              <a:noAutofit/>
            </a:bodyPr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27" name="Afgeronde rechthoek 26">
              <a:extLst>
                <a:ext uri="{FF2B5EF4-FFF2-40B4-BE49-F238E27FC236}">
                  <a16:creationId xmlns:a16="http://schemas.microsoft.com/office/drawing/2014/main" id="{4CE8562A-8EBE-7476-822E-7617D83FB98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971615" y="2006746"/>
              <a:ext cx="243182" cy="243180"/>
            </a:xfrm>
            <a:prstGeom prst="roundRect">
              <a:avLst>
                <a:gd name="adj" fmla="val 2765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000" noProof="0" dirty="0" err="1">
                  <a:solidFill>
                    <a:schemeClr val="tx1"/>
                  </a:solidFill>
                  <a:latin typeface="☞NOIR PRO MEDIUM" pitchFamily="2" charset="0"/>
                </a:rPr>
                <a:t>MARKER_ARCH_RATING</a:t>
              </a:r>
              <a:endParaRPr lang="en-US" sz="1000" noProof="0" dirty="0">
                <a:solidFill>
                  <a:schemeClr val="tx1"/>
                </a:solidFill>
                <a:latin typeface="☞NOIR PRO MEDIUM" pitchFamily="2" charset="0"/>
              </a:endParaRPr>
            </a:p>
          </p:txBody>
        </p:sp>
      </p:grpSp>
      <p:sp>
        <p:nvSpPr>
          <p:cNvPr id="16" name="Hexagon 15">
            <a:extLst>
              <a:ext uri="{FF2B5EF4-FFF2-40B4-BE49-F238E27FC236}">
                <a16:creationId xmlns:a16="http://schemas.microsoft.com/office/drawing/2014/main" id="{ED0ADA17-128F-6A3D-D2F9-7B6FDC4001CE}"/>
              </a:ext>
            </a:extLst>
          </p:cNvPr>
          <p:cNvSpPr/>
          <p:nvPr/>
        </p:nvSpPr>
        <p:spPr>
          <a:xfrm>
            <a:off x="707921" y="3519047"/>
            <a:ext cx="1427142" cy="1299028"/>
          </a:xfrm>
          <a:prstGeom prst="hexagon">
            <a:avLst/>
          </a:prstGeom>
          <a:solidFill>
            <a:srgbClr val="DB4A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b="1" noProof="0" dirty="0">
                <a:solidFill>
                  <a:schemeClr val="bg1"/>
                </a:solidFill>
              </a:rPr>
              <a:t>Knowledge</a:t>
            </a:r>
          </a:p>
          <a:p>
            <a:pPr algn="ctr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COLOR_ARCH_RATING_KNOWLEDGE 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gsterren" pitchFamily="2" charset="0"/>
            </a:endParaRPr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5E3E2333-CF2E-CB39-4395-42A9EB95BD8E}"/>
              </a:ext>
            </a:extLst>
          </p:cNvPr>
          <p:cNvSpPr/>
          <p:nvPr/>
        </p:nvSpPr>
        <p:spPr>
          <a:xfrm>
            <a:off x="1862482" y="2869533"/>
            <a:ext cx="1427142" cy="1299028"/>
          </a:xfrm>
          <a:prstGeom prst="hexagon">
            <a:avLst/>
          </a:prstGeom>
          <a:solidFill>
            <a:srgbClr val="F9C6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900" noProof="0" dirty="0">
                <a:solidFill>
                  <a:srgbClr val="1E354B"/>
                </a:solidFill>
              </a:rPr>
              <a:t>Communication</a:t>
            </a:r>
          </a:p>
          <a:p>
            <a:pPr algn="ctr">
              <a:defRPr/>
            </a:pPr>
            <a:r>
              <a:rPr lang="en-US" sz="1200" noProof="0" dirty="0">
                <a:solidFill>
                  <a:srgbClr val="1E354B"/>
                </a:solidFill>
                <a:latin typeface="Calibri" panose="020F0502020204030204"/>
              </a:rPr>
              <a:t>COLOR_ARCH_RATING_COMMUNICATION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Sigsterren" pitchFamily="2" charset="0"/>
            </a:endParaRPr>
          </a:p>
        </p:txBody>
      </p:sp>
      <p:sp>
        <p:nvSpPr>
          <p:cNvPr id="25" name="Hexagon 24">
            <a:extLst>
              <a:ext uri="{FF2B5EF4-FFF2-40B4-BE49-F238E27FC236}">
                <a16:creationId xmlns:a16="http://schemas.microsoft.com/office/drawing/2014/main" id="{7A06B6EF-AB98-D5CE-88A2-E77A3B25B548}"/>
              </a:ext>
            </a:extLst>
          </p:cNvPr>
          <p:cNvSpPr/>
          <p:nvPr/>
        </p:nvSpPr>
        <p:spPr>
          <a:xfrm>
            <a:off x="1862482" y="4212977"/>
            <a:ext cx="1427142" cy="1299028"/>
          </a:xfrm>
          <a:prstGeom prst="hexagon">
            <a:avLst/>
          </a:prstGeom>
          <a:solidFill>
            <a:srgbClr val="F9C6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noProof="0" dirty="0">
                <a:solidFill>
                  <a:srgbClr val="1E354B"/>
                </a:solidFill>
              </a:rPr>
              <a:t>Structure</a:t>
            </a:r>
          </a:p>
          <a:p>
            <a:pPr algn="ctr"/>
            <a:r>
              <a:rPr lang="en-US" sz="1200" noProof="0" dirty="0">
                <a:solidFill>
                  <a:srgbClr val="1E354B"/>
                </a:solidFill>
              </a:rPr>
              <a:t>COLOR_ARCH_RATING_STRUCTURE ★</a:t>
            </a:r>
            <a:endParaRPr lang="en-US" sz="1050" noProof="0" dirty="0">
              <a:solidFill>
                <a:srgbClr val="1E354B"/>
              </a:solidFill>
              <a:latin typeface="Sigsterren" pitchFamily="2" charset="0"/>
            </a:endParaRPr>
          </a:p>
        </p:txBody>
      </p:sp>
      <p:sp>
        <p:nvSpPr>
          <p:cNvPr id="29" name="Hexagon 28">
            <a:extLst>
              <a:ext uri="{FF2B5EF4-FFF2-40B4-BE49-F238E27FC236}">
                <a16:creationId xmlns:a16="http://schemas.microsoft.com/office/drawing/2014/main" id="{FDF57ABA-B6E0-13E7-A935-32521C040FF3}"/>
              </a:ext>
            </a:extLst>
          </p:cNvPr>
          <p:cNvSpPr/>
          <p:nvPr/>
        </p:nvSpPr>
        <p:spPr>
          <a:xfrm>
            <a:off x="707921" y="4879197"/>
            <a:ext cx="1427142" cy="1299028"/>
          </a:xfrm>
          <a:prstGeom prst="hexagon">
            <a:avLst/>
          </a:prstGeom>
          <a:solidFill>
            <a:srgbClr val="F9C6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noProof="0" dirty="0">
                <a:solidFill>
                  <a:srgbClr val="1E354B"/>
                </a:solidFill>
              </a:rPr>
              <a:t>Evolution</a:t>
            </a:r>
          </a:p>
          <a:p>
            <a:pPr algn="ctr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COLOR_ARCH_RATING_EVOLUTION 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Sigsterren" pitchFamily="2" charset="0"/>
            </a:endParaRPr>
          </a:p>
        </p:txBody>
      </p:sp>
      <p:sp>
        <p:nvSpPr>
          <p:cNvPr id="30" name="Hexagon 29">
            <a:extLst>
              <a:ext uri="{FF2B5EF4-FFF2-40B4-BE49-F238E27FC236}">
                <a16:creationId xmlns:a16="http://schemas.microsoft.com/office/drawing/2014/main" id="{B1275457-DED3-801E-77EE-D83D1FE14B37}"/>
              </a:ext>
            </a:extLst>
          </p:cNvPr>
          <p:cNvSpPr/>
          <p:nvPr/>
        </p:nvSpPr>
        <p:spPr>
          <a:xfrm>
            <a:off x="3034403" y="3519047"/>
            <a:ext cx="1427142" cy="1299028"/>
          </a:xfrm>
          <a:prstGeom prst="hexagon">
            <a:avLst/>
          </a:prstGeom>
          <a:solidFill>
            <a:srgbClr val="57C9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noProof="0" dirty="0">
                <a:solidFill>
                  <a:srgbClr val="1E354B"/>
                </a:solidFill>
              </a:rPr>
              <a:t>Data Access</a:t>
            </a:r>
          </a:p>
          <a:p>
            <a:pPr algn="ctr">
              <a:defRPr/>
            </a:pPr>
            <a:r>
              <a:rPr lang="en-US" sz="1200" noProof="0" dirty="0">
                <a:solidFill>
                  <a:srgbClr val="1E354B"/>
                </a:solidFill>
                <a:latin typeface="Calibri" panose="020F0502020204030204"/>
              </a:rPr>
              <a:t>COLOR_ARCH_RATING_DATA_ACCESS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Sigsterren" pitchFamily="2" charset="0"/>
            </a:endParaRPr>
          </a:p>
        </p:txBody>
      </p:sp>
      <p:sp>
        <p:nvSpPr>
          <p:cNvPr id="31" name="Hexagon 30">
            <a:extLst>
              <a:ext uri="{FF2B5EF4-FFF2-40B4-BE49-F238E27FC236}">
                <a16:creationId xmlns:a16="http://schemas.microsoft.com/office/drawing/2014/main" id="{37FCEF89-149E-5604-15A3-6B3D61BA84D3}"/>
              </a:ext>
            </a:extLst>
          </p:cNvPr>
          <p:cNvSpPr/>
          <p:nvPr/>
        </p:nvSpPr>
        <p:spPr>
          <a:xfrm>
            <a:off x="3017043" y="4879197"/>
            <a:ext cx="1427142" cy="1299028"/>
          </a:xfrm>
          <a:prstGeom prst="hexagon">
            <a:avLst/>
          </a:prstGeom>
          <a:solidFill>
            <a:srgbClr val="57C9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noProof="0" dirty="0">
                <a:solidFill>
                  <a:srgbClr val="1E354B"/>
                </a:solidFill>
              </a:rPr>
              <a:t>Technology Stack</a:t>
            </a:r>
          </a:p>
          <a:p>
            <a:pPr algn="ctr">
              <a:defRPr/>
            </a:pPr>
            <a:r>
              <a:rPr lang="en-US" sz="1200" noProof="0" dirty="0">
                <a:solidFill>
                  <a:srgbClr val="1E354B"/>
                </a:solidFill>
                <a:latin typeface="Calibri" panose="020F0502020204030204"/>
              </a:rPr>
              <a:t>COLOR_ARCH_RATING_TECHNOLOGY_STACK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Sigsterren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50F924A-2375-295D-4FA1-E0595583258E}"/>
              </a:ext>
            </a:extLst>
          </p:cNvPr>
          <p:cNvSpPr txBox="1"/>
          <p:nvPr/>
        </p:nvSpPr>
        <p:spPr>
          <a:xfrm>
            <a:off x="4651513" y="3050651"/>
            <a:ext cx="32887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0" dirty="0" err="1"/>
              <a:t>ARCH_WORST_METRIC_REMARK</a:t>
            </a:r>
            <a:endParaRPr lang="en-US" sz="1600" noProof="0" dirty="0"/>
          </a:p>
          <a:p>
            <a:br>
              <a:rPr lang="en-US" sz="1600" noProof="0" dirty="0"/>
            </a:br>
            <a:r>
              <a:rPr lang="en-US" sz="1600" noProof="0" dirty="0" err="1"/>
              <a:t>ARCH_BEST_METRIC_REMARK</a:t>
            </a:r>
            <a:endParaRPr lang="en-US" sz="2400" noProof="0" dirty="0"/>
          </a:p>
        </p:txBody>
      </p:sp>
    </p:spTree>
    <p:extLst>
      <p:ext uri="{BB962C8B-B14F-4D97-AF65-F5344CB8AC3E}">
        <p14:creationId xmlns:p14="http://schemas.microsoft.com/office/powerpoint/2010/main" val="1110005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83691-EEF8-B68C-5A5F-30410C866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Oval 91">
            <a:extLst>
              <a:ext uri="{FF2B5EF4-FFF2-40B4-BE49-F238E27FC236}">
                <a16:creationId xmlns:a16="http://schemas.microsoft.com/office/drawing/2014/main" id="{B6C70F8F-27F3-4CF3-FECD-439D34C675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85191" y="1063763"/>
            <a:ext cx="5340638" cy="5340638"/>
          </a:xfrm>
          <a:prstGeom prst="ellipse">
            <a:avLst/>
          </a:prstGeom>
          <a:gradFill>
            <a:gsLst>
              <a:gs pos="0">
                <a:schemeClr val="accent3">
                  <a:alpha val="15000"/>
                </a:schemeClr>
              </a:gs>
              <a:gs pos="43000">
                <a:schemeClr val="accent3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95C27F98-D0CE-D5B9-C55D-97BBC5A5BF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004388" y="1634792"/>
            <a:ext cx="4180824" cy="4180824"/>
          </a:xfrm>
          <a:prstGeom prst="ellipse">
            <a:avLst/>
          </a:prstGeom>
          <a:gradFill>
            <a:gsLst>
              <a:gs pos="0">
                <a:schemeClr val="accent3">
                  <a:alpha val="30871"/>
                </a:schemeClr>
              </a:gs>
              <a:gs pos="43000">
                <a:schemeClr val="accent3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C9D0E3-9C9E-5F23-111D-96C14386A39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420303" y="2076017"/>
            <a:ext cx="3351394" cy="3317250"/>
          </a:xfrm>
          <a:prstGeom prst="rect">
            <a:avLst/>
          </a:prstGeom>
          <a:noFill/>
        </p:spPr>
        <p:txBody>
          <a:bodyPr wrap="none" lIns="90000" rtlCol="0" anchor="t">
            <a:prstTxWarp prst="textArchUp">
              <a:avLst>
                <a:gd name="adj" fmla="val 9056230"/>
              </a:avLst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43000">
                      <a:srgbClr val="FFFFFF"/>
                    </a:gs>
                    <a:gs pos="9000">
                      <a:srgbClr val="88ADF5">
                        <a:lumMod val="60000"/>
                        <a:lumOff val="40000"/>
                      </a:srgbClr>
                    </a:gs>
                  </a:gsLst>
                  <a:lin ang="9600000" scaled="0"/>
                </a:gradFill>
                <a:effectLst>
                  <a:outerShdw blurRad="113571" dist="44478" dir="16200000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Noir Pro Semi Bold" pitchFamily="2" charset="0"/>
                <a:ea typeface="+mn-ea"/>
                <a:cs typeface="+mn-cs"/>
              </a:rPr>
              <a:t>Open Source Health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4470666D-AB22-177C-6C7A-D16FF6FB97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5F5EE4F-BA36-EEBF-BA2F-29E886519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Confidential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5FAE676-1E79-98D7-3514-335462A799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42BD21-9B61-2246-BCB1-4BE5E1BEBE1C}" type="slidenum">
              <a:rPr kumimoji="0" lang="en-US" sz="900" b="0" i="0" u="none" strike="noStrike" kern="1200" cap="none" spc="1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900" b="0" i="0" u="none" strike="noStrike" kern="1200" cap="none" spc="1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</p:txBody>
      </p:sp>
      <p:sp>
        <p:nvSpPr>
          <p:cNvPr id="70" name="Title 69">
            <a:extLst>
              <a:ext uri="{FF2B5EF4-FFF2-40B4-BE49-F238E27FC236}">
                <a16:creationId xmlns:a16="http://schemas.microsoft.com/office/drawing/2014/main" id="{3EF7774A-211E-088E-C9B6-6A86C44050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SIG assesses the use of Open Source and IP in five key areas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9F3FDDD-3858-C838-0AD0-612548D292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73297" y="2304400"/>
            <a:ext cx="2849490" cy="2849490"/>
          </a:xfrm>
          <a:prstGeom prst="ellipse">
            <a:avLst/>
          </a:prstGeom>
          <a:solidFill>
            <a:schemeClr val="accent3">
              <a:alpha val="2567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533F8D7-DBCC-1E52-6611-0BE5FFCA74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29556" y="2660659"/>
            <a:ext cx="2136972" cy="2136972"/>
          </a:xfrm>
          <a:prstGeom prst="ellipse">
            <a:avLst/>
          </a:prstGeom>
          <a:gradFill>
            <a:gsLst>
              <a:gs pos="23000">
                <a:schemeClr val="accent3">
                  <a:lumMod val="60000"/>
                  <a:lumOff val="40000"/>
                  <a:alpha val="33841"/>
                </a:schemeClr>
              </a:gs>
              <a:gs pos="61000">
                <a:schemeClr val="accent3">
                  <a:lumMod val="60000"/>
                  <a:lumOff val="40000"/>
                  <a:alpha val="16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63A583D-6BE0-A8F1-39D1-114B3FDEE8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26438" y="2957541"/>
            <a:ext cx="1543208" cy="1543208"/>
          </a:xfrm>
          <a:prstGeom prst="ellipse">
            <a:avLst/>
          </a:prstGeom>
          <a:gradFill>
            <a:gsLst>
              <a:gs pos="23000">
                <a:schemeClr val="bg1"/>
              </a:gs>
              <a:gs pos="61000">
                <a:schemeClr val="accent3">
                  <a:lumMod val="40000"/>
                  <a:lumOff val="60000"/>
                  <a:alpha val="29000"/>
                </a:schemeClr>
              </a:gs>
            </a:gsLst>
            <a:lin ang="2700000" scaled="0"/>
          </a:gradFill>
          <a:ln w="12700">
            <a:solidFill>
              <a:schemeClr val="accent3">
                <a:alpha val="2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E6CC9E-A042-4D41-4D82-5012869DD8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68436" y="2929751"/>
            <a:ext cx="80980" cy="809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E013D36-4866-963A-B984-D0771F1F8F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66019" y="4285002"/>
            <a:ext cx="53706" cy="53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61F8860-D3BD-ADF7-947C-66743FAA23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/>
              </a:gs>
              <a:gs pos="55000">
                <a:schemeClr val="tx2"/>
              </a:gs>
              <a:gs pos="97000">
                <a:schemeClr val="accent1"/>
              </a:gs>
            </a:gsLst>
            <a:lin ang="150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EEE0137-8821-1C78-1860-272D52AD6A6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096000" y="4363444"/>
            <a:ext cx="0" cy="263379"/>
          </a:xfrm>
          <a:prstGeom prst="line">
            <a:avLst/>
          </a:prstGeom>
          <a:ln w="9525">
            <a:solidFill>
              <a:schemeClr val="accent1">
                <a:alpha val="8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D035F2BD-9708-0AD0-BD3B-D333B7293E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60913" y="4603426"/>
            <a:ext cx="70174" cy="7017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A041D92-70F1-8E69-18DA-1A12061BCB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40908" y="4313883"/>
            <a:ext cx="112242" cy="11224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Content Placeholder 70">
            <a:extLst>
              <a:ext uri="{FF2B5EF4-FFF2-40B4-BE49-F238E27FC236}">
                <a16:creationId xmlns:a16="http://schemas.microsoft.com/office/drawing/2014/main" id="{D5037DEE-D3A7-543A-B3E5-6F22ECB1E9B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148338" y="1411200"/>
            <a:ext cx="3650085" cy="4842000"/>
          </a:xfrm>
          <a:prstGeom prst="rect">
            <a:avLst/>
          </a:prstGeom>
        </p:spPr>
        <p:txBody>
          <a:bodyPr vert="horz" lIns="216000" tIns="0" rIns="91440" bIns="72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Open Source Health (OSH)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The systems in scope are assessed for risks resulting from the use of open source software.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The key sources for this check are configuration files of common dependency management systems (e.g.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Nuget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, Maven, and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NPM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).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This information is used to uncover risks related to known vulnerabilities, freshness, license usage, activity and management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AE202C74-D8C9-84F4-7CCF-66BFEFFF7D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03883" y="2031167"/>
            <a:ext cx="3381834" cy="3405830"/>
          </a:xfrm>
          <a:prstGeom prst="arc">
            <a:avLst>
              <a:gd name="adj1" fmla="val 18941193"/>
              <a:gd name="adj2" fmla="val 13132678"/>
            </a:avLst>
          </a:prstGeom>
          <a:ln w="12700">
            <a:gradFill>
              <a:gsLst>
                <a:gs pos="98000">
                  <a:schemeClr val="bg1">
                    <a:alpha val="0"/>
                  </a:schemeClr>
                </a:gs>
                <a:gs pos="68000">
                  <a:schemeClr val="bg1">
                    <a:alpha val="29485"/>
                  </a:schemeClr>
                </a:gs>
                <a:gs pos="8000">
                  <a:schemeClr val="accent3"/>
                </a:gs>
                <a:gs pos="18000">
                  <a:schemeClr val="accent3">
                    <a:alpha val="45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Arc 98">
            <a:extLst>
              <a:ext uri="{FF2B5EF4-FFF2-40B4-BE49-F238E27FC236}">
                <a16:creationId xmlns:a16="http://schemas.microsoft.com/office/drawing/2014/main" id="{86B057A7-8157-80A0-0AA7-9BDCD7BBB4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76684" y="2825556"/>
            <a:ext cx="1850921" cy="1820186"/>
          </a:xfrm>
          <a:prstGeom prst="arc">
            <a:avLst>
              <a:gd name="adj1" fmla="val 5508426"/>
              <a:gd name="adj2" fmla="val 14121050"/>
            </a:avLst>
          </a:prstGeom>
          <a:ln w="9525">
            <a:gradFill>
              <a:gsLst>
                <a:gs pos="0">
                  <a:schemeClr val="accent1">
                    <a:alpha val="90000"/>
                  </a:schemeClr>
                </a:gs>
                <a:gs pos="99000">
                  <a:schemeClr val="accent1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5FF9DAC-CBE3-1B3F-9290-7F5D371A54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00476" y="1504866"/>
            <a:ext cx="403047" cy="345174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488B6BB2-C968-8F30-797C-D8BF8F77ADF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40162" y="3488675"/>
            <a:ext cx="709276" cy="472846"/>
          </a:xfrm>
          <a:prstGeom prst="rect">
            <a:avLst/>
          </a:prstGeom>
          <a:effectLst/>
        </p:spPr>
      </p:pic>
      <p:sp>
        <p:nvSpPr>
          <p:cNvPr id="11" name="Oval 43">
            <a:extLst>
              <a:ext uri="{FF2B5EF4-FFF2-40B4-BE49-F238E27FC236}">
                <a16:creationId xmlns:a16="http://schemas.microsoft.com/office/drawing/2014/main" id="{72B4FB6F-6763-191D-367B-6D9493FDE9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>
                  <a:alpha val="0"/>
                </a:schemeClr>
              </a:gs>
              <a:gs pos="55000">
                <a:schemeClr val="accent1">
                  <a:alpha val="14976"/>
                </a:schemeClr>
              </a:gs>
              <a:gs pos="100000">
                <a:schemeClr val="accent1"/>
              </a:gs>
            </a:gsLst>
            <a:lin ang="15000000" scaled="0"/>
          </a:gradFill>
          <a:ln w="9525">
            <a:gradFill>
              <a:gsLst>
                <a:gs pos="8000">
                  <a:schemeClr val="accent3">
                    <a:lumMod val="20000"/>
                    <a:lumOff val="80000"/>
                    <a:alpha val="52718"/>
                  </a:schemeClr>
                </a:gs>
                <a:gs pos="24000">
                  <a:schemeClr val="accent3">
                    <a:alpha val="49000"/>
                  </a:schemeClr>
                </a:gs>
                <a:gs pos="51000">
                  <a:schemeClr val="accent3">
                    <a:alpha val="0"/>
                  </a:schemeClr>
                </a:gs>
              </a:gsLst>
              <a:lin ang="13200000" scaled="0"/>
            </a:gradFill>
          </a:ln>
          <a:effectLst>
            <a:innerShdw blurRad="209594" dist="204382" dir="13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sp>
        <p:nvSpPr>
          <p:cNvPr id="31" name="Boog 30">
            <a:extLst>
              <a:ext uri="{FF2B5EF4-FFF2-40B4-BE49-F238E27FC236}">
                <a16:creationId xmlns:a16="http://schemas.microsoft.com/office/drawing/2014/main" id="{2E76718F-E362-2675-C4E3-B79D88D026C1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3385191" y="1063763"/>
            <a:ext cx="5342400" cy="5342400"/>
          </a:xfrm>
          <a:prstGeom prst="arc">
            <a:avLst>
              <a:gd name="adj1" fmla="val 8266711"/>
              <a:gd name="adj2" fmla="val 12416581"/>
            </a:avLst>
          </a:prstGeom>
          <a:ln w="12700">
            <a:gradFill>
              <a:gsLst>
                <a:gs pos="83000">
                  <a:schemeClr val="accent3"/>
                </a:gs>
                <a:gs pos="16000">
                  <a:schemeClr val="accent3"/>
                </a:gs>
                <a:gs pos="0">
                  <a:schemeClr val="accent3">
                    <a:alpha val="0"/>
                  </a:schemeClr>
                </a:gs>
                <a:gs pos="100000">
                  <a:schemeClr val="accent3">
                    <a:alpha val="0"/>
                  </a:scheme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DE8DECA9-24CF-753A-9E3D-ED81D741270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73951" y="2467036"/>
            <a:ext cx="2725576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>
                  <a:outerShdw blurRad="229337" sx="102000" sy="102000" algn="ctr" rotWithShape="0">
                    <a:srgbClr val="1763FF">
                      <a:alpha val="20000"/>
                    </a:srgbClr>
                  </a:outerShdw>
                </a:effectLst>
                <a:uLnTx/>
                <a:uFillTx/>
                <a:latin typeface="☞NOIR PRO MEDIUM" pitchFamily="2" charset="0"/>
                <a:ea typeface="+mn-ea"/>
                <a:cs typeface="+mn-cs"/>
              </a:rPr>
              <a:t>Model sub-characteristics</a:t>
            </a:r>
          </a:p>
        </p:txBody>
      </p:sp>
      <p:sp>
        <p:nvSpPr>
          <p:cNvPr id="29" name="Ovaal 28">
            <a:extLst>
              <a:ext uri="{FF2B5EF4-FFF2-40B4-BE49-F238E27FC236}">
                <a16:creationId xmlns:a16="http://schemas.microsoft.com/office/drawing/2014/main" id="{FB20B4AB-9225-343C-3039-7D6D4668EB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85191" y="3111240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vaal 29">
            <a:extLst>
              <a:ext uri="{FF2B5EF4-FFF2-40B4-BE49-F238E27FC236}">
                <a16:creationId xmlns:a16="http://schemas.microsoft.com/office/drawing/2014/main" id="{2E5481D9-8C0E-A2F0-820F-EC973CFB7F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23073" y="3590288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vaal 31">
            <a:extLst>
              <a:ext uri="{FF2B5EF4-FFF2-40B4-BE49-F238E27FC236}">
                <a16:creationId xmlns:a16="http://schemas.microsoft.com/office/drawing/2014/main" id="{F992DA66-29D9-1466-1F41-2D88272912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64103" y="4093669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vaal 35">
            <a:extLst>
              <a:ext uri="{FF2B5EF4-FFF2-40B4-BE49-F238E27FC236}">
                <a16:creationId xmlns:a16="http://schemas.microsoft.com/office/drawing/2014/main" id="{B435B4C7-661B-FDF9-E7D5-7747088120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6656" y="4588574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Ovaal 36">
            <a:extLst>
              <a:ext uri="{FF2B5EF4-FFF2-40B4-BE49-F238E27FC236}">
                <a16:creationId xmlns:a16="http://schemas.microsoft.com/office/drawing/2014/main" id="{FCBA4432-7F01-F84E-2492-55FE1ECE0C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728666" y="5089348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kstvak 37">
            <a:extLst>
              <a:ext uri="{FF2B5EF4-FFF2-40B4-BE49-F238E27FC236}">
                <a16:creationId xmlns:a16="http://schemas.microsoft.com/office/drawing/2014/main" id="{10D3DB77-BAAE-D993-38A8-5175851EB1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54462" y="2957541"/>
            <a:ext cx="1573016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Vulnerabilities</a:t>
            </a:r>
          </a:p>
        </p:txBody>
      </p:sp>
      <p:sp>
        <p:nvSpPr>
          <p:cNvPr id="39" name="Tekstvak 38">
            <a:extLst>
              <a:ext uri="{FF2B5EF4-FFF2-40B4-BE49-F238E27FC236}">
                <a16:creationId xmlns:a16="http://schemas.microsoft.com/office/drawing/2014/main" id="{7E259356-0193-A86A-4CEE-5A1813E2924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80462" y="3456782"/>
            <a:ext cx="2390547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Dependency freshness</a:t>
            </a:r>
          </a:p>
        </p:txBody>
      </p:sp>
      <p:sp>
        <p:nvSpPr>
          <p:cNvPr id="40" name="Tekstvak 39">
            <a:extLst>
              <a:ext uri="{FF2B5EF4-FFF2-40B4-BE49-F238E27FC236}">
                <a16:creationId xmlns:a16="http://schemas.microsoft.com/office/drawing/2014/main" id="{5F0DC96E-F7E0-F74E-E1F1-46E5AC30F48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97335" y="3956023"/>
            <a:ext cx="1313329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License Use</a:t>
            </a:r>
          </a:p>
        </p:txBody>
      </p:sp>
      <p:sp>
        <p:nvSpPr>
          <p:cNvPr id="41" name="Tekstvak 40">
            <a:extLst>
              <a:ext uri="{FF2B5EF4-FFF2-40B4-BE49-F238E27FC236}">
                <a16:creationId xmlns:a16="http://schemas.microsoft.com/office/drawing/2014/main" id="{F793CE3A-19AA-C87F-F0EE-2C1B9143E48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515749" y="4455264"/>
            <a:ext cx="898151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Activity</a:t>
            </a:r>
          </a:p>
        </p:txBody>
      </p:sp>
      <p:sp>
        <p:nvSpPr>
          <p:cNvPr id="43" name="Tekstvak 42">
            <a:extLst>
              <a:ext uri="{FF2B5EF4-FFF2-40B4-BE49-F238E27FC236}">
                <a16:creationId xmlns:a16="http://schemas.microsoft.com/office/drawing/2014/main" id="{27320431-995A-9BDB-9C53-5D7D2B38AA2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71116" y="4954505"/>
            <a:ext cx="1464012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Management</a:t>
            </a:r>
          </a:p>
        </p:txBody>
      </p:sp>
    </p:spTree>
    <p:extLst>
      <p:ext uri="{BB962C8B-B14F-4D97-AF65-F5344CB8AC3E}">
        <p14:creationId xmlns:p14="http://schemas.microsoft.com/office/powerpoint/2010/main" val="1150897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7657C-97FB-B1AA-E71A-0A0A45FB2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ep 6">
            <a:extLst>
              <a:ext uri="{FF2B5EF4-FFF2-40B4-BE49-F238E27FC236}">
                <a16:creationId xmlns:a16="http://schemas.microsoft.com/office/drawing/2014/main" id="{4CE14A0A-B8B6-7D0D-3564-33C85D8F48B0}"/>
              </a:ext>
            </a:extLst>
          </p:cNvPr>
          <p:cNvGrpSpPr/>
          <p:nvPr/>
        </p:nvGrpSpPr>
        <p:grpSpPr>
          <a:xfrm>
            <a:off x="134319" y="1137285"/>
            <a:ext cx="11923362" cy="1426530"/>
            <a:chOff x="134319" y="1137285"/>
            <a:chExt cx="11923362" cy="1426530"/>
          </a:xfrm>
        </p:grpSpPr>
        <p:sp>
          <p:nvSpPr>
            <p:cNvPr id="14" name="Rechthoek 25">
              <a:extLst>
                <a:ext uri="{FF2B5EF4-FFF2-40B4-BE49-F238E27FC236}">
                  <a16:creationId xmlns:a16="http://schemas.microsoft.com/office/drawing/2014/main" id="{6024112E-385A-46B2-9146-3B430094ECEE}"/>
                </a:ext>
              </a:extLst>
            </p:cNvPr>
            <p:cNvSpPr/>
            <p:nvPr/>
          </p:nvSpPr>
          <p:spPr>
            <a:xfrm>
              <a:off x="4900832" y="2202282"/>
              <a:ext cx="2383616" cy="361533"/>
            </a:xfrm>
            <a:prstGeom prst="rect">
              <a:avLst/>
            </a:prstGeom>
            <a:gradFill>
              <a:gsLst>
                <a:gs pos="8900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20000"/>
                    <a:lumOff val="80000"/>
                  </a:schemeClr>
                </a:gs>
              </a:gsLst>
              <a:lin ang="15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16" name="Afgeronde rechthoek 36">
              <a:extLst>
                <a:ext uri="{FF2B5EF4-FFF2-40B4-BE49-F238E27FC236}">
                  <a16:creationId xmlns:a16="http://schemas.microsoft.com/office/drawing/2014/main" id="{D5AF62F9-2731-16DA-3D50-41C5C6913927}"/>
                </a:ext>
              </a:extLst>
            </p:cNvPr>
            <p:cNvSpPr/>
            <p:nvPr/>
          </p:nvSpPr>
          <p:spPr>
            <a:xfrm>
              <a:off x="154799" y="1137285"/>
              <a:ext cx="11875047" cy="1426530"/>
            </a:xfrm>
            <a:prstGeom prst="roundRect">
              <a:avLst>
                <a:gd name="adj" fmla="val 8464"/>
              </a:avLst>
            </a:prstGeom>
            <a:gradFill>
              <a:gsLst>
                <a:gs pos="89000">
                  <a:schemeClr val="accent3">
                    <a:lumMod val="20000"/>
                    <a:lumOff val="80000"/>
                  </a:schemeClr>
                </a:gs>
                <a:gs pos="60000">
                  <a:schemeClr val="accent3">
                    <a:lumMod val="20000"/>
                    <a:lumOff val="80000"/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17" name="TextBox 39">
              <a:extLst>
                <a:ext uri="{FF2B5EF4-FFF2-40B4-BE49-F238E27FC236}">
                  <a16:creationId xmlns:a16="http://schemas.microsoft.com/office/drawing/2014/main" id="{5F9B5B7F-C4FB-ED20-5174-E893C3E53456}"/>
                </a:ext>
              </a:extLst>
            </p:cNvPr>
            <p:cNvSpPr txBox="1"/>
            <p:nvPr/>
          </p:nvSpPr>
          <p:spPr>
            <a:xfrm>
              <a:off x="4900832" y="2291359"/>
              <a:ext cx="2378985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000" noProof="0" dirty="0">
                  <a:solidFill>
                    <a:schemeClr val="accent1"/>
                  </a:solidFill>
                  <a:latin typeface="☞NOIR PRO MEDIUM" pitchFamily="2" charset="0"/>
                </a:rPr>
                <a:t>Market average</a:t>
              </a:r>
            </a:p>
          </p:txBody>
        </p:sp>
        <p:sp>
          <p:nvSpPr>
            <p:cNvPr id="25" name="Afgeronde rechthoek 2">
              <a:extLst>
                <a:ext uri="{FF2B5EF4-FFF2-40B4-BE49-F238E27FC236}">
                  <a16:creationId xmlns:a16="http://schemas.microsoft.com/office/drawing/2014/main" id="{4BA3C8BC-C5A7-3237-B1EA-EEA17EC91199}"/>
                </a:ext>
              </a:extLst>
            </p:cNvPr>
            <p:cNvSpPr/>
            <p:nvPr/>
          </p:nvSpPr>
          <p:spPr>
            <a:xfrm>
              <a:off x="154800" y="1918860"/>
              <a:ext cx="11875046" cy="353488"/>
            </a:xfrm>
            <a:prstGeom prst="roundRect">
              <a:avLst>
                <a:gd name="adj" fmla="val 34390"/>
              </a:avLst>
            </a:prstGeom>
            <a:gradFill>
              <a:gsLst>
                <a:gs pos="50000">
                  <a:schemeClr val="accent2"/>
                </a:gs>
                <a:gs pos="100000">
                  <a:schemeClr val="accent1"/>
                </a:gs>
                <a:gs pos="0">
                  <a:schemeClr val="accent3">
                    <a:lumMod val="20000"/>
                    <a:lumOff val="80000"/>
                  </a:scheme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29" name="Rechte verbindingslijn 8">
              <a:extLst>
                <a:ext uri="{FF2B5EF4-FFF2-40B4-BE49-F238E27FC236}">
                  <a16:creationId xmlns:a16="http://schemas.microsoft.com/office/drawing/2014/main" id="{A3239A47-7688-AC30-090B-A22E630FC15C}"/>
                </a:ext>
              </a:extLst>
            </p:cNvPr>
            <p:cNvCxnSpPr/>
            <p:nvPr/>
          </p:nvCxnSpPr>
          <p:spPr>
            <a:xfrm>
              <a:off x="2529808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Rechte verbindingslijn 9">
              <a:extLst>
                <a:ext uri="{FF2B5EF4-FFF2-40B4-BE49-F238E27FC236}">
                  <a16:creationId xmlns:a16="http://schemas.microsoft.com/office/drawing/2014/main" id="{AB03C8D2-A77E-F86D-699F-61EEAF3A6F6D}"/>
                </a:ext>
              </a:extLst>
            </p:cNvPr>
            <p:cNvCxnSpPr/>
            <p:nvPr/>
          </p:nvCxnSpPr>
          <p:spPr>
            <a:xfrm>
              <a:off x="4904817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Rechte verbindingslijn 10">
              <a:extLst>
                <a:ext uri="{FF2B5EF4-FFF2-40B4-BE49-F238E27FC236}">
                  <a16:creationId xmlns:a16="http://schemas.microsoft.com/office/drawing/2014/main" id="{A14CB0E1-CAAE-D4CC-52AE-D4F8F65D414D}"/>
                </a:ext>
              </a:extLst>
            </p:cNvPr>
            <p:cNvCxnSpPr/>
            <p:nvPr/>
          </p:nvCxnSpPr>
          <p:spPr>
            <a:xfrm>
              <a:off x="7279826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Rechte verbindingslijn 12">
              <a:extLst>
                <a:ext uri="{FF2B5EF4-FFF2-40B4-BE49-F238E27FC236}">
                  <a16:creationId xmlns:a16="http://schemas.microsoft.com/office/drawing/2014/main" id="{0A8A6778-B9CF-3E87-C97E-26A24A41A976}"/>
                </a:ext>
              </a:extLst>
            </p:cNvPr>
            <p:cNvCxnSpPr/>
            <p:nvPr/>
          </p:nvCxnSpPr>
          <p:spPr>
            <a:xfrm>
              <a:off x="9654835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hthoek 14">
              <a:extLst>
                <a:ext uri="{FF2B5EF4-FFF2-40B4-BE49-F238E27FC236}">
                  <a16:creationId xmlns:a16="http://schemas.microsoft.com/office/drawing/2014/main" id="{1A9FF113-390D-B765-CB3B-9A27EC9E0043}"/>
                </a:ext>
              </a:extLst>
            </p:cNvPr>
            <p:cNvSpPr/>
            <p:nvPr/>
          </p:nvSpPr>
          <p:spPr>
            <a:xfrm>
              <a:off x="134319" y="1914033"/>
              <a:ext cx="11923362" cy="299225"/>
            </a:xfrm>
            <a:prstGeom prst="rect">
              <a:avLst/>
            </a:prstGeom>
            <a:gradFill>
              <a:gsLst>
                <a:gs pos="53000">
                  <a:schemeClr val="bg1">
                    <a:alpha val="15000"/>
                  </a:schemeClr>
                </a:gs>
                <a:gs pos="15000">
                  <a:schemeClr val="bg1">
                    <a:alpha val="0"/>
                  </a:schemeClr>
                </a:gs>
              </a:gsLst>
              <a:lin ang="5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41" name="Afgeronde rechthoek 18">
              <a:extLst>
                <a:ext uri="{FF2B5EF4-FFF2-40B4-BE49-F238E27FC236}">
                  <a16:creationId xmlns:a16="http://schemas.microsoft.com/office/drawing/2014/main" id="{60755CF8-D102-5653-00B8-BE78247EA5F1}"/>
                </a:ext>
              </a:extLst>
            </p:cNvPr>
            <p:cNvSpPr/>
            <p:nvPr/>
          </p:nvSpPr>
          <p:spPr>
            <a:xfrm>
              <a:off x="2443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1.5</a:t>
              </a:r>
            </a:p>
          </p:txBody>
        </p:sp>
        <p:sp>
          <p:nvSpPr>
            <p:cNvPr id="42" name="Afgeronde rechthoek 19">
              <a:extLst>
                <a:ext uri="{FF2B5EF4-FFF2-40B4-BE49-F238E27FC236}">
                  <a16:creationId xmlns:a16="http://schemas.microsoft.com/office/drawing/2014/main" id="{DEE64A5D-4E01-5524-F799-1F6F1ECA090D}"/>
                </a:ext>
              </a:extLst>
            </p:cNvPr>
            <p:cNvSpPr/>
            <p:nvPr/>
          </p:nvSpPr>
          <p:spPr>
            <a:xfrm>
              <a:off x="481444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2.5</a:t>
              </a:r>
            </a:p>
          </p:txBody>
        </p:sp>
        <p:sp>
          <p:nvSpPr>
            <p:cNvPr id="43" name="Afgeronde rechthoek 20">
              <a:extLst>
                <a:ext uri="{FF2B5EF4-FFF2-40B4-BE49-F238E27FC236}">
                  <a16:creationId xmlns:a16="http://schemas.microsoft.com/office/drawing/2014/main" id="{BEBD6C4E-1E55-C06A-BBF3-8958FF7D7C43}"/>
                </a:ext>
              </a:extLst>
            </p:cNvPr>
            <p:cNvSpPr/>
            <p:nvPr/>
          </p:nvSpPr>
          <p:spPr>
            <a:xfrm>
              <a:off x="7196406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3.5</a:t>
              </a:r>
            </a:p>
          </p:txBody>
        </p:sp>
        <p:sp>
          <p:nvSpPr>
            <p:cNvPr id="44" name="Afgeronde rechthoek 21">
              <a:extLst>
                <a:ext uri="{FF2B5EF4-FFF2-40B4-BE49-F238E27FC236}">
                  <a16:creationId xmlns:a16="http://schemas.microsoft.com/office/drawing/2014/main" id="{51CB4841-8577-D508-2FD2-5FE829BE9E20}"/>
                </a:ext>
              </a:extLst>
            </p:cNvPr>
            <p:cNvSpPr/>
            <p:nvPr/>
          </p:nvSpPr>
          <p:spPr>
            <a:xfrm>
              <a:off x="9571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4.5</a:t>
              </a:r>
            </a:p>
          </p:txBody>
        </p:sp>
        <p:sp>
          <p:nvSpPr>
            <p:cNvPr id="45" name="Afgeronde rechthoek 22">
              <a:extLst>
                <a:ext uri="{FF2B5EF4-FFF2-40B4-BE49-F238E27FC236}">
                  <a16:creationId xmlns:a16="http://schemas.microsoft.com/office/drawing/2014/main" id="{424AEB5C-E6BC-5C31-CBB0-CB678E021394}"/>
                </a:ext>
              </a:extLst>
            </p:cNvPr>
            <p:cNvSpPr/>
            <p:nvPr/>
          </p:nvSpPr>
          <p:spPr>
            <a:xfrm>
              <a:off x="22297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0.5</a:t>
              </a:r>
            </a:p>
          </p:txBody>
        </p:sp>
        <p:sp>
          <p:nvSpPr>
            <p:cNvPr id="46" name="Afgeronde rechthoek 23">
              <a:extLst>
                <a:ext uri="{FF2B5EF4-FFF2-40B4-BE49-F238E27FC236}">
                  <a16:creationId xmlns:a16="http://schemas.microsoft.com/office/drawing/2014/main" id="{B28E507D-44A0-F88A-01F1-566B0FAD0FC8}"/>
                </a:ext>
              </a:extLst>
            </p:cNvPr>
            <p:cNvSpPr/>
            <p:nvPr/>
          </p:nvSpPr>
          <p:spPr>
            <a:xfrm>
              <a:off x="11787157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5.5</a:t>
              </a:r>
            </a:p>
          </p:txBody>
        </p:sp>
        <p:sp>
          <p:nvSpPr>
            <p:cNvPr id="48" name="Rectangle 29">
              <a:extLst>
                <a:ext uri="{FF2B5EF4-FFF2-40B4-BE49-F238E27FC236}">
                  <a16:creationId xmlns:a16="http://schemas.microsoft.com/office/drawing/2014/main" id="{5AA3918E-C243-8940-15ED-6DCB20D268B1}"/>
                </a:ext>
              </a:extLst>
            </p:cNvPr>
            <p:cNvSpPr/>
            <p:nvPr/>
          </p:nvSpPr>
          <p:spPr>
            <a:xfrm>
              <a:off x="160766" y="1922220"/>
              <a:ext cx="23740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★☆☆☆☆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9" name="Rectangle 34">
              <a:extLst>
                <a:ext uri="{FF2B5EF4-FFF2-40B4-BE49-F238E27FC236}">
                  <a16:creationId xmlns:a16="http://schemas.microsoft.com/office/drawing/2014/main" id="{2B7654F3-F274-18DB-3333-74D092A89FB0}"/>
                </a:ext>
              </a:extLst>
            </p:cNvPr>
            <p:cNvSpPr/>
            <p:nvPr/>
          </p:nvSpPr>
          <p:spPr>
            <a:xfrm>
              <a:off x="2534850" y="1919492"/>
              <a:ext cx="23659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1" name="Rectangle 35">
              <a:extLst>
                <a:ext uri="{FF2B5EF4-FFF2-40B4-BE49-F238E27FC236}">
                  <a16:creationId xmlns:a16="http://schemas.microsoft.com/office/drawing/2014/main" id="{ED200687-7BC1-C02E-D320-49D6FB896F25}"/>
                </a:ext>
              </a:extLst>
            </p:cNvPr>
            <p:cNvSpPr/>
            <p:nvPr/>
          </p:nvSpPr>
          <p:spPr>
            <a:xfrm>
              <a:off x="4900833" y="1916764"/>
              <a:ext cx="2381966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noProof="0" dirty="0">
                  <a:solidFill>
                    <a:schemeClr val="bg1"/>
                  </a:solidFill>
                  <a:cs typeface="Sigsterren"/>
                </a:rPr>
                <a:t>★★★☆☆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sp>
          <p:nvSpPr>
            <p:cNvPr id="52" name="Rectangle 36">
              <a:extLst>
                <a:ext uri="{FF2B5EF4-FFF2-40B4-BE49-F238E27FC236}">
                  <a16:creationId xmlns:a16="http://schemas.microsoft.com/office/drawing/2014/main" id="{50A96A4F-95C3-61B9-5011-65B391A77225}"/>
                </a:ext>
              </a:extLst>
            </p:cNvPr>
            <p:cNvSpPr/>
            <p:nvPr/>
          </p:nvSpPr>
          <p:spPr>
            <a:xfrm>
              <a:off x="7284448" y="1925283"/>
              <a:ext cx="2376000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5" name="Rectangle 37">
              <a:extLst>
                <a:ext uri="{FF2B5EF4-FFF2-40B4-BE49-F238E27FC236}">
                  <a16:creationId xmlns:a16="http://schemas.microsoft.com/office/drawing/2014/main" id="{367A8A67-3457-4FA2-A363-B3F14A43072E}"/>
                </a:ext>
              </a:extLst>
            </p:cNvPr>
            <p:cNvSpPr/>
            <p:nvPr/>
          </p:nvSpPr>
          <p:spPr>
            <a:xfrm>
              <a:off x="9660447" y="1925283"/>
              <a:ext cx="236940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★★★★★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56" name="Rechte verbindingslijn 77">
              <a:extLst>
                <a:ext uri="{FF2B5EF4-FFF2-40B4-BE49-F238E27FC236}">
                  <a16:creationId xmlns:a16="http://schemas.microsoft.com/office/drawing/2014/main" id="{BA782917-279D-CB2D-D97E-3910DF4196B4}"/>
                </a:ext>
              </a:extLst>
            </p:cNvPr>
            <p:cNvCxnSpPr/>
            <p:nvPr/>
          </p:nvCxnSpPr>
          <p:spPr>
            <a:xfrm>
              <a:off x="4906583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Rechte verbindingslijn 79">
              <a:extLst>
                <a:ext uri="{FF2B5EF4-FFF2-40B4-BE49-F238E27FC236}">
                  <a16:creationId xmlns:a16="http://schemas.microsoft.com/office/drawing/2014/main" id="{2667CBF8-AB62-D99D-BA51-142C08F5CF79}"/>
                </a:ext>
              </a:extLst>
            </p:cNvPr>
            <p:cNvCxnSpPr/>
            <p:nvPr/>
          </p:nvCxnSpPr>
          <p:spPr>
            <a:xfrm>
              <a:off x="7279817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E2BAF064-7635-1B45-EA75-1067691D05F4}"/>
                </a:ext>
              </a:extLst>
            </p:cNvPr>
            <p:cNvPicPr/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3416" y="2285629"/>
              <a:ext cx="270098" cy="228966"/>
            </a:xfrm>
            <a:prstGeom prst="rect">
              <a:avLst/>
            </a:prstGeom>
          </p:spPr>
        </p:pic>
        <p:cxnSp>
          <p:nvCxnSpPr>
            <p:cNvPr id="59" name="Rechte verbindingslijn 27">
              <a:extLst>
                <a:ext uri="{FF2B5EF4-FFF2-40B4-BE49-F238E27FC236}">
                  <a16:creationId xmlns:a16="http://schemas.microsoft.com/office/drawing/2014/main" id="{2DD03688-C2CE-72C7-2E9D-3FF562749A55}"/>
                </a:ext>
              </a:extLst>
            </p:cNvPr>
            <p:cNvCxnSpPr/>
            <p:nvPr/>
          </p:nvCxnSpPr>
          <p:spPr>
            <a:xfrm>
              <a:off x="709721" y="2346696"/>
              <a:ext cx="0" cy="135023"/>
            </a:xfrm>
            <a:prstGeom prst="line">
              <a:avLst/>
            </a:prstGeom>
            <a:ln w="952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7C1EB5F-382D-9F3C-AD26-C3E7BE7E26CB}"/>
                </a:ext>
              </a:extLst>
            </p:cNvPr>
            <p:cNvPicPr/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764650" y="2307999"/>
              <a:ext cx="217800" cy="216422"/>
            </a:xfrm>
            <a:prstGeom prst="rect">
              <a:avLst/>
            </a:prstGeom>
          </p:spPr>
        </p:pic>
      </p:grpSp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3AC69A2C-A802-2564-B045-52FACE4578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927899" cy="228145"/>
          </a:xfrm>
        </p:spPr>
        <p:txBody>
          <a:bodyPr/>
          <a:lstStyle/>
          <a:p>
            <a:r>
              <a:rPr lang="en-US" noProof="0" dirty="0"/>
              <a:t>Key findings – Open Source and IP</a:t>
            </a:r>
          </a:p>
        </p:txBody>
      </p:sp>
      <p:sp>
        <p:nvSpPr>
          <p:cNvPr id="54" name="Tijdelijke aanduiding voor inhoud 53">
            <a:extLst>
              <a:ext uri="{FF2B5EF4-FFF2-40B4-BE49-F238E27FC236}">
                <a16:creationId xmlns:a16="http://schemas.microsoft.com/office/drawing/2014/main" id="{92F6EBB4-2CFF-E11E-C500-7D4D087C5F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799" y="2738112"/>
            <a:ext cx="8090297" cy="3525887"/>
          </a:xfrm>
        </p:spPr>
        <p:txBody>
          <a:bodyPr/>
          <a:lstStyle/>
          <a:p>
            <a:r>
              <a:rPr lang="en-US" sz="1400" noProof="0" dirty="0" err="1"/>
              <a:t>OSH_VULN_SUMMARY</a:t>
            </a:r>
            <a:endParaRPr lang="en-US" sz="1400" noProof="0" dirty="0"/>
          </a:p>
          <a:p>
            <a:r>
              <a:rPr lang="en-US" sz="1400" noProof="0" dirty="0" err="1"/>
              <a:t>OSH_LEGAL_SUMMARY</a:t>
            </a:r>
            <a:endParaRPr lang="en-US" sz="1400" noProof="0" dirty="0"/>
          </a:p>
          <a:p>
            <a:r>
              <a:rPr lang="en-US" sz="1400" noProof="0" dirty="0" err="1"/>
              <a:t>OSH_FRESHNESS_SUMMARY</a:t>
            </a:r>
            <a:endParaRPr lang="en-US" sz="1400" noProof="0" dirty="0"/>
          </a:p>
          <a:p>
            <a:r>
              <a:rPr lang="en-US" sz="1400" noProof="0" dirty="0" err="1"/>
              <a:t>OSH_MANAGEMENT_SUMMARY</a:t>
            </a:r>
            <a:endParaRPr lang="en-US" sz="1400" noProof="0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F31452C-B3D9-1038-BB21-62811C47258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9F0A056-8E36-38AE-2AC7-E82BB91DEF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53" name="Titel 52">
            <a:extLst>
              <a:ext uri="{FF2B5EF4-FFF2-40B4-BE49-F238E27FC236}">
                <a16:creationId xmlns:a16="http://schemas.microsoft.com/office/drawing/2014/main" id="{C627CDF4-44FD-FE7F-BEB6-F93F16532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SYSTEM_NAME</a:t>
            </a:r>
            <a:r>
              <a:rPr lang="en-US" noProof="0" dirty="0"/>
              <a:t> rates </a:t>
            </a:r>
            <a:r>
              <a:rPr lang="en-US" noProof="0" dirty="0" err="1"/>
              <a:t>OSH_RELATIVE</a:t>
            </a:r>
            <a:r>
              <a:rPr lang="en-US" noProof="0" dirty="0"/>
              <a:t> in Open-Source health</a:t>
            </a:r>
          </a:p>
        </p:txBody>
      </p:sp>
      <p:cxnSp>
        <p:nvCxnSpPr>
          <p:cNvPr id="47" name="Rechte verbindingslijn 46">
            <a:extLst>
              <a:ext uri="{FF2B5EF4-FFF2-40B4-BE49-F238E27FC236}">
                <a16:creationId xmlns:a16="http://schemas.microsoft.com/office/drawing/2014/main" id="{071C9F9A-A1FA-AA10-D877-152A912912C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378314" y="2821727"/>
            <a:ext cx="0" cy="1679328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39">
            <a:extLst>
              <a:ext uri="{FF2B5EF4-FFF2-40B4-BE49-F238E27FC236}">
                <a16:creationId xmlns:a16="http://schemas.microsoft.com/office/drawing/2014/main" id="{0EE68FF8-4CD1-81B5-DCFE-9E07D30C141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71496" y="2735427"/>
            <a:ext cx="237898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 noProof="0" dirty="0">
                <a:latin typeface="☞NOIR PRO MEDIUM" pitchFamily="2" charset="0"/>
              </a:rPr>
              <a:t>System metric ratings</a:t>
            </a:r>
          </a:p>
        </p:txBody>
      </p:sp>
      <p:graphicFrame>
        <p:nvGraphicFramePr>
          <p:cNvPr id="38" name="Group 52">
            <a:extLst>
              <a:ext uri="{FF2B5EF4-FFF2-40B4-BE49-F238E27FC236}">
                <a16:creationId xmlns:a16="http://schemas.microsoft.com/office/drawing/2014/main" id="{DA65BE2A-A98A-8EBA-0757-212F21D72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106464"/>
              </p:ext>
            </p:extLst>
          </p:nvPr>
        </p:nvGraphicFramePr>
        <p:xfrm>
          <a:off x="8571496" y="3035953"/>
          <a:ext cx="3116504" cy="9183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63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823">
                  <a:extLst>
                    <a:ext uri="{9D8B030D-6E8A-4147-A177-3AD203B41FA5}">
                      <a16:colId xmlns:a16="http://schemas.microsoft.com/office/drawing/2014/main" val="335839943"/>
                    </a:ext>
                  </a:extLst>
                </a:gridCol>
                <a:gridCol w="445949">
                  <a:extLst>
                    <a:ext uri="{9D8B030D-6E8A-4147-A177-3AD203B41FA5}">
                      <a16:colId xmlns:a16="http://schemas.microsoft.com/office/drawing/2014/main" val="2689889332"/>
                    </a:ext>
                  </a:extLst>
                </a:gridCol>
              </a:tblGrid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Vulnerability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STARS_VULNERABILITY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OSH_RATING_VULNERABILITY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License use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STARS_LICENSES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OSH_RATING_LICENSES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Freshness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STARS_FRESHNESS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OSH_RATING_FRESHNESS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Management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STARS_MANAGEMENT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OSH_RATING_MANAGEMENT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93642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Activity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STARS_ACTIVITY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OSH_RATING_ACTIVITY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257320"/>
                  </a:ext>
                </a:extLst>
              </a:tr>
            </a:tbl>
          </a:graphicData>
        </a:graphic>
      </p:graphicFrame>
      <p:graphicFrame>
        <p:nvGraphicFramePr>
          <p:cNvPr id="74" name="Table 3">
            <a:extLst>
              <a:ext uri="{FF2B5EF4-FFF2-40B4-BE49-F238E27FC236}">
                <a16:creationId xmlns:a16="http://schemas.microsoft.com/office/drawing/2014/main" id="{D0BD417E-8466-1687-21C5-BCB913951ADD}"/>
              </a:ext>
            </a:extLst>
          </p:cNvPr>
          <p:cNvGraphicFramePr>
            <a:graphicFrameLocks noGrp="1" noDrilldown="1" noMove="1" noResize="1"/>
          </p:cNvGraphicFramePr>
          <p:nvPr/>
        </p:nvGraphicFramePr>
        <p:xfrm>
          <a:off x="154799" y="2234594"/>
          <a:ext cx="11875047" cy="45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501">
                  <a:extLst>
                    <a:ext uri="{9D8B030D-6E8A-4147-A177-3AD203B41FA5}">
                      <a16:colId xmlns:a16="http://schemas.microsoft.com/office/drawing/2014/main" val="21329541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0366675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85156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49515327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5742420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1630431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5063804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10544337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26902984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2413616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795042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66322978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4242559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144399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6432939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5213939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6923494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50055385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87502831"/>
                    </a:ext>
                  </a:extLst>
                </a:gridCol>
                <a:gridCol w="233731">
                  <a:extLst>
                    <a:ext uri="{9D8B030D-6E8A-4147-A177-3AD203B41FA5}">
                      <a16:colId xmlns:a16="http://schemas.microsoft.com/office/drawing/2014/main" val="3396659716"/>
                    </a:ext>
                  </a:extLst>
                </a:gridCol>
                <a:gridCol w="241272">
                  <a:extLst>
                    <a:ext uri="{9D8B030D-6E8A-4147-A177-3AD203B41FA5}">
                      <a16:colId xmlns:a16="http://schemas.microsoft.com/office/drawing/2014/main" val="247530210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9367140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8570833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48299825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87070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6762079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63124691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59043620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76769573"/>
                    </a:ext>
                  </a:extLst>
                </a:gridCol>
                <a:gridCol w="234041">
                  <a:extLst>
                    <a:ext uri="{9D8B030D-6E8A-4147-A177-3AD203B41FA5}">
                      <a16:colId xmlns:a16="http://schemas.microsoft.com/office/drawing/2014/main" val="3064695449"/>
                    </a:ext>
                  </a:extLst>
                </a:gridCol>
                <a:gridCol w="240960">
                  <a:extLst>
                    <a:ext uri="{9D8B030D-6E8A-4147-A177-3AD203B41FA5}">
                      <a16:colId xmlns:a16="http://schemas.microsoft.com/office/drawing/2014/main" val="48298187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12332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159638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7928651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578829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81430440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0700881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84992126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765944989"/>
                    </a:ext>
                  </a:extLst>
                </a:gridCol>
                <a:gridCol w="248004">
                  <a:extLst>
                    <a:ext uri="{9D8B030D-6E8A-4147-A177-3AD203B41FA5}">
                      <a16:colId xmlns:a16="http://schemas.microsoft.com/office/drawing/2014/main" val="1071605657"/>
                    </a:ext>
                  </a:extLst>
                </a:gridCol>
                <a:gridCol w="226995">
                  <a:extLst>
                    <a:ext uri="{9D8B030D-6E8A-4147-A177-3AD203B41FA5}">
                      <a16:colId xmlns:a16="http://schemas.microsoft.com/office/drawing/2014/main" val="1361273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6987088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37811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74854653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789603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01967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7220572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1028153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0180731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32458597"/>
                    </a:ext>
                  </a:extLst>
                </a:gridCol>
              </a:tblGrid>
              <a:tr h="45720"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78863"/>
                  </a:ext>
                </a:extLst>
              </a:tr>
            </a:tbl>
          </a:graphicData>
        </a:graphic>
      </p:graphicFrame>
      <p:sp>
        <p:nvSpPr>
          <p:cNvPr id="6" name="TextBox 39">
            <a:extLst>
              <a:ext uri="{FF2B5EF4-FFF2-40B4-BE49-F238E27FC236}">
                <a16:creationId xmlns:a16="http://schemas.microsoft.com/office/drawing/2014/main" id="{88BF66FC-97CC-BD90-B24F-F210E66AFE6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8831" y="2291359"/>
            <a:ext cx="4665609" cy="246221"/>
          </a:xfrm>
          <a:prstGeom prst="rect">
            <a:avLst/>
          </a:prstGeom>
          <a:noFill/>
        </p:spPr>
        <p:txBody>
          <a:bodyPr wrap="square" lIns="648000" rtlCol="0" anchor="ctr">
            <a:spAutoFit/>
          </a:bodyPr>
          <a:lstStyle/>
          <a:p>
            <a:r>
              <a:rPr lang="en-US" sz="1000" noProof="0" dirty="0">
                <a:solidFill>
                  <a:schemeClr val="accent1"/>
                </a:solidFill>
                <a:latin typeface="☞NOIR PRO MEDIUM" pitchFamily="2" charset="0"/>
              </a:rPr>
              <a:t>Open source health</a:t>
            </a:r>
          </a:p>
        </p:txBody>
      </p:sp>
      <p:sp>
        <p:nvSpPr>
          <p:cNvPr id="76" name="TextBox 39">
            <a:extLst>
              <a:ext uri="{FF2B5EF4-FFF2-40B4-BE49-F238E27FC236}">
                <a16:creationId xmlns:a16="http://schemas.microsoft.com/office/drawing/2014/main" id="{A5AE3144-E72D-C395-031F-513B7A7FDF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618617" y="2316946"/>
            <a:ext cx="4167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Snapshot date: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OSH_DATE_DAY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OSH_DATE_MONTH_FULL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OSH_DATE_YEAR</a:t>
            </a:r>
            <a:endParaRPr lang="en-US" sz="800" noProof="0" dirty="0">
              <a:solidFill>
                <a:srgbClr val="152F73"/>
              </a:solidFill>
              <a:latin typeface="Azeret Mono" pitchFamily="2" charset="77"/>
              <a:cs typeface="Azeret Mono" pitchFamily="2" charset="77"/>
            </a:endParaRPr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DDF6022E-F95A-14F7-D500-BA24EAC5E025}"/>
              </a:ext>
            </a:extLst>
          </p:cNvPr>
          <p:cNvGrpSpPr/>
          <p:nvPr/>
        </p:nvGrpSpPr>
        <p:grpSpPr>
          <a:xfrm>
            <a:off x="5633468" y="1466322"/>
            <a:ext cx="913712" cy="884878"/>
            <a:chOff x="5633468" y="1730647"/>
            <a:chExt cx="913712" cy="884878"/>
          </a:xfrm>
        </p:grpSpPr>
        <p:sp>
          <p:nvSpPr>
            <p:cNvPr id="71" name="TextBox 42">
              <a:extLst>
                <a:ext uri="{FF2B5EF4-FFF2-40B4-BE49-F238E27FC236}">
                  <a16:creationId xmlns:a16="http://schemas.microsoft.com/office/drawing/2014/main" id="{6C2EB2A0-888F-966A-64D7-A852BEDF2006}"/>
                </a:ext>
              </a:extLst>
            </p:cNvPr>
            <p:cNvSpPr txBox="1">
              <a:spLocks/>
            </p:cNvSpPr>
            <p:nvPr/>
          </p:nvSpPr>
          <p:spPr>
            <a:xfrm>
              <a:off x="5633468" y="1730647"/>
              <a:ext cx="913712" cy="246221"/>
            </a:xfrm>
            <a:prstGeom prst="rect">
              <a:avLst/>
            </a:prstGeom>
            <a:noFill/>
          </p:spPr>
          <p:txBody>
            <a:bodyPr wrap="none" lIns="0" rIns="0" rtlCol="0" anchor="ctr">
              <a:spAutoFit/>
            </a:bodyPr>
            <a:lstStyle/>
            <a:p>
              <a:pPr algn="ctr"/>
              <a:r>
                <a:rPr lang="en-US" sz="1000" noProof="0" dirty="0" err="1">
                  <a:latin typeface="☞NOIR PRO MEDIUM" pitchFamily="2" charset="0"/>
                </a:rPr>
                <a:t>SYSTEM_NAME</a:t>
              </a:r>
              <a:endParaRPr lang="en-US" sz="1000" noProof="0" dirty="0">
                <a:latin typeface="☞NOIR PRO MEDIUM" pitchFamily="2" charset="0"/>
              </a:endParaRPr>
            </a:p>
          </p:txBody>
        </p:sp>
        <p:sp>
          <p:nvSpPr>
            <p:cNvPr id="18" name="Vrije vorm 17">
              <a:extLst>
                <a:ext uri="{FF2B5EF4-FFF2-40B4-BE49-F238E27FC236}">
                  <a16:creationId xmlns:a16="http://schemas.microsoft.com/office/drawing/2014/main" id="{5447EB1B-609A-3757-DFA1-735B9D7E3B0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5853585" y="2310386"/>
              <a:ext cx="479242" cy="131036"/>
            </a:xfrm>
            <a:custGeom>
              <a:avLst/>
              <a:gdLst>
                <a:gd name="connsiteX0" fmla="*/ 0 w 1420201"/>
                <a:gd name="connsiteY0" fmla="*/ 194158 h 388315"/>
                <a:gd name="connsiteX1" fmla="*/ 155027 w 1420201"/>
                <a:gd name="connsiteY1" fmla="*/ 3946 h 388315"/>
                <a:gd name="connsiteX2" fmla="*/ 193835 w 1420201"/>
                <a:gd name="connsiteY2" fmla="*/ 34 h 388315"/>
                <a:gd name="connsiteX3" fmla="*/ 193835 w 1420201"/>
                <a:gd name="connsiteY3" fmla="*/ 0 h 388315"/>
                <a:gd name="connsiteX4" fmla="*/ 1180182 w 1420201"/>
                <a:gd name="connsiteY4" fmla="*/ 0 h 388315"/>
                <a:gd name="connsiteX5" fmla="*/ 1420201 w 1420201"/>
                <a:gd name="connsiteY5" fmla="*/ 193317 h 388315"/>
                <a:gd name="connsiteX6" fmla="*/ 1180182 w 1420201"/>
                <a:gd name="connsiteY6" fmla="*/ 386634 h 388315"/>
                <a:gd name="connsiteX7" fmla="*/ 210832 w 1420201"/>
                <a:gd name="connsiteY7" fmla="*/ 386634 h 388315"/>
                <a:gd name="connsiteX8" fmla="*/ 194157 w 1420201"/>
                <a:gd name="connsiteY8" fmla="*/ 388315 h 388315"/>
                <a:gd name="connsiteX9" fmla="*/ 0 w 1420201"/>
                <a:gd name="connsiteY9" fmla="*/ 194158 h 388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0201" h="388315">
                  <a:moveTo>
                    <a:pt x="0" y="194158"/>
                  </a:moveTo>
                  <a:cubicBezTo>
                    <a:pt x="0" y="100332"/>
                    <a:pt x="66553" y="22050"/>
                    <a:pt x="155027" y="3946"/>
                  </a:cubicBezTo>
                  <a:lnTo>
                    <a:pt x="193835" y="34"/>
                  </a:lnTo>
                  <a:lnTo>
                    <a:pt x="193835" y="0"/>
                  </a:lnTo>
                  <a:lnTo>
                    <a:pt x="1180182" y="0"/>
                  </a:lnTo>
                  <a:lnTo>
                    <a:pt x="1420201" y="193317"/>
                  </a:lnTo>
                  <a:lnTo>
                    <a:pt x="1180182" y="386634"/>
                  </a:lnTo>
                  <a:lnTo>
                    <a:pt x="210832" y="386634"/>
                  </a:lnTo>
                  <a:lnTo>
                    <a:pt x="194157" y="388315"/>
                  </a:lnTo>
                  <a:cubicBezTo>
                    <a:pt x="86927" y="388315"/>
                    <a:pt x="0" y="301388"/>
                    <a:pt x="0" y="194158"/>
                  </a:cubicBezTo>
                  <a:close/>
                </a:path>
              </a:pathLst>
            </a:custGeom>
            <a:gradFill>
              <a:gsLst>
                <a:gs pos="85000">
                  <a:srgbClr val="F09619"/>
                </a:gs>
                <a:gs pos="41000">
                  <a:srgbClr val="F8C818"/>
                </a:gs>
              </a:gsLst>
              <a:lin ang="2700000" scaled="0"/>
            </a:gradFill>
            <a:ln w="9525">
              <a:gradFill>
                <a:gsLst>
                  <a:gs pos="65000">
                    <a:schemeClr val="bg1"/>
                  </a:gs>
                  <a:gs pos="28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  <a:effectLst>
              <a:outerShdw blurRad="166161" algn="ctr" rotWithShape="0">
                <a:schemeClr val="accent4"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ctr">
              <a:noAutofit/>
            </a:bodyPr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27" name="Afgeronde rechthoek 26">
              <a:extLst>
                <a:ext uri="{FF2B5EF4-FFF2-40B4-BE49-F238E27FC236}">
                  <a16:creationId xmlns:a16="http://schemas.microsoft.com/office/drawing/2014/main" id="{0C3D3AB2-F054-4EFB-3435-62E5C0FA49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971615" y="2006746"/>
              <a:ext cx="243182" cy="243180"/>
            </a:xfrm>
            <a:prstGeom prst="roundRect">
              <a:avLst>
                <a:gd name="adj" fmla="val 2765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000" noProof="0" dirty="0" err="1">
                  <a:solidFill>
                    <a:schemeClr val="tx1"/>
                  </a:solidFill>
                  <a:latin typeface="☞NOIR PRO MEDIUM" pitchFamily="2" charset="0"/>
                </a:rPr>
                <a:t>MARKER_OSH_RATING</a:t>
              </a:r>
              <a:endParaRPr lang="en-US" sz="1000" noProof="0" dirty="0">
                <a:solidFill>
                  <a:schemeClr val="tx1"/>
                </a:solidFill>
                <a:latin typeface="☞NOIR PRO MEDIUM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43406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jdelijke aanduiding voor inhoud 19">
            <a:extLst>
              <a:ext uri="{FF2B5EF4-FFF2-40B4-BE49-F238E27FC236}">
                <a16:creationId xmlns:a16="http://schemas.microsoft.com/office/drawing/2014/main" id="{66BB4E1B-985F-9EF3-5AC6-C768D2CB71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1421846"/>
            <a:ext cx="5938800" cy="4896154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lang="en-US" noProof="0" dirty="0" err="1">
                <a:solidFill>
                  <a:schemeClr val="tx1"/>
                </a:solidFill>
              </a:rPr>
              <a:t>OSH_VULN_SUMMARY</a:t>
            </a:r>
            <a:endParaRPr lang="en-US" noProof="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</a:pPr>
            <a:r>
              <a:rPr lang="en-US" noProof="0" dirty="0" err="1">
                <a:solidFill>
                  <a:schemeClr val="tx1"/>
                </a:solidFill>
              </a:rPr>
              <a:t>OSH_LEGAL_SUMMARY</a:t>
            </a:r>
            <a:endParaRPr lang="en-US" noProof="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</a:pPr>
            <a:r>
              <a:rPr lang="en-US" noProof="0" dirty="0" err="1">
                <a:solidFill>
                  <a:schemeClr val="tx1"/>
                </a:solidFill>
              </a:rPr>
              <a:t>OSH_FRESHNESS_SUMMARY</a:t>
            </a:r>
            <a:endParaRPr lang="en-US" noProof="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</a:pPr>
            <a:r>
              <a:rPr lang="en-US" noProof="0" dirty="0" err="1">
                <a:solidFill>
                  <a:schemeClr val="tx1"/>
                </a:solidFill>
              </a:rPr>
              <a:t>OSH_MANAGEMENT_SUMMARY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A5582F2-40D0-9238-3CA5-366CA9A6BE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r>
              <a:rPr lang="en-US" sz="1400" noProof="0" dirty="0" err="1"/>
              <a:t>OSH_TOTAL_DEPS</a:t>
            </a:r>
            <a:endParaRPr lang="en-US" sz="1400" noProof="0" dirty="0"/>
          </a:p>
        </p:txBody>
      </p:sp>
      <p:sp>
        <p:nvSpPr>
          <p:cNvPr id="21" name="Tijdelijke aanduiding voor tekst 20">
            <a:extLst>
              <a:ext uri="{FF2B5EF4-FFF2-40B4-BE49-F238E27FC236}">
                <a16:creationId xmlns:a16="http://schemas.microsoft.com/office/drawing/2014/main" id="{6B434B96-A0F4-D550-9948-4935A3A303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77500" lnSpcReduction="20000"/>
          </a:bodyPr>
          <a:lstStyle/>
          <a:p>
            <a:endParaRPr lang="en-US" noProof="0" dirty="0"/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F2A786C1-12AB-2815-EA60-7CF5A856C3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77500" lnSpcReduction="20000"/>
          </a:bodyPr>
          <a:lstStyle/>
          <a:p>
            <a:endParaRPr lang="en-US" noProof="0" dirty="0"/>
          </a:p>
        </p:txBody>
      </p:sp>
      <p:sp>
        <p:nvSpPr>
          <p:cNvPr id="23" name="Tijdelijke aanduiding voor tekst 22">
            <a:extLst>
              <a:ext uri="{FF2B5EF4-FFF2-40B4-BE49-F238E27FC236}">
                <a16:creationId xmlns:a16="http://schemas.microsoft.com/office/drawing/2014/main" id="{1815B1ED-FC37-06DC-642E-E962FAF8C95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77500" lnSpcReduction="20000"/>
          </a:bodyPr>
          <a:lstStyle/>
          <a:p>
            <a:endParaRPr lang="en-US" noProof="0" dirty="0"/>
          </a:p>
        </p:txBody>
      </p:sp>
      <p:sp>
        <p:nvSpPr>
          <p:cNvPr id="24" name="Tijdelijke aanduiding voor tekst 23">
            <a:extLst>
              <a:ext uri="{FF2B5EF4-FFF2-40B4-BE49-F238E27FC236}">
                <a16:creationId xmlns:a16="http://schemas.microsoft.com/office/drawing/2014/main" id="{F9105C04-203F-52A9-B023-8BCB23ABA3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77500" lnSpcReduction="20000"/>
          </a:bodyPr>
          <a:lstStyle/>
          <a:p>
            <a:endParaRPr lang="en-US" noProof="0" dirty="0"/>
          </a:p>
        </p:txBody>
      </p:sp>
      <p:sp>
        <p:nvSpPr>
          <p:cNvPr id="25" name="Tijdelijke aanduiding voor tekst 24">
            <a:extLst>
              <a:ext uri="{FF2B5EF4-FFF2-40B4-BE49-F238E27FC236}">
                <a16:creationId xmlns:a16="http://schemas.microsoft.com/office/drawing/2014/main" id="{CCA1B4DB-A80E-D27A-4D97-18B15B411B0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fontScale="77500" lnSpcReduction="20000"/>
          </a:bodyPr>
          <a:lstStyle/>
          <a:p>
            <a:endParaRPr lang="en-US" noProof="0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8F49E5F7-1212-C10F-AF03-7BCD250B5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OSH_TOTAL_VULN</a:t>
            </a:r>
            <a:r>
              <a:rPr lang="en-US" noProof="0" dirty="0"/>
              <a:t> vulnerable 3rd party open-source dependencies were identified</a:t>
            </a:r>
          </a:p>
        </p:txBody>
      </p:sp>
      <p:sp>
        <p:nvSpPr>
          <p:cNvPr id="10" name="Tijdelijke aanduiding voor voettekst 9">
            <a:extLst>
              <a:ext uri="{FF2B5EF4-FFF2-40B4-BE49-F238E27FC236}">
                <a16:creationId xmlns:a16="http://schemas.microsoft.com/office/drawing/2014/main" id="{85CC0D40-EB66-D793-CEA6-7AF5F045B2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8CFF3985-4FCE-83E0-0FFC-607EBC97340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EA846D4E-DBA5-CFC4-BD38-6CC5C41F55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927899" cy="228145"/>
          </a:xfrm>
        </p:spPr>
        <p:txBody>
          <a:bodyPr/>
          <a:lstStyle/>
          <a:p>
            <a:r>
              <a:rPr lang="en-US" noProof="0" dirty="0"/>
              <a:t>Key findings – Open Source and IP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68C590-52C4-FD9D-BA2E-7DA3B20805D6}"/>
              </a:ext>
            </a:extLst>
          </p:cNvPr>
          <p:cNvSpPr txBox="1"/>
          <p:nvPr/>
        </p:nvSpPr>
        <p:spPr>
          <a:xfrm>
            <a:off x="11068163" y="-374999"/>
            <a:ext cx="1104939" cy="355225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600" noProof="0" dirty="0" err="1">
                <a:solidFill>
                  <a:schemeClr val="tx2"/>
                </a:solidFill>
              </a:rPr>
              <a:t>OSH_SLIDE</a:t>
            </a:r>
            <a:endParaRPr lang="en-US" sz="1600" noProof="0" dirty="0">
              <a:solidFill>
                <a:schemeClr val="tx2"/>
              </a:solidFill>
            </a:endParaRPr>
          </a:p>
        </p:txBody>
      </p:sp>
      <p:graphicFrame>
        <p:nvGraphicFramePr>
          <p:cNvPr id="2" name="CHART_1">
            <a:extLst>
              <a:ext uri="{FF2B5EF4-FFF2-40B4-BE49-F238E27FC236}">
                <a16:creationId xmlns:a16="http://schemas.microsoft.com/office/drawing/2014/main" id="{663304D0-0E7B-1454-8672-C6C89EF3BF5C}"/>
              </a:ext>
            </a:extLst>
          </p:cNvPr>
          <p:cNvGraphicFramePr>
            <a:graphicFrameLocks/>
          </p:cNvGraphicFramePr>
          <p:nvPr/>
        </p:nvGraphicFramePr>
        <p:xfrm>
          <a:off x="2993512" y="2846744"/>
          <a:ext cx="3102882" cy="11243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_2">
            <a:extLst>
              <a:ext uri="{FF2B5EF4-FFF2-40B4-BE49-F238E27FC236}">
                <a16:creationId xmlns:a16="http://schemas.microsoft.com/office/drawing/2014/main" id="{F710C4F3-29D3-2E11-A1BF-518BE8D05501}"/>
              </a:ext>
            </a:extLst>
          </p:cNvPr>
          <p:cNvGraphicFramePr>
            <a:graphicFrameLocks/>
          </p:cNvGraphicFramePr>
          <p:nvPr/>
        </p:nvGraphicFramePr>
        <p:xfrm>
          <a:off x="2995636" y="3732550"/>
          <a:ext cx="3100364" cy="25854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62055397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theme (default)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764FF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8" id="{578C6016-95C3-5840-826C-B4226735762A}" vid="{EC50665E-BB8F-7A40-BCAA-233202124359}"/>
    </a:ext>
  </a:extLst>
</a:theme>
</file>

<file path=ppt/theme/theme2.xml><?xml version="1.0" encoding="utf-8"?>
<a:theme xmlns:a="http://schemas.openxmlformats.org/drawingml/2006/main" name="Dark theme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1" id="{F42F1492-7701-3649-9008-F8CF56C99C53}" vid="{069A4F46-BACC-A642-BE78-CD3F3EA7293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EF897B6A9E5243A3BAB7B7BDA55B95" ma:contentTypeVersion="3" ma:contentTypeDescription="Een nieuw document maken." ma:contentTypeScope="" ma:versionID="0a97628efbdf127f23042160181f1d9a">
  <xsd:schema xmlns:xsd="http://www.w3.org/2001/XMLSchema" xmlns:xs="http://www.w3.org/2001/XMLSchema" xmlns:p="http://schemas.microsoft.com/office/2006/metadata/properties" xmlns:ns2="444ebd02-7183-4d1c-abe9-f175efe83725" targetNamespace="http://schemas.microsoft.com/office/2006/metadata/properties" ma:root="true" ma:fieldsID="44a7a3b93c857102c842f6fb1da07824" ns2:_="">
    <xsd:import namespace="444ebd02-7183-4d1c-abe9-f175efe837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4ebd02-7183-4d1c-abe9-f175efe837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AFAF3E6-8A11-4BDC-9823-6F0ACEBB33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4ebd02-7183-4d1c-abe9-f175efe837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8AD9160-B56A-4FCD-857D-8AE63521E7F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575A4A2-8818-4F4B-AD30-88D568004514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444ebd02-7183-4d1c-abe9-f175efe83725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 theme (default)</Template>
  <TotalTime>11193</TotalTime>
  <Words>1853</Words>
  <Application>Microsoft Macintosh PowerPoint</Application>
  <PresentationFormat>Widescreen</PresentationFormat>
  <Paragraphs>391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36" baseType="lpstr">
      <vt:lpstr>.AppleSystemUIFont</vt:lpstr>
      <vt:lpstr>☞NOIR PRO MEDIUM</vt:lpstr>
      <vt:lpstr>Arial</vt:lpstr>
      <vt:lpstr>Azeret Mono</vt:lpstr>
      <vt:lpstr>Azeret Mono Medium</vt:lpstr>
      <vt:lpstr>Calibri</vt:lpstr>
      <vt:lpstr>Calibri Bold</vt:lpstr>
      <vt:lpstr>Calibri Regular</vt:lpstr>
      <vt:lpstr>Google Sans</vt:lpstr>
      <vt:lpstr>Helvetica Neue Bold</vt:lpstr>
      <vt:lpstr>Noir Pro</vt:lpstr>
      <vt:lpstr>Noir Pro Medium</vt:lpstr>
      <vt:lpstr>Noir Pro Semi Bold</vt:lpstr>
      <vt:lpstr>Sigsterren</vt:lpstr>
      <vt:lpstr>TheSansMono M5</vt:lpstr>
      <vt:lpstr>Wingdings</vt:lpstr>
      <vt:lpstr>Light theme (default)</vt:lpstr>
      <vt:lpstr>Dark theme</vt:lpstr>
      <vt:lpstr>PowerPoint Presentation</vt:lpstr>
      <vt:lpstr>Outline of topics</vt:lpstr>
      <vt:lpstr>System "SYSTEM_NAME" technical quality: management summary</vt:lpstr>
      <vt:lpstr>Outline of topics</vt:lpstr>
      <vt:lpstr>Explanation: The Cost Estimation model combines Sigrid analysis results with SIG benchmarks</vt:lpstr>
      <vt:lpstr>SYSTEM_NAME technical debt is RENOVATION_EFFORT_PY person years (RENOVATION_EFFORT_PERCENTAGE% of its volume)</vt:lpstr>
      <vt:lpstr>Explanation: The ISO 25010 standard for Maintainability has 5 sub-characteristics</vt:lpstr>
      <vt:lpstr>The SIG/TÜViT model maps the sub-characteristics to the system properties</vt:lpstr>
      <vt:lpstr>SYSTEM_NAME is a MAINT_SIZE system of SYSTEM_PY PY which scores MAINT_RATING for maintainability </vt:lpstr>
      <vt:lpstr>SYSTEM_NAME scores MAINT_RELATIVE for maintainability</vt:lpstr>
      <vt:lpstr>The system is VOLUME_RELATIVE in size and is built primarily in TECH_1_NAME</vt:lpstr>
      <vt:lpstr>SYSTEM_NAME has a TEST_CODE_RELATIVE test/code ratio</vt:lpstr>
      <vt:lpstr>Explanation: The Architecture Quality model has 5 sub-characteristics</vt:lpstr>
      <vt:lpstr>SIG’s Architecture Model maps the sub-characteristics to 9 system properties</vt:lpstr>
      <vt:lpstr>SYSTEM_NAME scores ARCH_AT_BELOW market average (ARCH_RATING ★) for Architecture Quality</vt:lpstr>
      <vt:lpstr>SIG assesses the use of Open Source and IP in five key areas</vt:lpstr>
      <vt:lpstr>SYSTEM_NAME rates OSH_RELATIVE in Open-Source health</vt:lpstr>
      <vt:lpstr>OSH_TOTAL_VULN vulnerable 3rd party open-source dependencies were identified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Kovac</dc:creator>
  <cp:lastModifiedBy>Maxim Janssen</cp:lastModifiedBy>
  <cp:revision>180</cp:revision>
  <cp:lastPrinted>2020-04-20T09:37:43Z</cp:lastPrinted>
  <dcterms:created xsi:type="dcterms:W3CDTF">2025-10-22T11:22:13Z</dcterms:created>
  <dcterms:modified xsi:type="dcterms:W3CDTF">2026-03-19T16:32:10Z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0x0101004DEF897B6A9E5243A3BAB7B7BDA55B95</vt:lpwstr>
  </property>
</Properties>
</file>