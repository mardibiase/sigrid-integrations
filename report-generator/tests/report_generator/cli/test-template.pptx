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3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4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22"/>
  </p:notesMasterIdLst>
  <p:handoutMasterIdLst>
    <p:handoutMasterId r:id="rId23"/>
  </p:handoutMasterIdLst>
  <p:sldIdLst>
    <p:sldId id="561" r:id="rId5"/>
    <p:sldId id="11162" r:id="rId6"/>
    <p:sldId id="11167" r:id="rId7"/>
    <p:sldId id="11166" r:id="rId8"/>
    <p:sldId id="1824" r:id="rId9"/>
    <p:sldId id="1652" r:id="rId10"/>
    <p:sldId id="11164" r:id="rId11"/>
    <p:sldId id="11170" r:id="rId12"/>
    <p:sldId id="2185" r:id="rId13"/>
    <p:sldId id="516" r:id="rId14"/>
    <p:sldId id="517" r:id="rId15"/>
    <p:sldId id="519" r:id="rId16"/>
    <p:sldId id="518" r:id="rId17"/>
    <p:sldId id="520" r:id="rId18"/>
    <p:sldId id="521" r:id="rId19"/>
    <p:sldId id="523" r:id="rId20"/>
    <p:sldId id="11171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78E17"/>
    <a:srgbClr val="910813"/>
    <a:srgbClr val="CF4731"/>
    <a:srgbClr val="EBC937"/>
    <a:srgbClr val="DB4A3D"/>
    <a:srgbClr val="F0089F"/>
    <a:srgbClr val="1E354B"/>
    <a:srgbClr val="57C967"/>
    <a:srgbClr val="F9C640"/>
    <a:srgbClr val="1E364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32094BA-3324-E44C-AFE3-01F0E8F31A48}" v="69" dt="2024-01-12T19:24:27.55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555"/>
    <p:restoredTop sz="96327"/>
  </p:normalViewPr>
  <p:slideViewPr>
    <p:cSldViewPr snapToGrid="0" snapToObjects="1" showGuides="1">
      <p:cViewPr varScale="1">
        <p:scale>
          <a:sx n="120" d="100"/>
          <a:sy n="120" d="100"/>
        </p:scale>
        <p:origin x="200" y="74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38" d="100"/>
        <a:sy n="38" d="100"/>
      </p:scale>
      <p:origin x="0" y="0"/>
    </p:cViewPr>
  </p:sorterViewPr>
  <p:notesViewPr>
    <p:cSldViewPr snapToGrid="0" snapToObjects="1">
      <p:cViewPr varScale="1">
        <p:scale>
          <a:sx n="163" d="100"/>
          <a:sy n="163" d="100"/>
        </p:scale>
        <p:origin x="6728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handoutMaster" Target="handoutMasters/handoutMaster1.xml"/><Relationship Id="rId28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Percentage</c:v>
                </c:pt>
              </c:strCache>
            </c:strRef>
          </c:tx>
          <c:spPr>
            <a:solidFill>
              <a:schemeClr val="accent2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chemeClr val="tx2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034B-534E-9ADC-79D3329DBEB7}"/>
              </c:ext>
            </c:extLst>
          </c:dPt>
          <c:dLbls>
            <c:dLbl>
              <c:idx val="2"/>
              <c:tx>
                <c:rich>
                  <a:bodyPr/>
                  <a:lstStyle/>
                  <a:p>
                    <a:r>
                      <a:rPr lang="en-US"/>
                      <a:t>&gt;</a:t>
                    </a:r>
                    <a:fld id="{AA6CA5E8-FDB8-434A-B68E-C7A3CC6735E5}" type="VALUE">
                      <a:rPr lang="en-US" smtClean="0"/>
                      <a:pPr/>
                      <a:t>[VALUE]</a:t>
                    </a:fld>
                    <a:endParaRPr lang="en-US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0-7FA8-464D-BE91-55CE5770358C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/>
                      <a:t>&gt;</a:t>
                    </a:r>
                    <a:fld id="{6E19E0AF-A501-7C4B-8799-4B6F8CFD540B}" type="VALUE">
                      <a:rPr lang="en-US" smtClean="0"/>
                      <a:pPr/>
                      <a:t>[VALUE]</a:t>
                    </a:fld>
                    <a:endParaRPr lang="en-US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1-7FA8-464D-BE91-55CE5770358C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4"/>
                <c:pt idx="0">
                  <c:v>Java</c:v>
                </c:pt>
                <c:pt idx="1">
                  <c:v>C++</c:v>
                </c:pt>
                <c:pt idx="2">
                  <c:v>JavaScript</c:v>
                </c:pt>
                <c:pt idx="3">
                  <c:v>Python</c:v>
                </c:pt>
              </c:strCache>
            </c:strRef>
          </c:cat>
          <c:val>
            <c:numRef>
              <c:f>Sheet1!$B$2:$B$10</c:f>
              <c:numCache>
                <c:formatCode>0%</c:formatCode>
                <c:ptCount val="9"/>
                <c:pt idx="0">
                  <c:v>0.86965532760192477</c:v>
                </c:pt>
                <c:pt idx="1">
                  <c:v>0.12658757732049117</c:v>
                </c:pt>
                <c:pt idx="2">
                  <c:v>3.5367373931502054E-3</c:v>
                </c:pt>
                <c:pt idx="3">
                  <c:v>2.2035768443385634E-4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0-034B-534E-9ADC-79D3329DBEB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1"/>
        <c:axPos val="l"/>
        <c:numFmt formatCode="0%" sourceLinked="1"/>
        <c:majorTickMark val="out"/>
        <c:minorTickMark val="none"/>
        <c:tickLblPos val="nextTo"/>
        <c:crossAx val="47638752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8CC0-8749-A89A-75F11CBE0F81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8CC0-8749-A89A-75F11CBE0F81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8CC0-8749-A89A-75F11CBE0F81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8CC0-8749-A89A-75F11CBE0F81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ctr"/>
            <c:showLegendKey val="0"/>
            <c:showVal val="0"/>
            <c:showCatName val="1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Java</c:v>
                </c:pt>
                <c:pt idx="1">
                  <c:v>C#</c:v>
                </c:pt>
                <c:pt idx="2">
                  <c:v>CSS</c:v>
                </c:pt>
                <c:pt idx="3">
                  <c:v>Typescript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780-1E47-A0AF-94D32305FB4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0"/>
            <c:spPr>
              <a:solidFill>
                <a:schemeClr val="accent1"/>
              </a:solidFill>
              <a:ln w="28575">
                <a:solidFill>
                  <a:schemeClr val="accent3"/>
                </a:soli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layout>
                <c:manualLayout>
                  <c:x val="1.6061704965061169E-2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lang="en-US" dirty="0"/>
                      <a:t>[</a:t>
                    </a:r>
                    <a:r>
                      <a:rPr lang="en-US" dirty="0" err="1"/>
                      <a:t>SYSTEM_NAME</a:t>
                    </a:r>
                    <a:r>
                      <a:rPr lang="en-US" dirty="0"/>
                      <a:t>]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0-B86A-D14B-85E9-B8DEC18B60F7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/>
                      <a:t>Android-core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1-B86A-D14B-85E9-B8DEC18B60F7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/>
                      <a:t>Angular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0519-7043-91E7-EECF3C414252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r>
                      <a:rPr lang="en-US"/>
                      <a:t>Bazel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B86A-D14B-85E9-B8DEC18B60F7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/>
                      <a:t>Bitcoin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0519-7043-91E7-EECF3C414252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/>
                      <a:t>Card Management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0519-7043-91E7-EECF3C414252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en-US"/>
                      <a:t>Django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0519-7043-91E7-EECF3C414252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rPr lang="en-US"/>
                      <a:t>Druid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0519-7043-91E7-EECF3C414252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rPr lang="en-US"/>
                      <a:t>Dubbo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0519-7043-91E7-EECF3C414252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rPr lang="en-US"/>
                      <a:t>Echarts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0519-7043-91E7-EECF3C414252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rPr lang="en-US"/>
                      <a:t>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0519-7043-91E7-EECF3C414252}"/>
                </c:ext>
              </c:extLst>
            </c:dLbl>
            <c:dLbl>
              <c:idx val="11"/>
              <c:tx>
                <c:rich>
                  <a:bodyPr/>
                  <a:lstStyle/>
                  <a:p>
                    <a:r>
                      <a:rPr lang="en-US"/>
                      <a:t>Electron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0519-7043-91E7-EECF3C414252}"/>
                </c:ext>
              </c:extLst>
            </c:dLbl>
            <c:dLbl>
              <c:idx val="12"/>
              <c:tx>
                <c:rich>
                  <a:bodyPr/>
                  <a:lstStyle/>
                  <a:p>
                    <a:r>
                      <a:rPr lang="en-US"/>
                      <a:t>Facebookyoga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9-0519-7043-91E7-EECF3C414252}"/>
                </c:ext>
              </c:extLst>
            </c:dLbl>
            <c:dLbl>
              <c:idx val="13"/>
              <c:tx>
                <c:rich>
                  <a:bodyPr/>
                  <a:lstStyle/>
                  <a:p>
                    <a:r>
                      <a:rPr lang="en-US"/>
                      <a:t>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0519-7043-91E7-EECF3C414252}"/>
                </c:ext>
              </c:extLst>
            </c:dLbl>
            <c:dLbl>
              <c:idx val="14"/>
              <c:tx>
                <c:rich>
                  <a:bodyPr/>
                  <a:lstStyle/>
                  <a:p>
                    <a:r>
                      <a:rPr lang="en-US"/>
                      <a:t>Google V8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0519-7043-91E7-EECF3C414252}"/>
                </c:ext>
              </c:extLst>
            </c:dLbl>
            <c:dLbl>
              <c:idx val="15"/>
              <c:tx>
                <c:rich>
                  <a:bodyPr/>
                  <a:lstStyle/>
                  <a:p>
                    <a:r>
                      <a:rPr lang="en-US"/>
                      <a:t>Googleguava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0519-7043-91E7-EECF3C414252}"/>
                </c:ext>
              </c:extLst>
            </c:dLbl>
            <c:dLbl>
              <c:idx val="16"/>
              <c:tx>
                <c:rich>
                  <a:bodyPr/>
                  <a:lstStyle/>
                  <a:p>
                    <a:r>
                      <a:rPr lang="en-US"/>
                      <a:t>Hadoop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0519-7043-91E7-EECF3C414252}"/>
                </c:ext>
              </c:extLst>
            </c:dLbl>
            <c:dLbl>
              <c:idx val="17"/>
              <c:tx>
                <c:rich>
                  <a:bodyPr/>
                  <a:lstStyle/>
                  <a:p>
                    <a:r>
                      <a:rPr lang="en-US"/>
                      <a:t>Hibernate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E-0519-7043-91E7-EECF3C414252}"/>
                </c:ext>
              </c:extLst>
            </c:dLbl>
            <c:dLbl>
              <c:idx val="18"/>
              <c:tx>
                <c:rich>
                  <a:bodyPr/>
                  <a:lstStyle/>
                  <a:p>
                    <a:r>
                      <a:rPr lang="en-US"/>
                      <a:t>HR App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F-0519-7043-91E7-EECF3C414252}"/>
                </c:ext>
              </c:extLst>
            </c:dLbl>
            <c:dLbl>
              <c:idx val="19"/>
              <c:tx>
                <c:rich>
                  <a:bodyPr/>
                  <a:lstStyle/>
                  <a:p>
                    <a:r>
                      <a:rPr lang="en-US"/>
                      <a:t>Insecure-bank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0-0519-7043-91E7-EECF3C414252}"/>
                </c:ext>
              </c:extLst>
            </c:dLbl>
            <c:dLbl>
              <c:idx val="20"/>
              <c:tx>
                <c:rich>
                  <a:bodyPr/>
                  <a:lstStyle/>
                  <a:p>
                    <a:r>
                      <a:rPr lang="en-US"/>
                      <a:t>Jruby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1-0519-7043-91E7-EECF3C414252}"/>
                </c:ext>
              </c:extLst>
            </c:dLbl>
            <c:dLbl>
              <c:idx val="21"/>
              <c:tx>
                <c:rich>
                  <a:bodyPr/>
                  <a:lstStyle/>
                  <a:p>
                    <a:r>
                      <a:rPr lang="en-US"/>
                      <a:t>Kafka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2-0519-7043-91E7-EECF3C414252}"/>
                </c:ext>
              </c:extLst>
            </c:dLbl>
            <c:dLbl>
              <c:idx val="22"/>
              <c:tx>
                <c:rich>
                  <a:bodyPr/>
                  <a:lstStyle/>
                  <a:p>
                    <a:r>
                      <a:rPr lang="en-US"/>
                      <a:t>Mainframe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3-0519-7043-91E7-EECF3C414252}"/>
                </c:ext>
              </c:extLst>
            </c:dLbl>
            <c:dLbl>
              <c:idx val="23"/>
              <c:tx>
                <c:rich>
                  <a:bodyPr/>
                  <a:lstStyle/>
                  <a:p>
                    <a:r>
                      <a:rPr lang="en-US"/>
                      <a:t>Mariadb-server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4-0519-7043-91E7-EECF3C414252}"/>
                </c:ext>
              </c:extLst>
            </c:dLbl>
            <c:dLbl>
              <c:idx val="24"/>
              <c:tx>
                <c:rich>
                  <a:bodyPr/>
                  <a:lstStyle/>
                  <a:p>
                    <a:r>
                      <a:rPr lang="en-US"/>
                      <a:t>Microsoftterminal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5-0519-7043-91E7-EECF3C414252}"/>
                </c:ext>
              </c:extLst>
            </c:dLbl>
            <c:dLbl>
              <c:idx val="25"/>
              <c:tx>
                <c:rich>
                  <a:bodyPr/>
                  <a:lstStyle/>
                  <a:p>
                    <a:r>
                      <a:rPr lang="en-US"/>
                      <a:t>Mongodb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6-0519-7043-91E7-EECF3C414252}"/>
                </c:ext>
              </c:extLst>
            </c:dLbl>
            <c:dLbl>
              <c:idx val="26"/>
              <c:tx>
                <c:rich>
                  <a:bodyPr/>
                  <a:lstStyle/>
                  <a:p>
                    <a:r>
                      <a:rPr lang="en-US"/>
                      <a:t>Mysql-server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7-0519-7043-91E7-EECF3C414252}"/>
                </c:ext>
              </c:extLst>
            </c:dLbl>
            <c:dLbl>
              <c:idx val="27"/>
              <c:tx>
                <c:rich>
                  <a:bodyPr/>
                  <a:lstStyle/>
                  <a:p>
                    <a:r>
                      <a:rPr lang="en-US"/>
                      <a:t>Nodejs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8-0519-7043-91E7-EECF3C414252}"/>
                </c:ext>
              </c:extLst>
            </c:dLbl>
            <c:dLbl>
              <c:idx val="28"/>
              <c:tx>
                <c:rich>
                  <a:bodyPr/>
                  <a:lstStyle/>
                  <a:p>
                    <a:r>
                      <a:rPr lang="en-US"/>
                      <a:t>Okhttp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9-0519-7043-91E7-EECF3C414252}"/>
                </c:ext>
              </c:extLst>
            </c:dLbl>
            <c:dLbl>
              <c:idx val="29"/>
              <c:tx>
                <c:rich>
                  <a:bodyPr/>
                  <a:lstStyle/>
                  <a:p>
                    <a:r>
                      <a:rPr lang="en-US"/>
                      <a:t>Oraclegraal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A-0519-7043-91E7-EECF3C414252}"/>
                </c:ext>
              </c:extLst>
            </c:dLbl>
            <c:dLbl>
              <c:idx val="30"/>
              <c:tx>
                <c:rich>
                  <a:bodyPr/>
                  <a:lstStyle/>
                  <a:p>
                    <a:r>
                      <a:rPr lang="en-US"/>
                      <a:t>Platform cloud 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B-0519-7043-91E7-EECF3C414252}"/>
                </c:ext>
              </c:extLst>
            </c:dLbl>
            <c:dLbl>
              <c:idx val="31"/>
              <c:tx>
                <c:rich>
                  <a:bodyPr/>
                  <a:lstStyle/>
                  <a:p>
                    <a:r>
                      <a:rPr lang="en-US"/>
                      <a:t>Postgres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C-0519-7043-91E7-EECF3C414252}"/>
                </c:ext>
              </c:extLst>
            </c:dLbl>
            <c:dLbl>
              <c:idx val="32"/>
              <c:tx>
                <c:rich>
                  <a:bodyPr/>
                  <a:lstStyle/>
                  <a:p>
                    <a:r>
                      <a:rPr lang="en-US"/>
                      <a:t>Postman-runtime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D-0519-7043-91E7-EECF3C414252}"/>
                </c:ext>
              </c:extLst>
            </c:dLbl>
            <c:dLbl>
              <c:idx val="33"/>
              <c:tx>
                <c:rich>
                  <a:bodyPr/>
                  <a:lstStyle/>
                  <a:p>
                    <a:r>
                      <a:rPr lang="en-US"/>
                      <a:t>Puppet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E-0519-7043-91E7-EECF3C414252}"/>
                </c:ext>
              </c:extLst>
            </c:dLbl>
            <c:dLbl>
              <c:idx val="34"/>
              <c:tx>
                <c:rich>
                  <a:bodyPr/>
                  <a:lstStyle/>
                  <a:p>
                    <a:r>
                      <a:rPr lang="en-US"/>
                      <a:t>Pure Aloe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F-0519-7043-91E7-EECF3C414252}"/>
                </c:ext>
              </c:extLst>
            </c:dLbl>
            <c:dLbl>
              <c:idx val="35"/>
              <c:tx>
                <c:rich>
                  <a:bodyPr/>
                  <a:lstStyle/>
                  <a:p>
                    <a:r>
                      <a:rPr lang="en-US"/>
                      <a:t>Rasa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0-0519-7043-91E7-EECF3C414252}"/>
                </c:ext>
              </c:extLst>
            </c:dLbl>
            <c:dLbl>
              <c:idx val="36"/>
              <c:tx>
                <c:rich>
                  <a:bodyPr/>
                  <a:lstStyle/>
                  <a:p>
                    <a:r>
                      <a:rPr lang="en-US"/>
                      <a:t>React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1-0519-7043-91E7-EECF3C414252}"/>
                </c:ext>
              </c:extLst>
            </c:dLbl>
            <c:dLbl>
              <c:idx val="37"/>
              <c:tx>
                <c:rich>
                  <a:bodyPr/>
                  <a:lstStyle/>
                  <a:p>
                    <a:r>
                      <a:rPr lang="en-US"/>
                      <a:t>Redis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2-0519-7043-91E7-EECF3C414252}"/>
                </c:ext>
              </c:extLst>
            </c:dLbl>
            <c:dLbl>
              <c:idx val="38"/>
              <c:tx>
                <c:rich>
                  <a:bodyPr/>
                  <a:lstStyle/>
                  <a:p>
                    <a:r>
                      <a:rPr lang="en-US"/>
                      <a:t>Roslyn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3-0519-7043-91E7-EECF3C414252}"/>
                </c:ext>
              </c:extLst>
            </c:dLbl>
            <c:dLbl>
              <c:idx val="39"/>
              <c:tx>
                <c:rich>
                  <a:bodyPr/>
                  <a:lstStyle/>
                  <a:p>
                    <a:r>
                      <a:rPr lang="en-US"/>
                      <a:t>Roslyn analyzers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4-0519-7043-91E7-EECF3C414252}"/>
                </c:ext>
              </c:extLst>
            </c:dLbl>
            <c:dLbl>
              <c:idx val="40"/>
              <c:tx>
                <c:rich>
                  <a:bodyPr/>
                  <a:lstStyle/>
                  <a:p>
                    <a:r>
                      <a:rPr lang="en-US"/>
                      <a:t>Spring-boot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5-0519-7043-91E7-EECF3C414252}"/>
                </c:ext>
              </c:extLst>
            </c:dLbl>
            <c:dLbl>
              <c:idx val="41"/>
              <c:tx>
                <c:rich>
                  <a:bodyPr/>
                  <a:lstStyle/>
                  <a:p>
                    <a:r>
                      <a:rPr lang="en-US"/>
                      <a:t>Swift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6-0519-7043-91E7-EECF3C414252}"/>
                </c:ext>
              </c:extLst>
            </c:dLbl>
            <c:dLbl>
              <c:idx val="42"/>
              <c:tx>
                <c:rich>
                  <a:bodyPr/>
                  <a:lstStyle/>
                  <a:p>
                    <a:r>
                      <a:rPr lang="en-US"/>
                      <a:t>Systemd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7-0519-7043-91E7-EECF3C414252}"/>
                </c:ext>
              </c:extLst>
            </c:dLbl>
            <c:dLbl>
              <c:idx val="43"/>
              <c:tx>
                <c:rich>
                  <a:bodyPr/>
                  <a:lstStyle/>
                  <a:p>
                    <a:r>
                      <a:rPr lang="en-US"/>
                      <a:t>Tensorflow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8-0519-7043-91E7-EECF3C414252}"/>
                </c:ext>
              </c:extLst>
            </c:dLbl>
            <c:dLbl>
              <c:idx val="44"/>
              <c:tx>
                <c:rich>
                  <a:bodyPr/>
                  <a:lstStyle/>
                  <a:p>
                    <a:r>
                      <a:rPr lang="en-US"/>
                      <a:t>Utplsql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9-0519-7043-91E7-EECF3C414252}"/>
                </c:ext>
              </c:extLst>
            </c:dLbl>
            <c:dLbl>
              <c:idx val="45"/>
              <c:tx>
                <c:rich>
                  <a:bodyPr/>
                  <a:lstStyle/>
                  <a:p>
                    <a:r>
                      <a:rPr lang="en-US"/>
                      <a:t>Visual Studio Code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A-0519-7043-91E7-EECF3C414252}"/>
                </c:ext>
              </c:extLst>
            </c:dLbl>
            <c:dLbl>
              <c:idx val="46"/>
              <c:tx>
                <c:rich>
                  <a:bodyPr/>
                  <a:lstStyle/>
                  <a:p>
                    <a:r>
                      <a:rPr lang="en-US"/>
                      <a:t>Vuejs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B-0519-7043-91E7-EECF3C414252}"/>
                </c:ext>
              </c:extLst>
            </c:dLbl>
            <c:dLbl>
              <c:idx val="47"/>
              <c:tx>
                <c:rich>
                  <a:bodyPr/>
                  <a:lstStyle/>
                  <a:p>
                    <a:r>
                      <a:rPr lang="en-US"/>
                      <a:t>Webmethods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C-0519-7043-91E7-EECF3C414252}"/>
                </c:ext>
              </c:extLst>
            </c:dLbl>
            <c:dLbl>
              <c:idx val="48"/>
              <c:tx>
                <c:rich>
                  <a:bodyPr/>
                  <a:lstStyle/>
                  <a:p>
                    <a:r>
                      <a:rPr lang="en-US"/>
                      <a:t>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D-0519-7043-91E7-EECF3C414252}"/>
                </c:ext>
              </c:extLst>
            </c:dLbl>
            <c:dLbl>
              <c:idx val="49"/>
              <c:tx>
                <c:rich>
                  <a:bodyPr/>
                  <a:lstStyle/>
                  <a:p>
                    <a:r>
                      <a:rPr lang="en-US"/>
                      <a:t>Zuul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E-0519-7043-91E7-EECF3C414252}"/>
                </c:ext>
              </c:extLst>
            </c:dLbl>
            <c:numFmt formatCode="#,##0.0" sourceLinked="0"/>
            <c:spPr>
              <a:solidFill>
                <a:schemeClr val="accent3">
                  <a:alpha val="85000"/>
                </a:schemeClr>
              </a:soli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Sheet1!$A$2:$A$51</c:f>
              <c:numCache>
                <c:formatCode>General</c:formatCode>
                <c:ptCount val="50"/>
                <c:pt idx="0">
                  <c:v>28.068333333333332</c:v>
                </c:pt>
              </c:numCache>
            </c:numRef>
          </c:xVal>
          <c:yVal>
            <c:numRef>
              <c:f>Sheet1!$B$2:$B$51</c:f>
              <c:numCache>
                <c:formatCode>General</c:formatCode>
                <c:ptCount val="50"/>
                <c:pt idx="0">
                  <c:v>2.3086110126054158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Sheet1!$C$2:$C$3</c15:f>
                <c15:dlblRangeCache>
                  <c:ptCount val="2"/>
                </c15:dlblRangeCache>
              </c15:datalabelsRange>
            </c:ext>
            <c:ext xmlns:c16="http://schemas.microsoft.com/office/drawing/2014/chart" uri="{C3380CC4-5D6E-409C-BE32-E72D297353CC}">
              <c16:uniqueId val="{00000003-B86A-D14B-85E9-B8DEC18B60F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logBase val="10"/>
          <c:orientation val="minMax"/>
          <c:max val="10000"/>
          <c:min val="0.1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#,##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080532533357349E-2"/>
          <c:y val="9.4658855447728937E-2"/>
          <c:w val="0.87463248862865584"/>
          <c:h val="0.810682289104542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/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Freshness risk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</c:v>
                </c:pt>
                <c:pt idx="1">
                  <c:v>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7C1-0A4B-BF3C-1F87FFDAFFA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/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D7C1-0A4B-BF3C-1F87FFDAFFAB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D7C1-0A4B-BF3C-1F87FFDAFFAB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D7C1-0A4B-BF3C-1F87FFDAFFAB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D7C1-0A4B-BF3C-1F87FFDAFFAB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Freshness risk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6</c:v>
                </c:pt>
                <c:pt idx="1">
                  <c:v>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D7C1-0A4B-BF3C-1F87FFDAFFA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/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D7C1-0A4B-BF3C-1F87FFDAFFAB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D7C1-0A4B-BF3C-1F87FFDAFFAB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Freshness risk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5</c:v>
                </c:pt>
                <c:pt idx="1">
                  <c:v>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D7C1-0A4B-BF3C-1F87FFDAFFA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/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Freshness risk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5</c:v>
                </c:pt>
                <c:pt idx="1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3178-A848-A9F6-D040B7E589F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</c:scaling>
        <c:delete val="1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24475308641975E-2"/>
          <c:y val="5.5420651472336685E-2"/>
          <c:w val="0.87405833333333338"/>
          <c:h val="0.6666667989039644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A49-5C45-872A-96D6CCD4895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8A49-5C45-872A-96D6CCD48952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8A49-5C45-872A-96D6CCD48952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8A49-5C45-872A-96D6CCD48952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8A49-5C45-872A-96D6CCD48952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40</c:v>
                </c:pt>
                <c:pt idx="1">
                  <c:v>79</c:v>
                </c:pt>
                <c:pt idx="2">
                  <c:v>6</c:v>
                </c:pt>
                <c:pt idx="3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8A49-5C45-872A-96D6CCD4895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8A49-5C45-872A-96D6CCD48952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8A49-5C45-872A-96D6CCD48952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18</c:v>
                </c:pt>
                <c:pt idx="1">
                  <c:v>0</c:v>
                </c:pt>
                <c:pt idx="2">
                  <c:v>0</c:v>
                </c:pt>
                <c:pt idx="3">
                  <c:v>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8A49-5C45-872A-96D6CCD4895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078F-804A-98C0-2EFA001BBAD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  <c:max val="15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89604363196085568"/>
          <c:w val="1"/>
          <c:h val="6.868868073856646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0000"/>
                  <a:lumOff val="40000"/>
                </a:schemeClr>
              </a:solidFill>
              <a:latin typeface="+mn-lt"/>
              <a:ea typeface="+mn-ea"/>
              <a:cs typeface="+mn-cs"/>
            </a:defRPr>
          </a:pPr>
          <a:endParaRPr lang="en-NL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10/29/25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10/29/25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8360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81881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7492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00915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svg"/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12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png"/><Relationship Id="rId11" Type="http://schemas.openxmlformats.org/officeDocument/2006/relationships/image" Target="../media/image14.svg"/><Relationship Id="rId5" Type="http://schemas.openxmlformats.org/officeDocument/2006/relationships/image" Target="../media/image8.sv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svg"/></Relationships>
</file>

<file path=ppt/slideLayouts/_rels/slideLayout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svg"/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12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png"/><Relationship Id="rId11" Type="http://schemas.openxmlformats.org/officeDocument/2006/relationships/image" Target="../media/image14.svg"/><Relationship Id="rId5" Type="http://schemas.openxmlformats.org/officeDocument/2006/relationships/image" Target="../media/image8.sv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lecom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6D4EE728-E82E-704D-ADEB-24FAC51A507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9833"/>
            <a:ext cx="12192000" cy="687578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1BFBDC1-0F88-404F-8878-DA6B9775F7E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93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7AF298E3-4E90-9E47-86B5-57AC257443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5414" y="2937600"/>
            <a:ext cx="8486893" cy="366712"/>
          </a:xfrm>
          <a:prstGeom prst="rect">
            <a:avLst/>
          </a:prstGeom>
        </p:spPr>
        <p:txBody>
          <a:bodyPr wrap="none"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67C6FE27-98CB-9247-98B6-B1989EF943B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35415" y="3319200"/>
            <a:ext cx="8486892" cy="344488"/>
          </a:xfrm>
          <a:prstGeom prst="rect">
            <a:avLst/>
          </a:prstGeom>
        </p:spPr>
        <p:txBody>
          <a:bodyPr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F0D60B5C-8D30-9A43-A2F0-A420A72384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576161" y="6525935"/>
            <a:ext cx="1146147" cy="257763"/>
          </a:xfrm>
          <a:prstGeom prst="rect">
            <a:avLst/>
          </a:prstGeom>
        </p:spPr>
        <p:txBody>
          <a:bodyPr wrap="none" rIns="0">
            <a:spAutoFit/>
          </a:bodyPr>
          <a:lstStyle>
            <a:lvl1pPr marL="0" indent="0" algn="r">
              <a:buNone/>
              <a:defRPr sz="1000" b="1" cap="all" baseline="0">
                <a:solidFill>
                  <a:schemeClr val="bg1"/>
                </a:solidFill>
                <a:effectLst>
                  <a:outerShdw blurRad="571500" dist="38100" dir="2700000" sx="105000" sy="105000" algn="tl" rotWithShape="0">
                    <a:schemeClr val="tx2"/>
                  </a:outerShdw>
                </a:effectLst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REPORT DATE</a:t>
            </a:r>
          </a:p>
        </p:txBody>
      </p:sp>
    </p:spTree>
    <p:extLst>
      <p:ext uri="{BB962C8B-B14F-4D97-AF65-F5344CB8AC3E}">
        <p14:creationId xmlns:p14="http://schemas.microsoft.com/office/powerpoint/2010/main" val="41823633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122E66F4-7F53-DD4A-8713-C073FB230CE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0000" y="1366268"/>
            <a:ext cx="10665667" cy="4952085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342900" indent="-3429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2BECD"/>
              </a:buClr>
              <a:buFont typeface="+mj-lt"/>
              <a:buAutoNum type="arabicPeriod"/>
              <a:defRPr lang="en-US" sz="1600" b="0" dirty="0">
                <a:solidFill>
                  <a:schemeClr val="tx2"/>
                </a:solidFill>
              </a:defRPr>
            </a:lvl1pPr>
            <a:lvl2pPr>
              <a:defRPr sz="16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600">
                <a:solidFill>
                  <a:schemeClr val="tx2"/>
                </a:solidFill>
              </a:defRPr>
            </a:lvl4pPr>
            <a:lvl5pPr>
              <a:defRPr sz="1600">
                <a:solidFill>
                  <a:schemeClr val="tx2"/>
                </a:solidFill>
              </a:defRPr>
            </a:lvl5pPr>
            <a:lvl6pPr>
              <a:defRPr sz="1600">
                <a:solidFill>
                  <a:schemeClr val="tx2"/>
                </a:solidFill>
              </a:defRPr>
            </a:lvl6pPr>
            <a:lvl7pPr>
              <a:defRPr sz="1600">
                <a:solidFill>
                  <a:schemeClr val="tx2"/>
                </a:solidFill>
              </a:defRPr>
            </a:lvl7pPr>
            <a:lvl8pPr>
              <a:defRPr sz="1600">
                <a:solidFill>
                  <a:schemeClr val="tx2"/>
                </a:solidFill>
              </a:defRPr>
            </a:lvl8pPr>
          </a:lstStyle>
          <a:p>
            <a:pPr marL="342900" indent="-342900">
              <a:lnSpc>
                <a:spcPct val="114000"/>
              </a:lnSpc>
              <a:buClr>
                <a:srgbClr val="9FABB6"/>
              </a:buClr>
              <a:buFont typeface="+mj-lt"/>
              <a:buAutoNum type="arabicPeriod"/>
            </a:pPr>
            <a:r>
              <a:rPr lang="en-US" dirty="0"/>
              <a:t>Insert sections (make bold to highlight sections)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0DD217-089D-C949-BCCE-0C2D8196FA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B4138DB0-ED82-C84A-8589-E27E32B9B5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>
              <a:defRPr lang="en-US" sz="1000" b="1" spc="10" dirty="0">
                <a:solidFill>
                  <a:srgbClr val="B3BECD"/>
                </a:solidFill>
              </a:defRPr>
            </a:lvl1pPr>
          </a:lstStyle>
          <a:p>
            <a:r>
              <a:rPr lang="en-US"/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0F7AAF3-E03F-F445-84B7-DEC6FD5CC0B8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48F36FC-ED84-CE49-90C1-FB88EDBAE7F2}"/>
              </a:ext>
            </a:extLst>
          </p:cNvPr>
          <p:cNvSpPr/>
          <p:nvPr userDrawn="1"/>
        </p:nvSpPr>
        <p:spPr>
          <a:xfrm>
            <a:off x="1526401" y="0"/>
            <a:ext cx="10665600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smtClean="0"/>
              <a:pPr/>
              <a:t>‹#›</a:t>
            </a:fld>
            <a:endParaRPr dirty="0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3A2DC225-29A5-1C4E-85B1-B1B58619FC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D37A1B97-F536-DA40-9B5F-C768D92CAC7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0000" y="1366268"/>
            <a:ext cx="10665667" cy="4952085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342900" indent="-3429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2BECD"/>
              </a:buClr>
              <a:buFont typeface="+mj-lt"/>
              <a:buAutoNum type="arabicPeriod"/>
              <a:defRPr lang="en-US" sz="1600" b="0" dirty="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600">
                <a:solidFill>
                  <a:schemeClr val="bg1"/>
                </a:solidFill>
              </a:defRPr>
            </a:lvl4pPr>
            <a:lvl5pPr>
              <a:defRPr sz="1600">
                <a:solidFill>
                  <a:schemeClr val="bg1"/>
                </a:solidFill>
              </a:defRPr>
            </a:lvl5pPr>
            <a:lvl6pPr>
              <a:defRPr sz="1600">
                <a:solidFill>
                  <a:schemeClr val="bg1"/>
                </a:solidFill>
              </a:defRPr>
            </a:lvl6pPr>
            <a:lvl7pPr>
              <a:defRPr sz="1600">
                <a:solidFill>
                  <a:schemeClr val="bg1"/>
                </a:solidFill>
              </a:defRPr>
            </a:lvl7pPr>
            <a:lvl8pPr>
              <a:defRPr sz="1600">
                <a:solidFill>
                  <a:schemeClr val="bg1"/>
                </a:solidFill>
              </a:defRPr>
            </a:lvl8pPr>
          </a:lstStyle>
          <a:p>
            <a:pPr marL="342900" indent="-342900">
              <a:lnSpc>
                <a:spcPct val="114000"/>
              </a:lnSpc>
              <a:buClr>
                <a:srgbClr val="9FABB6"/>
              </a:buClr>
              <a:buFont typeface="+mj-lt"/>
              <a:buAutoNum type="arabicPeriod"/>
            </a:pPr>
            <a:r>
              <a:rPr lang="en-US" dirty="0"/>
              <a:t>Insert sections (make bold to highlight sections)</a:t>
            </a:r>
          </a:p>
        </p:txBody>
      </p:sp>
    </p:spTree>
    <p:extLst>
      <p:ext uri="{BB962C8B-B14F-4D97-AF65-F5344CB8AC3E}">
        <p14:creationId xmlns:p14="http://schemas.microsoft.com/office/powerpoint/2010/main" val="35692078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460373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-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0DD217-089D-C949-BCCE-0C2D8196FA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606E028-6F75-5A40-AE18-EB44D4BC81AB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24990303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734875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0">
                <a:srgbClr val="AA98C4"/>
              </a:gs>
              <a:gs pos="0">
                <a:srgbClr val="576BAA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062C32F-BF79-8E4D-80C7-A236088BE3DC}"/>
              </a:ext>
            </a:extLst>
          </p:cNvPr>
          <p:cNvSpPr/>
          <p:nvPr userDrawn="1"/>
        </p:nvSpPr>
        <p:spPr>
          <a:xfrm>
            <a:off x="-230588" y="385969"/>
            <a:ext cx="12730038" cy="7310231"/>
          </a:xfrm>
          <a:prstGeom prst="ellipse">
            <a:avLst/>
          </a:prstGeom>
          <a:gradFill flip="none" rotWithShape="1">
            <a:gsLst>
              <a:gs pos="100000">
                <a:schemeClr val="bg1">
                  <a:alpha val="0"/>
                </a:schemeClr>
              </a:gs>
              <a:gs pos="45000">
                <a:srgbClr val="FFFFFF">
                  <a:alpha val="15000"/>
                </a:srgbClr>
              </a:gs>
              <a:gs pos="0">
                <a:schemeClr val="bg1">
                  <a:alpha val="57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5B5964A-85C4-E845-8FF0-BCE54011F8F7}"/>
              </a:ext>
            </a:extLst>
          </p:cNvPr>
          <p:cNvSpPr/>
          <p:nvPr userDrawn="1"/>
        </p:nvSpPr>
        <p:spPr>
          <a:xfrm>
            <a:off x="0" y="-4586"/>
            <a:ext cx="12192000" cy="6858000"/>
          </a:xfrm>
          <a:prstGeom prst="rect">
            <a:avLst/>
          </a:prstGeom>
          <a:gradFill>
            <a:gsLst>
              <a:gs pos="100000">
                <a:srgbClr val="576BAA">
                  <a:alpha val="45000"/>
                </a:srgbClr>
              </a:gs>
              <a:gs pos="50000">
                <a:srgbClr val="AA98C4">
                  <a:alpha val="0"/>
                </a:srgbClr>
              </a:gs>
              <a:gs pos="0">
                <a:srgbClr val="576BAA">
                  <a:alpha val="65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chemeClr val="bg1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048214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ark with graphic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F570A5C-1465-F949-AFD7-E381D9043B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24000">
                <a:schemeClr val="tx2">
                  <a:alpha val="80000"/>
                </a:schemeClr>
              </a:gs>
              <a:gs pos="0">
                <a:schemeClr val="tx2">
                  <a:alpha val="74000"/>
                </a:schemeClr>
              </a:gs>
              <a:gs pos="93000">
                <a:schemeClr val="tx2">
                  <a:alpha val="25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44">
              <a:solidFill>
                <a:schemeClr val="accent2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9FB5ABF-597D-DA40-9F8B-5743780B79A1}"/>
              </a:ext>
            </a:extLst>
          </p:cNvPr>
          <p:cNvSpPr/>
          <p:nvPr userDrawn="1"/>
        </p:nvSpPr>
        <p:spPr>
          <a:xfrm>
            <a:off x="0" y="1720892"/>
            <a:ext cx="12192000" cy="5145061"/>
          </a:xfrm>
          <a:prstGeom prst="rect">
            <a:avLst/>
          </a:prstGeom>
          <a:gradFill>
            <a:gsLst>
              <a:gs pos="46000">
                <a:schemeClr val="accent2">
                  <a:alpha val="0"/>
                </a:schemeClr>
              </a:gs>
              <a:gs pos="100000">
                <a:srgbClr val="DFC101">
                  <a:alpha val="32000"/>
                </a:srgbClr>
              </a:gs>
              <a:gs pos="82000">
                <a:schemeClr val="accent2">
                  <a:alpha val="1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5912" tIns="57275" rIns="85912" bIns="57275" rtlCol="0" anchor="t"/>
          <a:lstStyle/>
          <a:p>
            <a:pPr algn="l"/>
            <a:endParaRPr lang="en-US" sz="1273" dirty="0" err="1">
              <a:solidFill>
                <a:schemeClr val="bg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0B229FA-CC1D-8949-846A-2C092B3B817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F1029506-2B22-D540-9093-4B18C0BD13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4543FC0-FA8A-4842-8FC2-F203AF9029D4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B0B6AD95-6CA1-134E-A06C-BEECADF70E0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EC2317AA-E47D-1A45-A701-485ECFFE29F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B399D4FA-CC06-BB46-A0F0-A490F2F2218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8475046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reversed colo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401" y="0"/>
            <a:ext cx="10665600" cy="856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880141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C0CA7ACA-36F1-CC4B-B88F-E30BC3BB7F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70E661-2568-014D-9679-50866771DD38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5E177DEE-B705-3E43-89AC-7B3420354C3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17FC6343-20BF-144E-82D5-AAFFD46B94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21934A-DE0A-C841-9479-688B6BBD6022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50" y="1366838"/>
            <a:ext cx="5421313" cy="4950149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0DA720B1-8ADB-B746-A933-6029EBDCC50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345667" y="1366837"/>
            <a:ext cx="5421313" cy="495015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9905615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contra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602F3CE-3A89-6048-9903-A3ECEDE9519E}"/>
              </a:ext>
            </a:extLst>
          </p:cNvPr>
          <p:cNvSpPr/>
          <p:nvPr userDrawn="1"/>
        </p:nvSpPr>
        <p:spPr>
          <a:xfrm>
            <a:off x="6092456" y="857977"/>
            <a:ext cx="6099544" cy="600954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A4A2A52-2842-B847-AEC4-CBD2BA3484C4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49C73C1F-AEDD-7D45-8181-915FDFA1014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E9CA1143-6585-1C41-BCC0-F6D86454877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3655483-73D5-1842-B980-1CB68BC0E61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50" y="1366838"/>
            <a:ext cx="5421313" cy="4950149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DC502811-F846-1F49-AD36-092A6CA4C35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345667" y="1366837"/>
            <a:ext cx="5421313" cy="495015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33317707-F6BD-BC43-AFE4-EF3A58BA0D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5944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B487C9-ECA1-B54D-8C96-3D8551EC5901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FA66B3B-E195-4A46-97EC-4F5B8E0BC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3163FBFA-31D9-6B47-A169-FE02B1144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7C84D26-9EDC-F949-AC1A-A72B1BBE389A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5304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8" name="Content Placeholder 4">
            <a:extLst>
              <a:ext uri="{FF2B5EF4-FFF2-40B4-BE49-F238E27FC236}">
                <a16:creationId xmlns:a16="http://schemas.microsoft.com/office/drawing/2014/main" id="{3817169C-C0BF-0A40-9984-FECFBA08563F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332642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6FEB4DC9-D693-9443-81DF-3152226B1930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197449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45A2829-FFCA-D14F-91DA-F2D5FAE26F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26539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B487C9-ECA1-B54D-8C96-3D8551EC5901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FA66B3B-E195-4A46-97EC-4F5B8E0BC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3163FBFA-31D9-6B47-A169-FE02B1144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3A7E353-A588-4F4A-90F0-66ACD5821690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8218715" y="1366988"/>
            <a:ext cx="3526952" cy="4950000"/>
          </a:xfrm>
          <a:prstGeom prst="rect">
            <a:avLst/>
          </a:prstGeom>
        </p:spPr>
        <p:txBody>
          <a:bodyPr wrap="square" lIns="0" rIns="0" bIns="46800" anchor="ctr"/>
          <a:lstStyle>
            <a:lvl1pPr marL="0" indent="0" algn="ctr">
              <a:buNone/>
              <a:defRPr lang="en-US" sz="1400" b="0">
                <a:solidFill>
                  <a:schemeClr val="tx2"/>
                </a:solidFill>
              </a:defRPr>
            </a:lvl1pPr>
          </a:lstStyle>
          <a:p>
            <a:pPr marL="228600" lvl="0" indent="-228600">
              <a:lnSpc>
                <a:spcPct val="114000"/>
              </a:lnSpc>
            </a:pPr>
            <a:r>
              <a:rPr lang="en-US" dirty="0"/>
              <a:t>Insert a picture here. </a:t>
            </a:r>
            <a:br>
              <a:rPr lang="en-US" dirty="0"/>
            </a:br>
            <a:r>
              <a:rPr lang="en-US" dirty="0"/>
              <a:t>The picture will be cropped to placeholder.</a:t>
            </a:r>
            <a:br>
              <a:rPr lang="en-US" dirty="0"/>
            </a:br>
            <a:r>
              <a:rPr lang="en-US" dirty="0"/>
              <a:t>The position can be set via picture settings.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0930E766-BD21-724F-ADBE-C3AA43F4CD87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5304" y="1366988"/>
            <a:ext cx="3548218" cy="495000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3" name="Content Placeholder 4">
            <a:extLst>
              <a:ext uri="{FF2B5EF4-FFF2-40B4-BE49-F238E27FC236}">
                <a16:creationId xmlns:a16="http://schemas.microsoft.com/office/drawing/2014/main" id="{F11B0C39-D009-B544-B7E4-F06D9BA4A5A7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332642" y="1366988"/>
            <a:ext cx="3548218" cy="495000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D44F31D-ED30-0B48-8DF3-597B351FA8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53119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5A208878-2260-3E4C-BBF0-1ABC5DE85308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218713" y="1366988"/>
            <a:ext cx="3526953" cy="4951412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1400" b="0" i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Insert a picture here. </a:t>
            </a:r>
            <a:br>
              <a:rPr lang="en-US" dirty="0"/>
            </a:br>
            <a:r>
              <a:rPr lang="en-US" dirty="0"/>
              <a:t>The picture will be cropped to placeholder size.</a:t>
            </a:r>
            <a:br>
              <a:rPr lang="en-US" dirty="0"/>
            </a:br>
            <a:r>
              <a:rPr lang="en-US" dirty="0"/>
              <a:t>The position can be set via picture settings.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E2F1FF5-0CB8-5244-87C9-8C167EB6734D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8289E72B-8537-DA46-B51A-1764BAD1100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DCAD90D6-8AB2-DE4E-A1B2-D53B38CD25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61AE6A-17BD-3C43-B24D-A3D22CFBB4AC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7345113" cy="4951412"/>
          </a:xfrm>
        </p:spPr>
        <p:txBody>
          <a:bodyPr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A1EFC51B-F0FA-CF4B-AC2A-30474AC390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7839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 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E4B9930-CD1C-CA44-8C43-D95C6097D120}"/>
              </a:ext>
            </a:extLst>
          </p:cNvPr>
          <p:cNvSpPr/>
          <p:nvPr userDrawn="1"/>
        </p:nvSpPr>
        <p:spPr>
          <a:xfrm>
            <a:off x="4989841" y="5698067"/>
            <a:ext cx="7202159" cy="1159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A564C0-5D9C-5145-B29A-05DCBD35ED69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F98EE3B-D03A-DD43-A8E2-3C5AB37DAA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393E49-A939-1E42-9494-C19B9F24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01FCD5-EE6E-3543-8FD5-9B4F7C1A74C1}"/>
              </a:ext>
            </a:extLst>
          </p:cNvPr>
          <p:cNvSpPr/>
          <p:nvPr userDrawn="1"/>
        </p:nvSpPr>
        <p:spPr>
          <a:xfrm>
            <a:off x="0" y="5505561"/>
            <a:ext cx="4253241" cy="7867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ECB82676-C1C3-D348-AF83-1EF35EDE36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83832" y="5908297"/>
            <a:ext cx="984550" cy="199737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IIIII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835C75AB-59F9-834C-8767-A3EB61616D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34754" y="5695488"/>
            <a:ext cx="482705" cy="198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#.#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430E3A36-E8DA-6C49-9EB1-E22666F652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4373" y="5798438"/>
            <a:ext cx="2397600" cy="223200"/>
          </a:xfrm>
          <a:prstGeom prst="rect">
            <a:avLst/>
          </a:prstGeom>
          <a:noFill/>
        </p:spPr>
        <p:txBody>
          <a:bodyPr wrap="square" lIns="0" tIns="0" rIns="90000" bIns="0" anchor="ctr">
            <a:spAutoFit/>
          </a:bodyPr>
          <a:lstStyle>
            <a:lvl1pPr marL="0" indent="0" algn="l">
              <a:lnSpc>
                <a:spcPct val="90000"/>
              </a:lnSpc>
              <a:buNone/>
              <a:defRPr sz="1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metric name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5AD301B-75B6-8D48-80C0-A4199B9A02BF}"/>
              </a:ext>
            </a:extLst>
          </p:cNvPr>
          <p:cNvSpPr/>
          <p:nvPr userDrawn="1"/>
        </p:nvSpPr>
        <p:spPr>
          <a:xfrm>
            <a:off x="2517735" y="859129"/>
            <a:ext cx="1721491" cy="4674369"/>
          </a:xfrm>
          <a:prstGeom prst="rect">
            <a:avLst/>
          </a:prstGeom>
          <a:gradFill>
            <a:gsLst>
              <a:gs pos="10000">
                <a:srgbClr val="AFB9C2">
                  <a:alpha val="1000"/>
                </a:srgbClr>
              </a:gs>
              <a:gs pos="90000">
                <a:srgbClr val="AFB9C2">
                  <a:alpha val="0"/>
                </a:srgbClr>
              </a:gs>
              <a:gs pos="50000">
                <a:srgbClr val="AFB9C2">
                  <a:alpha val="25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3E1BDCF-5BFE-FE49-A911-63130C874BA0}"/>
              </a:ext>
            </a:extLst>
          </p:cNvPr>
          <p:cNvSpPr/>
          <p:nvPr userDrawn="1"/>
        </p:nvSpPr>
        <p:spPr>
          <a:xfrm>
            <a:off x="2515428" y="860920"/>
            <a:ext cx="1715709" cy="4644640"/>
          </a:xfrm>
          <a:prstGeom prst="rect">
            <a:avLst/>
          </a:prstGeom>
          <a:gradFill>
            <a:gsLst>
              <a:gs pos="0">
                <a:schemeClr val="bg2"/>
              </a:gs>
              <a:gs pos="10000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7677BE5-1E8F-1041-94D8-7FE480E767C2}"/>
              </a:ext>
            </a:extLst>
          </p:cNvPr>
          <p:cNvCxnSpPr>
            <a:cxnSpLocks/>
          </p:cNvCxnSpPr>
          <p:nvPr userDrawn="1"/>
        </p:nvCxnSpPr>
        <p:spPr>
          <a:xfrm>
            <a:off x="4246367" y="1366988"/>
            <a:ext cx="0" cy="4025055"/>
          </a:xfrm>
          <a:prstGeom prst="line">
            <a:avLst/>
          </a:prstGeom>
          <a:ln w="19050">
            <a:solidFill>
              <a:srgbClr val="AFB9C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FAF313A3-FEEC-CE41-9CC2-83C432778B2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27221" y="5734485"/>
            <a:ext cx="466644" cy="1593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buNone/>
              <a:defRPr sz="1200" b="0">
                <a:solidFill>
                  <a:srgbClr val="B2BECD"/>
                </a:solidFill>
              </a:defRPr>
            </a:lvl1pPr>
          </a:lstStyle>
          <a:p>
            <a:pPr lvl="0"/>
            <a:r>
              <a:rPr lang="en-US" dirty="0"/>
              <a:t>+-#.##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D34E09-B672-CF47-8451-5270CB616A87}"/>
              </a:ext>
            </a:extLst>
          </p:cNvPr>
          <p:cNvSpPr/>
          <p:nvPr userDrawn="1"/>
        </p:nvSpPr>
        <p:spPr>
          <a:xfrm>
            <a:off x="4255741" y="5505560"/>
            <a:ext cx="7936259" cy="503364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B80F2-D674-0E4C-842B-7A30702B1C06}"/>
              </a:ext>
            </a:extLst>
          </p:cNvPr>
          <p:cNvSpPr/>
          <p:nvPr userDrawn="1"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3F50C4B-7039-1045-AB59-6FDD08E2573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3354895" cy="3954086"/>
          </a:xfrm>
        </p:spPr>
        <p:txBody>
          <a:bodyPr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C4B0E93E-75EE-6A4B-8272-3D8D30E3A8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86434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 overview - Qualit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E4B9930-CD1C-CA44-8C43-D95C6097D120}"/>
              </a:ext>
            </a:extLst>
          </p:cNvPr>
          <p:cNvSpPr/>
          <p:nvPr userDrawn="1"/>
        </p:nvSpPr>
        <p:spPr>
          <a:xfrm>
            <a:off x="4989841" y="5698067"/>
            <a:ext cx="7202159" cy="1159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A564C0-5D9C-5145-B29A-05DCBD35ED69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F98EE3B-D03A-DD43-A8E2-3C5AB37DAA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393E49-A939-1E42-9494-C19B9F24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01FCD5-EE6E-3543-8FD5-9B4F7C1A74C1}"/>
              </a:ext>
            </a:extLst>
          </p:cNvPr>
          <p:cNvSpPr/>
          <p:nvPr userDrawn="1"/>
        </p:nvSpPr>
        <p:spPr>
          <a:xfrm>
            <a:off x="0" y="5505561"/>
            <a:ext cx="4253241" cy="7867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ECB82676-C1C3-D348-AF83-1EF35EDE36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83832" y="5908297"/>
            <a:ext cx="984550" cy="199737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IIIII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835C75AB-59F9-834C-8767-A3EB61616D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34754" y="5695488"/>
            <a:ext cx="482705" cy="198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#.#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430E3A36-E8DA-6C49-9EB1-E22666F652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4373" y="5799858"/>
            <a:ext cx="2397600" cy="223200"/>
          </a:xfrm>
          <a:prstGeom prst="rect">
            <a:avLst/>
          </a:prstGeom>
          <a:noFill/>
        </p:spPr>
        <p:txBody>
          <a:bodyPr vert="horz" wrap="square" lIns="0" tIns="0" rIns="90000" bIns="0" rtlCol="0" anchor="ctr">
            <a:spAutoFit/>
          </a:bodyPr>
          <a:lstStyle>
            <a:lvl1pPr marL="0" indent="0">
              <a:lnSpc>
                <a:spcPct val="90000"/>
              </a:lnSpc>
              <a:buNone/>
              <a:defRPr lang="en-US" b="1" dirty="0">
                <a:solidFill>
                  <a:schemeClr val="bg1"/>
                </a:solidFill>
              </a:defRPr>
            </a:lvl1pPr>
          </a:lstStyle>
          <a:p>
            <a:pPr marL="285750" lvl="0" indent="-285750"/>
            <a:r>
              <a:rPr lang="en-US" dirty="0"/>
              <a:t>metric name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7677BE5-1E8F-1041-94D8-7FE480E767C2}"/>
              </a:ext>
            </a:extLst>
          </p:cNvPr>
          <p:cNvCxnSpPr>
            <a:cxnSpLocks/>
          </p:cNvCxnSpPr>
          <p:nvPr userDrawn="1"/>
        </p:nvCxnSpPr>
        <p:spPr>
          <a:xfrm>
            <a:off x="522333" y="1488831"/>
            <a:ext cx="0" cy="3903212"/>
          </a:xfrm>
          <a:prstGeom prst="line">
            <a:avLst/>
          </a:prstGeom>
          <a:ln w="19050">
            <a:solidFill>
              <a:srgbClr val="AFB9C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FAF313A3-FEEC-CE41-9CC2-83C432778B2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27221" y="5734485"/>
            <a:ext cx="466644" cy="1593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buNone/>
              <a:defRPr sz="1200" b="0">
                <a:solidFill>
                  <a:srgbClr val="B2BECD"/>
                </a:solidFill>
              </a:defRPr>
            </a:lvl1pPr>
          </a:lstStyle>
          <a:p>
            <a:pPr lvl="0"/>
            <a:r>
              <a:rPr lang="en-US" dirty="0"/>
              <a:t>+-#.##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D34E09-B672-CF47-8451-5270CB616A87}"/>
              </a:ext>
            </a:extLst>
          </p:cNvPr>
          <p:cNvSpPr/>
          <p:nvPr userDrawn="1"/>
        </p:nvSpPr>
        <p:spPr>
          <a:xfrm>
            <a:off x="4255741" y="5505560"/>
            <a:ext cx="7936259" cy="503364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B80F2-D674-0E4C-842B-7A30702B1C06}"/>
              </a:ext>
            </a:extLst>
          </p:cNvPr>
          <p:cNvSpPr/>
          <p:nvPr userDrawn="1"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3F50C4B-7039-1045-AB59-6FDD08E2573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11231295" cy="3954086"/>
          </a:xfrm>
        </p:spPr>
        <p:txBody>
          <a:bodyPr lIns="18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7F9FF7DA-17F8-2241-8F5E-D615FB44FF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5286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page gener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F570A5C-1465-F949-AFD7-E381D9043B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0565017-894C-E344-A8B5-B1F451E1E1C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200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35" name="Text Placeholder 2">
            <a:extLst>
              <a:ext uri="{FF2B5EF4-FFF2-40B4-BE49-F238E27FC236}">
                <a16:creationId xmlns:a16="http://schemas.microsoft.com/office/drawing/2014/main" id="{EA732E99-E093-BA43-9D65-ED4C138D063D}"/>
              </a:ext>
            </a:extLst>
          </p:cNvPr>
          <p:cNvSpPr txBox="1">
            <a:spLocks/>
          </p:cNvSpPr>
          <p:nvPr userDrawn="1"/>
        </p:nvSpPr>
        <p:spPr>
          <a:xfrm>
            <a:off x="1869429" y="1504098"/>
            <a:ext cx="2881289" cy="216792"/>
          </a:xfrm>
          <a:prstGeom prst="rect">
            <a:avLst/>
          </a:prstGeom>
        </p:spPr>
        <p:txBody>
          <a:bodyPr wrap="square" tIns="0" bIns="0" anchor="t">
            <a:noAutofit/>
          </a:bodyPr>
          <a:lstStyle>
            <a:defPPr>
              <a:defRPr lang="en-US"/>
            </a:defPPr>
            <a:lvl1pPr marL="228600" lvl="0" indent="-228600">
              <a:lnSpc>
                <a:spcPct val="80000"/>
              </a:lnSpc>
              <a:spcBef>
                <a:spcPts val="1000"/>
              </a:spcBef>
              <a:buFont typeface="Arial"/>
              <a:buNone/>
              <a:defRPr sz="2000" b="0">
                <a:solidFill>
                  <a:srgbClr val="AFB9C2"/>
                </a:solidFill>
                <a:ea typeface="TheSans B6 SemiBold" charset="0"/>
                <a:cs typeface="TheSans B6 SemiBold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9pPr>
          </a:lstStyle>
          <a:p>
            <a:pPr lvl="0" algn="l"/>
            <a:r>
              <a:rPr lang="en-US" sz="2400" b="1" i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Presented </a:t>
            </a:r>
            <a:r>
              <a:rPr lang="en-US" sz="2400" b="0" i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by</a:t>
            </a:r>
            <a:endParaRPr lang="en-US" sz="2400" b="1" i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A240597-FB20-6A42-8EA6-4B770828805B}"/>
              </a:ext>
            </a:extLst>
          </p:cNvPr>
          <p:cNvSpPr/>
          <p:nvPr userDrawn="1"/>
        </p:nvSpPr>
        <p:spPr>
          <a:xfrm>
            <a:off x="6096000" y="853201"/>
            <a:ext cx="6095999" cy="6012750"/>
          </a:xfrm>
          <a:prstGeom prst="rect">
            <a:avLst/>
          </a:prstGeom>
          <a:gradFill>
            <a:gsLst>
              <a:gs pos="0">
                <a:srgbClr val="DFC101"/>
              </a:gs>
              <a:gs pos="30000">
                <a:schemeClr val="accent2">
                  <a:alpha val="85000"/>
                </a:schemeClr>
              </a:gs>
              <a:gs pos="100000">
                <a:schemeClr val="accent2">
                  <a:alpha val="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F12D71D-5C15-3F47-9ACB-1C4A8CF8A4B8}"/>
              </a:ext>
            </a:extLst>
          </p:cNvPr>
          <p:cNvCxnSpPr/>
          <p:nvPr userDrawn="1"/>
        </p:nvCxnSpPr>
        <p:spPr>
          <a:xfrm>
            <a:off x="6096000" y="853201"/>
            <a:ext cx="0" cy="4067142"/>
          </a:xfrm>
          <a:prstGeom prst="line">
            <a:avLst/>
          </a:prstGeom>
          <a:ln w="15875">
            <a:gradFill>
              <a:gsLst>
                <a:gs pos="19000">
                  <a:schemeClr val="accent2"/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780D622-8466-B04C-8DFD-B730E797EA3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935666" y="219527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45" name="Text Placeholder 7">
            <a:extLst>
              <a:ext uri="{FF2B5EF4-FFF2-40B4-BE49-F238E27FC236}">
                <a16:creationId xmlns:a16="http://schemas.microsoft.com/office/drawing/2014/main" id="{56FEDB43-2B74-1B40-B33C-A25AAD8DD99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935666" y="38088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47" name="Text Placeholder 10">
            <a:extLst>
              <a:ext uri="{FF2B5EF4-FFF2-40B4-BE49-F238E27FC236}">
                <a16:creationId xmlns:a16="http://schemas.microsoft.com/office/drawing/2014/main" id="{18E3A589-B95B-D14B-8B35-827248735BAF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935666" y="40788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8FBC5404-48F5-3F4D-9830-C71054E22120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935666" y="2663507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9" name="Text Placeholder 7">
            <a:extLst>
              <a:ext uri="{FF2B5EF4-FFF2-40B4-BE49-F238E27FC236}">
                <a16:creationId xmlns:a16="http://schemas.microsoft.com/office/drawing/2014/main" id="{2B2F3057-76A4-6B43-818A-38CCFBF40B3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935666" y="3000701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6F444726-1D68-A94E-B387-A55930D429B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935666" y="3468938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53" name="Text Placeholder 7">
            <a:extLst>
              <a:ext uri="{FF2B5EF4-FFF2-40B4-BE49-F238E27FC236}">
                <a16:creationId xmlns:a16="http://schemas.microsoft.com/office/drawing/2014/main" id="{013CFE9D-2F23-0946-B34E-FF8D67DEBB02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935666" y="46152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6" name="Text Placeholder 10">
            <a:extLst>
              <a:ext uri="{FF2B5EF4-FFF2-40B4-BE49-F238E27FC236}">
                <a16:creationId xmlns:a16="http://schemas.microsoft.com/office/drawing/2014/main" id="{CAEE56BA-F636-814A-A890-4BBAAE750F46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935666" y="48852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57" name="Text Placeholder 7">
            <a:extLst>
              <a:ext uri="{FF2B5EF4-FFF2-40B4-BE49-F238E27FC236}">
                <a16:creationId xmlns:a16="http://schemas.microsoft.com/office/drawing/2014/main" id="{9813E48C-419C-714D-8526-2AA43F81E71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935666" y="54216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8" name="Text Placeholder 10">
            <a:extLst>
              <a:ext uri="{FF2B5EF4-FFF2-40B4-BE49-F238E27FC236}">
                <a16:creationId xmlns:a16="http://schemas.microsoft.com/office/drawing/2014/main" id="{4D4FD237-047E-9B4E-8E24-7614DA39C6D7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935666" y="56916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5D1CEA7-9339-3848-B2B0-9A6116B9924B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935665" y="2464345"/>
            <a:ext cx="3691928" cy="201426"/>
          </a:xfrm>
        </p:spPr>
        <p:txBody>
          <a:bodyPr vert="horz" wrap="none" lIns="0" tIns="0" rIns="0" bIns="0" rtlCol="0">
            <a:noAutofit/>
          </a:bodyPr>
          <a:lstStyle>
            <a:lvl1pPr marL="0" indent="0">
              <a:buNone/>
              <a:defRPr lang="en-US" sz="1400" dirty="0">
                <a:solidFill>
                  <a:srgbClr val="B3BECD"/>
                </a:solidFill>
              </a:defRPr>
            </a:lvl1pPr>
          </a:lstStyle>
          <a:p>
            <a:pPr marL="285750" lvl="0" indent="-285750"/>
            <a:r>
              <a:rPr lang="en-US" dirty="0"/>
              <a:t>Title</a:t>
            </a:r>
          </a:p>
        </p:txBody>
      </p:sp>
      <p:sp>
        <p:nvSpPr>
          <p:cNvPr id="39" name="Text Placeholder 5">
            <a:extLst>
              <a:ext uri="{FF2B5EF4-FFF2-40B4-BE49-F238E27FC236}">
                <a16:creationId xmlns:a16="http://schemas.microsoft.com/office/drawing/2014/main" id="{6C3551FB-2F8C-B345-A30C-01137E5F3115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935665" y="3265605"/>
            <a:ext cx="3691928" cy="201426"/>
          </a:xfrm>
        </p:spPr>
        <p:txBody>
          <a:bodyPr vert="horz" wrap="none" lIns="0" tIns="0" rIns="0" bIns="0" rtlCol="0">
            <a:noAutofit/>
          </a:bodyPr>
          <a:lstStyle>
            <a:lvl1pPr marL="0" indent="0">
              <a:buNone/>
              <a:defRPr lang="en-US" sz="1400" dirty="0">
                <a:solidFill>
                  <a:srgbClr val="B3BECD"/>
                </a:solidFill>
              </a:defRPr>
            </a:lvl1pPr>
          </a:lstStyle>
          <a:p>
            <a:pPr marL="285750" lvl="0" indent="-285750"/>
            <a:r>
              <a:rPr lang="en-US" dirty="0"/>
              <a:t>Title</a:t>
            </a:r>
          </a:p>
        </p:txBody>
      </p:sp>
      <p:sp>
        <p:nvSpPr>
          <p:cNvPr id="40" name="Text Placeholder 10">
            <a:extLst>
              <a:ext uri="{FF2B5EF4-FFF2-40B4-BE49-F238E27FC236}">
                <a16:creationId xmlns:a16="http://schemas.microsoft.com/office/drawing/2014/main" id="{AAEDB36D-8075-864A-96B7-0874A127938B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935666" y="42768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1" name="Text Placeholder 10">
            <a:extLst>
              <a:ext uri="{FF2B5EF4-FFF2-40B4-BE49-F238E27FC236}">
                <a16:creationId xmlns:a16="http://schemas.microsoft.com/office/drawing/2014/main" id="{EB7E0FE4-1626-7944-B91A-5691F585869E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935666" y="50832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2" name="Text Placeholder 10">
            <a:extLst>
              <a:ext uri="{FF2B5EF4-FFF2-40B4-BE49-F238E27FC236}">
                <a16:creationId xmlns:a16="http://schemas.microsoft.com/office/drawing/2014/main" id="{14A15AB8-FF15-5A48-948F-7B9B55B0F0D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935666" y="58896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3" name="Slide Number Placeholder 5">
            <a:extLst>
              <a:ext uri="{FF2B5EF4-FFF2-40B4-BE49-F238E27FC236}">
                <a16:creationId xmlns:a16="http://schemas.microsoft.com/office/drawing/2014/main" id="{B688E3D0-C02A-B94C-A130-548294B8EE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chemeClr val="bg1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4806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ck cover Defaul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9B226EB-715A-5F46-819A-D97E866136E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0"/>
            <a:ext cx="12192001" cy="686890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F796445-AFA9-D44D-80A5-7B00312D6B1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2392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Five levels – Maintainabili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91389AAB-7EAB-2BCE-EF27-38E7BCB93625}"/>
              </a:ext>
            </a:extLst>
          </p:cNvPr>
          <p:cNvSpPr/>
          <p:nvPr userDrawn="1"/>
        </p:nvSpPr>
        <p:spPr>
          <a:xfrm>
            <a:off x="540685" y="2101058"/>
            <a:ext cx="11068220" cy="776335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err="1">
              <a:solidFill>
                <a:schemeClr val="bg1"/>
              </a:solidFill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5BF13346-4B42-9F09-0053-A9BED105047A}"/>
              </a:ext>
            </a:extLst>
          </p:cNvPr>
          <p:cNvSpPr/>
          <p:nvPr userDrawn="1"/>
        </p:nvSpPr>
        <p:spPr>
          <a:xfrm>
            <a:off x="525694" y="2026652"/>
            <a:ext cx="11098199" cy="853915"/>
          </a:xfrm>
          <a:prstGeom prst="rect">
            <a:avLst/>
          </a:prstGeom>
          <a:gradFill>
            <a:gsLst>
              <a:gs pos="90000">
                <a:srgbClr val="F7F9FC">
                  <a:alpha val="0"/>
                </a:srgbClr>
              </a:gs>
              <a:gs pos="11000">
                <a:schemeClr val="bg2">
                  <a:alpha val="0"/>
                </a:schemeClr>
              </a:gs>
              <a:gs pos="3000">
                <a:schemeClr val="bg2"/>
              </a:gs>
              <a:gs pos="97000">
                <a:schemeClr val="bg2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err="1">
              <a:solidFill>
                <a:schemeClr val="bg1"/>
              </a:solidFill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81C024B4-A888-6074-86D4-D86B016E0171}"/>
              </a:ext>
            </a:extLst>
          </p:cNvPr>
          <p:cNvCxnSpPr>
            <a:cxnSpLocks/>
          </p:cNvCxnSpPr>
          <p:nvPr userDrawn="1"/>
        </p:nvCxnSpPr>
        <p:spPr>
          <a:xfrm>
            <a:off x="540689" y="2877393"/>
            <a:ext cx="11068215" cy="0"/>
          </a:xfrm>
          <a:prstGeom prst="line">
            <a:avLst/>
          </a:prstGeom>
          <a:ln w="19050" cmpd="sng">
            <a:solidFill>
              <a:srgbClr val="C4CCD6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/>
              <a:t>Insert key slide message</a:t>
            </a:r>
          </a:p>
        </p:txBody>
      </p:sp>
      <p:sp>
        <p:nvSpPr>
          <p:cNvPr id="17" name="Footer Placeholder 5">
            <a:extLst>
              <a:ext uri="{FF2B5EF4-FFF2-40B4-BE49-F238E27FC236}">
                <a16:creationId xmlns:a16="http://schemas.microsoft.com/office/drawing/2014/main" id="{64DEC668-5250-1B4C-B969-8FC04E1B68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>
              <a:defRPr lang="en-US" sz="1000" b="1" spc="10" dirty="0">
                <a:solidFill>
                  <a:srgbClr val="B2BECD"/>
                </a:solidFill>
              </a:defRPr>
            </a:lvl1pPr>
          </a:lstStyle>
          <a:p>
            <a:r>
              <a:rPr lang="en-US"/>
              <a:t>Confidential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3013020"/>
            <a:ext cx="7135680" cy="330498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/>
              <a:t>Insert content text (headers in bold)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2119D16-1B43-83B4-AAC8-3F62CE8DD7EA}"/>
              </a:ext>
            </a:extLst>
          </p:cNvPr>
          <p:cNvSpPr/>
          <p:nvPr userDrawn="1"/>
        </p:nvSpPr>
        <p:spPr bwMode="auto">
          <a:xfrm rot="5400000">
            <a:off x="1548588" y="957613"/>
            <a:ext cx="195321" cy="2211125"/>
          </a:xfrm>
          <a:prstGeom prst="rect">
            <a:avLst/>
          </a:prstGeom>
          <a:solidFill>
            <a:schemeClr val="bg1"/>
          </a:solidFill>
          <a:ln w="190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nl-NL" sz="240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TheSans B5 Plain"/>
              <a:cs typeface="TheSans B5 Plain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427916A-C3C6-004B-AECE-7FDC1C99337B}"/>
              </a:ext>
            </a:extLst>
          </p:cNvPr>
          <p:cNvSpPr/>
          <p:nvPr userDrawn="1"/>
        </p:nvSpPr>
        <p:spPr bwMode="auto">
          <a:xfrm rot="5400000">
            <a:off x="3758269" y="959055"/>
            <a:ext cx="195321" cy="2208241"/>
          </a:xfrm>
          <a:prstGeom prst="rect">
            <a:avLst/>
          </a:prstGeom>
          <a:solidFill>
            <a:srgbClr val="DAE2EB"/>
          </a:solidFill>
          <a:ln w="190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nl-NL" sz="2400" u="none" strike="noStrike" cap="none" normalizeH="0" baseline="0">
              <a:ln>
                <a:solidFill>
                  <a:sysClr val="windowText" lastClr="000000"/>
                </a:solidFill>
              </a:ln>
              <a:solidFill>
                <a:schemeClr val="bg1"/>
              </a:solidFill>
              <a:effectLst/>
              <a:latin typeface="TheSans B5 Plain"/>
              <a:cs typeface="TheSans B5 Plain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8B1625B-745E-62D9-BD2A-55957EA061A3}"/>
              </a:ext>
            </a:extLst>
          </p:cNvPr>
          <p:cNvSpPr/>
          <p:nvPr userDrawn="1"/>
        </p:nvSpPr>
        <p:spPr bwMode="auto">
          <a:xfrm rot="5400000">
            <a:off x="8182546" y="951652"/>
            <a:ext cx="195321" cy="2223047"/>
          </a:xfrm>
          <a:prstGeom prst="rect">
            <a:avLst/>
          </a:prstGeom>
          <a:solidFill>
            <a:srgbClr val="697C8E"/>
          </a:solidFill>
          <a:ln w="190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nl-NL" sz="240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TheSans B5 Plain"/>
              <a:cs typeface="TheSans B5 Plain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FFA4D38-4E21-D4C5-440B-8F86DC2718F7}"/>
              </a:ext>
            </a:extLst>
          </p:cNvPr>
          <p:cNvSpPr/>
          <p:nvPr userDrawn="1"/>
        </p:nvSpPr>
        <p:spPr bwMode="auto">
          <a:xfrm rot="5400000">
            <a:off x="10398054" y="959190"/>
            <a:ext cx="195321" cy="2207971"/>
          </a:xfrm>
          <a:prstGeom prst="rect">
            <a:avLst/>
          </a:prstGeom>
          <a:solidFill>
            <a:schemeClr val="accent1"/>
          </a:solidFill>
          <a:ln w="190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nl-NL" sz="240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TheSans B5 Plain"/>
              <a:cs typeface="TheSans B5 Plain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67F30B0-F038-9819-805C-8B583196DFC5}"/>
              </a:ext>
            </a:extLst>
          </p:cNvPr>
          <p:cNvSpPr/>
          <p:nvPr userDrawn="1"/>
        </p:nvSpPr>
        <p:spPr bwMode="auto">
          <a:xfrm rot="5400000">
            <a:off x="5966706" y="958857"/>
            <a:ext cx="195321" cy="2208636"/>
          </a:xfrm>
          <a:prstGeom prst="rect">
            <a:avLst/>
          </a:prstGeom>
          <a:solidFill>
            <a:srgbClr val="B3BECD"/>
          </a:solidFill>
          <a:ln w="190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nl-NL" sz="2400" u="none" strike="noStrike" cap="none" normalizeH="0" baseline="0">
              <a:ln>
                <a:solidFill>
                  <a:sysClr val="windowText" lastClr="000000"/>
                </a:solidFill>
              </a:ln>
              <a:solidFill>
                <a:schemeClr val="bg1"/>
              </a:solidFill>
              <a:effectLst/>
              <a:latin typeface="TheSans B5 Plain"/>
              <a:cs typeface="TheSans B5 Plain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19642B4-94D7-E002-5F8F-4B21E3C2B65C}"/>
              </a:ext>
            </a:extLst>
          </p:cNvPr>
          <p:cNvGrpSpPr/>
          <p:nvPr userDrawn="1"/>
        </p:nvGrpSpPr>
        <p:grpSpPr>
          <a:xfrm>
            <a:off x="11006327" y="810077"/>
            <a:ext cx="594110" cy="850933"/>
            <a:chOff x="10569980" y="810077"/>
            <a:chExt cx="594110" cy="850933"/>
          </a:xfrm>
        </p:grpSpPr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B4E37F83-14A0-0B68-AAEB-CA6647EFED37}"/>
                </a:ext>
              </a:extLst>
            </p:cNvPr>
            <p:cNvSpPr/>
            <p:nvPr/>
          </p:nvSpPr>
          <p:spPr>
            <a:xfrm>
              <a:off x="10616419" y="833977"/>
              <a:ext cx="234759" cy="368743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>
              <a:outerShdw blurRad="190500" dist="38100" dir="8100000" algn="tr" rotWithShape="0">
                <a:prstClr val="black">
                  <a:alpha val="46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t"/>
            <a:lstStyle/>
            <a:p>
              <a:pPr algn="l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C711BE83-E5FD-6BD3-812A-5637E13953A8}"/>
                </a:ext>
              </a:extLst>
            </p:cNvPr>
            <p:cNvSpPr/>
            <p:nvPr/>
          </p:nvSpPr>
          <p:spPr>
            <a:xfrm>
              <a:off x="10569980" y="810137"/>
              <a:ext cx="590530" cy="47139"/>
            </a:xfrm>
            <a:custGeom>
              <a:avLst/>
              <a:gdLst>
                <a:gd name="connsiteX0" fmla="*/ 48742 w 590530"/>
                <a:gd name="connsiteY0" fmla="*/ 0 h 47139"/>
                <a:gd name="connsiteX1" fmla="*/ 541788 w 590530"/>
                <a:gd name="connsiteY1" fmla="*/ 0 h 47139"/>
                <a:gd name="connsiteX2" fmla="*/ 587073 w 590530"/>
                <a:gd name="connsiteY2" fmla="*/ 30017 h 47139"/>
                <a:gd name="connsiteX3" fmla="*/ 590530 w 590530"/>
                <a:gd name="connsiteY3" fmla="*/ 47139 h 47139"/>
                <a:gd name="connsiteX4" fmla="*/ 0 w 590530"/>
                <a:gd name="connsiteY4" fmla="*/ 47139 h 47139"/>
                <a:gd name="connsiteX5" fmla="*/ 3457 w 590530"/>
                <a:gd name="connsiteY5" fmla="*/ 30017 h 47139"/>
                <a:gd name="connsiteX6" fmla="*/ 48742 w 590530"/>
                <a:gd name="connsiteY6" fmla="*/ 0 h 47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90530" h="47139">
                  <a:moveTo>
                    <a:pt x="48742" y="0"/>
                  </a:moveTo>
                  <a:lnTo>
                    <a:pt x="541788" y="0"/>
                  </a:lnTo>
                  <a:cubicBezTo>
                    <a:pt x="562145" y="0"/>
                    <a:pt x="579612" y="12377"/>
                    <a:pt x="587073" y="30017"/>
                  </a:cubicBezTo>
                  <a:lnTo>
                    <a:pt x="590530" y="47139"/>
                  </a:lnTo>
                  <a:lnTo>
                    <a:pt x="0" y="47139"/>
                  </a:lnTo>
                  <a:lnTo>
                    <a:pt x="3457" y="30017"/>
                  </a:lnTo>
                  <a:cubicBezTo>
                    <a:pt x="10918" y="12377"/>
                    <a:pt x="28385" y="0"/>
                    <a:pt x="48742" y="0"/>
                  </a:cubicBez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t"/>
            <a:lstStyle/>
            <a:p>
              <a:pPr algn="l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0DCB0456-FBFD-F1A5-7BB5-98B8476CCA93}"/>
                </a:ext>
              </a:extLst>
            </p:cNvPr>
            <p:cNvSpPr/>
            <p:nvPr/>
          </p:nvSpPr>
          <p:spPr>
            <a:xfrm>
              <a:off x="10587816" y="810077"/>
              <a:ext cx="576274" cy="850933"/>
            </a:xfrm>
            <a:custGeom>
              <a:avLst/>
              <a:gdLst>
                <a:gd name="connsiteX0" fmla="*/ 24556 w 576274"/>
                <a:gd name="connsiteY0" fmla="*/ 0 h 850933"/>
                <a:gd name="connsiteX1" fmla="*/ 28104 w 576274"/>
                <a:gd name="connsiteY1" fmla="*/ 0 h 850933"/>
                <a:gd name="connsiteX2" fmla="*/ 329430 w 576274"/>
                <a:gd name="connsiteY2" fmla="*/ 0 h 850933"/>
                <a:gd name="connsiteX3" fmla="*/ 527126 w 576274"/>
                <a:gd name="connsiteY3" fmla="*/ 0 h 850933"/>
                <a:gd name="connsiteX4" fmla="*/ 572411 w 576274"/>
                <a:gd name="connsiteY4" fmla="*/ 30017 h 850933"/>
                <a:gd name="connsiteX5" fmla="*/ 575483 w 576274"/>
                <a:gd name="connsiteY5" fmla="*/ 45234 h 850933"/>
                <a:gd name="connsiteX6" fmla="*/ 575483 w 576274"/>
                <a:gd name="connsiteY6" fmla="*/ 572261 h 850933"/>
                <a:gd name="connsiteX7" fmla="*/ 576274 w 576274"/>
                <a:gd name="connsiteY7" fmla="*/ 573052 h 850933"/>
                <a:gd name="connsiteX8" fmla="*/ 576274 w 576274"/>
                <a:gd name="connsiteY8" fmla="*/ 850933 h 850933"/>
                <a:gd name="connsiteX9" fmla="*/ 300905 w 576274"/>
                <a:gd name="connsiteY9" fmla="*/ 575564 h 850933"/>
                <a:gd name="connsiteX10" fmla="*/ 295881 w 576274"/>
                <a:gd name="connsiteY10" fmla="*/ 575564 h 850933"/>
                <a:gd name="connsiteX11" fmla="*/ 20512 w 576274"/>
                <a:gd name="connsiteY11" fmla="*/ 850933 h 850933"/>
                <a:gd name="connsiteX12" fmla="*/ 20512 w 576274"/>
                <a:gd name="connsiteY12" fmla="*/ 575564 h 850933"/>
                <a:gd name="connsiteX13" fmla="*/ 19858 w 576274"/>
                <a:gd name="connsiteY13" fmla="*/ 575564 h 850933"/>
                <a:gd name="connsiteX14" fmla="*/ 19858 w 576274"/>
                <a:gd name="connsiteY14" fmla="*/ 43281 h 850933"/>
                <a:gd name="connsiteX15" fmla="*/ 17180 w 576274"/>
                <a:gd name="connsiteY15" fmla="*/ 30017 h 850933"/>
                <a:gd name="connsiteX16" fmla="*/ 0 w 576274"/>
                <a:gd name="connsiteY16" fmla="*/ 9154 h 850933"/>
                <a:gd name="connsiteX17" fmla="*/ 626 w 576274"/>
                <a:gd name="connsiteY17" fmla="*/ 8394 h 850933"/>
                <a:gd name="connsiteX18" fmla="*/ 19858 w 576274"/>
                <a:gd name="connsiteY18" fmla="*/ 2519 h 850933"/>
                <a:gd name="connsiteX19" fmla="*/ 19858 w 576274"/>
                <a:gd name="connsiteY19" fmla="*/ 1946 h 850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576274" h="850933">
                  <a:moveTo>
                    <a:pt x="24556" y="0"/>
                  </a:moveTo>
                  <a:lnTo>
                    <a:pt x="28104" y="0"/>
                  </a:lnTo>
                  <a:lnTo>
                    <a:pt x="329430" y="0"/>
                  </a:lnTo>
                  <a:lnTo>
                    <a:pt x="527126" y="0"/>
                  </a:lnTo>
                  <a:cubicBezTo>
                    <a:pt x="547483" y="0"/>
                    <a:pt x="564950" y="12377"/>
                    <a:pt x="572411" y="30017"/>
                  </a:cubicBezTo>
                  <a:lnTo>
                    <a:pt x="575483" y="45234"/>
                  </a:lnTo>
                  <a:lnTo>
                    <a:pt x="575483" y="572261"/>
                  </a:lnTo>
                  <a:lnTo>
                    <a:pt x="576274" y="573052"/>
                  </a:lnTo>
                  <a:lnTo>
                    <a:pt x="576274" y="850933"/>
                  </a:lnTo>
                  <a:lnTo>
                    <a:pt x="300905" y="575564"/>
                  </a:lnTo>
                  <a:lnTo>
                    <a:pt x="295881" y="575564"/>
                  </a:lnTo>
                  <a:lnTo>
                    <a:pt x="20512" y="850933"/>
                  </a:lnTo>
                  <a:lnTo>
                    <a:pt x="20512" y="575564"/>
                  </a:lnTo>
                  <a:lnTo>
                    <a:pt x="19858" y="575564"/>
                  </a:lnTo>
                  <a:lnTo>
                    <a:pt x="19858" y="43281"/>
                  </a:lnTo>
                  <a:lnTo>
                    <a:pt x="17180" y="30017"/>
                  </a:lnTo>
                  <a:lnTo>
                    <a:pt x="0" y="9154"/>
                  </a:lnTo>
                  <a:lnTo>
                    <a:pt x="626" y="8394"/>
                  </a:lnTo>
                  <a:lnTo>
                    <a:pt x="19858" y="2519"/>
                  </a:lnTo>
                  <a:lnTo>
                    <a:pt x="19858" y="1946"/>
                  </a:lnTo>
                  <a:close/>
                </a:path>
              </a:pathLst>
            </a:custGeom>
            <a:gradFill>
              <a:gsLst>
                <a:gs pos="81000">
                  <a:schemeClr val="tx2"/>
                </a:gs>
                <a:gs pos="55000">
                  <a:srgbClr val="394D60"/>
                </a:gs>
                <a:gs pos="0">
                  <a:srgbClr val="3F5771"/>
                </a:gs>
                <a:gs pos="13000">
                  <a:schemeClr val="tx2"/>
                </a:gs>
              </a:gsLst>
              <a:lin ang="5400000" scaled="0"/>
            </a:gradFill>
            <a:ln>
              <a:noFill/>
            </a:ln>
            <a:effectLst>
              <a:outerShdw blurRad="254000" dist="38100" dir="8100000" algn="t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t"/>
            <a:lstStyle/>
            <a:p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7C247D5E-E670-34AF-DF42-421FD37A7527}"/>
              </a:ext>
            </a:extLst>
          </p:cNvPr>
          <p:cNvSpPr txBox="1"/>
          <p:nvPr userDrawn="1"/>
        </p:nvSpPr>
        <p:spPr>
          <a:xfrm>
            <a:off x="10213630" y="924589"/>
            <a:ext cx="813017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b="1" dirty="0">
                <a:solidFill>
                  <a:schemeClr val="tx1">
                    <a:alpha val="50000"/>
                  </a:schemeClr>
                </a:solidFill>
              </a:rPr>
              <a:t>SNAPSHOT DATE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BF8B723-3138-94E0-50D1-42ABD67C94C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098721" y="871382"/>
            <a:ext cx="442912" cy="144000"/>
          </a:xfrm>
        </p:spPr>
        <p:txBody>
          <a:bodyPr wrap="none" tIns="0" bIns="0">
            <a:no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/>
              <a:t>d</a:t>
            </a:r>
            <a:endParaRPr lang="en-NL"/>
          </a:p>
        </p:txBody>
      </p:sp>
      <p:sp>
        <p:nvSpPr>
          <p:cNvPr id="43" name="Text Placeholder 4">
            <a:extLst>
              <a:ext uri="{FF2B5EF4-FFF2-40B4-BE49-F238E27FC236}">
                <a16:creationId xmlns:a16="http://schemas.microsoft.com/office/drawing/2014/main" id="{71B52DB1-1BF8-95E7-0DE2-99D8E78CA3C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1098721" y="1030633"/>
            <a:ext cx="442912" cy="144000"/>
          </a:xfrm>
        </p:spPr>
        <p:txBody>
          <a:bodyPr wrap="none" tIns="0" bIns="0">
            <a:no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200" b="1" cap="all" baseline="0">
                <a:solidFill>
                  <a:schemeClr val="bg1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/>
              <a:t>MMM</a:t>
            </a:r>
            <a:endParaRPr lang="en-NL"/>
          </a:p>
        </p:txBody>
      </p:sp>
      <p:sp>
        <p:nvSpPr>
          <p:cNvPr id="44" name="Text Placeholder 4">
            <a:extLst>
              <a:ext uri="{FF2B5EF4-FFF2-40B4-BE49-F238E27FC236}">
                <a16:creationId xmlns:a16="http://schemas.microsoft.com/office/drawing/2014/main" id="{7469CFBD-4AB0-5FB5-93CB-E2192E5AD39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1098721" y="1189883"/>
            <a:ext cx="442912" cy="144000"/>
          </a:xfrm>
        </p:spPr>
        <p:txBody>
          <a:bodyPr wrap="none" tIns="0" bIns="0">
            <a:no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200" b="0" cap="all" baseline="0">
                <a:solidFill>
                  <a:schemeClr val="tx1">
                    <a:lumMod val="60000"/>
                    <a:lumOff val="40000"/>
                  </a:schemeClr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err="1"/>
              <a:t>YYYY</a:t>
            </a:r>
            <a:endParaRPr lang="en-NL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4E3AC85-C0F9-B46B-348B-4B11984EC5E1}"/>
              </a:ext>
            </a:extLst>
          </p:cNvPr>
          <p:cNvSpPr/>
          <p:nvPr userDrawn="1"/>
        </p:nvSpPr>
        <p:spPr>
          <a:xfrm>
            <a:off x="543839" y="2188488"/>
            <a:ext cx="2210009" cy="307777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400" b="0" i="0" dirty="0">
                <a:solidFill>
                  <a:srgbClr val="B3BECD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★☆☆☆☆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FBD2BA3-6863-8915-EEE5-38EF562641E3}"/>
              </a:ext>
            </a:extLst>
          </p:cNvPr>
          <p:cNvSpPr/>
          <p:nvPr userDrawn="1"/>
        </p:nvSpPr>
        <p:spPr>
          <a:xfrm>
            <a:off x="2748924" y="2185760"/>
            <a:ext cx="2209087" cy="307777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ctr"/>
            <a:r>
              <a:rPr lang="en-GB" sz="1400" b="0" i="0" dirty="0">
                <a:solidFill>
                  <a:srgbClr val="B3BECD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★★☆☆☆</a:t>
            </a:r>
            <a:endParaRPr lang="en-GB" sz="1400" dirty="0">
              <a:solidFill>
                <a:srgbClr val="B3BECD"/>
              </a:solidFill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F205139-0A17-D664-05C0-54D53A944BDA}"/>
              </a:ext>
            </a:extLst>
          </p:cNvPr>
          <p:cNvSpPr/>
          <p:nvPr userDrawn="1"/>
        </p:nvSpPr>
        <p:spPr>
          <a:xfrm>
            <a:off x="4956896" y="2183032"/>
            <a:ext cx="2213826" cy="307777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ctr"/>
            <a:r>
              <a:rPr lang="en-GB" sz="1400" b="0" i="0" dirty="0">
                <a:solidFill>
                  <a:srgbClr val="B3BECD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★★★☆☆</a:t>
            </a:r>
            <a:endParaRPr lang="en-GB" sz="1400" dirty="0">
              <a:solidFill>
                <a:srgbClr val="B3BECD"/>
              </a:solidFill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CE367BEC-37DC-3116-8A37-73B187EE071A}"/>
              </a:ext>
            </a:extLst>
          </p:cNvPr>
          <p:cNvSpPr/>
          <p:nvPr userDrawn="1"/>
        </p:nvSpPr>
        <p:spPr>
          <a:xfrm>
            <a:off x="7181055" y="2191551"/>
            <a:ext cx="2210672" cy="307777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ctr"/>
            <a:r>
              <a:rPr lang="en-GB" sz="1400" b="0" i="0" dirty="0">
                <a:solidFill>
                  <a:srgbClr val="B3BECD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★★★★☆</a:t>
            </a:r>
            <a:endParaRPr lang="en-GB" sz="1400" dirty="0">
              <a:solidFill>
                <a:srgbClr val="697C8E"/>
              </a:solidFill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1E551A6-ABB3-F7C9-4D66-48E5CACFAA61}"/>
              </a:ext>
            </a:extLst>
          </p:cNvPr>
          <p:cNvSpPr/>
          <p:nvPr userDrawn="1"/>
        </p:nvSpPr>
        <p:spPr>
          <a:xfrm>
            <a:off x="9402060" y="2191551"/>
            <a:ext cx="2193832" cy="307777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ctr"/>
            <a:r>
              <a:rPr lang="en-GB" sz="1400" b="0" i="0" dirty="0">
                <a:solidFill>
                  <a:srgbClr val="B3BECD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★★★★★</a:t>
            </a:r>
            <a:endParaRPr lang="en-GB" sz="1400" dirty="0">
              <a:solidFill>
                <a:schemeClr val="accent1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3D34E97-9069-8EB5-D476-4767C60B9DCB}"/>
              </a:ext>
            </a:extLst>
          </p:cNvPr>
          <p:cNvSpPr txBox="1"/>
          <p:nvPr userDrawn="1"/>
        </p:nvSpPr>
        <p:spPr>
          <a:xfrm>
            <a:off x="381410" y="2387321"/>
            <a:ext cx="114295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tx1">
                    <a:lumMod val="60000"/>
                    <a:lumOff val="40000"/>
                  </a:schemeClr>
                </a:solidFill>
              </a:rPr>
              <a:t>0.5		             1.5		                           2.5		        3.5		                      4.5			   5.5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8349FA0-813B-F1FB-15A1-2F51541BD669}"/>
              </a:ext>
            </a:extLst>
          </p:cNvPr>
          <p:cNvSpPr txBox="1"/>
          <p:nvPr userDrawn="1"/>
        </p:nvSpPr>
        <p:spPr>
          <a:xfrm>
            <a:off x="5471355" y="2462115"/>
            <a:ext cx="118974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NL" sz="1000" b="1" cap="small">
                <a:solidFill>
                  <a:srgbClr val="85929D"/>
                </a:solidFill>
              </a:rPr>
              <a:t>MARKET-AVERAGE</a:t>
            </a: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49FB1209-72DE-2C48-B685-6B5419CD68FB}"/>
              </a:ext>
            </a:extLst>
          </p:cNvPr>
          <p:cNvCxnSpPr>
            <a:cxnSpLocks/>
          </p:cNvCxnSpPr>
          <p:nvPr userDrawn="1"/>
        </p:nvCxnSpPr>
        <p:spPr>
          <a:xfrm flipV="1">
            <a:off x="7788343" y="3092712"/>
            <a:ext cx="0" cy="2605671"/>
          </a:xfrm>
          <a:prstGeom prst="line">
            <a:avLst/>
          </a:prstGeom>
          <a:ln w="19050" cmpd="sng">
            <a:solidFill>
              <a:srgbClr val="C7CCCF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Table 3">
            <a:extLst>
              <a:ext uri="{FF2B5EF4-FFF2-40B4-BE49-F238E27FC236}">
                <a16:creationId xmlns:a16="http://schemas.microsoft.com/office/drawing/2014/main" id="{A9EB7DA5-A189-5E80-A40E-0D5A616174F0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2644525619"/>
              </p:ext>
            </p:extLst>
          </p:nvPr>
        </p:nvGraphicFramePr>
        <p:xfrm>
          <a:off x="543838" y="2137271"/>
          <a:ext cx="11047550" cy="45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0951">
                  <a:extLst>
                    <a:ext uri="{9D8B030D-6E8A-4147-A177-3AD203B41FA5}">
                      <a16:colId xmlns:a16="http://schemas.microsoft.com/office/drawing/2014/main" val="213295414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903666758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1885156680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1495153275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2657424204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716304315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2950638044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1105443378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3269029847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2424136166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3177950420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1663229786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942425598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1814439937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3164329391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3521393928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3069234948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2500553852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2187502831"/>
                    </a:ext>
                  </a:extLst>
                </a:gridCol>
                <a:gridCol w="217443">
                  <a:extLst>
                    <a:ext uri="{9D8B030D-6E8A-4147-A177-3AD203B41FA5}">
                      <a16:colId xmlns:a16="http://schemas.microsoft.com/office/drawing/2014/main" val="3396659716"/>
                    </a:ext>
                  </a:extLst>
                </a:gridCol>
                <a:gridCol w="224459">
                  <a:extLst>
                    <a:ext uri="{9D8B030D-6E8A-4147-A177-3AD203B41FA5}">
                      <a16:colId xmlns:a16="http://schemas.microsoft.com/office/drawing/2014/main" val="2475302107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3393671400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2985708332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3482998259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4287070680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1067620793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631246911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590436206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2476769573"/>
                    </a:ext>
                  </a:extLst>
                </a:gridCol>
                <a:gridCol w="217733">
                  <a:extLst>
                    <a:ext uri="{9D8B030D-6E8A-4147-A177-3AD203B41FA5}">
                      <a16:colId xmlns:a16="http://schemas.microsoft.com/office/drawing/2014/main" val="3064695449"/>
                    </a:ext>
                  </a:extLst>
                </a:gridCol>
                <a:gridCol w="224169">
                  <a:extLst>
                    <a:ext uri="{9D8B030D-6E8A-4147-A177-3AD203B41FA5}">
                      <a16:colId xmlns:a16="http://schemas.microsoft.com/office/drawing/2014/main" val="482981876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3312332019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4191596387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3792865137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4195788290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2814304402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207008813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3849921265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1765944989"/>
                    </a:ext>
                  </a:extLst>
                </a:gridCol>
                <a:gridCol w="230723">
                  <a:extLst>
                    <a:ext uri="{9D8B030D-6E8A-4147-A177-3AD203B41FA5}">
                      <a16:colId xmlns:a16="http://schemas.microsoft.com/office/drawing/2014/main" val="1071605657"/>
                    </a:ext>
                  </a:extLst>
                </a:gridCol>
                <a:gridCol w="211179">
                  <a:extLst>
                    <a:ext uri="{9D8B030D-6E8A-4147-A177-3AD203B41FA5}">
                      <a16:colId xmlns:a16="http://schemas.microsoft.com/office/drawing/2014/main" val="13612736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4269870884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3173781128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2748546533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267896039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3001967019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772205724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2110281530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1001807318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2932458597"/>
                    </a:ext>
                  </a:extLst>
                </a:gridCol>
              </a:tblGrid>
              <a:tr h="45720"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578863"/>
                  </a:ext>
                </a:extLst>
              </a:tr>
            </a:tbl>
          </a:graphicData>
        </a:graphic>
      </p:graphicFrame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896CDAE8-7781-588D-787F-5341C2540339}"/>
              </a:ext>
            </a:extLst>
          </p:cNvPr>
          <p:cNvSpPr/>
          <p:nvPr userDrawn="1"/>
        </p:nvSpPr>
        <p:spPr>
          <a:xfrm>
            <a:off x="537472" y="1946275"/>
            <a:ext cx="11062598" cy="233800"/>
          </a:xfrm>
          <a:prstGeom prst="roundRect">
            <a:avLst>
              <a:gd name="adj" fmla="val 24201"/>
            </a:avLst>
          </a:prstGeom>
          <a:noFill/>
          <a:ln w="381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NL" sz="1600" err="1">
              <a:solidFill>
                <a:schemeClr val="bg1"/>
              </a:solidFill>
            </a:endParaRPr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537BF9B2-1645-5B9F-1FFC-28D76C8C78E8}"/>
              </a:ext>
            </a:extLst>
          </p:cNvPr>
          <p:cNvSpPr/>
          <p:nvPr userDrawn="1"/>
        </p:nvSpPr>
        <p:spPr>
          <a:xfrm>
            <a:off x="537472" y="1920940"/>
            <a:ext cx="11062598" cy="233800"/>
          </a:xfrm>
          <a:prstGeom prst="roundRect">
            <a:avLst>
              <a:gd name="adj" fmla="val 24201"/>
            </a:avLst>
          </a:prstGeom>
          <a:noFill/>
          <a:ln w="38100">
            <a:solidFill>
              <a:schemeClr val="bg2">
                <a:alpha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NL" sz="1600" err="1">
              <a:solidFill>
                <a:schemeClr val="bg1"/>
              </a:solidFill>
            </a:endParaRPr>
          </a:p>
        </p:txBody>
      </p: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0A4A0693-D200-6EF1-A143-74668BA406B3}"/>
              </a:ext>
            </a:extLst>
          </p:cNvPr>
          <p:cNvCxnSpPr/>
          <p:nvPr userDrawn="1"/>
        </p:nvCxnSpPr>
        <p:spPr>
          <a:xfrm>
            <a:off x="7168686" y="1708635"/>
            <a:ext cx="0" cy="709083"/>
          </a:xfrm>
          <a:prstGeom prst="line">
            <a:avLst/>
          </a:prstGeom>
          <a:ln w="6350" cmpd="sng">
            <a:solidFill>
              <a:srgbClr val="C4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105382CA-3D46-3383-CE61-96754CBCB2DC}"/>
              </a:ext>
            </a:extLst>
          </p:cNvPr>
          <p:cNvCxnSpPr/>
          <p:nvPr userDrawn="1"/>
        </p:nvCxnSpPr>
        <p:spPr>
          <a:xfrm>
            <a:off x="9391731" y="1708635"/>
            <a:ext cx="0" cy="709083"/>
          </a:xfrm>
          <a:prstGeom prst="line">
            <a:avLst/>
          </a:prstGeom>
          <a:ln w="6350" cmpd="sng">
            <a:solidFill>
              <a:srgbClr val="C4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9902FFCB-A60C-1ABB-22DD-D81A4F233622}"/>
              </a:ext>
            </a:extLst>
          </p:cNvPr>
          <p:cNvCxnSpPr/>
          <p:nvPr userDrawn="1"/>
        </p:nvCxnSpPr>
        <p:spPr>
          <a:xfrm>
            <a:off x="4960051" y="1708635"/>
            <a:ext cx="0" cy="709083"/>
          </a:xfrm>
          <a:prstGeom prst="line">
            <a:avLst/>
          </a:prstGeom>
          <a:ln w="6350" cmpd="sng">
            <a:solidFill>
              <a:srgbClr val="C4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86512980-BEE5-E7F0-720E-A747745DDB11}"/>
              </a:ext>
            </a:extLst>
          </p:cNvPr>
          <p:cNvCxnSpPr/>
          <p:nvPr userDrawn="1"/>
        </p:nvCxnSpPr>
        <p:spPr>
          <a:xfrm>
            <a:off x="2751812" y="1711468"/>
            <a:ext cx="0" cy="709083"/>
          </a:xfrm>
          <a:prstGeom prst="line">
            <a:avLst/>
          </a:prstGeom>
          <a:ln w="6350" cmpd="sng">
            <a:solidFill>
              <a:srgbClr val="C4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 Placeholder 2">
            <a:extLst>
              <a:ext uri="{FF2B5EF4-FFF2-40B4-BE49-F238E27FC236}">
                <a16:creationId xmlns:a16="http://schemas.microsoft.com/office/drawing/2014/main" id="{1FD5B0F4-1A06-1D76-C351-F35CEC5B2D4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5696" y="-575378"/>
            <a:ext cx="2060575" cy="319807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800" b="0" i="1">
                <a:noFill/>
                <a:latin typeface="+mn-lt"/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/>
              <a:t>Dummy placeholder for compatibility with other templates. Ignore or delete.</a:t>
            </a:r>
            <a:endParaRPr lang="en-NL"/>
          </a:p>
        </p:txBody>
      </p:sp>
      <p:sp>
        <p:nvSpPr>
          <p:cNvPr id="50" name="Text Placeholder 2">
            <a:extLst>
              <a:ext uri="{FF2B5EF4-FFF2-40B4-BE49-F238E27FC236}">
                <a16:creationId xmlns:a16="http://schemas.microsoft.com/office/drawing/2014/main" id="{EB45C554-BC58-F501-2AFB-377EF5E1A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825641" y="-575378"/>
            <a:ext cx="2060575" cy="319807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800" b="0" i="1">
                <a:noFill/>
                <a:latin typeface="+mn-lt"/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/>
              <a:t>Dummy placeholder for compatibility with other templates. Leave empty or delete.</a:t>
            </a:r>
            <a:endParaRPr lang="en-NL"/>
          </a:p>
        </p:txBody>
      </p:sp>
      <p:sp>
        <p:nvSpPr>
          <p:cNvPr id="51" name="Text Placeholder 2">
            <a:extLst>
              <a:ext uri="{FF2B5EF4-FFF2-40B4-BE49-F238E27FC236}">
                <a16:creationId xmlns:a16="http://schemas.microsoft.com/office/drawing/2014/main" id="{386184D8-48AE-84C4-D2D0-BD148A626FD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28227" y="-575378"/>
            <a:ext cx="2060575" cy="319807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800" b="0" i="1">
                <a:noFill/>
                <a:latin typeface="+mn-lt"/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/>
              <a:t>Dummy placeholder for compatibility with other templates. Leave empty or delete.</a:t>
            </a:r>
            <a:endParaRPr lang="en-NL"/>
          </a:p>
        </p:txBody>
      </p:sp>
      <p:sp>
        <p:nvSpPr>
          <p:cNvPr id="52" name="Text Placeholder 2">
            <a:extLst>
              <a:ext uri="{FF2B5EF4-FFF2-40B4-BE49-F238E27FC236}">
                <a16:creationId xmlns:a16="http://schemas.microsoft.com/office/drawing/2014/main" id="{5C2F7945-8C5F-3982-B444-D1FDBBCD990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248188" y="-575378"/>
            <a:ext cx="2060575" cy="319807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800" b="0" i="1">
                <a:noFill/>
                <a:latin typeface="+mn-lt"/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/>
              <a:t>Dummy placeholder for compatibility with other templates. Leave empty or delete.</a:t>
            </a:r>
            <a:endParaRPr lang="en-NL"/>
          </a:p>
        </p:txBody>
      </p:sp>
      <p:sp>
        <p:nvSpPr>
          <p:cNvPr id="59" name="Text Placeholder 2">
            <a:extLst>
              <a:ext uri="{FF2B5EF4-FFF2-40B4-BE49-F238E27FC236}">
                <a16:creationId xmlns:a16="http://schemas.microsoft.com/office/drawing/2014/main" id="{98ABF9CF-BBFE-4E06-9E06-4F52587081C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465426" y="-575378"/>
            <a:ext cx="2060575" cy="319807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800" b="0" i="1">
                <a:noFill/>
                <a:latin typeface="+mn-lt"/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/>
              <a:t>Dummy placeholder for compatibility with other templates. Leave empty or delete.</a:t>
            </a:r>
            <a:endParaRPr lang="en-NL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9AD1F54-467C-F6F4-B066-0E8FD46045A1}"/>
              </a:ext>
            </a:extLst>
          </p:cNvPr>
          <p:cNvSpPr txBox="1"/>
          <p:nvPr userDrawn="1"/>
        </p:nvSpPr>
        <p:spPr>
          <a:xfrm>
            <a:off x="884809" y="-256756"/>
            <a:ext cx="10304572" cy="24622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lvl="0"/>
            <a:r>
              <a:rPr lang="en-GB" sz="1000">
                <a:solidFill>
                  <a:schemeClr val="tx1">
                    <a:lumMod val="60000"/>
                    <a:lumOff val="40000"/>
                  </a:schemeClr>
                </a:solidFill>
              </a:rPr>
              <a:t>▲ </a:t>
            </a:r>
            <a:r>
              <a:rPr lang="en-GB" sz="1000" b="1">
                <a:solidFill>
                  <a:schemeClr val="tx1">
                    <a:lumMod val="60000"/>
                    <a:lumOff val="40000"/>
                  </a:schemeClr>
                </a:solidFill>
              </a:rPr>
              <a:t>Dummy placeholders, </a:t>
            </a:r>
            <a:r>
              <a:rPr lang="en-GB" sz="1000" b="0">
                <a:solidFill>
                  <a:schemeClr val="tx1">
                    <a:lumMod val="60000"/>
                    <a:lumOff val="40000"/>
                  </a:schemeClr>
                </a:solidFill>
              </a:rPr>
              <a:t>due to use of star ratings for level descriptions. I</a:t>
            </a:r>
            <a:r>
              <a:rPr lang="en-GB" sz="1000">
                <a:solidFill>
                  <a:schemeClr val="tx1">
                    <a:lumMod val="60000"/>
                    <a:lumOff val="40000"/>
                  </a:schemeClr>
                </a:solidFill>
              </a:rPr>
              <a:t>gnore them, they are not visible on the slide (t</a:t>
            </a:r>
            <a:r>
              <a:rPr lang="en-GB" sz="1000" b="0">
                <a:solidFill>
                  <a:schemeClr val="tx1">
                    <a:lumMod val="60000"/>
                    <a:lumOff val="40000"/>
                  </a:schemeClr>
                </a:solidFill>
              </a:rPr>
              <a:t>hese placeholders are necessary</a:t>
            </a:r>
            <a:r>
              <a:rPr lang="en-GB" sz="1000" b="1">
                <a:solidFill>
                  <a:schemeClr val="tx1">
                    <a:lumMod val="60000"/>
                    <a:lumOff val="40000"/>
                  </a:schemeClr>
                </a:solidFill>
              </a:rPr>
              <a:t> </a:t>
            </a:r>
            <a:r>
              <a:rPr lang="en-GB" sz="1000">
                <a:solidFill>
                  <a:schemeClr val="tx1">
                    <a:lumMod val="60000"/>
                    <a:lumOff val="40000"/>
                  </a:schemeClr>
                </a:solidFill>
              </a:rPr>
              <a:t>for compatibility with other templates). ▲</a:t>
            </a:r>
            <a:endParaRPr lang="en-NL" sz="1000">
              <a:solidFill>
                <a:schemeClr val="tx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61" name="Text Placeholder 5">
            <a:extLst>
              <a:ext uri="{FF2B5EF4-FFF2-40B4-BE49-F238E27FC236}">
                <a16:creationId xmlns:a16="http://schemas.microsoft.com/office/drawing/2014/main" id="{E1901AC2-680E-4CD9-7DE1-234CE548C4A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966875" y="914509"/>
            <a:ext cx="1168590" cy="257763"/>
          </a:xfrm>
        </p:spPr>
        <p:txBody>
          <a:bodyPr wrap="none">
            <a:spAutoFit/>
          </a:bodyPr>
          <a:lstStyle>
            <a:lvl1pPr marL="0" indent="0" algn="r">
              <a:buFont typeface="Arial" panose="020B0604020202020204" pitchFamily="34" charset="0"/>
              <a:buNone/>
              <a:defRPr sz="1000" b="1" cap="all" baseline="0">
                <a:solidFill>
                  <a:schemeClr val="accent1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/>
              <a:t>Insert model name</a:t>
            </a:r>
            <a:endParaRPr lang="en-NL"/>
          </a:p>
        </p:txBody>
      </p: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39B21183-F5CA-24B5-B8D6-DFE3A10DA671}"/>
              </a:ext>
            </a:extLst>
          </p:cNvPr>
          <p:cNvCxnSpPr>
            <a:cxnSpLocks/>
          </p:cNvCxnSpPr>
          <p:nvPr userDrawn="1"/>
        </p:nvCxnSpPr>
        <p:spPr>
          <a:xfrm>
            <a:off x="10247651" y="999720"/>
            <a:ext cx="0" cy="98830"/>
          </a:xfrm>
          <a:prstGeom prst="line">
            <a:avLst/>
          </a:prstGeom>
          <a:ln w="12700">
            <a:solidFill>
              <a:srgbClr val="B3BECD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628138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E3D95FD-87E1-8242-936D-A016724AAC60}"/>
              </a:ext>
            </a:extLst>
          </p:cNvPr>
          <p:cNvGrpSpPr/>
          <p:nvPr userDrawn="1"/>
        </p:nvGrpSpPr>
        <p:grpSpPr>
          <a:xfrm>
            <a:off x="340066" y="1419480"/>
            <a:ext cx="5561970" cy="1324829"/>
            <a:chOff x="340066" y="1721909"/>
            <a:chExt cx="5561970" cy="1324829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D59DCD9-95CA-2849-8561-B2216ED23288}"/>
                </a:ext>
              </a:extLst>
            </p:cNvPr>
            <p:cNvSpPr/>
            <p:nvPr/>
          </p:nvSpPr>
          <p:spPr>
            <a:xfrm>
              <a:off x="340066" y="2357792"/>
              <a:ext cx="5405506" cy="688946"/>
            </a:xfrm>
            <a:prstGeom prst="ellipse">
              <a:avLst/>
            </a:prstGeom>
            <a:solidFill>
              <a:srgbClr val="000000">
                <a:alpha val="25000"/>
              </a:srgbClr>
            </a:solidFill>
            <a:ln>
              <a:noFill/>
            </a:ln>
            <a:effectLst>
              <a:softEdge rad="266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26731D74-9128-1544-855C-A1FEBA1CA2CF}"/>
                </a:ext>
              </a:extLst>
            </p:cNvPr>
            <p:cNvSpPr/>
            <p:nvPr/>
          </p:nvSpPr>
          <p:spPr>
            <a:xfrm>
              <a:off x="429915" y="1721909"/>
              <a:ext cx="5472121" cy="972886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429915" y="1364824"/>
            <a:ext cx="4469780" cy="357085"/>
          </a:xfrm>
          <a:prstGeom prst="rect">
            <a:avLst/>
          </a:prstGeom>
          <a:solidFill>
            <a:schemeClr val="accent1"/>
          </a:solidFill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1" dirty="0">
                <a:solidFill>
                  <a:schemeClr val="bg1"/>
                </a:solidFill>
              </a:rPr>
              <a:t>Risks in external dependencies</a:t>
            </a:r>
            <a:r>
              <a:rPr lang="en-US" sz="1600" b="0" dirty="0">
                <a:solidFill>
                  <a:schemeClr val="bg1"/>
                </a:solidFill>
              </a:rPr>
              <a:t> – System overview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B90D4AFC-98E5-0C4A-9707-F2559B9A97DC}"/>
              </a:ext>
            </a:extLst>
          </p:cNvPr>
          <p:cNvSpPr txBox="1">
            <a:spLocks/>
          </p:cNvSpPr>
          <p:nvPr userDrawn="1"/>
        </p:nvSpPr>
        <p:spPr>
          <a:xfrm>
            <a:off x="1204383" y="1831229"/>
            <a:ext cx="3695312" cy="26210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endParaRPr lang="en-GB" sz="1400" b="1" dirty="0">
              <a:solidFill>
                <a:schemeClr val="accent1"/>
              </a:solidFill>
              <a:latin typeface="Calibri Regular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529948" y="1770243"/>
            <a:ext cx="4504276" cy="372650"/>
          </a:xfrm>
          <a:prstGeom prst="rect">
            <a:avLst/>
          </a:prstGeom>
          <a:gradFill>
            <a:gsLst>
              <a:gs pos="0">
                <a:schemeClr val="bg2">
                  <a:alpha val="25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0"/>
          </a:gradFill>
          <a:ln w="9525">
            <a:solidFill>
              <a:schemeClr val="bg2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62617" y="1867237"/>
            <a:ext cx="1946019" cy="169277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l">
              <a:defRPr/>
            </a:pP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 dependencies in total</a:t>
            </a:r>
            <a:endParaRPr lang="en-US" sz="1200" spc="-50" noProof="1">
              <a:solidFill>
                <a:schemeClr val="bg2"/>
              </a:solidFill>
              <a:cs typeface="TheSansMono M5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7CD0235-CB15-C949-BCBD-9E062FB24F3A}"/>
              </a:ext>
            </a:extLst>
          </p:cNvPr>
          <p:cNvSpPr/>
          <p:nvPr userDrawn="1"/>
        </p:nvSpPr>
        <p:spPr>
          <a:xfrm>
            <a:off x="6116295" y="730293"/>
            <a:ext cx="6075705" cy="612770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accent1"/>
              </a:solidFill>
            </a:endParaRP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 userDrawn="1">
            <p:ph sz="quarter" idx="13" hasCustomPrompt="1"/>
          </p:nvPr>
        </p:nvSpPr>
        <p:spPr>
          <a:xfrm>
            <a:off x="6420006" y="1368000"/>
            <a:ext cx="5326793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66858" y="1816783"/>
            <a:ext cx="562010" cy="265112"/>
          </a:xfrm>
        </p:spPr>
        <p:txBody>
          <a:bodyPr anchor="ctr">
            <a:noAutofit/>
          </a:bodyPr>
          <a:lstStyle>
            <a:lvl1pPr marL="0" indent="0" algn="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4A32BDF-19FE-16E0-140C-A92D63BFE40D}"/>
              </a:ext>
            </a:extLst>
          </p:cNvPr>
          <p:cNvSpPr txBox="1"/>
          <p:nvPr userDrawn="1"/>
        </p:nvSpPr>
        <p:spPr>
          <a:xfrm>
            <a:off x="-143206" y="5881381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lumMod val="60000"/>
                    <a:lumOff val="40000"/>
                    <a:alpha val="50000"/>
                  </a:schemeClr>
                </a:solidFill>
              </a:rPr>
              <a:t>Number of dependencies: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D846DF8-6FB9-113B-E643-AFB994F128E9}"/>
              </a:ext>
            </a:extLst>
          </p:cNvPr>
          <p:cNvGrpSpPr/>
          <p:nvPr userDrawn="1"/>
        </p:nvGrpSpPr>
        <p:grpSpPr>
          <a:xfrm>
            <a:off x="184167" y="2938848"/>
            <a:ext cx="2176758" cy="478914"/>
            <a:chOff x="184167" y="2938848"/>
            <a:chExt cx="2176758" cy="478914"/>
          </a:xfrm>
        </p:grpSpPr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92CB4BC1-E3EB-78F3-84A5-877A5B841E7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132325" y="3145777"/>
              <a:ext cx="228600" cy="228600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3CF1F6A-1F88-8145-FE5C-042E83FC70D0}"/>
                </a:ext>
              </a:extLst>
            </p:cNvPr>
            <p:cNvSpPr txBox="1"/>
            <p:nvPr userDrawn="1"/>
          </p:nvSpPr>
          <p:spPr>
            <a:xfrm>
              <a:off x="184167" y="2938848"/>
              <a:ext cx="1930982" cy="4789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8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vulnerability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7833F2AE-B882-CA12-2A4B-CA6E81F265E6}"/>
              </a:ext>
            </a:extLst>
          </p:cNvPr>
          <p:cNvGrpSpPr/>
          <p:nvPr userDrawn="1"/>
        </p:nvGrpSpPr>
        <p:grpSpPr>
          <a:xfrm>
            <a:off x="1016807" y="3564280"/>
            <a:ext cx="1344118" cy="423514"/>
            <a:chOff x="1016807" y="3564280"/>
            <a:chExt cx="1344118" cy="423514"/>
          </a:xfrm>
        </p:grpSpPr>
        <p:pic>
          <p:nvPicPr>
            <p:cNvPr id="3" name="Graphic 2">
              <a:extLst>
                <a:ext uri="{FF2B5EF4-FFF2-40B4-BE49-F238E27FC236}">
                  <a16:creationId xmlns:a16="http://schemas.microsoft.com/office/drawing/2014/main" id="{55B06F22-E984-AAA7-DF5B-49AA31FAED7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132325" y="3703034"/>
              <a:ext cx="228600" cy="228600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18ECFD4-7514-0241-5872-BB758C0682D7}"/>
                </a:ext>
              </a:extLst>
            </p:cNvPr>
            <p:cNvSpPr txBox="1"/>
            <p:nvPr userDrawn="1"/>
          </p:nvSpPr>
          <p:spPr>
            <a:xfrm>
              <a:off x="1016807" y="3564280"/>
              <a:ext cx="1098342" cy="4235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5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legal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58AA51C-901A-9B84-CE25-4D427A46CAC1}"/>
              </a:ext>
            </a:extLst>
          </p:cNvPr>
          <p:cNvGrpSpPr/>
          <p:nvPr userDrawn="1"/>
        </p:nvGrpSpPr>
        <p:grpSpPr>
          <a:xfrm>
            <a:off x="283779" y="4213198"/>
            <a:ext cx="2077146" cy="276999"/>
            <a:chOff x="283779" y="4213198"/>
            <a:chExt cx="2077146" cy="276999"/>
          </a:xfrm>
        </p:grpSpPr>
        <p:pic>
          <p:nvPicPr>
            <p:cNvPr id="2" name="Graphic 1">
              <a:extLst>
                <a:ext uri="{FF2B5EF4-FFF2-40B4-BE49-F238E27FC236}">
                  <a16:creationId xmlns:a16="http://schemas.microsoft.com/office/drawing/2014/main" id="{309C6217-E883-2005-7854-9846D558305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32325" y="4260843"/>
              <a:ext cx="228600" cy="228600"/>
            </a:xfrm>
            <a:prstGeom prst="rect">
              <a:avLst/>
            </a:prstGeom>
          </p:spPr>
        </p:pic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D435142B-912E-4B8A-58D9-C27402CCBF87}"/>
                </a:ext>
              </a:extLst>
            </p:cNvPr>
            <p:cNvSpPr txBox="1"/>
            <p:nvPr userDrawn="1"/>
          </p:nvSpPr>
          <p:spPr>
            <a:xfrm>
              <a:off x="283779" y="4213198"/>
              <a:ext cx="183137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freshness risk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A0CB14B6-5B84-25D4-9CE0-CD4E9AB33AC3}"/>
              </a:ext>
            </a:extLst>
          </p:cNvPr>
          <p:cNvGrpSpPr/>
          <p:nvPr userDrawn="1"/>
        </p:nvGrpSpPr>
        <p:grpSpPr>
          <a:xfrm>
            <a:off x="763256" y="4628191"/>
            <a:ext cx="1597669" cy="307777"/>
            <a:chOff x="763256" y="4610126"/>
            <a:chExt cx="1597669" cy="307777"/>
          </a:xfrm>
        </p:grpSpPr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A826661C-B819-E9F6-2659-EBBAE34CB6D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132325" y="4671752"/>
              <a:ext cx="228600" cy="228600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4929CEE3-98D7-9F5B-587E-4C33DB5EB3B8}"/>
                </a:ext>
              </a:extLst>
            </p:cNvPr>
            <p:cNvSpPr txBox="1"/>
            <p:nvPr userDrawn="1"/>
          </p:nvSpPr>
          <p:spPr>
            <a:xfrm>
              <a:off x="763256" y="4610126"/>
              <a:ext cx="135189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stability</a:t>
              </a:r>
              <a:r>
                <a:rPr lang="en-US" sz="14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 </a:t>
              </a: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831422A-942B-5C44-B632-3495D5574AD2}"/>
              </a:ext>
            </a:extLst>
          </p:cNvPr>
          <p:cNvGrpSpPr/>
          <p:nvPr userDrawn="1"/>
        </p:nvGrpSpPr>
        <p:grpSpPr>
          <a:xfrm>
            <a:off x="632049" y="5073962"/>
            <a:ext cx="1728876" cy="276999"/>
            <a:chOff x="632049" y="5033912"/>
            <a:chExt cx="1728876" cy="276999"/>
          </a:xfrm>
        </p:grpSpPr>
        <p:pic>
          <p:nvPicPr>
            <p:cNvPr id="4" name="Graphic 3">
              <a:extLst>
                <a:ext uri="{FF2B5EF4-FFF2-40B4-BE49-F238E27FC236}">
                  <a16:creationId xmlns:a16="http://schemas.microsoft.com/office/drawing/2014/main" id="{5A08C835-BC34-CED7-C169-00E4B30B00E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2132325" y="5075030"/>
              <a:ext cx="228600" cy="228600"/>
            </a:xfrm>
            <a:prstGeom prst="rect">
              <a:avLst/>
            </a:prstGeom>
          </p:spPr>
        </p:pic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3A69FE6E-A255-48D4-C7E8-F5E6D264D886}"/>
                </a:ext>
              </a:extLst>
            </p:cNvPr>
            <p:cNvSpPr txBox="1"/>
            <p:nvPr userDrawn="1"/>
          </p:nvSpPr>
          <p:spPr>
            <a:xfrm>
              <a:off x="632049" y="5033912"/>
              <a:ext cx="148310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management risk</a:t>
              </a: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5F8C6D75-F690-0C6C-33C1-6B28E6F5F6AC}"/>
              </a:ext>
            </a:extLst>
          </p:cNvPr>
          <p:cNvGrpSpPr/>
          <p:nvPr userDrawn="1"/>
        </p:nvGrpSpPr>
        <p:grpSpPr>
          <a:xfrm>
            <a:off x="708077" y="5488955"/>
            <a:ext cx="1652848" cy="276999"/>
            <a:chOff x="708077" y="5488955"/>
            <a:chExt cx="1652848" cy="276999"/>
          </a:xfrm>
        </p:grpSpPr>
        <p:pic>
          <p:nvPicPr>
            <p:cNvPr id="7" name="Graphic 6">
              <a:extLst>
                <a:ext uri="{FF2B5EF4-FFF2-40B4-BE49-F238E27FC236}">
                  <a16:creationId xmlns:a16="http://schemas.microsoft.com/office/drawing/2014/main" id="{3D163BBF-D73D-9771-B050-1D5ACCF6131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132325" y="5517723"/>
              <a:ext cx="228600" cy="228600"/>
            </a:xfrm>
            <a:prstGeom prst="rect">
              <a:avLst/>
            </a:prstGeom>
          </p:spPr>
        </p:pic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BB860CF2-34E2-DE9F-17DE-0B05CCAB9F66}"/>
                </a:ext>
              </a:extLst>
            </p:cNvPr>
            <p:cNvSpPr txBox="1"/>
            <p:nvPr userDrawn="1"/>
          </p:nvSpPr>
          <p:spPr>
            <a:xfrm>
              <a:off x="708077" y="5488955"/>
              <a:ext cx="1407072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activity risk</a:t>
              </a:r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CE5C3847-A367-1ACD-62C1-099B8EEB07F1}"/>
              </a:ext>
            </a:extLst>
          </p:cNvPr>
          <p:cNvSpPr txBox="1"/>
          <p:nvPr userDrawn="1"/>
        </p:nvSpPr>
        <p:spPr>
          <a:xfrm>
            <a:off x="1972649" y="2655839"/>
            <a:ext cx="1152452" cy="28943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NL" sz="1200" b="1" i="0" dirty="0">
                <a:solidFill>
                  <a:srgbClr val="C1C7CF"/>
                </a:solidFill>
              </a:rPr>
              <a:t>Risk categories</a:t>
            </a:r>
          </a:p>
        </p:txBody>
      </p:sp>
    </p:spTree>
    <p:extLst>
      <p:ext uri="{BB962C8B-B14F-4D97-AF65-F5344CB8AC3E}">
        <p14:creationId xmlns:p14="http://schemas.microsoft.com/office/powerpoint/2010/main" val="328170053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E3D95FD-87E1-8242-936D-A016724AAC60}"/>
              </a:ext>
            </a:extLst>
          </p:cNvPr>
          <p:cNvGrpSpPr/>
          <p:nvPr userDrawn="1"/>
        </p:nvGrpSpPr>
        <p:grpSpPr>
          <a:xfrm>
            <a:off x="340066" y="1737023"/>
            <a:ext cx="5561970" cy="1324829"/>
            <a:chOff x="340066" y="1721909"/>
            <a:chExt cx="5561970" cy="1324829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D59DCD9-95CA-2849-8561-B2216ED23288}"/>
                </a:ext>
              </a:extLst>
            </p:cNvPr>
            <p:cNvSpPr/>
            <p:nvPr/>
          </p:nvSpPr>
          <p:spPr>
            <a:xfrm>
              <a:off x="340066" y="2357792"/>
              <a:ext cx="5405506" cy="688946"/>
            </a:xfrm>
            <a:prstGeom prst="ellipse">
              <a:avLst/>
            </a:prstGeom>
            <a:solidFill>
              <a:srgbClr val="000000">
                <a:alpha val="25000"/>
              </a:srgbClr>
            </a:solidFill>
            <a:ln>
              <a:noFill/>
            </a:ln>
            <a:effectLst>
              <a:softEdge rad="266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26731D74-9128-1544-855C-A1FEBA1CA2CF}"/>
                </a:ext>
              </a:extLst>
            </p:cNvPr>
            <p:cNvSpPr/>
            <p:nvPr/>
          </p:nvSpPr>
          <p:spPr>
            <a:xfrm>
              <a:off x="429915" y="1721909"/>
              <a:ext cx="5472121" cy="972886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429915" y="1364824"/>
            <a:ext cx="4469780" cy="357085"/>
          </a:xfrm>
          <a:prstGeom prst="rect">
            <a:avLst/>
          </a:prstGeom>
          <a:solidFill>
            <a:schemeClr val="accent1"/>
          </a:solidFill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1" dirty="0">
                <a:solidFill>
                  <a:schemeClr val="bg1"/>
                </a:solidFill>
              </a:rPr>
              <a:t>Risks in external dependencies</a:t>
            </a:r>
            <a:r>
              <a:rPr lang="en-US" sz="1600" b="0" dirty="0">
                <a:solidFill>
                  <a:schemeClr val="bg1"/>
                </a:solidFill>
              </a:rPr>
              <a:t> – System overview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B90D4AFC-98E5-0C4A-9707-F2559B9A97DC}"/>
              </a:ext>
            </a:extLst>
          </p:cNvPr>
          <p:cNvSpPr txBox="1">
            <a:spLocks/>
          </p:cNvSpPr>
          <p:nvPr userDrawn="1"/>
        </p:nvSpPr>
        <p:spPr>
          <a:xfrm>
            <a:off x="1204383" y="1831229"/>
            <a:ext cx="3695312" cy="26210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400" b="1" dirty="0">
                <a:solidFill>
                  <a:schemeClr val="accent1"/>
                </a:solidFill>
                <a:latin typeface="Calibri Regular"/>
              </a:rPr>
              <a:t>Risk categories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533868" y="2164896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61038" y="2243219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90395" y="2241262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373046" y="2164896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0436" y="2236451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206995" y="2164896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35071" y="2240877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5040951" y="2164896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529948" y="1793444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0">
                <a:schemeClr val="bg2">
                  <a:alpha val="25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0"/>
          </a:gradFill>
          <a:ln w="9525">
            <a:solidFill>
              <a:schemeClr val="bg2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29948" y="2082563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bg2"/>
              </a:solidFill>
              <a:cs typeface="TheSansMono M5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7CD0235-CB15-C949-BCBD-9E062FB24F3A}"/>
              </a:ext>
            </a:extLst>
          </p:cNvPr>
          <p:cNvSpPr/>
          <p:nvPr userDrawn="1"/>
        </p:nvSpPr>
        <p:spPr>
          <a:xfrm>
            <a:off x="6116295" y="730293"/>
            <a:ext cx="6075705" cy="612770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accent1"/>
              </a:solidFill>
            </a:endParaRP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 userDrawn="1">
            <p:ph sz="quarter" idx="13" hasCustomPrompt="1"/>
          </p:nvPr>
        </p:nvSpPr>
        <p:spPr>
          <a:xfrm>
            <a:off x="6420006" y="1368000"/>
            <a:ext cx="5326793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7149" y="1816783"/>
            <a:ext cx="83510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22570" y="1816783"/>
            <a:ext cx="73443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45172" y="1816783"/>
            <a:ext cx="760514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180072" y="1816783"/>
            <a:ext cx="760514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98590" y="1816783"/>
            <a:ext cx="776867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696774" y="2159781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663674" y="2238104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685476" y="1811668"/>
            <a:ext cx="73443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46E4A2-084F-9B55-1A76-59A9E48860A4}"/>
              </a:ext>
            </a:extLst>
          </p:cNvPr>
          <p:cNvSpPr txBox="1"/>
          <p:nvPr userDrawn="1"/>
        </p:nvSpPr>
        <p:spPr>
          <a:xfrm>
            <a:off x="-143206" y="5881381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lumMod val="60000"/>
                    <a:lumOff val="40000"/>
                    <a:alpha val="50000"/>
                  </a:schemeClr>
                </a:solidFill>
              </a:rPr>
              <a:t>Number of dependencies: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4748B4A-7DD2-00DB-AD86-FD93B244FC19}"/>
              </a:ext>
            </a:extLst>
          </p:cNvPr>
          <p:cNvGrpSpPr/>
          <p:nvPr userDrawn="1"/>
        </p:nvGrpSpPr>
        <p:grpSpPr>
          <a:xfrm>
            <a:off x="184167" y="2938848"/>
            <a:ext cx="2176758" cy="478914"/>
            <a:chOff x="184167" y="2938848"/>
            <a:chExt cx="2176758" cy="478914"/>
          </a:xfrm>
        </p:grpSpPr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FD8BF416-6FD7-D2A6-2D79-58E7A1832B0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132325" y="3145777"/>
              <a:ext cx="228600" cy="22860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8FA3170-93BB-C32C-D469-8D7B377640BD}"/>
                </a:ext>
              </a:extLst>
            </p:cNvPr>
            <p:cNvSpPr txBox="1"/>
            <p:nvPr userDrawn="1"/>
          </p:nvSpPr>
          <p:spPr>
            <a:xfrm>
              <a:off x="184167" y="2938848"/>
              <a:ext cx="1930982" cy="4789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8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vulnerability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5DD96C8-3ACF-1DFF-CF73-0AF5F066614E}"/>
              </a:ext>
            </a:extLst>
          </p:cNvPr>
          <p:cNvGrpSpPr/>
          <p:nvPr userDrawn="1"/>
        </p:nvGrpSpPr>
        <p:grpSpPr>
          <a:xfrm>
            <a:off x="1016807" y="3564280"/>
            <a:ext cx="1344118" cy="423514"/>
            <a:chOff x="1016807" y="3564280"/>
            <a:chExt cx="1344118" cy="423514"/>
          </a:xfrm>
        </p:grpSpPr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5D59CE77-F471-DC75-C135-1DA00EA336B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132325" y="3703034"/>
              <a:ext cx="228600" cy="228600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4AB1C286-E53F-9CE4-4C64-B0026A68614C}"/>
                </a:ext>
              </a:extLst>
            </p:cNvPr>
            <p:cNvSpPr txBox="1"/>
            <p:nvPr userDrawn="1"/>
          </p:nvSpPr>
          <p:spPr>
            <a:xfrm>
              <a:off x="1016807" y="3564280"/>
              <a:ext cx="1098342" cy="4235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5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legal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3B04AA6-0170-8ABA-260D-D0032728A162}"/>
              </a:ext>
            </a:extLst>
          </p:cNvPr>
          <p:cNvGrpSpPr/>
          <p:nvPr userDrawn="1"/>
        </p:nvGrpSpPr>
        <p:grpSpPr>
          <a:xfrm>
            <a:off x="283779" y="4213198"/>
            <a:ext cx="2077146" cy="276999"/>
            <a:chOff x="283779" y="4213198"/>
            <a:chExt cx="2077146" cy="276999"/>
          </a:xfrm>
        </p:grpSpPr>
        <p:pic>
          <p:nvPicPr>
            <p:cNvPr id="35" name="Graphic 34">
              <a:extLst>
                <a:ext uri="{FF2B5EF4-FFF2-40B4-BE49-F238E27FC236}">
                  <a16:creationId xmlns:a16="http://schemas.microsoft.com/office/drawing/2014/main" id="{54275B3F-AB3B-D0D7-E66A-918FA53CB79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32325" y="4260843"/>
              <a:ext cx="228600" cy="228600"/>
            </a:xfrm>
            <a:prstGeom prst="rect">
              <a:avLst/>
            </a:prstGeom>
          </p:spPr>
        </p:pic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CAED634E-2496-806E-376D-3C44D5DAEAD1}"/>
                </a:ext>
              </a:extLst>
            </p:cNvPr>
            <p:cNvSpPr txBox="1"/>
            <p:nvPr userDrawn="1"/>
          </p:nvSpPr>
          <p:spPr>
            <a:xfrm>
              <a:off x="283779" y="4213198"/>
              <a:ext cx="183137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freshness risk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93FE0FE-23FE-D4C7-7966-960B2D6BD3D4}"/>
              </a:ext>
            </a:extLst>
          </p:cNvPr>
          <p:cNvGrpSpPr/>
          <p:nvPr userDrawn="1"/>
        </p:nvGrpSpPr>
        <p:grpSpPr>
          <a:xfrm>
            <a:off x="763256" y="4628191"/>
            <a:ext cx="1597669" cy="307777"/>
            <a:chOff x="763256" y="4610126"/>
            <a:chExt cx="1597669" cy="307777"/>
          </a:xfrm>
        </p:grpSpPr>
        <p:pic>
          <p:nvPicPr>
            <p:cNvPr id="40" name="Graphic 39">
              <a:extLst>
                <a:ext uri="{FF2B5EF4-FFF2-40B4-BE49-F238E27FC236}">
                  <a16:creationId xmlns:a16="http://schemas.microsoft.com/office/drawing/2014/main" id="{A884E1D2-68C4-CC99-6761-4E51BA139A5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132325" y="4671752"/>
              <a:ext cx="228600" cy="228600"/>
            </a:xfrm>
            <a:prstGeom prst="rect">
              <a:avLst/>
            </a:prstGeom>
          </p:spPr>
        </p:pic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1B637B0B-B9F7-C45A-A2CD-E4236903CA44}"/>
                </a:ext>
              </a:extLst>
            </p:cNvPr>
            <p:cNvSpPr txBox="1"/>
            <p:nvPr userDrawn="1"/>
          </p:nvSpPr>
          <p:spPr>
            <a:xfrm>
              <a:off x="763256" y="4610126"/>
              <a:ext cx="135189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stability</a:t>
              </a:r>
              <a:r>
                <a:rPr lang="en-US" sz="14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 </a:t>
              </a: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ADDEE55D-85C5-F1E0-82C9-656E14C98A45}"/>
              </a:ext>
            </a:extLst>
          </p:cNvPr>
          <p:cNvGrpSpPr/>
          <p:nvPr userDrawn="1"/>
        </p:nvGrpSpPr>
        <p:grpSpPr>
          <a:xfrm>
            <a:off x="632049" y="5073962"/>
            <a:ext cx="1728876" cy="276999"/>
            <a:chOff x="632049" y="5033912"/>
            <a:chExt cx="1728876" cy="276999"/>
          </a:xfrm>
        </p:grpSpPr>
        <p:pic>
          <p:nvPicPr>
            <p:cNvPr id="49" name="Graphic 48">
              <a:extLst>
                <a:ext uri="{FF2B5EF4-FFF2-40B4-BE49-F238E27FC236}">
                  <a16:creationId xmlns:a16="http://schemas.microsoft.com/office/drawing/2014/main" id="{638CBB33-3CAC-D4D4-95F0-E601E9651F1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2132325" y="5075030"/>
              <a:ext cx="228600" cy="228600"/>
            </a:xfrm>
            <a:prstGeom prst="rect">
              <a:avLst/>
            </a:prstGeom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EBE0748-E831-C177-8482-1AD9D7C8020A}"/>
                </a:ext>
              </a:extLst>
            </p:cNvPr>
            <p:cNvSpPr txBox="1"/>
            <p:nvPr userDrawn="1"/>
          </p:nvSpPr>
          <p:spPr>
            <a:xfrm>
              <a:off x="632049" y="5033912"/>
              <a:ext cx="148310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management risk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82F96D4F-7882-8E1E-059F-CF281133C60A}"/>
              </a:ext>
            </a:extLst>
          </p:cNvPr>
          <p:cNvGrpSpPr/>
          <p:nvPr userDrawn="1"/>
        </p:nvGrpSpPr>
        <p:grpSpPr>
          <a:xfrm>
            <a:off x="708077" y="5488955"/>
            <a:ext cx="1652848" cy="276999"/>
            <a:chOff x="708077" y="5488955"/>
            <a:chExt cx="1652848" cy="276999"/>
          </a:xfrm>
        </p:grpSpPr>
        <p:pic>
          <p:nvPicPr>
            <p:cNvPr id="59" name="Graphic 58">
              <a:extLst>
                <a:ext uri="{FF2B5EF4-FFF2-40B4-BE49-F238E27FC236}">
                  <a16:creationId xmlns:a16="http://schemas.microsoft.com/office/drawing/2014/main" id="{1A99E526-2AFE-852A-F382-C92035CEFB7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132325" y="5517723"/>
              <a:ext cx="228600" cy="228600"/>
            </a:xfrm>
            <a:prstGeom prst="rect">
              <a:avLst/>
            </a:prstGeom>
          </p:spPr>
        </p:pic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64638D2F-CAB2-BA06-872A-ED7C6CD060EB}"/>
                </a:ext>
              </a:extLst>
            </p:cNvPr>
            <p:cNvSpPr txBox="1"/>
            <p:nvPr userDrawn="1"/>
          </p:nvSpPr>
          <p:spPr>
            <a:xfrm>
              <a:off x="708077" y="5488955"/>
              <a:ext cx="1407072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activity risk</a:t>
              </a:r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DA66A356-888B-5B88-7541-A81781B37E16}"/>
              </a:ext>
            </a:extLst>
          </p:cNvPr>
          <p:cNvSpPr txBox="1"/>
          <p:nvPr userDrawn="1"/>
        </p:nvSpPr>
        <p:spPr>
          <a:xfrm>
            <a:off x="1972649" y="2655839"/>
            <a:ext cx="1152452" cy="28943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NL" sz="1200" b="1" i="0" dirty="0">
                <a:solidFill>
                  <a:srgbClr val="C1C7CF"/>
                </a:solidFill>
              </a:rPr>
              <a:t>Risk categories</a:t>
            </a:r>
          </a:p>
        </p:txBody>
      </p:sp>
    </p:spTree>
    <p:extLst>
      <p:ext uri="{BB962C8B-B14F-4D97-AF65-F5344CB8AC3E}">
        <p14:creationId xmlns:p14="http://schemas.microsoft.com/office/powerpoint/2010/main" val="7848510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hyperlink" Target="https://wiki.sig.eu/confluence/x/JoDbC" TargetMode="Externa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CDFA920-C997-D084-6D6F-203835674864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177137826"/>
              </p:ext>
            </p:extLst>
          </p:nvPr>
        </p:nvGraphicFramePr>
        <p:xfrm>
          <a:off x="12294145" y="1986729"/>
          <a:ext cx="1440000" cy="230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">
                  <a:extLst>
                    <a:ext uri="{9D8B030D-6E8A-4147-A177-3AD203B41FA5}">
                      <a16:colId xmlns:a16="http://schemas.microsoft.com/office/drawing/2014/main" val="355718378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7131648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550956232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39131822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66216837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60903679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68797209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74073916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186812505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55898394"/>
                    </a:ext>
                  </a:extLst>
                </a:gridCol>
              </a:tblGrid>
              <a:tr h="288000"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64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97C8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3BEC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E1E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6F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7771366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6575328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64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ADC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36AA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2159491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470536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ADC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36AA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1587105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C22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EC5D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91B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CD5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552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2382331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8818685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7E16D"/>
                        </a:gs>
                        <a:gs pos="100000">
                          <a:srgbClr val="E0C223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100000">
                          <a:srgbClr val="6AD6E5"/>
                        </a:gs>
                        <a:gs pos="0">
                          <a:srgbClr val="04ABC8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AA98C3"/>
                        </a:gs>
                        <a:gs pos="100000">
                          <a:srgbClr val="6076BA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C5CD59"/>
                        </a:gs>
                        <a:gs pos="100000">
                          <a:srgbClr val="9DA43C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EB935C"/>
                        </a:gs>
                        <a:gs pos="35000">
                          <a:srgbClr val="D65200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560244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E16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C22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AD6E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ABC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A98C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076B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CD5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A43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B935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652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6871530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0424333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B4A3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F981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C64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7C96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C963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9488421"/>
                  </a:ext>
                </a:extLst>
              </a:tr>
            </a:tbl>
          </a:graphicData>
        </a:graphic>
      </p:graphicFrame>
      <p:sp>
        <p:nvSpPr>
          <p:cNvPr id="5" name="TextBox 4">
            <a:hlinkClick r:id="rId23"/>
            <a:extLst>
              <a:ext uri="{FF2B5EF4-FFF2-40B4-BE49-F238E27FC236}">
                <a16:creationId xmlns:a16="http://schemas.microsoft.com/office/drawing/2014/main" id="{97451D23-9484-A5AC-6DE0-B05B1E0505F7}"/>
              </a:ext>
            </a:extLst>
          </p:cNvPr>
          <p:cNvSpPr txBox="1"/>
          <p:nvPr userDrawn="1"/>
        </p:nvSpPr>
        <p:spPr>
          <a:xfrm>
            <a:off x="12260945" y="4406201"/>
            <a:ext cx="1574597" cy="433196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9B9A87"/>
              </a:buClr>
              <a:buSzPct val="100000"/>
              <a:buFont typeface="+mj-lt"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 Bold"/>
                <a:ea typeface="+mn-ea"/>
                <a:cs typeface="+mn-cs"/>
              </a:rPr>
              <a:t>Master template version: </a:t>
            </a:r>
          </a:p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9B9A87"/>
              </a:buClr>
              <a:buSzPct val="100000"/>
              <a:buFont typeface="+mj-lt"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 Regular"/>
                <a:ea typeface="+mn-ea"/>
                <a:cs typeface="+mn-cs"/>
              </a:rPr>
              <a:t>v20220729</a:t>
            </a:r>
            <a:endParaRPr lang="en-US" sz="1000" b="0" i="0" dirty="0">
              <a:solidFill>
                <a:schemeClr val="tx1">
                  <a:lumMod val="60000"/>
                  <a:lumOff val="40000"/>
                </a:schemeClr>
              </a:solidFill>
              <a:latin typeface="Calibri Regular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99FC6F2-3923-4241-B710-1B30D0874A09}"/>
              </a:ext>
            </a:extLst>
          </p:cNvPr>
          <p:cNvSpPr/>
          <p:nvPr userDrawn="1"/>
        </p:nvSpPr>
        <p:spPr>
          <a:xfrm>
            <a:off x="0" y="-1"/>
            <a:ext cx="12192000" cy="686595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F04000-FB3A-6842-9B07-0251B414D6E4}"/>
              </a:ext>
            </a:extLst>
          </p:cNvPr>
          <p:cNvSpPr/>
          <p:nvPr userDrawn="1"/>
        </p:nvSpPr>
        <p:spPr>
          <a:xfrm>
            <a:off x="1526401" y="0"/>
            <a:ext cx="10665600" cy="856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3798" y="1360359"/>
            <a:ext cx="11231962" cy="4971737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6800" y="277200"/>
            <a:ext cx="9810000" cy="2844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>
            <a:spAutoFit/>
          </a:bodyPr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068D9D8-6BDF-E84E-92C4-860CA2E281CA}"/>
              </a:ext>
            </a:extLst>
          </p:cNvPr>
          <p:cNvSpPr txBox="1"/>
          <p:nvPr userDrawn="1"/>
        </p:nvSpPr>
        <p:spPr>
          <a:xfrm>
            <a:off x="-1228363" y="-303006"/>
            <a:ext cx="1228362" cy="1658286"/>
          </a:xfrm>
          <a:prstGeom prst="rect">
            <a:avLst/>
          </a:prstGeom>
          <a:gradFill>
            <a:gsLst>
              <a:gs pos="53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2400000" scaled="0"/>
          </a:gradFill>
        </p:spPr>
        <p:txBody>
          <a:bodyPr wrap="square" rtlCol="0" anchor="b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 HERE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66DECB5-D39A-5146-B4F8-F6AE03D6367F}"/>
              </a:ext>
            </a:extLst>
          </p:cNvPr>
          <p:cNvSpPr txBox="1"/>
          <p:nvPr userDrawn="1"/>
        </p:nvSpPr>
        <p:spPr>
          <a:xfrm>
            <a:off x="-301318" y="-372507"/>
            <a:ext cx="826141" cy="369332"/>
          </a:xfrm>
          <a:prstGeom prst="rect">
            <a:avLst/>
          </a:prstGeom>
          <a:gradFill>
            <a:gsLst>
              <a:gs pos="60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30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    HERE</a:t>
            </a:r>
          </a:p>
        </p:txBody>
      </p:sp>
      <p:sp>
        <p:nvSpPr>
          <p:cNvPr id="80" name="Triangle 79">
            <a:extLst>
              <a:ext uri="{FF2B5EF4-FFF2-40B4-BE49-F238E27FC236}">
                <a16:creationId xmlns:a16="http://schemas.microsoft.com/office/drawing/2014/main" id="{F11C372E-FF74-1C46-AC9A-9C6FAC6B5901}"/>
              </a:ext>
            </a:extLst>
          </p:cNvPr>
          <p:cNvSpPr/>
          <p:nvPr userDrawn="1"/>
        </p:nvSpPr>
        <p:spPr>
          <a:xfrm rot="16200000">
            <a:off x="313381" y="-15883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Freeform 80">
            <a:extLst>
              <a:ext uri="{FF2B5EF4-FFF2-40B4-BE49-F238E27FC236}">
                <a16:creationId xmlns:a16="http://schemas.microsoft.com/office/drawing/2014/main" id="{C37BE910-150E-F547-AA99-B012E5B28DE1}"/>
              </a:ext>
            </a:extLst>
          </p:cNvPr>
          <p:cNvSpPr/>
          <p:nvPr userDrawn="1"/>
        </p:nvSpPr>
        <p:spPr>
          <a:xfrm>
            <a:off x="12191262" y="1535801"/>
            <a:ext cx="1644280" cy="360000"/>
          </a:xfrm>
          <a:custGeom>
            <a:avLst/>
            <a:gdLst>
              <a:gd name="connsiteX0" fmla="*/ 0 w 1644280"/>
              <a:gd name="connsiteY0" fmla="*/ 0 h 360000"/>
              <a:gd name="connsiteX1" fmla="*/ 1584279 w 1644280"/>
              <a:gd name="connsiteY1" fmla="*/ 0 h 360000"/>
              <a:gd name="connsiteX2" fmla="*/ 1644280 w 1644280"/>
              <a:gd name="connsiteY2" fmla="*/ 60001 h 360000"/>
              <a:gd name="connsiteX3" fmla="*/ 1644280 w 1644280"/>
              <a:gd name="connsiteY3" fmla="*/ 299999 h 360000"/>
              <a:gd name="connsiteX4" fmla="*/ 1584279 w 1644280"/>
              <a:gd name="connsiteY4" fmla="*/ 360000 h 360000"/>
              <a:gd name="connsiteX5" fmla="*/ 0 w 1644280"/>
              <a:gd name="connsiteY5" fmla="*/ 360000 h 3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44280" h="360000">
                <a:moveTo>
                  <a:pt x="0" y="0"/>
                </a:moveTo>
                <a:lnTo>
                  <a:pt x="1584279" y="0"/>
                </a:lnTo>
                <a:cubicBezTo>
                  <a:pt x="1617417" y="0"/>
                  <a:pt x="1644280" y="26863"/>
                  <a:pt x="1644280" y="60001"/>
                </a:cubicBezTo>
                <a:lnTo>
                  <a:pt x="1644280" y="299999"/>
                </a:lnTo>
                <a:cubicBezTo>
                  <a:pt x="1644280" y="333137"/>
                  <a:pt x="1617417" y="360000"/>
                  <a:pt x="1584279" y="360000"/>
                </a:cubicBezTo>
                <a:lnTo>
                  <a:pt x="0" y="360000"/>
                </a:lnTo>
                <a:close/>
              </a:path>
            </a:pathLst>
          </a:custGeom>
          <a:gradFill>
            <a:gsLst>
              <a:gs pos="100000">
                <a:schemeClr val="accent1">
                  <a:alpha val="85000"/>
                </a:schemeClr>
              </a:gs>
              <a:gs pos="4000">
                <a:schemeClr val="accent1">
                  <a:alpha val="70000"/>
                </a:schemeClr>
              </a:gs>
              <a:gs pos="0">
                <a:srgbClr val="17323F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16000" rtlCol="0" anchor="ctr">
            <a:noAutofit/>
          </a:bodyPr>
          <a:lstStyle/>
          <a:p>
            <a:pPr lvl="0"/>
            <a:r>
              <a:rPr lang="en-US" sz="1000" b="1" i="0" dirty="0">
                <a:solidFill>
                  <a:schemeClr val="bg1"/>
                </a:solidFill>
                <a:latin typeface="Calibri Bold"/>
              </a:rPr>
              <a:t>SIG COLOR </a:t>
            </a:r>
            <a:r>
              <a:rPr lang="en-US" sz="1000" b="0" i="0" dirty="0">
                <a:solidFill>
                  <a:schemeClr val="bg1"/>
                </a:solidFill>
                <a:latin typeface="Calibri Bold"/>
              </a:rPr>
              <a:t>PALETTE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0CBF917-BBFA-154F-AE49-00C72A97DC4D}"/>
              </a:ext>
            </a:extLst>
          </p:cNvPr>
          <p:cNvSpPr txBox="1"/>
          <p:nvPr userDrawn="1"/>
        </p:nvSpPr>
        <p:spPr>
          <a:xfrm>
            <a:off x="12261348" y="3358336"/>
            <a:ext cx="1432427" cy="268253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Gradients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3190199-C1C2-0549-B59C-931BCAB1B18A}"/>
              </a:ext>
            </a:extLst>
          </p:cNvPr>
          <p:cNvSpPr txBox="1"/>
          <p:nvPr userDrawn="1"/>
        </p:nvSpPr>
        <p:spPr>
          <a:xfrm>
            <a:off x="12261350" y="1990137"/>
            <a:ext cx="777584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Grey tones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A2C8420-18BB-7B4C-A8CE-24531816B381}"/>
              </a:ext>
            </a:extLst>
          </p:cNvPr>
          <p:cNvSpPr txBox="1"/>
          <p:nvPr userDrawn="1"/>
        </p:nvSpPr>
        <p:spPr>
          <a:xfrm>
            <a:off x="12255293" y="2341826"/>
            <a:ext cx="1914733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Text colors light bg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0C230F0-D526-6C4F-9E43-2F708FEF06D1}"/>
              </a:ext>
            </a:extLst>
          </p:cNvPr>
          <p:cNvSpPr txBox="1"/>
          <p:nvPr userDrawn="1"/>
        </p:nvSpPr>
        <p:spPr>
          <a:xfrm>
            <a:off x="12255293" y="2703535"/>
            <a:ext cx="1478852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Adjusted PPT colors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266F376A-0B7A-B448-B37D-0C09B74FA9CF}"/>
              </a:ext>
            </a:extLst>
          </p:cNvPr>
          <p:cNvSpPr txBox="1"/>
          <p:nvPr userDrawn="1"/>
        </p:nvSpPr>
        <p:spPr>
          <a:xfrm>
            <a:off x="12299254" y="2974539"/>
            <a:ext cx="1316722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Default SIG colors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446E0B7-64D4-2F4F-AD07-A36525F701FD}"/>
              </a:ext>
            </a:extLst>
          </p:cNvPr>
          <p:cNvSpPr txBox="1"/>
          <p:nvPr userDrawn="1"/>
        </p:nvSpPr>
        <p:spPr>
          <a:xfrm>
            <a:off x="12255294" y="4008901"/>
            <a:ext cx="1003261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 dirty="0">
                <a:solidFill>
                  <a:schemeClr val="bg1"/>
                </a:solidFill>
                <a:latin typeface="Calibri Bold"/>
              </a:rPr>
              <a:t>Signal colors</a:t>
            </a:r>
          </a:p>
        </p:txBody>
      </p:sp>
      <p:sp>
        <p:nvSpPr>
          <p:cNvPr id="94" name="Triangle 93">
            <a:extLst>
              <a:ext uri="{FF2B5EF4-FFF2-40B4-BE49-F238E27FC236}">
                <a16:creationId xmlns:a16="http://schemas.microsoft.com/office/drawing/2014/main" id="{95EA91EB-DF88-DC4C-8867-A6E89E2C68C6}"/>
              </a:ext>
            </a:extLst>
          </p:cNvPr>
          <p:cNvSpPr/>
          <p:nvPr userDrawn="1"/>
        </p:nvSpPr>
        <p:spPr>
          <a:xfrm>
            <a:off x="-178692" y="1203286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23730BB1-9B79-EB43-8C9B-DD4E1F8DAD52}"/>
              </a:ext>
            </a:extLst>
          </p:cNvPr>
          <p:cNvCxnSpPr>
            <a:cxnSpLocks/>
          </p:cNvCxnSpPr>
          <p:nvPr userDrawn="1"/>
        </p:nvCxnSpPr>
        <p:spPr>
          <a:xfrm>
            <a:off x="517893" y="-299831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6F3CBACC-10D2-674D-8DF2-97BE380A1038}"/>
              </a:ext>
            </a:extLst>
          </p:cNvPr>
          <p:cNvCxnSpPr>
            <a:cxnSpLocks/>
          </p:cNvCxnSpPr>
          <p:nvPr userDrawn="1"/>
        </p:nvCxnSpPr>
        <p:spPr>
          <a:xfrm flipH="1">
            <a:off x="-1179871" y="1352986"/>
            <a:ext cx="1169712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58AB2E3C-062E-554B-991E-0F04B3480EAB}"/>
              </a:ext>
            </a:extLst>
          </p:cNvPr>
          <p:cNvSpPr txBox="1"/>
          <p:nvPr userDrawn="1"/>
        </p:nvSpPr>
        <p:spPr>
          <a:xfrm>
            <a:off x="-1228363" y="6332096"/>
            <a:ext cx="1228362" cy="533854"/>
          </a:xfrm>
          <a:prstGeom prst="rect">
            <a:avLst/>
          </a:prstGeom>
          <a:gradFill>
            <a:gsLst>
              <a:gs pos="56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8000000" scaled="0"/>
          </a:gradFill>
        </p:spPr>
        <p:txBody>
          <a:bodyPr wrap="square" rtlCol="0" anchor="t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 HERE</a:t>
            </a:r>
          </a:p>
        </p:txBody>
      </p:sp>
      <p:sp>
        <p:nvSpPr>
          <p:cNvPr id="98" name="Triangle 97">
            <a:extLst>
              <a:ext uri="{FF2B5EF4-FFF2-40B4-BE49-F238E27FC236}">
                <a16:creationId xmlns:a16="http://schemas.microsoft.com/office/drawing/2014/main" id="{11579231-7E59-274F-85B7-5EF4619636F1}"/>
              </a:ext>
            </a:extLst>
          </p:cNvPr>
          <p:cNvSpPr/>
          <p:nvPr userDrawn="1"/>
        </p:nvSpPr>
        <p:spPr>
          <a:xfrm flipV="1">
            <a:off x="-178692" y="640801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45E706FE-9CC7-DB4A-94D2-5B4F0983B282}"/>
              </a:ext>
            </a:extLst>
          </p:cNvPr>
          <p:cNvCxnSpPr>
            <a:cxnSpLocks/>
          </p:cNvCxnSpPr>
          <p:nvPr userDrawn="1"/>
        </p:nvCxnSpPr>
        <p:spPr>
          <a:xfrm flipH="1">
            <a:off x="-1179871" y="6336930"/>
            <a:ext cx="1169712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A2D8030A-24DD-F24C-B561-91D005086F32}"/>
              </a:ext>
            </a:extLst>
          </p:cNvPr>
          <p:cNvSpPr txBox="1"/>
          <p:nvPr userDrawn="1"/>
        </p:nvSpPr>
        <p:spPr>
          <a:xfrm>
            <a:off x="-301318" y="6865950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89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    HERE</a:t>
            </a:r>
          </a:p>
        </p:txBody>
      </p:sp>
      <p:sp>
        <p:nvSpPr>
          <p:cNvPr id="101" name="Triangle 100">
            <a:extLst>
              <a:ext uri="{FF2B5EF4-FFF2-40B4-BE49-F238E27FC236}">
                <a16:creationId xmlns:a16="http://schemas.microsoft.com/office/drawing/2014/main" id="{FAF50A31-8A21-194A-AACD-F93E3F7DDBA2}"/>
              </a:ext>
            </a:extLst>
          </p:cNvPr>
          <p:cNvSpPr/>
          <p:nvPr userDrawn="1"/>
        </p:nvSpPr>
        <p:spPr>
          <a:xfrm rot="16200000">
            <a:off x="313381" y="7083822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EA568D93-8F76-1F47-8432-E5BA84BD883F}"/>
              </a:ext>
            </a:extLst>
          </p:cNvPr>
          <p:cNvCxnSpPr>
            <a:cxnSpLocks/>
          </p:cNvCxnSpPr>
          <p:nvPr userDrawn="1"/>
        </p:nvCxnSpPr>
        <p:spPr>
          <a:xfrm>
            <a:off x="517893" y="6887674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CA5E9F19-F0DD-8D49-906A-3B4B9F498BE0}"/>
              </a:ext>
            </a:extLst>
          </p:cNvPr>
          <p:cNvSpPr txBox="1"/>
          <p:nvPr userDrawn="1"/>
        </p:nvSpPr>
        <p:spPr>
          <a:xfrm>
            <a:off x="12197109" y="-7624"/>
            <a:ext cx="1256301" cy="1362904"/>
          </a:xfrm>
          <a:prstGeom prst="rect">
            <a:avLst/>
          </a:prstGeom>
          <a:gradFill>
            <a:gsLst>
              <a:gs pos="53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8400000" scaled="0"/>
          </a:gradFill>
        </p:spPr>
        <p:txBody>
          <a:bodyPr wrap="square" rtlCol="0" anchor="b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NO CONTENT HERE</a:t>
            </a:r>
          </a:p>
        </p:txBody>
      </p:sp>
      <p:sp>
        <p:nvSpPr>
          <p:cNvPr id="104" name="Triangle 103">
            <a:extLst>
              <a:ext uri="{FF2B5EF4-FFF2-40B4-BE49-F238E27FC236}">
                <a16:creationId xmlns:a16="http://schemas.microsoft.com/office/drawing/2014/main" id="{26D0B294-32A3-6E48-A0F8-F348E1C5475D}"/>
              </a:ext>
            </a:extLst>
          </p:cNvPr>
          <p:cNvSpPr/>
          <p:nvPr userDrawn="1"/>
        </p:nvSpPr>
        <p:spPr>
          <a:xfrm>
            <a:off x="12278571" y="1203286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25C59B47-1A1E-E048-B3C7-1674CBF00BA4}"/>
              </a:ext>
            </a:extLst>
          </p:cNvPr>
          <p:cNvCxnSpPr>
            <a:cxnSpLocks/>
          </p:cNvCxnSpPr>
          <p:nvPr userDrawn="1"/>
        </p:nvCxnSpPr>
        <p:spPr>
          <a:xfrm flipH="1">
            <a:off x="12206176" y="1352986"/>
            <a:ext cx="1141114" cy="1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31C1F5FB-91A2-734D-A19C-C1FBD5BA6428}"/>
              </a:ext>
            </a:extLst>
          </p:cNvPr>
          <p:cNvSpPr txBox="1"/>
          <p:nvPr userDrawn="1"/>
        </p:nvSpPr>
        <p:spPr>
          <a:xfrm>
            <a:off x="12197109" y="6332096"/>
            <a:ext cx="1256301" cy="533854"/>
          </a:xfrm>
          <a:prstGeom prst="rect">
            <a:avLst/>
          </a:prstGeom>
          <a:gradFill>
            <a:gsLst>
              <a:gs pos="56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4400000" scaled="0"/>
          </a:gradFill>
        </p:spPr>
        <p:txBody>
          <a:bodyPr wrap="square" rtlCol="0" anchor="t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NO CONTENT HERE</a:t>
            </a:r>
          </a:p>
        </p:txBody>
      </p:sp>
      <p:sp>
        <p:nvSpPr>
          <p:cNvPr id="107" name="Triangle 106">
            <a:extLst>
              <a:ext uri="{FF2B5EF4-FFF2-40B4-BE49-F238E27FC236}">
                <a16:creationId xmlns:a16="http://schemas.microsoft.com/office/drawing/2014/main" id="{DE0C5951-F714-9C44-8682-C724B5FE1100}"/>
              </a:ext>
            </a:extLst>
          </p:cNvPr>
          <p:cNvSpPr/>
          <p:nvPr userDrawn="1"/>
        </p:nvSpPr>
        <p:spPr>
          <a:xfrm flipV="1">
            <a:off x="12278571" y="640801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1B6EB480-EA98-0A40-89A3-61F487FE4C85}"/>
              </a:ext>
            </a:extLst>
          </p:cNvPr>
          <p:cNvCxnSpPr>
            <a:cxnSpLocks/>
          </p:cNvCxnSpPr>
          <p:nvPr userDrawn="1"/>
        </p:nvCxnSpPr>
        <p:spPr>
          <a:xfrm flipH="1">
            <a:off x="12206176" y="6329115"/>
            <a:ext cx="1133740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6D8FDB07-3CA8-1B45-A406-77809CF8B74B}"/>
              </a:ext>
            </a:extLst>
          </p:cNvPr>
          <p:cNvSpPr txBox="1"/>
          <p:nvPr userDrawn="1"/>
        </p:nvSpPr>
        <p:spPr>
          <a:xfrm>
            <a:off x="11753369" y="-369332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84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HERE</a:t>
            </a:r>
          </a:p>
        </p:txBody>
      </p:sp>
      <p:sp>
        <p:nvSpPr>
          <p:cNvPr id="110" name="Triangle 109">
            <a:extLst>
              <a:ext uri="{FF2B5EF4-FFF2-40B4-BE49-F238E27FC236}">
                <a16:creationId xmlns:a16="http://schemas.microsoft.com/office/drawing/2014/main" id="{3B56AC1A-0522-8447-B54E-A3B921BE61CA}"/>
              </a:ext>
            </a:extLst>
          </p:cNvPr>
          <p:cNvSpPr/>
          <p:nvPr userDrawn="1"/>
        </p:nvSpPr>
        <p:spPr>
          <a:xfrm rot="5400000" flipH="1">
            <a:off x="11831127" y="-158835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97B4272-1DA3-CD44-8357-76391CEA3A5F}"/>
              </a:ext>
            </a:extLst>
          </p:cNvPr>
          <p:cNvCxnSpPr>
            <a:cxnSpLocks/>
          </p:cNvCxnSpPr>
          <p:nvPr userDrawn="1"/>
        </p:nvCxnSpPr>
        <p:spPr>
          <a:xfrm>
            <a:off x="11748091" y="-303006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8127C6C-4883-104A-B1C6-B43ADDFA08D8}"/>
              </a:ext>
            </a:extLst>
          </p:cNvPr>
          <p:cNvSpPr txBox="1"/>
          <p:nvPr userDrawn="1"/>
        </p:nvSpPr>
        <p:spPr>
          <a:xfrm>
            <a:off x="11753369" y="6873324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32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HERE</a:t>
            </a:r>
          </a:p>
        </p:txBody>
      </p:sp>
      <p:sp>
        <p:nvSpPr>
          <p:cNvPr id="113" name="Triangle 112">
            <a:extLst>
              <a:ext uri="{FF2B5EF4-FFF2-40B4-BE49-F238E27FC236}">
                <a16:creationId xmlns:a16="http://schemas.microsoft.com/office/drawing/2014/main" id="{5E23F091-2253-9A46-A773-B6E33A4E19DA}"/>
              </a:ext>
            </a:extLst>
          </p:cNvPr>
          <p:cNvSpPr/>
          <p:nvPr userDrawn="1"/>
        </p:nvSpPr>
        <p:spPr>
          <a:xfrm rot="5400000" flipH="1">
            <a:off x="11831127" y="7083821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ED939B88-4AB8-874C-A524-9CF7AB4C7AE2}"/>
              </a:ext>
            </a:extLst>
          </p:cNvPr>
          <p:cNvCxnSpPr>
            <a:cxnSpLocks/>
          </p:cNvCxnSpPr>
          <p:nvPr userDrawn="1"/>
        </p:nvCxnSpPr>
        <p:spPr>
          <a:xfrm>
            <a:off x="11748091" y="6874974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662" r:id="rId2"/>
    <p:sldLayoutId id="2147483673" r:id="rId3"/>
    <p:sldLayoutId id="2147483713" r:id="rId4"/>
    <p:sldLayoutId id="2147483714" r:id="rId5"/>
    <p:sldLayoutId id="2147483668" r:id="rId6"/>
    <p:sldLayoutId id="2147483720" r:id="rId7"/>
    <p:sldLayoutId id="2147483719" r:id="rId8"/>
    <p:sldLayoutId id="2147483661" r:id="rId9"/>
    <p:sldLayoutId id="2147483664" r:id="rId10"/>
    <p:sldLayoutId id="2147483692" r:id="rId11"/>
    <p:sldLayoutId id="2147483693" r:id="rId12"/>
    <p:sldLayoutId id="2147483690" r:id="rId13"/>
    <p:sldLayoutId id="2147483691" r:id="rId14"/>
    <p:sldLayoutId id="2147483697" r:id="rId15"/>
    <p:sldLayoutId id="2147483715" r:id="rId16"/>
    <p:sldLayoutId id="2147483717" r:id="rId17"/>
    <p:sldLayoutId id="2147483704" r:id="rId18"/>
    <p:sldLayoutId id="2147483724" r:id="rId19"/>
    <p:sldLayoutId id="2147483726" r:id="rId20"/>
    <p:sldLayoutId id="2147483727" r:id="rId2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000" b="1" kern="1200" spc="-10" smtClean="0">
          <a:solidFill>
            <a:schemeClr val="tx2"/>
          </a:solidFill>
          <a:latin typeface="+mn-lt"/>
          <a:ea typeface="+mn-ea"/>
          <a:cs typeface="+mn-cs"/>
        </a:defRPr>
      </a:lvl1pPr>
    </p:titleStyle>
    <p:bodyStyle>
      <a:lvl1pPr marL="0" indent="-2646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defRPr lang="en-US" sz="1600" kern="1200" smtClean="0">
          <a:solidFill>
            <a:schemeClr val="tx2"/>
          </a:solidFill>
          <a:latin typeface="+mn-lt"/>
          <a:ea typeface="+mn-ea"/>
          <a:cs typeface="+mn-cs"/>
        </a:defRPr>
      </a:lvl1pPr>
      <a:lvl2pPr marL="540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2pPr>
      <a:lvl3pPr marL="792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3pPr>
      <a:lvl4pPr marL="1044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4pPr>
      <a:lvl5pPr marL="1296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51" userDrawn="1">
          <p15:clr>
            <a:srgbClr val="F26B43"/>
          </p15:clr>
        </p15:guide>
        <p15:guide id="2" pos="32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0.emf"/><Relationship Id="rId5" Type="http://schemas.openxmlformats.org/officeDocument/2006/relationships/chart" Target="../charts/chart3.xml"/><Relationship Id="rId4" Type="http://schemas.openxmlformats.org/officeDocument/2006/relationships/image" Target="../media/image19.tiff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20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6C553A6-C217-8C4D-9A6D-8D0D48D4D70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Quality Report on </a:t>
            </a:r>
            <a:r>
              <a:rPr lang="en-US" dirty="0" err="1"/>
              <a:t>SYSTEM_NAME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1FE993F-25A4-CA1C-44DD-67230D2F26A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FC6248-201F-1144-8C5C-E4B4C27EF42F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3636000" y="4119279"/>
            <a:ext cx="1450572" cy="215444"/>
          </a:xfrm>
        </p:spPr>
        <p:txBody>
          <a:bodyPr>
            <a:normAutofit fontScale="40000" lnSpcReduction="20000"/>
          </a:bodyPr>
          <a:lstStyle/>
          <a:p>
            <a:r>
              <a:rPr lang="en-US" dirty="0"/>
              <a:t>Software Improvement Group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EB27F3-0AC4-E148-A0B1-7E0851BF0D3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1722244" y="6525935"/>
            <a:ext cx="64" cy="257763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D10CA19-199D-DB48-2F97-A61E7A0CD1A8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629355" y="6536558"/>
            <a:ext cx="2391680" cy="247948"/>
          </a:xfrm>
        </p:spPr>
        <p:txBody>
          <a:bodyPr>
            <a:normAutofit fontScale="62500" lnSpcReduction="2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9166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E98D751-D7E7-9C49-9738-9C44850081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E27436DB-3651-E842-9FB7-13DA5BE2FAE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Management summary</a:t>
            </a:r>
            <a:endParaRPr lang="en-US">
              <a:solidFill>
                <a:schemeClr val="accent3"/>
              </a:solidFill>
            </a:endParaRP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D763C605-75CA-DC4D-AE17-D3F134A414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5667" y="391823"/>
            <a:ext cx="10023452" cy="313412"/>
          </a:xfrm>
        </p:spPr>
        <p:txBody>
          <a:bodyPr/>
          <a:lstStyle/>
          <a:p>
            <a:r>
              <a:rPr lang="en-US" dirty="0" err="1"/>
              <a:t>SYSTEM_NAME</a:t>
            </a:r>
            <a:r>
              <a:rPr lang="en-US" dirty="0"/>
              <a:t> technical quality: management summary</a:t>
            </a:r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39348AE8-5FBC-0E41-B4E0-8BE6CD80C03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55878" y="1363330"/>
            <a:ext cx="10889789" cy="5185729"/>
          </a:xfrm>
        </p:spPr>
        <p:txBody>
          <a:bodyPr/>
          <a:lstStyle/>
          <a:p>
            <a:pPr marL="0" indent="0">
              <a:lnSpc>
                <a:spcPct val="100000"/>
              </a:lnSpc>
              <a:buNone/>
            </a:pPr>
            <a:r>
              <a:rPr lang="en-US" sz="1800" b="1" dirty="0">
                <a:solidFill>
                  <a:schemeClr val="accent3"/>
                </a:solidFill>
              </a:rPr>
              <a:t>[Maintainability]</a:t>
            </a:r>
            <a:r>
              <a:rPr lang="en-US" sz="1800" dirty="0"/>
              <a:t> The system scores </a:t>
            </a:r>
            <a:r>
              <a:rPr lang="en-US" sz="1800" dirty="0" err="1"/>
              <a:t>MAINT_RELATIVE</a:t>
            </a:r>
            <a:r>
              <a:rPr lang="en-US" sz="1800" dirty="0"/>
              <a:t> the market average with </a:t>
            </a:r>
            <a:r>
              <a:rPr lang="en-US" sz="1800" dirty="0" err="1"/>
              <a:t>MAINT_RATING</a:t>
            </a:r>
            <a:r>
              <a:rPr lang="en-US" sz="1800" dirty="0"/>
              <a:t> stars (</a:t>
            </a:r>
            <a:r>
              <a:rPr lang="en-US" sz="1800" dirty="0" err="1"/>
              <a:t>MAINT_STARS</a:t>
            </a:r>
            <a:r>
              <a:rPr lang="en-US" sz="1800" dirty="0"/>
              <a:t>) on the SIG maintainability model. This indicates </a:t>
            </a:r>
            <a:r>
              <a:rPr lang="en-US" sz="1800" dirty="0" err="1"/>
              <a:t>MAINT_INDICATION</a:t>
            </a:r>
            <a:r>
              <a:rPr lang="en-US" sz="1800" dirty="0"/>
              <a:t> maintenance costs and time to market for functional changes. </a:t>
            </a:r>
            <a:r>
              <a:rPr lang="en-US" sz="1800" dirty="0" err="1"/>
              <a:t>MAINT_OBSERVATION</a:t>
            </a:r>
            <a:endParaRPr lang="en-US" sz="18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800" b="1" dirty="0">
                <a:solidFill>
                  <a:schemeClr val="accent3"/>
                </a:solidFill>
              </a:rPr>
              <a:t>[Technology choice]</a:t>
            </a:r>
            <a:r>
              <a:rPr lang="en-US" sz="1800" dirty="0"/>
              <a:t> The system is </a:t>
            </a:r>
            <a:r>
              <a:rPr lang="en-US" sz="1800" dirty="0" err="1"/>
              <a:t>SYSTEM_PY</a:t>
            </a:r>
            <a:r>
              <a:rPr lang="en-US" sz="1800" dirty="0"/>
              <a:t> </a:t>
            </a:r>
            <a:r>
              <a:rPr lang="en-US" sz="1800" dirty="0" err="1"/>
              <a:t>PY</a:t>
            </a:r>
            <a:r>
              <a:rPr lang="en-US" sz="1800" dirty="0"/>
              <a:t> (</a:t>
            </a:r>
            <a:r>
              <a:rPr lang="en-US" sz="1800" dirty="0" err="1"/>
              <a:t>SYSTEM_LOC_FORMAT_COMMA</a:t>
            </a:r>
            <a:r>
              <a:rPr lang="en-US" sz="1800" dirty="0"/>
              <a:t> LOC) large. </a:t>
            </a:r>
            <a:r>
              <a:rPr lang="en-US" sz="1800" dirty="0" err="1"/>
              <a:t>TECH_SUMMARY</a:t>
            </a:r>
            <a:r>
              <a:rPr lang="en-US" sz="1800" dirty="0"/>
              <a:t> Its main technology is TECH_1_NAME.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800" b="1" dirty="0">
                <a:solidFill>
                  <a:schemeClr val="accent3"/>
                </a:solidFill>
              </a:rPr>
              <a:t>[Test code] </a:t>
            </a:r>
            <a:r>
              <a:rPr lang="en-US" sz="1800" dirty="0"/>
              <a:t>The system has a test/code ratio of </a:t>
            </a:r>
            <a:r>
              <a:rPr lang="en-US" sz="1800" dirty="0" err="1"/>
              <a:t>TEST_CODE_RATIO</a:t>
            </a:r>
            <a:r>
              <a:rPr lang="en-US" sz="1800" dirty="0"/>
              <a:t>. This indicates </a:t>
            </a:r>
            <a:r>
              <a:rPr lang="en-US" sz="1800" dirty="0" err="1"/>
              <a:t>TEST_CODE_SUMMARY</a:t>
            </a:r>
            <a:endParaRPr lang="en-US" sz="1800" dirty="0"/>
          </a:p>
          <a:p>
            <a:pPr marL="0" indent="0">
              <a:lnSpc>
                <a:spcPct val="100000"/>
              </a:lnSpc>
              <a:buNone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4ABC8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[Architecture Quality] </a:t>
            </a:r>
            <a:r>
              <a:rPr lang="en-US" sz="1800" dirty="0"/>
              <a:t>The system rates </a:t>
            </a:r>
            <a:r>
              <a:rPr lang="en-US" sz="1800" dirty="0" err="1"/>
              <a:t>ARCH_RATING</a:t>
            </a:r>
            <a:r>
              <a:rPr lang="en-US" sz="1800" dirty="0"/>
              <a:t> stars (</a:t>
            </a:r>
            <a:r>
              <a:rPr lang="en-US" sz="1800" dirty="0" err="1">
                <a:latin typeface="+mj-lt"/>
              </a:rPr>
              <a:t>ARCH_STARS</a:t>
            </a:r>
            <a:r>
              <a:rPr lang="en-US" sz="1800" dirty="0">
                <a:latin typeface="Calibri" panose="020F0502020204030204" pitchFamily="34" charset="0"/>
              </a:rPr>
              <a:t>)</a:t>
            </a:r>
            <a:r>
              <a:rPr lang="en-US" sz="1800" dirty="0"/>
              <a:t> on the SIG Architecture Quality model, </a:t>
            </a:r>
            <a:r>
              <a:rPr lang="en-US" sz="1800" dirty="0" err="1"/>
              <a:t>ARCH_AT_BELOW</a:t>
            </a:r>
            <a:r>
              <a:rPr lang="en-US" sz="1800" dirty="0"/>
              <a:t> the market average. </a:t>
            </a:r>
            <a:r>
              <a:rPr lang="en-US" sz="1800" dirty="0" err="1"/>
              <a:t>ARCH_WORST_METRIC_REMARK</a:t>
            </a:r>
            <a:endParaRPr lang="en-US" sz="18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1800" b="1" dirty="0">
                <a:solidFill>
                  <a:schemeClr val="accent3"/>
                </a:solidFill>
              </a:rPr>
              <a:t>[Open-source health]</a:t>
            </a:r>
            <a:r>
              <a:rPr lang="en-US" sz="1800" dirty="0"/>
              <a:t> </a:t>
            </a:r>
            <a:r>
              <a:rPr lang="en-US" sz="1800" dirty="0" err="1"/>
              <a:t>OSH_RISK_SUMMARY</a:t>
            </a:r>
            <a:r>
              <a:rPr lang="en-US" sz="1800" dirty="0"/>
              <a:t>.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800" dirty="0">
              <a:solidFill>
                <a:schemeClr val="accent1"/>
              </a:solidFill>
              <a:highlight>
                <a:srgbClr val="FF00FF"/>
              </a:highlight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5343D544-1328-F0BC-2B01-FA489ECF0038}"/>
              </a:ext>
            </a:extLst>
          </p:cNvPr>
          <p:cNvGrpSpPr/>
          <p:nvPr/>
        </p:nvGrpSpPr>
        <p:grpSpPr>
          <a:xfrm>
            <a:off x="3447975" y="6529101"/>
            <a:ext cx="3073536" cy="256609"/>
            <a:chOff x="8280472" y="6533991"/>
            <a:chExt cx="3073536" cy="256609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D64B3137-0ADF-0C01-58A6-4DC8AAE543B6}"/>
                </a:ext>
              </a:extLst>
            </p:cNvPr>
            <p:cNvSpPr txBox="1"/>
            <p:nvPr/>
          </p:nvSpPr>
          <p:spPr>
            <a:xfrm>
              <a:off x="8280472" y="6533991"/>
              <a:ext cx="3073536" cy="256609"/>
            </a:xfrm>
            <a:prstGeom prst="rect">
              <a:avLst/>
            </a:prstGeom>
            <a:noFill/>
          </p:spPr>
          <p:txBody>
            <a:bodyPr wrap="square" lIns="90000" rtlCol="0" anchor="t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US" sz="1000" b="1">
                  <a:solidFill>
                    <a:schemeClr val="accent1"/>
                  </a:solidFill>
                </a:rPr>
                <a:t>LEGEND</a:t>
              </a:r>
              <a:r>
                <a:rPr lang="en-US" sz="1000">
                  <a:solidFill>
                    <a:schemeClr val="accent1"/>
                  </a:solidFill>
                </a:rPr>
                <a:t>:    Low/no risk                                           High risk</a:t>
              </a:r>
            </a:p>
          </p:txBody>
        </p: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3CA0954F-6B17-F07B-256E-572A096BF3BE}"/>
                </a:ext>
              </a:extLst>
            </p:cNvPr>
            <p:cNvCxnSpPr/>
            <p:nvPr/>
          </p:nvCxnSpPr>
          <p:spPr>
            <a:xfrm>
              <a:off x="9631624" y="6670459"/>
              <a:ext cx="1023457" cy="0"/>
            </a:xfrm>
            <a:prstGeom prst="line">
              <a:avLst/>
            </a:prstGeom>
            <a:ln w="63500" cap="rnd">
              <a:gradFill>
                <a:gsLst>
                  <a:gs pos="0">
                    <a:srgbClr val="57C968"/>
                  </a:gs>
                  <a:gs pos="33000">
                    <a:srgbClr val="F8C740"/>
                  </a:gs>
                  <a:gs pos="66000">
                    <a:srgbClr val="EF981A"/>
                  </a:gs>
                  <a:gs pos="100000">
                    <a:srgbClr val="DB493D"/>
                  </a:gs>
                </a:gsLst>
                <a:lin ang="0" scaled="0"/>
              </a:gra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374B119E-D97B-2CBE-3AAC-33962491AA02}"/>
              </a:ext>
            </a:extLst>
          </p:cNvPr>
          <p:cNvSpPr txBox="1"/>
          <p:nvPr/>
        </p:nvSpPr>
        <p:spPr>
          <a:xfrm>
            <a:off x="6445572" y="6528939"/>
            <a:ext cx="2996384" cy="256597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NL" sz="1000">
                <a:solidFill>
                  <a:schemeClr val="accent1"/>
                </a:solidFill>
              </a:rPr>
              <a:t>L = No/Low | M = Moderate | </a:t>
            </a:r>
            <a:r>
              <a:rPr lang="en-GB" sz="1000">
                <a:solidFill>
                  <a:schemeClr val="accent1"/>
                </a:solidFill>
              </a:rPr>
              <a:t>H</a:t>
            </a:r>
            <a:r>
              <a:rPr lang="en-NL" sz="1000">
                <a:solidFill>
                  <a:schemeClr val="accent1"/>
                </a:solidFill>
              </a:rPr>
              <a:t> = High | C = Critical</a:t>
            </a:r>
          </a:p>
        </p:txBody>
      </p:sp>
    </p:spTree>
    <p:extLst>
      <p:ext uri="{BB962C8B-B14F-4D97-AF65-F5344CB8AC3E}">
        <p14:creationId xmlns:p14="http://schemas.microsoft.com/office/powerpoint/2010/main" val="18351534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1F449F31-3719-D447-B334-2BA3512A2A58}"/>
              </a:ext>
            </a:extLst>
          </p:cNvPr>
          <p:cNvSpPr/>
          <p:nvPr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err="1">
              <a:solidFill>
                <a:schemeClr val="bg1"/>
              </a:solidFill>
            </a:endParaRPr>
          </a:p>
        </p:txBody>
      </p:sp>
      <p:sp>
        <p:nvSpPr>
          <p:cNvPr id="57" name="Slide Number Placeholder 1">
            <a:extLst>
              <a:ext uri="{FF2B5EF4-FFF2-40B4-BE49-F238E27FC236}">
                <a16:creationId xmlns:a16="http://schemas.microsoft.com/office/drawing/2014/main" id="{43010B43-E6A1-0A42-81DC-A2705ED0D8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35" name="Text Placeholder 34">
            <a:extLst>
              <a:ext uri="{FF2B5EF4-FFF2-40B4-BE49-F238E27FC236}">
                <a16:creationId xmlns:a16="http://schemas.microsoft.com/office/drawing/2014/main" id="{72F5A018-2E28-3A48-A092-0C11E239922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a-DK" dirty="0"/>
              <a:t>Key </a:t>
            </a:r>
            <a:r>
              <a:rPr lang="da-DK" dirty="0" err="1"/>
              <a:t>findings</a:t>
            </a:r>
            <a:r>
              <a:rPr lang="da-DK" dirty="0"/>
              <a:t> – </a:t>
            </a:r>
            <a:r>
              <a:rPr lang="da-DK" dirty="0" err="1">
                <a:solidFill>
                  <a:schemeClr val="accent3"/>
                </a:solidFill>
              </a:rPr>
              <a:t>technology</a:t>
            </a:r>
            <a:endParaRPr lang="da-DK" dirty="0">
              <a:solidFill>
                <a:schemeClr val="accent3"/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1196999-2FDC-B64D-87C7-CBB95F4037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system is </a:t>
            </a:r>
            <a:r>
              <a:rPr lang="en-US" dirty="0" err="1"/>
              <a:t>VOLUME_RELATIVE</a:t>
            </a:r>
            <a:r>
              <a:rPr lang="en-US" dirty="0"/>
              <a:t> in size and is built primarily in TECH_1_NAME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BE97E62-871D-ED41-BB4A-23A54EDA32B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3297764" cy="4950000"/>
          </a:xfrm>
        </p:spPr>
        <p:txBody>
          <a:bodyPr/>
          <a:lstStyle/>
          <a:p>
            <a:r>
              <a:rPr lang="en-US" dirty="0" err="1"/>
              <a:t>TECH_COMMON_SUMMARY</a:t>
            </a:r>
            <a:endParaRPr lang="en-US" dirty="0"/>
          </a:p>
          <a:p>
            <a:r>
              <a:rPr lang="en-US" dirty="0" err="1"/>
              <a:t>TECH_VARIANCE</a:t>
            </a:r>
            <a:endParaRPr lang="en-US" dirty="0"/>
          </a:p>
        </p:txBody>
      </p:sp>
      <p:sp>
        <p:nvSpPr>
          <p:cNvPr id="18" name="Text Placeholder 29">
            <a:extLst>
              <a:ext uri="{FF2B5EF4-FFF2-40B4-BE49-F238E27FC236}">
                <a16:creationId xmlns:a16="http://schemas.microsoft.com/office/drawing/2014/main" id="{B95F9BC0-7330-914B-8E9E-94AD448E4FBA}"/>
              </a:ext>
            </a:extLst>
          </p:cNvPr>
          <p:cNvSpPr txBox="1">
            <a:spLocks/>
          </p:cNvSpPr>
          <p:nvPr/>
        </p:nvSpPr>
        <p:spPr>
          <a:xfrm>
            <a:off x="9695543" y="5781287"/>
            <a:ext cx="2050125" cy="221497"/>
          </a:xfrm>
          <a:prstGeom prst="rect">
            <a:avLst/>
          </a:prstGeom>
          <a:noFill/>
        </p:spPr>
        <p:txBody>
          <a:bodyPr wrap="none" lIns="0" tIns="0" rIns="108000" bIns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dirty="0" err="1"/>
              <a:t>SYSTEM_PY</a:t>
            </a:r>
            <a:r>
              <a:rPr lang="en-US" dirty="0"/>
              <a:t> </a:t>
            </a:r>
            <a:r>
              <a:rPr lang="en-US" dirty="0" err="1"/>
              <a:t>PY</a:t>
            </a:r>
            <a:endParaRPr lang="en-US" b="0" dirty="0"/>
          </a:p>
        </p:txBody>
      </p:sp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2F056781-96E5-A84E-9B0E-0816F0C0E53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38478197"/>
              </p:ext>
            </p:extLst>
          </p:nvPr>
        </p:nvGraphicFramePr>
        <p:xfrm>
          <a:off x="4258899" y="1366989"/>
          <a:ext cx="7486768" cy="194075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0" name="Table 10">
            <a:extLst>
              <a:ext uri="{FF2B5EF4-FFF2-40B4-BE49-F238E27FC236}">
                <a16:creationId xmlns:a16="http://schemas.microsoft.com/office/drawing/2014/main" id="{47602722-FBEA-F24D-A573-D8200328D2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1163907"/>
              </p:ext>
            </p:extLst>
          </p:nvPr>
        </p:nvGraphicFramePr>
        <p:xfrm>
          <a:off x="4258898" y="3328130"/>
          <a:ext cx="7486769" cy="2154574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37407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816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64441">
                  <a:extLst>
                    <a:ext uri="{9D8B030D-6E8A-4147-A177-3AD203B41FA5}">
                      <a16:colId xmlns:a16="http://schemas.microsoft.com/office/drawing/2014/main" val="3286041723"/>
                    </a:ext>
                  </a:extLst>
                </a:gridCol>
              </a:tblGrid>
              <a:tr h="367774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1" noProof="0">
                          <a:solidFill>
                            <a:schemeClr val="bg1"/>
                          </a:solidFill>
                          <a:latin typeface="+mn-lt"/>
                        </a:rPr>
                        <a:t>Technology</a:t>
                      </a:r>
                      <a:endParaRPr lang="nl-NL" sz="1400" b="1" i="0" noProof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216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nl-NL" sz="1400" b="1" noProof="0">
                          <a:solidFill>
                            <a:schemeClr val="bg1"/>
                          </a:solidFill>
                          <a:latin typeface="+mn-lt"/>
                        </a:rPr>
                        <a:t>LOC</a:t>
                      </a:r>
                      <a:endParaRPr lang="nl-NL" sz="1400" b="1" i="0" noProof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nl-NL" sz="1400" b="1" i="0" noProof="0" err="1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Rebuild</a:t>
                      </a:r>
                      <a:r>
                        <a:rPr lang="nl-NL" sz="1400" b="1" i="0" noProof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 </a:t>
                      </a:r>
                      <a:r>
                        <a:rPr lang="nl-NL" sz="1400" b="1" i="0" noProof="0" err="1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size</a:t>
                      </a:r>
                      <a:r>
                        <a:rPr lang="nl-NL" sz="1400" b="1" i="0" noProof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 (</a:t>
                      </a:r>
                      <a:r>
                        <a:rPr lang="nl-NL" sz="1400" b="1" i="0" noProof="0" err="1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PY</a:t>
                      </a:r>
                      <a:r>
                        <a:rPr lang="nl-NL" sz="1400" b="1" i="0" noProof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)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TECH_1_NAME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TECH_1_LOC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TECH_1_PY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TECH_2_NAME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TECH_2_LOC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TECH_2_PY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TECH_3_NAME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TECH_3_LOC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TECH_3_PY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TECH_4_NAME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TECH_4_LOC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TECH_4_PY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TECH_5_NAME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TECH_5_LOC 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TECH_5_PY 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</a:tbl>
          </a:graphicData>
        </a:graphic>
      </p:graphicFrame>
      <p:sp>
        <p:nvSpPr>
          <p:cNvPr id="17" name="Text Placeholder 29">
            <a:extLst>
              <a:ext uri="{FF2B5EF4-FFF2-40B4-BE49-F238E27FC236}">
                <a16:creationId xmlns:a16="http://schemas.microsoft.com/office/drawing/2014/main" id="{34953B0A-BA73-504C-811A-B3CDE825A186}"/>
              </a:ext>
            </a:extLst>
          </p:cNvPr>
          <p:cNvSpPr txBox="1">
            <a:spLocks/>
          </p:cNvSpPr>
          <p:nvPr/>
        </p:nvSpPr>
        <p:spPr>
          <a:xfrm>
            <a:off x="4478812" y="5781286"/>
            <a:ext cx="1797438" cy="221497"/>
          </a:xfrm>
          <a:prstGeom prst="rect">
            <a:avLst/>
          </a:prstGeom>
          <a:noFill/>
        </p:spPr>
        <p:txBody>
          <a:bodyPr wrap="none" lIns="0" tIns="0" rIns="108000" bIns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dirty="0"/>
              <a:t>Total system volume:</a:t>
            </a:r>
            <a:endParaRPr lang="en-US" b="0" dirty="0"/>
          </a:p>
        </p:txBody>
      </p:sp>
      <p:sp>
        <p:nvSpPr>
          <p:cNvPr id="21" name="Text Placeholder 29">
            <a:extLst>
              <a:ext uri="{FF2B5EF4-FFF2-40B4-BE49-F238E27FC236}">
                <a16:creationId xmlns:a16="http://schemas.microsoft.com/office/drawing/2014/main" id="{9EA93C31-7D02-A448-9A77-0EEE72037098}"/>
              </a:ext>
            </a:extLst>
          </p:cNvPr>
          <p:cNvSpPr txBox="1">
            <a:spLocks/>
          </p:cNvSpPr>
          <p:nvPr/>
        </p:nvSpPr>
        <p:spPr>
          <a:xfrm>
            <a:off x="6628412" y="5781286"/>
            <a:ext cx="2906219" cy="221497"/>
          </a:xfrm>
          <a:prstGeom prst="rect">
            <a:avLst/>
          </a:prstGeom>
          <a:noFill/>
        </p:spPr>
        <p:txBody>
          <a:bodyPr wrap="none" lIns="0" tIns="0" rIns="108000" bIns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dirty="0" err="1"/>
              <a:t>SYSTEM_LOC_FORMAT_COMMA</a:t>
            </a:r>
            <a:r>
              <a:rPr lang="en-US" dirty="0"/>
              <a:t> LOC</a:t>
            </a:r>
            <a:endParaRPr lang="en-US" b="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C0C1FDA-5A36-AF44-81EB-8575C7793171}"/>
              </a:ext>
            </a:extLst>
          </p:cNvPr>
          <p:cNvSpPr txBox="1"/>
          <p:nvPr/>
        </p:nvSpPr>
        <p:spPr>
          <a:xfrm>
            <a:off x="3588669" y="6539325"/>
            <a:ext cx="7345448" cy="246221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r>
              <a:rPr lang="en-US" sz="1000" b="1">
                <a:solidFill>
                  <a:schemeClr val="accent1"/>
                </a:solidFill>
              </a:rPr>
              <a:t>PM</a:t>
            </a:r>
            <a:r>
              <a:rPr lang="en-US" sz="1000">
                <a:solidFill>
                  <a:schemeClr val="accent1"/>
                </a:solidFill>
              </a:rPr>
              <a:t> = Person Months (rebuild size), </a:t>
            </a:r>
            <a:r>
              <a:rPr lang="en-US" sz="1000" b="1" err="1">
                <a:solidFill>
                  <a:schemeClr val="accent1"/>
                </a:solidFill>
              </a:rPr>
              <a:t>PY</a:t>
            </a:r>
            <a:r>
              <a:rPr lang="en-US" sz="1000">
                <a:solidFill>
                  <a:schemeClr val="accent1"/>
                </a:solidFill>
              </a:rPr>
              <a:t> = Person Years (rebuild size)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18CFB0-8BED-E2AA-7F87-EA8A27DA4B79}"/>
              </a:ext>
            </a:extLst>
          </p:cNvPr>
          <p:cNvSpPr txBox="1"/>
          <p:nvPr/>
        </p:nvSpPr>
        <p:spPr>
          <a:xfrm>
            <a:off x="10058400" y="-373182"/>
            <a:ext cx="2000312" cy="355225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 err="1">
                <a:solidFill>
                  <a:schemeClr val="tx2"/>
                </a:solidFill>
              </a:rPr>
              <a:t>TECHNOLOGY_CHART</a:t>
            </a:r>
            <a:endParaRPr lang="en-US" sz="16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030065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A18A21A-24C5-40C5-4CDB-EA624C29AA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433BDC-89A5-E3A4-AEC7-4B221AF3E3B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a-DK" dirty="0"/>
              <a:t>Key </a:t>
            </a:r>
            <a:r>
              <a:rPr lang="da-DK" dirty="0" err="1"/>
              <a:t>findings</a:t>
            </a:r>
            <a:r>
              <a:rPr lang="da-DK" dirty="0"/>
              <a:t> – </a:t>
            </a:r>
            <a:r>
              <a:rPr lang="da-DK" dirty="0">
                <a:solidFill>
                  <a:schemeClr val="accent3"/>
                </a:solidFill>
              </a:rPr>
              <a:t>TEST CODE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F0EBEF5-DCD9-FC37-4864-9AD952D151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SYSTEM_NAME</a:t>
            </a:r>
            <a:r>
              <a:rPr lang="en-US" dirty="0"/>
              <a:t> has an </a:t>
            </a:r>
            <a:r>
              <a:rPr lang="en-US" dirty="0" err="1"/>
              <a:t>TEST_CODE_RELATIVE</a:t>
            </a:r>
            <a:r>
              <a:rPr lang="en-US" dirty="0"/>
              <a:t> test/code ratio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467E356-2302-043B-D4F1-18D148D4F0C8}"/>
              </a:ext>
            </a:extLst>
          </p:cNvPr>
          <p:cNvSpPr txBox="1"/>
          <p:nvPr/>
        </p:nvSpPr>
        <p:spPr>
          <a:xfrm>
            <a:off x="7118733" y="1234521"/>
            <a:ext cx="4376866" cy="388055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b="1" dirty="0" err="1">
                <a:solidFill>
                  <a:schemeClr val="tx2"/>
                </a:solidFill>
              </a:rPr>
              <a:t>TEST_CODE_RATIO</a:t>
            </a:r>
            <a:r>
              <a:rPr lang="en-US" b="1" dirty="0">
                <a:solidFill>
                  <a:schemeClr val="tx2"/>
                </a:solidFill>
              </a:rPr>
              <a:t> overall Test/code ratio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C4A68CB-2FEE-81FD-058E-2E5AD8DB5C6A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468932" y="5953982"/>
            <a:ext cx="4758570" cy="307564"/>
          </a:xfrm>
          <a:prstGeom prst="rect">
            <a:avLst/>
          </a:prstGeom>
        </p:spPr>
      </p:pic>
      <p:graphicFrame>
        <p:nvGraphicFramePr>
          <p:cNvPr id="18" name="Content Placeholder 17">
            <a:extLst>
              <a:ext uri="{FF2B5EF4-FFF2-40B4-BE49-F238E27FC236}">
                <a16:creationId xmlns:a16="http://schemas.microsoft.com/office/drawing/2014/main" id="{AC1B7746-944D-B669-0A8D-A3370AB580DF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3718654622"/>
              </p:ext>
            </p:extLst>
          </p:nvPr>
        </p:nvGraphicFramePr>
        <p:xfrm>
          <a:off x="6957718" y="1622576"/>
          <a:ext cx="4537881" cy="433140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FAA0E6AF-E77A-4F4C-45E8-1299E5B1FD0B}"/>
              </a:ext>
            </a:extLst>
          </p:cNvPr>
          <p:cNvSpPr txBox="1"/>
          <p:nvPr/>
        </p:nvSpPr>
        <p:spPr>
          <a:xfrm>
            <a:off x="9771765" y="-373182"/>
            <a:ext cx="2420235" cy="355225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 err="1">
                <a:solidFill>
                  <a:schemeClr val="tx2"/>
                </a:solidFill>
              </a:rPr>
              <a:t>TEST_CODE_RATIO_CHART</a:t>
            </a:r>
            <a:endParaRPr lang="en-US" sz="1600" dirty="0">
              <a:solidFill>
                <a:schemeClr val="tx2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193147D-DFE7-6BE7-7441-6D385DFAA343}"/>
              </a:ext>
            </a:extLst>
          </p:cNvPr>
          <p:cNvSpPr txBox="1"/>
          <p:nvPr/>
        </p:nvSpPr>
        <p:spPr>
          <a:xfrm>
            <a:off x="553154" y="1444963"/>
            <a:ext cx="4989689" cy="118987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 err="1">
                <a:solidFill>
                  <a:schemeClr val="tx2"/>
                </a:solidFill>
              </a:rPr>
              <a:t>SYSTEM_NAME</a:t>
            </a:r>
            <a:r>
              <a:rPr lang="en-US" sz="1600" dirty="0">
                <a:solidFill>
                  <a:schemeClr val="tx2"/>
                </a:solidFill>
              </a:rPr>
              <a:t> scores </a:t>
            </a:r>
            <a:r>
              <a:rPr lang="en-US" sz="1600" dirty="0" err="1">
                <a:solidFill>
                  <a:schemeClr val="tx2"/>
                </a:solidFill>
              </a:rPr>
              <a:t>TEST_CODE_RELATIVE</a:t>
            </a:r>
            <a:r>
              <a:rPr lang="en-US" sz="1600" dirty="0">
                <a:solidFill>
                  <a:schemeClr val="tx2"/>
                </a:solidFill>
              </a:rPr>
              <a:t>, with </a:t>
            </a:r>
            <a:r>
              <a:rPr lang="en-US" sz="1600" dirty="0" err="1">
                <a:solidFill>
                  <a:schemeClr val="tx2"/>
                </a:solidFill>
              </a:rPr>
              <a:t>TEST_CODE_RATIO</a:t>
            </a:r>
            <a:r>
              <a:rPr lang="en-US" sz="1600" dirty="0">
                <a:solidFill>
                  <a:schemeClr val="tx2"/>
                </a:solidFill>
              </a:rPr>
              <a:t> test/production code ratio. </a:t>
            </a:r>
          </a:p>
          <a:p>
            <a:pPr algn="l">
              <a:lnSpc>
                <a:spcPct val="113000"/>
              </a:lnSpc>
            </a:pPr>
            <a:endParaRPr lang="en-US" sz="1600" dirty="0">
              <a:solidFill>
                <a:schemeClr val="tx2"/>
              </a:solidFill>
            </a:endParaRPr>
          </a:p>
          <a:p>
            <a:pPr algn="l">
              <a:lnSpc>
                <a:spcPct val="113000"/>
              </a:lnSpc>
            </a:pPr>
            <a:r>
              <a:rPr lang="en-US" sz="1600" dirty="0" err="1">
                <a:solidFill>
                  <a:schemeClr val="tx2"/>
                </a:solidFill>
              </a:rPr>
              <a:t>TEST_CODE_SUMMARY</a:t>
            </a:r>
            <a:endParaRPr lang="en-US" sz="16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267132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686A1C3D-3AA8-834F-A994-FA0207D364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1010101"/>
            <a:ext cx="12192000" cy="5390415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D99F1CB-7901-D148-8851-054AF6F7AB3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105790" y="169213"/>
            <a:ext cx="9639877" cy="216756"/>
          </a:xfrm>
        </p:spPr>
        <p:txBody>
          <a:bodyPr/>
          <a:lstStyle/>
          <a:p>
            <a:r>
              <a:rPr lang="da-DK" dirty="0"/>
              <a:t>Key </a:t>
            </a:r>
            <a:r>
              <a:rPr lang="da-DK" dirty="0" err="1"/>
              <a:t>findings</a:t>
            </a:r>
            <a:r>
              <a:rPr lang="da-DK" dirty="0"/>
              <a:t> – </a:t>
            </a:r>
            <a:r>
              <a:rPr lang="da-DK" dirty="0">
                <a:solidFill>
                  <a:schemeClr val="accent3"/>
                </a:solidFill>
              </a:rPr>
              <a:t>Maintainability</a:t>
            </a:r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ADE34061-4828-C24F-8E69-8233C2B42F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SYSTEM_NAME</a:t>
            </a:r>
            <a:r>
              <a:rPr lang="en-US" dirty="0"/>
              <a:t> is a </a:t>
            </a:r>
            <a:r>
              <a:rPr lang="en-US" dirty="0" err="1"/>
              <a:t>MAINT_SIZE</a:t>
            </a:r>
            <a:r>
              <a:rPr lang="en-US" dirty="0"/>
              <a:t> system of </a:t>
            </a:r>
            <a:r>
              <a:rPr lang="en-US"/>
              <a:t>SYSTEM_PY </a:t>
            </a:r>
            <a:r>
              <a:rPr lang="en-US" dirty="0" err="1"/>
              <a:t>PY</a:t>
            </a:r>
            <a:r>
              <a:rPr lang="en-US" dirty="0"/>
              <a:t> which scores </a:t>
            </a:r>
            <a:r>
              <a:rPr lang="en-US" dirty="0" err="1"/>
              <a:t>MAINT_RATING</a:t>
            </a:r>
            <a:r>
              <a:rPr lang="en-US" dirty="0"/>
              <a:t> for maintainability </a:t>
            </a:r>
            <a:endParaRPr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5A22FF7-2BA3-1F40-8DD0-DE0D3F1EF364}"/>
              </a:ext>
            </a:extLst>
          </p:cNvPr>
          <p:cNvSpPr/>
          <p:nvPr/>
        </p:nvSpPr>
        <p:spPr>
          <a:xfrm>
            <a:off x="0" y="856385"/>
            <a:ext cx="12192001" cy="940610"/>
          </a:xfrm>
          <a:prstGeom prst="rect">
            <a:avLst/>
          </a:prstGeom>
          <a:gradFill>
            <a:gsLst>
              <a:gs pos="100000">
                <a:schemeClr val="tx2">
                  <a:alpha val="0"/>
                </a:schemeClr>
              </a:gs>
              <a:gs pos="5000">
                <a:schemeClr val="tx2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14B5C55A-0F65-334C-BA45-7E6C78227CA0}"/>
              </a:ext>
            </a:extLst>
          </p:cNvPr>
          <p:cNvSpPr/>
          <p:nvPr/>
        </p:nvSpPr>
        <p:spPr>
          <a:xfrm>
            <a:off x="634296" y="856385"/>
            <a:ext cx="9349048" cy="6001615"/>
          </a:xfrm>
          <a:prstGeom prst="rect">
            <a:avLst/>
          </a:prstGeom>
          <a:gradFill>
            <a:gsLst>
              <a:gs pos="38000">
                <a:schemeClr val="accent2">
                  <a:alpha val="0"/>
                </a:schemeClr>
              </a:gs>
              <a:gs pos="62000">
                <a:schemeClr val="accent1"/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NL" sz="1600" dirty="0" err="1">
              <a:solidFill>
                <a:schemeClr val="bg1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3CE94B3-7184-6F49-9E35-6B595DC2D4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B2C3C6B-FDFF-1D49-A1BC-305B68E0B083}"/>
              </a:ext>
            </a:extLst>
          </p:cNvPr>
          <p:cNvSpPr txBox="1"/>
          <p:nvPr/>
        </p:nvSpPr>
        <p:spPr>
          <a:xfrm>
            <a:off x="719304" y="1798115"/>
            <a:ext cx="1040819" cy="365350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NL" sz="1600" dirty="0">
                <a:solidFill>
                  <a:schemeClr val="bg1"/>
                </a:solidFill>
                <a:latin typeface="Calibri" panose="020F0502020204030204" pitchFamily="34" charset="0"/>
              </a:rPr>
              <a:t>★★★★★</a:t>
            </a:r>
          </a:p>
          <a:p>
            <a:pPr algn="r">
              <a:lnSpc>
                <a:spcPct val="300000"/>
              </a:lnSpc>
            </a:pPr>
            <a:r>
              <a:rPr lang="en-NL" sz="1600" dirty="0">
                <a:solidFill>
                  <a:schemeClr val="bg1"/>
                </a:solidFill>
                <a:latin typeface="Calibri" panose="020F0502020204030204" pitchFamily="34" charset="0"/>
              </a:rPr>
              <a:t>★★★★</a:t>
            </a:r>
          </a:p>
          <a:p>
            <a:pPr algn="r">
              <a:lnSpc>
                <a:spcPct val="300000"/>
              </a:lnSpc>
            </a:pPr>
            <a:r>
              <a:rPr lang="en-NL" sz="1600" dirty="0">
                <a:solidFill>
                  <a:schemeClr val="bg1"/>
                </a:solidFill>
                <a:latin typeface="Calibri" panose="020F0502020204030204" pitchFamily="34" charset="0"/>
              </a:rPr>
              <a:t>★★★</a:t>
            </a:r>
          </a:p>
          <a:p>
            <a:pPr algn="r">
              <a:lnSpc>
                <a:spcPct val="300000"/>
              </a:lnSpc>
            </a:pPr>
            <a:r>
              <a:rPr lang="en-NL" sz="1600" dirty="0">
                <a:solidFill>
                  <a:schemeClr val="bg1"/>
                </a:solidFill>
                <a:latin typeface="Calibri" panose="020F0502020204030204" pitchFamily="34" charset="0"/>
              </a:rPr>
              <a:t>★★</a:t>
            </a:r>
          </a:p>
          <a:p>
            <a:pPr algn="r">
              <a:lnSpc>
                <a:spcPct val="300000"/>
              </a:lnSpc>
            </a:pPr>
            <a:r>
              <a:rPr lang="en-NL" sz="1600" dirty="0">
                <a:solidFill>
                  <a:schemeClr val="bg1"/>
                </a:solidFill>
                <a:latin typeface="Calibri" panose="020F0502020204030204" pitchFamily="34" charset="0"/>
              </a:rPr>
              <a:t>★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6B9F2E-1FAA-6147-8D4B-123937F3FA14}"/>
              </a:ext>
            </a:extLst>
          </p:cNvPr>
          <p:cNvSpPr txBox="1"/>
          <p:nvPr/>
        </p:nvSpPr>
        <p:spPr>
          <a:xfrm rot="16200000">
            <a:off x="-74159" y="3637528"/>
            <a:ext cx="1247606" cy="27302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NL" sz="1100" b="1" dirty="0">
                <a:solidFill>
                  <a:schemeClr val="accent2"/>
                </a:solidFill>
              </a:rPr>
              <a:t>MAINTAINABILITY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CA2804-3BBC-1243-B252-3606CEE166D1}"/>
              </a:ext>
            </a:extLst>
          </p:cNvPr>
          <p:cNvSpPr txBox="1"/>
          <p:nvPr/>
        </p:nvSpPr>
        <p:spPr>
          <a:xfrm>
            <a:off x="5427385" y="5971218"/>
            <a:ext cx="2826564" cy="27302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NL" sz="1100" b="1" dirty="0">
                <a:solidFill>
                  <a:schemeClr val="accent2"/>
                </a:solidFill>
              </a:rPr>
              <a:t>SYSTEM REBUILD VOLUME</a:t>
            </a:r>
            <a:r>
              <a:rPr lang="en-NL" sz="1100" dirty="0">
                <a:solidFill>
                  <a:schemeClr val="accent2"/>
                </a:solidFill>
              </a:rPr>
              <a:t> IN PERSON YEARS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D40947C-5676-1242-AEC0-87071DBECADF}"/>
              </a:ext>
            </a:extLst>
          </p:cNvPr>
          <p:cNvCxnSpPr/>
          <p:nvPr/>
        </p:nvCxnSpPr>
        <p:spPr>
          <a:xfrm flipV="1">
            <a:off x="723627" y="3154373"/>
            <a:ext cx="0" cy="1245793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C24D10E-589B-A645-A73D-2DF5671E5BCE}"/>
              </a:ext>
            </a:extLst>
          </p:cNvPr>
          <p:cNvCxnSpPr/>
          <p:nvPr/>
        </p:nvCxnSpPr>
        <p:spPr>
          <a:xfrm>
            <a:off x="5427385" y="6293337"/>
            <a:ext cx="2826564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4719D613-2D86-324E-B31C-9B748075401C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75560" y="1842711"/>
            <a:ext cx="9781201" cy="3899777"/>
          </a:xfrm>
          <a:prstGeom prst="rect">
            <a:avLst/>
          </a:prstGeom>
        </p:spPr>
      </p:pic>
      <p:graphicFrame>
        <p:nvGraphicFramePr>
          <p:cNvPr id="25" name="CHART_1">
            <a:extLst>
              <a:ext uri="{FF2B5EF4-FFF2-40B4-BE49-F238E27FC236}">
                <a16:creationId xmlns:a16="http://schemas.microsoft.com/office/drawing/2014/main" id="{71473021-ED8B-E048-AE80-928BC05FB04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93780878"/>
              </p:ext>
            </p:extLst>
          </p:nvPr>
        </p:nvGraphicFramePr>
        <p:xfrm>
          <a:off x="1477919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pSp>
        <p:nvGrpSpPr>
          <p:cNvPr id="27" name="Group 26">
            <a:extLst>
              <a:ext uri="{FF2B5EF4-FFF2-40B4-BE49-F238E27FC236}">
                <a16:creationId xmlns:a16="http://schemas.microsoft.com/office/drawing/2014/main" id="{4FC400F9-4DE2-8F42-8C2D-4150A26F3F2C}"/>
              </a:ext>
            </a:extLst>
          </p:cNvPr>
          <p:cNvGrpSpPr/>
          <p:nvPr/>
        </p:nvGrpSpPr>
        <p:grpSpPr>
          <a:xfrm>
            <a:off x="5245200" y="1363956"/>
            <a:ext cx="3091908" cy="388055"/>
            <a:chOff x="4652159" y="1363956"/>
            <a:chExt cx="3091908" cy="38805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35046831-DB71-A940-A48A-8B319296346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lum bright="100000"/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26023ED-8DC0-D241-985A-9479E28D34EC}"/>
                </a:ext>
              </a:extLst>
            </p:cNvPr>
            <p:cNvSpPr txBox="1"/>
            <p:nvPr/>
          </p:nvSpPr>
          <p:spPr>
            <a:xfrm>
              <a:off x="4987587" y="1363956"/>
              <a:ext cx="2756480" cy="388055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NL" b="1" dirty="0">
                  <a:solidFill>
                    <a:schemeClr val="bg1"/>
                  </a:solidFill>
                </a:rPr>
                <a:t>maintainability benchmark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966B7EB-EB40-8F4F-BFE2-14F8A482C1E9}"/>
              </a:ext>
            </a:extLst>
          </p:cNvPr>
          <p:cNvGrpSpPr/>
          <p:nvPr/>
        </p:nvGrpSpPr>
        <p:grpSpPr>
          <a:xfrm>
            <a:off x="1894777" y="5954803"/>
            <a:ext cx="1800067" cy="289438"/>
            <a:chOff x="1894777" y="5954803"/>
            <a:chExt cx="1800067" cy="289438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2F1D2BB0-4FB7-FD48-9491-1CC2359747A2}"/>
                </a:ext>
              </a:extLst>
            </p:cNvPr>
            <p:cNvSpPr/>
            <p:nvPr/>
          </p:nvSpPr>
          <p:spPr>
            <a:xfrm>
              <a:off x="1894777" y="6061515"/>
              <a:ext cx="79513" cy="79513"/>
            </a:xfrm>
            <a:prstGeom prst="ellipse">
              <a:avLst/>
            </a:prstGeom>
            <a:solidFill>
              <a:schemeClr val="bg1">
                <a:alpha val="4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NL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BD5F066-D653-7244-8E79-CAE5026508C0}"/>
                </a:ext>
              </a:extLst>
            </p:cNvPr>
            <p:cNvSpPr txBox="1"/>
            <p:nvPr/>
          </p:nvSpPr>
          <p:spPr>
            <a:xfrm>
              <a:off x="1934534" y="5954803"/>
              <a:ext cx="1760310" cy="28943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NL" sz="1200" dirty="0">
                  <a:solidFill>
                    <a:schemeClr val="bg1"/>
                  </a:solidFill>
                </a:rPr>
                <a:t>System in SIG benchmark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5E6F0224-6430-EFA1-D313-482D221B7593}"/>
              </a:ext>
            </a:extLst>
          </p:cNvPr>
          <p:cNvSpPr txBox="1"/>
          <p:nvPr/>
        </p:nvSpPr>
        <p:spPr>
          <a:xfrm>
            <a:off x="10854411" y="-307357"/>
            <a:ext cx="1404700" cy="355225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 err="1">
                <a:solidFill>
                  <a:schemeClr val="tx2"/>
                </a:solidFill>
              </a:rPr>
              <a:t>GALAXY_SLIDE</a:t>
            </a:r>
            <a:endParaRPr lang="en-US" sz="16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293170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82344C9-4DF8-888C-E386-5F7CF5A90C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220" name="Text Placeholder 219">
            <a:extLst>
              <a:ext uri="{FF2B5EF4-FFF2-40B4-BE49-F238E27FC236}">
                <a16:creationId xmlns:a16="http://schemas.microsoft.com/office/drawing/2014/main" id="{00A717DA-DAF2-CAA1-EA44-F96119C0200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a-DK" dirty="0"/>
              <a:t>Key </a:t>
            </a:r>
            <a:r>
              <a:rPr lang="da-DK" dirty="0" err="1"/>
              <a:t>findings</a:t>
            </a:r>
            <a:r>
              <a:rPr lang="da-DK" dirty="0"/>
              <a:t> – </a:t>
            </a:r>
            <a:r>
              <a:rPr lang="da-DK" dirty="0">
                <a:solidFill>
                  <a:schemeClr val="accent3"/>
                </a:solidFill>
              </a:rPr>
              <a:t>Maintainability</a:t>
            </a:r>
          </a:p>
        </p:txBody>
      </p:sp>
      <p:sp>
        <p:nvSpPr>
          <p:cNvPr id="219" name="Title 218">
            <a:extLst>
              <a:ext uri="{FF2B5EF4-FFF2-40B4-BE49-F238E27FC236}">
                <a16:creationId xmlns:a16="http://schemas.microsoft.com/office/drawing/2014/main" id="{81A0B100-9255-B9B3-FB75-7D8481E0F0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SYSTEM_NAME</a:t>
            </a:r>
            <a:r>
              <a:rPr lang="nl-NL" dirty="0"/>
              <a:t> scores </a:t>
            </a:r>
            <a:r>
              <a:rPr lang="nl-NL" dirty="0" err="1"/>
              <a:t>MAINT_INDICATION</a:t>
            </a:r>
            <a:r>
              <a:rPr lang="nl-NL" dirty="0"/>
              <a:t>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maintainability</a:t>
            </a:r>
            <a:endParaRPr lang="en-NL"/>
          </a:p>
        </p:txBody>
      </p:sp>
      <p:sp>
        <p:nvSpPr>
          <p:cNvPr id="226" name="Text Placeholder 225">
            <a:extLst>
              <a:ext uri="{FF2B5EF4-FFF2-40B4-BE49-F238E27FC236}">
                <a16:creationId xmlns:a16="http://schemas.microsoft.com/office/drawing/2014/main" id="{FB22F9B3-4547-04E1-D239-8DDD0D95567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dirty="0" err="1"/>
              <a:t>MAINT_DATE_DAY</a:t>
            </a:r>
            <a:endParaRPr lang="en-NL"/>
          </a:p>
        </p:txBody>
      </p:sp>
      <p:sp>
        <p:nvSpPr>
          <p:cNvPr id="227" name="Text Placeholder 226">
            <a:extLst>
              <a:ext uri="{FF2B5EF4-FFF2-40B4-BE49-F238E27FC236}">
                <a16:creationId xmlns:a16="http://schemas.microsoft.com/office/drawing/2014/main" id="{FAAA969D-31E3-621C-FDF8-31749FD317A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lang="en-US" dirty="0" err="1"/>
              <a:t>MAINT_DATE_MONTH</a:t>
            </a:r>
            <a:endParaRPr lang="en-NL"/>
          </a:p>
        </p:txBody>
      </p:sp>
      <p:sp>
        <p:nvSpPr>
          <p:cNvPr id="228" name="Text Placeholder 227">
            <a:extLst>
              <a:ext uri="{FF2B5EF4-FFF2-40B4-BE49-F238E27FC236}">
                <a16:creationId xmlns:a16="http://schemas.microsoft.com/office/drawing/2014/main" id="{6875D777-0302-90E7-7B00-67C7D944864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en-US" dirty="0" err="1"/>
              <a:t>MAINT_DATE_YEAR</a:t>
            </a:r>
            <a:endParaRPr lang="en-NL"/>
          </a:p>
        </p:txBody>
      </p:sp>
      <p:sp>
        <p:nvSpPr>
          <p:cNvPr id="221" name="Text Placeholder 220">
            <a:extLst>
              <a:ext uri="{FF2B5EF4-FFF2-40B4-BE49-F238E27FC236}">
                <a16:creationId xmlns:a16="http://schemas.microsoft.com/office/drawing/2014/main" id="{D4753102-29AF-71C5-724A-938F8A485FE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222" name="Text Placeholder 221">
            <a:extLst>
              <a:ext uri="{FF2B5EF4-FFF2-40B4-BE49-F238E27FC236}">
                <a16:creationId xmlns:a16="http://schemas.microsoft.com/office/drawing/2014/main" id="{112BC55F-876B-F175-0A81-D56FEE3ACFB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223" name="Text Placeholder 222">
            <a:extLst>
              <a:ext uri="{FF2B5EF4-FFF2-40B4-BE49-F238E27FC236}">
                <a16:creationId xmlns:a16="http://schemas.microsoft.com/office/drawing/2014/main" id="{06A016B0-CA85-481A-1CD2-DE648976874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224" name="Text Placeholder 223">
            <a:extLst>
              <a:ext uri="{FF2B5EF4-FFF2-40B4-BE49-F238E27FC236}">
                <a16:creationId xmlns:a16="http://schemas.microsoft.com/office/drawing/2014/main" id="{8918AB29-C999-2398-FB62-CD600B4855E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225" name="Text Placeholder 224">
            <a:extLst>
              <a:ext uri="{FF2B5EF4-FFF2-40B4-BE49-F238E27FC236}">
                <a16:creationId xmlns:a16="http://schemas.microsoft.com/office/drawing/2014/main" id="{5E7F6B39-A5EF-94AB-2702-F3E643831B3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229" name="Text Placeholder 228">
            <a:extLst>
              <a:ext uri="{FF2B5EF4-FFF2-40B4-BE49-F238E27FC236}">
                <a16:creationId xmlns:a16="http://schemas.microsoft.com/office/drawing/2014/main" id="{D6184AC1-2E4A-66F7-C655-6901112147F1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9151220" y="914509"/>
            <a:ext cx="984245" cy="257763"/>
          </a:xfrm>
        </p:spPr>
        <p:txBody>
          <a:bodyPr/>
          <a:lstStyle/>
          <a:p>
            <a:r>
              <a:rPr lang="en-GB"/>
              <a:t>Maintainability</a:t>
            </a:r>
            <a:endParaRPr lang="en-NL"/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B0227ECC-F4D1-7273-A4F6-58B0F444DF23}"/>
              </a:ext>
            </a:extLst>
          </p:cNvPr>
          <p:cNvGrpSpPr/>
          <p:nvPr/>
        </p:nvGrpSpPr>
        <p:grpSpPr>
          <a:xfrm>
            <a:off x="5871997" y="1568465"/>
            <a:ext cx="373034" cy="430054"/>
            <a:chOff x="5730574" y="2099850"/>
            <a:chExt cx="373034" cy="430054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22A6F0A6-4311-08D2-8340-B7A7C7FB136C}"/>
                </a:ext>
              </a:extLst>
            </p:cNvPr>
            <p:cNvSpPr>
              <a:spLocks/>
            </p:cNvSpPr>
            <p:nvPr/>
          </p:nvSpPr>
          <p:spPr>
            <a:xfrm>
              <a:off x="5730574" y="2099850"/>
              <a:ext cx="373034" cy="28814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>
              <a:outerShdw blurRad="215900" dist="38100" dir="5400000" sx="91000" sy="91000" algn="t" rotWithShape="0">
                <a:srgbClr val="5C6F7B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72000" tIns="36000" rIns="72000" bIns="36000" rtlCol="0" anchor="b">
              <a:noAutofit/>
            </a:bodyPr>
            <a:lstStyle/>
            <a:p>
              <a:pPr algn="ctr"/>
              <a:r>
                <a:rPr lang="en-US" sz="1400" b="1" dirty="0" err="1"/>
                <a:t>MARKER_MAINT_RATING</a:t>
              </a:r>
              <a:endParaRPr lang="en-US" sz="1400" b="1" dirty="0"/>
            </a:p>
          </p:txBody>
        </p:sp>
        <p:sp>
          <p:nvSpPr>
            <p:cNvPr id="52" name="Pentagon 51">
              <a:extLst>
                <a:ext uri="{FF2B5EF4-FFF2-40B4-BE49-F238E27FC236}">
                  <a16:creationId xmlns:a16="http://schemas.microsoft.com/office/drawing/2014/main" id="{D6282190-CB5E-00CF-1108-FD64568BF250}"/>
                </a:ext>
              </a:extLst>
            </p:cNvPr>
            <p:cNvSpPr/>
            <p:nvPr/>
          </p:nvSpPr>
          <p:spPr>
            <a:xfrm rot="5400000">
              <a:off x="5846487" y="2410820"/>
              <a:ext cx="146814" cy="91353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  <a:effectLst>
              <a:outerShdw dist="12700" dir="5400000" sx="102000" sy="102000" algn="t" rotWithShape="0">
                <a:srgbClr val="F0F3FA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aphicFrame>
        <p:nvGraphicFramePr>
          <p:cNvPr id="236" name="Group 52">
            <a:extLst>
              <a:ext uri="{FF2B5EF4-FFF2-40B4-BE49-F238E27FC236}">
                <a16:creationId xmlns:a16="http://schemas.microsoft.com/office/drawing/2014/main" id="{CEEF6B38-33C1-7E86-53F1-3C2F6EBBC2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2945820"/>
              </p:ext>
            </p:extLst>
          </p:nvPr>
        </p:nvGraphicFramePr>
        <p:xfrm>
          <a:off x="7984631" y="3243717"/>
          <a:ext cx="3755424" cy="1154880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0107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7159">
                  <a:extLst>
                    <a:ext uri="{9D8B030D-6E8A-4147-A177-3AD203B41FA5}">
                      <a16:colId xmlns:a16="http://schemas.microsoft.com/office/drawing/2014/main" val="335839943"/>
                    </a:ext>
                  </a:extLst>
                </a:gridCol>
                <a:gridCol w="567558">
                  <a:extLst>
                    <a:ext uri="{9D8B030D-6E8A-4147-A177-3AD203B41FA5}">
                      <a16:colId xmlns:a16="http://schemas.microsoft.com/office/drawing/2014/main" val="2689889332"/>
                    </a:ext>
                  </a:extLst>
                </a:gridCol>
              </a:tblGrid>
              <a:tr h="3024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173241"/>
                          </a:solidFill>
                          <a:effectLst/>
                          <a:latin typeface="+mn-lt"/>
                        </a:rPr>
                        <a:t>Volume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rgbClr val="17324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STARS_VOLUME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MAINT_RATING_VOLUME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24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17324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Duplication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STARS_DUPLICATION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MAINT_RATING_DUPLICATION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24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173241"/>
                          </a:solidFill>
                          <a:effectLst/>
                          <a:latin typeface="+mn-lt"/>
                        </a:rPr>
                        <a:t>Unit size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rgbClr val="17324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STARS_UNIT_SIZE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MAINT_RATING_UNIT_SIZE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24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17324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Unit complexity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STARS_UNIT_COMPLEXITY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MAINT_RATING_UNIT_COMPLEXITY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39936421"/>
                  </a:ext>
                </a:extLst>
              </a:tr>
              <a:tr h="3024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17324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Unit interfacing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STARS_UNIT_INTERFACING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MAINT_RATING_UNIT_INTERFACING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67257320"/>
                  </a:ext>
                </a:extLst>
              </a:tr>
              <a:tr h="3024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>
                          <a:ln>
                            <a:noFill/>
                          </a:ln>
                          <a:solidFill>
                            <a:srgbClr val="17324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Module coupling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STARS_MODULE_COUPLING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MAINT_RATING_MODULE_COUPLING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33660516"/>
                  </a:ext>
                </a:extLst>
              </a:tr>
              <a:tr h="3024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>
                          <a:ln>
                            <a:noFill/>
                          </a:ln>
                          <a:solidFill>
                            <a:srgbClr val="17324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independence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STARS_COMPONENT_INDEPENDENCE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MAINT_RATING_COMPONENT_INDEPENDENCE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52530004"/>
                  </a:ext>
                </a:extLst>
              </a:tr>
              <a:tr h="3024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17324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entanglement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STARS_COMPONENT_ENTANGLEMENT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MAINT_RATING_COMPONENT_ENTANGLEMENT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48207179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3720861-DD0F-D566-06AC-40B24CCB06F1}"/>
              </a:ext>
            </a:extLst>
          </p:cNvPr>
          <p:cNvSpPr txBox="1"/>
          <p:nvPr/>
        </p:nvSpPr>
        <p:spPr>
          <a:xfrm>
            <a:off x="436369" y="3344081"/>
            <a:ext cx="6811819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17324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SYSTEM_NAME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17324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scores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17324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MAINT_RELATIVE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17324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market average for maintainability. </a:t>
            </a:r>
            <a:r>
              <a:rPr lang="en-US" sz="1600" dirty="0">
                <a:solidFill>
                  <a:schemeClr val="accent1"/>
                </a:solidFill>
              </a:rPr>
              <a:t>This indicates </a:t>
            </a:r>
            <a:r>
              <a:rPr lang="en-US" sz="1600" dirty="0" err="1">
                <a:solidFill>
                  <a:schemeClr val="accent1"/>
                </a:solidFill>
              </a:rPr>
              <a:t>MAINT_INDICATION</a:t>
            </a:r>
            <a:r>
              <a:rPr lang="en-US" sz="1600" dirty="0">
                <a:solidFill>
                  <a:schemeClr val="accent1"/>
                </a:solidFill>
              </a:rPr>
              <a:t> maintenance costs and time to market for functional changes. </a:t>
            </a:r>
          </a:p>
          <a:p>
            <a:endParaRPr lang="en-US" sz="1600" dirty="0">
              <a:solidFill>
                <a:schemeClr val="accent1"/>
              </a:solidFill>
            </a:endParaRPr>
          </a:p>
          <a:p>
            <a:r>
              <a:rPr lang="en-US" sz="1600" b="1" dirty="0">
                <a:solidFill>
                  <a:schemeClr val="accent1"/>
                </a:solidFill>
              </a:rPr>
              <a:t>Notable Metrics</a:t>
            </a:r>
          </a:p>
          <a:p>
            <a:r>
              <a:rPr lang="en-US" sz="1600" dirty="0" err="1">
                <a:solidFill>
                  <a:schemeClr val="accent1"/>
                </a:solidFill>
              </a:rPr>
              <a:t>MAINT_MULTIPLE_OBSERVATIONS</a:t>
            </a:r>
            <a:endParaRPr lang="en-US" sz="1600" dirty="0">
              <a:solidFill>
                <a:schemeClr val="accent1"/>
              </a:solidFill>
              <a:highlight>
                <a:srgbClr val="FF00FF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4563017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2148743-6952-3E41-9EAE-79445DBE18D5}"/>
              </a:ext>
            </a:extLst>
          </p:cNvPr>
          <p:cNvSpPr/>
          <p:nvPr/>
        </p:nvSpPr>
        <p:spPr>
          <a:xfrm>
            <a:off x="540685" y="1890851"/>
            <a:ext cx="11068220" cy="776335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err="1">
              <a:solidFill>
                <a:schemeClr val="bg1"/>
              </a:solidFill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EC80031D-8002-E744-BAAA-BC5222DA882B}"/>
              </a:ext>
            </a:extLst>
          </p:cNvPr>
          <p:cNvSpPr/>
          <p:nvPr/>
        </p:nvSpPr>
        <p:spPr>
          <a:xfrm>
            <a:off x="525694" y="1816445"/>
            <a:ext cx="11098199" cy="853915"/>
          </a:xfrm>
          <a:prstGeom prst="rect">
            <a:avLst/>
          </a:prstGeom>
          <a:gradFill>
            <a:gsLst>
              <a:gs pos="90000">
                <a:srgbClr val="F7F9FC">
                  <a:alpha val="0"/>
                </a:srgbClr>
              </a:gs>
              <a:gs pos="11000">
                <a:schemeClr val="bg2">
                  <a:alpha val="0"/>
                </a:schemeClr>
              </a:gs>
              <a:gs pos="3000">
                <a:schemeClr val="bg2"/>
              </a:gs>
              <a:gs pos="97000">
                <a:schemeClr val="bg2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err="1">
              <a:solidFill>
                <a:schemeClr val="bg1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A8A220B-CADA-304A-81AB-5E5350C665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70" name="Text Placeholder 69">
            <a:extLst>
              <a:ext uri="{FF2B5EF4-FFF2-40B4-BE49-F238E27FC236}">
                <a16:creationId xmlns:a16="http://schemas.microsoft.com/office/drawing/2014/main" id="{25AB7FEC-3C4E-3747-B264-B25107669B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a-DK" dirty="0"/>
              <a:t>Key </a:t>
            </a:r>
            <a:r>
              <a:rPr lang="da-DK" dirty="0" err="1"/>
              <a:t>findings</a:t>
            </a:r>
            <a:r>
              <a:rPr lang="da-DK" dirty="0"/>
              <a:t> – </a:t>
            </a:r>
            <a:r>
              <a:rPr lang="da-DK" dirty="0">
                <a:solidFill>
                  <a:schemeClr val="accent3"/>
                </a:solidFill>
              </a:rPr>
              <a:t>ARCHITECTURE</a:t>
            </a:r>
          </a:p>
        </p:txBody>
      </p:sp>
      <p:sp>
        <p:nvSpPr>
          <p:cNvPr id="20" name="Title 19">
            <a:extLst>
              <a:ext uri="{FF2B5EF4-FFF2-40B4-BE49-F238E27FC236}">
                <a16:creationId xmlns:a16="http://schemas.microsoft.com/office/drawing/2014/main" id="{3F01D3E4-9AF7-134E-86FD-74CBA97999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13000"/>
              </a:lnSpc>
            </a:pPr>
            <a:r>
              <a:rPr lang="en-US" sz="2000" b="1" dirty="0" err="1">
                <a:solidFill>
                  <a:schemeClr val="tx2"/>
                </a:solidFill>
              </a:rPr>
              <a:t>SYSTEM_NAME</a:t>
            </a:r>
            <a:r>
              <a:rPr lang="en-US" sz="2000" b="1" dirty="0">
                <a:solidFill>
                  <a:schemeClr val="tx2"/>
                </a:solidFill>
              </a:rPr>
              <a:t> scores </a:t>
            </a:r>
            <a:r>
              <a:rPr lang="en-US" sz="2000" b="1" dirty="0" err="1">
                <a:solidFill>
                  <a:schemeClr val="tx2"/>
                </a:solidFill>
              </a:rPr>
              <a:t>ARCH_AT_BELOW</a:t>
            </a:r>
            <a:r>
              <a:rPr lang="en-US" sz="2000" b="1" dirty="0">
                <a:solidFill>
                  <a:schemeClr val="tx2"/>
                </a:solidFill>
              </a:rPr>
              <a:t> average (</a:t>
            </a:r>
            <a:r>
              <a:rPr lang="en-US" sz="2000" b="1" dirty="0" err="1">
                <a:solidFill>
                  <a:schemeClr val="tx2"/>
                </a:solidFill>
              </a:rPr>
              <a:t>ARCH_RATING</a:t>
            </a:r>
            <a:r>
              <a:rPr lang="en-US" sz="2000" b="1" dirty="0">
                <a:solidFill>
                  <a:schemeClr val="tx2"/>
                </a:solidFill>
              </a:rPr>
              <a:t> </a:t>
            </a:r>
            <a:r>
              <a:rPr lang="en-US" b="0" dirty="0">
                <a:latin typeface="Calibri" panose="020F0502020204030204" pitchFamily="34" charset="0"/>
              </a:rPr>
              <a:t>★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  <a:r>
              <a:rPr lang="en-US" b="0" dirty="0">
                <a:latin typeface="Calibri" panose="020F0502020204030204" pitchFamily="34" charset="0"/>
              </a:rPr>
              <a:t> </a:t>
            </a:r>
            <a:r>
              <a:rPr lang="en-US" sz="2000" b="1" dirty="0">
                <a:solidFill>
                  <a:schemeClr val="tx2"/>
                </a:solidFill>
              </a:rPr>
              <a:t>for Architecture Quality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2D53A69D-5850-064B-9D98-63B4E85002D6}"/>
              </a:ext>
            </a:extLst>
          </p:cNvPr>
          <p:cNvSpPr/>
          <p:nvPr/>
        </p:nvSpPr>
        <p:spPr bwMode="auto">
          <a:xfrm rot="5400000">
            <a:off x="1548588" y="747406"/>
            <a:ext cx="195321" cy="2211125"/>
          </a:xfrm>
          <a:prstGeom prst="rect">
            <a:avLst/>
          </a:prstGeom>
          <a:solidFill>
            <a:srgbClr val="C00000"/>
          </a:solidFill>
          <a:ln w="190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nl-NL" sz="240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TheSans B5 Plain"/>
              <a:cs typeface="TheSans B5 Plain"/>
            </a:endParaRP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C154D7DA-B6A3-D942-A52D-6155C32505BF}"/>
              </a:ext>
            </a:extLst>
          </p:cNvPr>
          <p:cNvSpPr/>
          <p:nvPr/>
        </p:nvSpPr>
        <p:spPr>
          <a:xfrm>
            <a:off x="543839" y="1944661"/>
            <a:ext cx="2210009" cy="307777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ctr"/>
            <a:r>
              <a:rPr lang="en-GB" sz="1400" dirty="0">
                <a:solidFill>
                  <a:srgbClr val="C5CCD5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★☆☆☆☆</a:t>
            </a:r>
            <a:endParaRPr lang="en-GB" sz="1400" dirty="0">
              <a:solidFill>
                <a:srgbClr val="C5CCD5"/>
              </a:solidFill>
            </a:endParaRP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5AEF5B18-A22E-6343-80E5-093226C827C2}"/>
              </a:ext>
            </a:extLst>
          </p:cNvPr>
          <p:cNvSpPr/>
          <p:nvPr/>
        </p:nvSpPr>
        <p:spPr bwMode="auto">
          <a:xfrm rot="5400000">
            <a:off x="3758269" y="748848"/>
            <a:ext cx="195321" cy="2208241"/>
          </a:xfrm>
          <a:prstGeom prst="rect">
            <a:avLst/>
          </a:prstGeom>
          <a:solidFill>
            <a:srgbClr val="F09819"/>
          </a:solidFill>
          <a:ln w="190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nl-NL" sz="2400" u="none" strike="noStrike" cap="none" normalizeH="0" baseline="0">
              <a:ln>
                <a:solidFill>
                  <a:sysClr val="windowText" lastClr="000000"/>
                </a:solidFill>
              </a:ln>
              <a:solidFill>
                <a:schemeClr val="bg1"/>
              </a:solidFill>
              <a:effectLst/>
              <a:latin typeface="TheSans B5 Plain"/>
              <a:cs typeface="TheSans B5 Plain"/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F23583C2-7594-FB4E-9EFE-2945BE5C3270}"/>
              </a:ext>
            </a:extLst>
          </p:cNvPr>
          <p:cNvSpPr/>
          <p:nvPr/>
        </p:nvSpPr>
        <p:spPr bwMode="auto">
          <a:xfrm rot="5400000">
            <a:off x="8182546" y="741445"/>
            <a:ext cx="195321" cy="2223047"/>
          </a:xfrm>
          <a:prstGeom prst="rect">
            <a:avLst/>
          </a:prstGeom>
          <a:solidFill>
            <a:srgbClr val="57C968"/>
          </a:solidFill>
          <a:ln w="190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nl-NL" sz="240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TheSans B5 Plain"/>
              <a:cs typeface="TheSans B5 Plain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21F2ABEA-AB21-6942-81B5-0EE77F28BD5C}"/>
              </a:ext>
            </a:extLst>
          </p:cNvPr>
          <p:cNvSpPr/>
          <p:nvPr/>
        </p:nvSpPr>
        <p:spPr bwMode="auto">
          <a:xfrm rot="5400000">
            <a:off x="10398054" y="748983"/>
            <a:ext cx="195321" cy="2207971"/>
          </a:xfrm>
          <a:prstGeom prst="rect">
            <a:avLst/>
          </a:prstGeom>
          <a:solidFill>
            <a:srgbClr val="2C963F"/>
          </a:solidFill>
          <a:ln w="190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nl-NL" sz="240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TheSans B5 Plain"/>
              <a:cs typeface="TheSans B5 Plain"/>
            </a:endParaRP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91167323-04D1-624D-AA3F-325DB698FE8C}"/>
              </a:ext>
            </a:extLst>
          </p:cNvPr>
          <p:cNvSpPr/>
          <p:nvPr/>
        </p:nvSpPr>
        <p:spPr>
          <a:xfrm>
            <a:off x="2748924" y="1941933"/>
            <a:ext cx="2209087" cy="307777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ctr"/>
            <a:r>
              <a:rPr lang="en-GB" sz="1400" dirty="0">
                <a:solidFill>
                  <a:srgbClr val="9AA6B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★★☆☆☆</a:t>
            </a:r>
            <a:endParaRPr lang="en-GB" sz="1400" dirty="0">
              <a:solidFill>
                <a:srgbClr val="9AA6B0"/>
              </a:solidFill>
            </a:endParaRP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4805C056-85E7-EC47-8F2C-9FFBD30C699B}"/>
              </a:ext>
            </a:extLst>
          </p:cNvPr>
          <p:cNvSpPr/>
          <p:nvPr/>
        </p:nvSpPr>
        <p:spPr>
          <a:xfrm>
            <a:off x="4956896" y="1939205"/>
            <a:ext cx="2213826" cy="307777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ctr"/>
            <a:r>
              <a:rPr lang="en-GB" sz="1400" dirty="0">
                <a:solidFill>
                  <a:srgbClr val="6E7F8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★★★☆☆</a:t>
            </a:r>
            <a:endParaRPr lang="en-GB" sz="1400" dirty="0">
              <a:solidFill>
                <a:srgbClr val="6E7F8B"/>
              </a:solidFill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62DF8940-DBDE-D04A-9416-03F980EE69A6}"/>
              </a:ext>
            </a:extLst>
          </p:cNvPr>
          <p:cNvSpPr/>
          <p:nvPr/>
        </p:nvSpPr>
        <p:spPr>
          <a:xfrm>
            <a:off x="7181055" y="1947724"/>
            <a:ext cx="2210672" cy="307777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ctr"/>
            <a:r>
              <a:rPr lang="en-GB" sz="1400" dirty="0">
                <a:solidFill>
                  <a:srgbClr val="42596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★★★★☆</a:t>
            </a:r>
            <a:endParaRPr lang="en-GB" sz="1400" dirty="0">
              <a:solidFill>
                <a:srgbClr val="425966"/>
              </a:solidFill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A0972461-B2E3-3A46-92A9-AEE23A81F3B9}"/>
              </a:ext>
            </a:extLst>
          </p:cNvPr>
          <p:cNvSpPr/>
          <p:nvPr/>
        </p:nvSpPr>
        <p:spPr>
          <a:xfrm>
            <a:off x="9402060" y="1947724"/>
            <a:ext cx="2193832" cy="307777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ctr"/>
            <a:r>
              <a:rPr lang="en-GB" sz="1400" dirty="0">
                <a:solidFill>
                  <a:srgbClr val="17324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★★★★★</a:t>
            </a:r>
            <a:endParaRPr lang="en-GB" sz="1400" dirty="0">
              <a:solidFill>
                <a:srgbClr val="173240"/>
              </a:solidFill>
            </a:endParaRP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31FB0B4A-6F6E-BF47-8527-15F1086A865F}"/>
              </a:ext>
            </a:extLst>
          </p:cNvPr>
          <p:cNvSpPr/>
          <p:nvPr/>
        </p:nvSpPr>
        <p:spPr bwMode="auto">
          <a:xfrm rot="5400000">
            <a:off x="5966706" y="748650"/>
            <a:ext cx="195321" cy="2208636"/>
          </a:xfrm>
          <a:prstGeom prst="rect">
            <a:avLst/>
          </a:prstGeom>
          <a:solidFill>
            <a:srgbClr val="F8C640"/>
          </a:solidFill>
          <a:ln w="190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nl-NL" sz="2400" u="none" strike="noStrike" cap="none" normalizeH="0" baseline="0">
              <a:ln>
                <a:solidFill>
                  <a:sysClr val="windowText" lastClr="000000"/>
                </a:solidFill>
              </a:ln>
              <a:solidFill>
                <a:schemeClr val="bg1"/>
              </a:solidFill>
              <a:effectLst/>
              <a:latin typeface="TheSans B5 Plain"/>
              <a:cs typeface="TheSans B5 Plain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796768F9-6045-AE49-B24D-F61166D3EB6D}"/>
              </a:ext>
            </a:extLst>
          </p:cNvPr>
          <p:cNvSpPr txBox="1"/>
          <p:nvPr/>
        </p:nvSpPr>
        <p:spPr>
          <a:xfrm>
            <a:off x="381410" y="2177114"/>
            <a:ext cx="114295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chemeClr val="tx1">
                    <a:lumMod val="60000"/>
                    <a:lumOff val="40000"/>
                  </a:schemeClr>
                </a:solidFill>
              </a:rPr>
              <a:t>0.5		             1.5		                           2.5		        3.5		                      4.5			   5.5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045F6BC3-0EC2-7742-9CCE-F275883089E5}"/>
              </a:ext>
            </a:extLst>
          </p:cNvPr>
          <p:cNvSpPr txBox="1"/>
          <p:nvPr/>
        </p:nvSpPr>
        <p:spPr>
          <a:xfrm>
            <a:off x="5471355" y="2251908"/>
            <a:ext cx="118974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NL" sz="1000" b="1" cap="small">
                <a:solidFill>
                  <a:srgbClr val="85929D"/>
                </a:solidFill>
              </a:rPr>
              <a:t>MARKET-AVERAGE</a:t>
            </a:r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F0A3DFED-AEF8-2B48-A242-97EAC1EC9E77}"/>
              </a:ext>
            </a:extLst>
          </p:cNvPr>
          <p:cNvCxnSpPr/>
          <p:nvPr/>
        </p:nvCxnSpPr>
        <p:spPr>
          <a:xfrm>
            <a:off x="4960051" y="1498428"/>
            <a:ext cx="0" cy="709083"/>
          </a:xfrm>
          <a:prstGeom prst="line">
            <a:avLst/>
          </a:prstGeom>
          <a:ln w="6350" cmpd="sng">
            <a:solidFill>
              <a:srgbClr val="C4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CEFB4D89-3B68-844D-9BCE-97B6664582B2}"/>
              </a:ext>
            </a:extLst>
          </p:cNvPr>
          <p:cNvCxnSpPr/>
          <p:nvPr/>
        </p:nvCxnSpPr>
        <p:spPr>
          <a:xfrm>
            <a:off x="542723" y="1498428"/>
            <a:ext cx="0" cy="709083"/>
          </a:xfrm>
          <a:prstGeom prst="line">
            <a:avLst/>
          </a:prstGeom>
          <a:ln w="6350" cmpd="sng">
            <a:solidFill>
              <a:srgbClr val="C4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8634D086-5422-2B4D-B0DA-75470D69BF18}"/>
              </a:ext>
            </a:extLst>
          </p:cNvPr>
          <p:cNvCxnSpPr/>
          <p:nvPr/>
        </p:nvCxnSpPr>
        <p:spPr>
          <a:xfrm>
            <a:off x="2751812" y="1501261"/>
            <a:ext cx="0" cy="709083"/>
          </a:xfrm>
          <a:prstGeom prst="line">
            <a:avLst/>
          </a:prstGeom>
          <a:ln w="6350" cmpd="sng">
            <a:solidFill>
              <a:srgbClr val="C4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A9B24B0A-42B5-9D43-B1B4-4891FD4D24FB}"/>
              </a:ext>
            </a:extLst>
          </p:cNvPr>
          <p:cNvCxnSpPr/>
          <p:nvPr/>
        </p:nvCxnSpPr>
        <p:spPr>
          <a:xfrm>
            <a:off x="11599702" y="1498428"/>
            <a:ext cx="0" cy="709083"/>
          </a:xfrm>
          <a:prstGeom prst="line">
            <a:avLst/>
          </a:prstGeom>
          <a:ln w="6350" cmpd="sng">
            <a:solidFill>
              <a:srgbClr val="C4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E288335-AA5C-8049-8C30-11DD52E4CE4F}"/>
              </a:ext>
            </a:extLst>
          </p:cNvPr>
          <p:cNvCxnSpPr>
            <a:cxnSpLocks/>
          </p:cNvCxnSpPr>
          <p:nvPr/>
        </p:nvCxnSpPr>
        <p:spPr>
          <a:xfrm>
            <a:off x="540689" y="2667186"/>
            <a:ext cx="11068215" cy="0"/>
          </a:xfrm>
          <a:prstGeom prst="line">
            <a:avLst/>
          </a:prstGeom>
          <a:ln w="19050" cmpd="sng">
            <a:solidFill>
              <a:srgbClr val="C4CCD6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9F12CB44-B742-314A-8BD1-F77760810CC6}"/>
              </a:ext>
            </a:extLst>
          </p:cNvPr>
          <p:cNvCxnSpPr/>
          <p:nvPr/>
        </p:nvCxnSpPr>
        <p:spPr>
          <a:xfrm>
            <a:off x="7168686" y="1498428"/>
            <a:ext cx="0" cy="709083"/>
          </a:xfrm>
          <a:prstGeom prst="line">
            <a:avLst/>
          </a:prstGeom>
          <a:ln w="6350" cmpd="sng">
            <a:solidFill>
              <a:srgbClr val="C4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96551C5D-577A-B242-A077-085BBF0F9CF1}"/>
              </a:ext>
            </a:extLst>
          </p:cNvPr>
          <p:cNvCxnSpPr/>
          <p:nvPr/>
        </p:nvCxnSpPr>
        <p:spPr>
          <a:xfrm>
            <a:off x="9391731" y="1498428"/>
            <a:ext cx="0" cy="709083"/>
          </a:xfrm>
          <a:prstGeom prst="line">
            <a:avLst/>
          </a:prstGeom>
          <a:ln w="6350" cmpd="sng">
            <a:solidFill>
              <a:srgbClr val="C4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1" name="Group 90">
            <a:extLst>
              <a:ext uri="{FF2B5EF4-FFF2-40B4-BE49-F238E27FC236}">
                <a16:creationId xmlns:a16="http://schemas.microsoft.com/office/drawing/2014/main" id="{407D88E2-A714-4442-8CAB-278792CDA698}"/>
              </a:ext>
            </a:extLst>
          </p:cNvPr>
          <p:cNvGrpSpPr/>
          <p:nvPr/>
        </p:nvGrpSpPr>
        <p:grpSpPr>
          <a:xfrm>
            <a:off x="5860604" y="1256023"/>
            <a:ext cx="392906" cy="538322"/>
            <a:chOff x="5720628" y="1991582"/>
            <a:chExt cx="392906" cy="538322"/>
          </a:xfrm>
        </p:grpSpPr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B65E9EFF-1361-6C4B-A578-9931A723E5EC}"/>
                </a:ext>
              </a:extLst>
            </p:cNvPr>
            <p:cNvSpPr/>
            <p:nvPr/>
          </p:nvSpPr>
          <p:spPr>
            <a:xfrm>
              <a:off x="5720628" y="1991582"/>
              <a:ext cx="392906" cy="392906"/>
            </a:xfrm>
            <a:prstGeom prst="rect">
              <a:avLst/>
            </a:prstGeom>
            <a:gradFill>
              <a:gsLst>
                <a:gs pos="0">
                  <a:srgbClr val="6076BA"/>
                </a:gs>
                <a:gs pos="100000">
                  <a:srgbClr val="AA98C3"/>
                </a:gs>
              </a:gsLst>
              <a:lin ang="2700000" scaled="0"/>
            </a:gradFill>
            <a:ln>
              <a:noFill/>
            </a:ln>
            <a:effectLst>
              <a:outerShdw blurRad="215900" dist="38100" dir="5400000" sx="91000" sy="91000" algn="t" rotWithShape="0">
                <a:srgbClr val="5C6F7B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sz="1600" b="1" dirty="0" err="1"/>
                <a:t>MARKER_ARCH_RATING</a:t>
              </a:r>
              <a:endParaRPr lang="en-US" sz="1600" b="1" dirty="0"/>
            </a:p>
          </p:txBody>
        </p:sp>
        <p:sp>
          <p:nvSpPr>
            <p:cNvPr id="101" name="Pentagon 100">
              <a:extLst>
                <a:ext uri="{FF2B5EF4-FFF2-40B4-BE49-F238E27FC236}">
                  <a16:creationId xmlns:a16="http://schemas.microsoft.com/office/drawing/2014/main" id="{69444AF9-F134-CB44-B4A1-AD9EA6C48B83}"/>
                </a:ext>
              </a:extLst>
            </p:cNvPr>
            <p:cNvSpPr/>
            <p:nvPr/>
          </p:nvSpPr>
          <p:spPr>
            <a:xfrm rot="5400000">
              <a:off x="5846487" y="2410820"/>
              <a:ext cx="146814" cy="91353"/>
            </a:xfrm>
            <a:prstGeom prst="homePlate">
              <a:avLst/>
            </a:prstGeom>
            <a:solidFill>
              <a:srgbClr val="A396C1"/>
            </a:solidFill>
            <a:ln>
              <a:noFill/>
            </a:ln>
            <a:effectLst>
              <a:outerShdw dist="12700" dir="5400000" sx="102000" sy="102000" algn="t" rotWithShape="0">
                <a:srgbClr val="F0F3FA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BD5C319F-00F9-D84E-9758-0206A067742F}"/>
              </a:ext>
            </a:extLst>
          </p:cNvPr>
          <p:cNvGrpSpPr/>
          <p:nvPr/>
        </p:nvGrpSpPr>
        <p:grpSpPr>
          <a:xfrm>
            <a:off x="11006327" y="810077"/>
            <a:ext cx="594110" cy="850933"/>
            <a:chOff x="10569980" y="810077"/>
            <a:chExt cx="594110" cy="850933"/>
          </a:xfrm>
        </p:grpSpPr>
        <p:sp>
          <p:nvSpPr>
            <p:cNvPr id="109" name="Oval 108">
              <a:extLst>
                <a:ext uri="{FF2B5EF4-FFF2-40B4-BE49-F238E27FC236}">
                  <a16:creationId xmlns:a16="http://schemas.microsoft.com/office/drawing/2014/main" id="{B7A71700-E7F8-F045-988D-31CE9EE100F4}"/>
                </a:ext>
              </a:extLst>
            </p:cNvPr>
            <p:cNvSpPr/>
            <p:nvPr/>
          </p:nvSpPr>
          <p:spPr>
            <a:xfrm>
              <a:off x="10616419" y="833977"/>
              <a:ext cx="234759" cy="368743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>
              <a:outerShdw blurRad="190500" dist="38100" dir="8100000" algn="tr" rotWithShape="0">
                <a:prstClr val="black">
                  <a:alpha val="46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t"/>
            <a:lstStyle/>
            <a:p>
              <a:pPr algn="l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110" name="Freeform 109">
              <a:extLst>
                <a:ext uri="{FF2B5EF4-FFF2-40B4-BE49-F238E27FC236}">
                  <a16:creationId xmlns:a16="http://schemas.microsoft.com/office/drawing/2014/main" id="{8952E0C5-7D84-894C-9033-F1BE52A32BA6}"/>
                </a:ext>
              </a:extLst>
            </p:cNvPr>
            <p:cNvSpPr/>
            <p:nvPr/>
          </p:nvSpPr>
          <p:spPr>
            <a:xfrm>
              <a:off x="10569980" y="810137"/>
              <a:ext cx="590530" cy="47139"/>
            </a:xfrm>
            <a:custGeom>
              <a:avLst/>
              <a:gdLst>
                <a:gd name="connsiteX0" fmla="*/ 48742 w 590530"/>
                <a:gd name="connsiteY0" fmla="*/ 0 h 47139"/>
                <a:gd name="connsiteX1" fmla="*/ 541788 w 590530"/>
                <a:gd name="connsiteY1" fmla="*/ 0 h 47139"/>
                <a:gd name="connsiteX2" fmla="*/ 587073 w 590530"/>
                <a:gd name="connsiteY2" fmla="*/ 30017 h 47139"/>
                <a:gd name="connsiteX3" fmla="*/ 590530 w 590530"/>
                <a:gd name="connsiteY3" fmla="*/ 47139 h 47139"/>
                <a:gd name="connsiteX4" fmla="*/ 0 w 590530"/>
                <a:gd name="connsiteY4" fmla="*/ 47139 h 47139"/>
                <a:gd name="connsiteX5" fmla="*/ 3457 w 590530"/>
                <a:gd name="connsiteY5" fmla="*/ 30017 h 47139"/>
                <a:gd name="connsiteX6" fmla="*/ 48742 w 590530"/>
                <a:gd name="connsiteY6" fmla="*/ 0 h 47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90530" h="47139">
                  <a:moveTo>
                    <a:pt x="48742" y="0"/>
                  </a:moveTo>
                  <a:lnTo>
                    <a:pt x="541788" y="0"/>
                  </a:lnTo>
                  <a:cubicBezTo>
                    <a:pt x="562145" y="0"/>
                    <a:pt x="579612" y="12377"/>
                    <a:pt x="587073" y="30017"/>
                  </a:cubicBezTo>
                  <a:lnTo>
                    <a:pt x="590530" y="47139"/>
                  </a:lnTo>
                  <a:lnTo>
                    <a:pt x="0" y="47139"/>
                  </a:lnTo>
                  <a:lnTo>
                    <a:pt x="3457" y="30017"/>
                  </a:lnTo>
                  <a:cubicBezTo>
                    <a:pt x="10918" y="12377"/>
                    <a:pt x="28385" y="0"/>
                    <a:pt x="48742" y="0"/>
                  </a:cubicBez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t"/>
            <a:lstStyle/>
            <a:p>
              <a:pPr algn="l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111" name="Freeform 110">
              <a:extLst>
                <a:ext uri="{FF2B5EF4-FFF2-40B4-BE49-F238E27FC236}">
                  <a16:creationId xmlns:a16="http://schemas.microsoft.com/office/drawing/2014/main" id="{36719CF2-01EC-8046-823F-BB3A6315099E}"/>
                </a:ext>
              </a:extLst>
            </p:cNvPr>
            <p:cNvSpPr/>
            <p:nvPr/>
          </p:nvSpPr>
          <p:spPr>
            <a:xfrm>
              <a:off x="10587816" y="810077"/>
              <a:ext cx="576274" cy="850933"/>
            </a:xfrm>
            <a:custGeom>
              <a:avLst/>
              <a:gdLst>
                <a:gd name="connsiteX0" fmla="*/ 24556 w 576274"/>
                <a:gd name="connsiteY0" fmla="*/ 0 h 850933"/>
                <a:gd name="connsiteX1" fmla="*/ 28104 w 576274"/>
                <a:gd name="connsiteY1" fmla="*/ 0 h 850933"/>
                <a:gd name="connsiteX2" fmla="*/ 329430 w 576274"/>
                <a:gd name="connsiteY2" fmla="*/ 0 h 850933"/>
                <a:gd name="connsiteX3" fmla="*/ 527126 w 576274"/>
                <a:gd name="connsiteY3" fmla="*/ 0 h 850933"/>
                <a:gd name="connsiteX4" fmla="*/ 572411 w 576274"/>
                <a:gd name="connsiteY4" fmla="*/ 30017 h 850933"/>
                <a:gd name="connsiteX5" fmla="*/ 575483 w 576274"/>
                <a:gd name="connsiteY5" fmla="*/ 45234 h 850933"/>
                <a:gd name="connsiteX6" fmla="*/ 575483 w 576274"/>
                <a:gd name="connsiteY6" fmla="*/ 572261 h 850933"/>
                <a:gd name="connsiteX7" fmla="*/ 576274 w 576274"/>
                <a:gd name="connsiteY7" fmla="*/ 573052 h 850933"/>
                <a:gd name="connsiteX8" fmla="*/ 576274 w 576274"/>
                <a:gd name="connsiteY8" fmla="*/ 850933 h 850933"/>
                <a:gd name="connsiteX9" fmla="*/ 300905 w 576274"/>
                <a:gd name="connsiteY9" fmla="*/ 575564 h 850933"/>
                <a:gd name="connsiteX10" fmla="*/ 295881 w 576274"/>
                <a:gd name="connsiteY10" fmla="*/ 575564 h 850933"/>
                <a:gd name="connsiteX11" fmla="*/ 20512 w 576274"/>
                <a:gd name="connsiteY11" fmla="*/ 850933 h 850933"/>
                <a:gd name="connsiteX12" fmla="*/ 20512 w 576274"/>
                <a:gd name="connsiteY12" fmla="*/ 575564 h 850933"/>
                <a:gd name="connsiteX13" fmla="*/ 19858 w 576274"/>
                <a:gd name="connsiteY13" fmla="*/ 575564 h 850933"/>
                <a:gd name="connsiteX14" fmla="*/ 19858 w 576274"/>
                <a:gd name="connsiteY14" fmla="*/ 43281 h 850933"/>
                <a:gd name="connsiteX15" fmla="*/ 17180 w 576274"/>
                <a:gd name="connsiteY15" fmla="*/ 30017 h 850933"/>
                <a:gd name="connsiteX16" fmla="*/ 0 w 576274"/>
                <a:gd name="connsiteY16" fmla="*/ 9154 h 850933"/>
                <a:gd name="connsiteX17" fmla="*/ 626 w 576274"/>
                <a:gd name="connsiteY17" fmla="*/ 8394 h 850933"/>
                <a:gd name="connsiteX18" fmla="*/ 19858 w 576274"/>
                <a:gd name="connsiteY18" fmla="*/ 2519 h 850933"/>
                <a:gd name="connsiteX19" fmla="*/ 19858 w 576274"/>
                <a:gd name="connsiteY19" fmla="*/ 1946 h 850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576274" h="850933">
                  <a:moveTo>
                    <a:pt x="24556" y="0"/>
                  </a:moveTo>
                  <a:lnTo>
                    <a:pt x="28104" y="0"/>
                  </a:lnTo>
                  <a:lnTo>
                    <a:pt x="329430" y="0"/>
                  </a:lnTo>
                  <a:lnTo>
                    <a:pt x="527126" y="0"/>
                  </a:lnTo>
                  <a:cubicBezTo>
                    <a:pt x="547483" y="0"/>
                    <a:pt x="564950" y="12377"/>
                    <a:pt x="572411" y="30017"/>
                  </a:cubicBezTo>
                  <a:lnTo>
                    <a:pt x="575483" y="45234"/>
                  </a:lnTo>
                  <a:lnTo>
                    <a:pt x="575483" y="572261"/>
                  </a:lnTo>
                  <a:lnTo>
                    <a:pt x="576274" y="573052"/>
                  </a:lnTo>
                  <a:lnTo>
                    <a:pt x="576274" y="850933"/>
                  </a:lnTo>
                  <a:lnTo>
                    <a:pt x="300905" y="575564"/>
                  </a:lnTo>
                  <a:lnTo>
                    <a:pt x="295881" y="575564"/>
                  </a:lnTo>
                  <a:lnTo>
                    <a:pt x="20512" y="850933"/>
                  </a:lnTo>
                  <a:lnTo>
                    <a:pt x="20512" y="575564"/>
                  </a:lnTo>
                  <a:lnTo>
                    <a:pt x="19858" y="575564"/>
                  </a:lnTo>
                  <a:lnTo>
                    <a:pt x="19858" y="43281"/>
                  </a:lnTo>
                  <a:lnTo>
                    <a:pt x="17180" y="30017"/>
                  </a:lnTo>
                  <a:lnTo>
                    <a:pt x="0" y="9154"/>
                  </a:lnTo>
                  <a:lnTo>
                    <a:pt x="626" y="8394"/>
                  </a:lnTo>
                  <a:lnTo>
                    <a:pt x="19858" y="2519"/>
                  </a:lnTo>
                  <a:lnTo>
                    <a:pt x="19858" y="1946"/>
                  </a:lnTo>
                  <a:close/>
                </a:path>
              </a:pathLst>
            </a:custGeom>
            <a:gradFill>
              <a:gsLst>
                <a:gs pos="81000">
                  <a:schemeClr val="tx2"/>
                </a:gs>
                <a:gs pos="55000">
                  <a:srgbClr val="394D60"/>
                </a:gs>
                <a:gs pos="0">
                  <a:srgbClr val="3F5771"/>
                </a:gs>
                <a:gs pos="13000">
                  <a:schemeClr val="tx2"/>
                </a:gs>
              </a:gsLst>
              <a:lin ang="5400000" scaled="0"/>
            </a:gradFill>
            <a:ln>
              <a:noFill/>
            </a:ln>
            <a:effectLst>
              <a:outerShdw blurRad="254000" dist="38100" dir="8100000" algn="t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t"/>
            <a:lstStyle/>
            <a:p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112" name="TextBox 111">
            <a:extLst>
              <a:ext uri="{FF2B5EF4-FFF2-40B4-BE49-F238E27FC236}">
                <a16:creationId xmlns:a16="http://schemas.microsoft.com/office/drawing/2014/main" id="{B063D054-D822-7C4A-AE2D-EF657B0A353A}"/>
              </a:ext>
            </a:extLst>
          </p:cNvPr>
          <p:cNvSpPr txBox="1"/>
          <p:nvPr/>
        </p:nvSpPr>
        <p:spPr>
          <a:xfrm>
            <a:off x="10647927" y="863629"/>
            <a:ext cx="1353769" cy="539187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1200" b="1" dirty="0" err="1">
                <a:solidFill>
                  <a:schemeClr val="bg1"/>
                </a:solidFill>
              </a:rPr>
              <a:t>ARCH_DATE_DAY</a:t>
            </a:r>
            <a:endParaRPr lang="en-US" sz="1200" b="1" dirty="0">
              <a:solidFill>
                <a:schemeClr val="bg1"/>
              </a:solidFill>
            </a:endParaRPr>
          </a:p>
          <a:p>
            <a:pPr algn="ctr">
              <a:lnSpc>
                <a:spcPct val="80000"/>
              </a:lnSpc>
            </a:pPr>
            <a:r>
              <a:rPr lang="en-US" sz="1200" b="1" dirty="0" err="1">
                <a:solidFill>
                  <a:schemeClr val="bg1"/>
                </a:solidFill>
              </a:rPr>
              <a:t>ARCH_DATE_MONTH</a:t>
            </a:r>
            <a:endParaRPr lang="en-US" sz="1200" b="1" dirty="0">
              <a:solidFill>
                <a:schemeClr val="bg1"/>
              </a:solidFill>
            </a:endParaRPr>
          </a:p>
          <a:p>
            <a:pPr algn="ctr">
              <a:lnSpc>
                <a:spcPct val="80000"/>
              </a:lnSpc>
            </a:pPr>
            <a:r>
              <a:rPr lang="en-US" sz="1200" dirty="0" err="1">
                <a:solidFill>
                  <a:srgbClr val="B3BECD"/>
                </a:solidFill>
              </a:rPr>
              <a:t>ARCH_DATE_YEAR</a:t>
            </a:r>
            <a:endParaRPr lang="en-US" sz="1200" dirty="0">
              <a:solidFill>
                <a:srgbClr val="B3BECD"/>
              </a:solidFill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93AA5BC7-B715-604A-9B9D-83B2DC4945D4}"/>
              </a:ext>
            </a:extLst>
          </p:cNvPr>
          <p:cNvSpPr txBox="1"/>
          <p:nvPr/>
        </p:nvSpPr>
        <p:spPr>
          <a:xfrm>
            <a:off x="10213630" y="924589"/>
            <a:ext cx="813017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b="1" dirty="0">
                <a:solidFill>
                  <a:schemeClr val="tx1">
                    <a:alpha val="50000"/>
                  </a:schemeClr>
                </a:solidFill>
              </a:rPr>
              <a:t>SNAPSHOT DATE</a:t>
            </a:r>
          </a:p>
        </p:txBody>
      </p:sp>
      <p:graphicFrame>
        <p:nvGraphicFramePr>
          <p:cNvPr id="14" name="Group 52">
            <a:extLst>
              <a:ext uri="{FF2B5EF4-FFF2-40B4-BE49-F238E27FC236}">
                <a16:creationId xmlns:a16="http://schemas.microsoft.com/office/drawing/2014/main" id="{48544E3C-8AC7-A154-122B-7281D42AE3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0056931"/>
              </p:ext>
            </p:extLst>
          </p:nvPr>
        </p:nvGraphicFramePr>
        <p:xfrm>
          <a:off x="8124539" y="3092432"/>
          <a:ext cx="3589609" cy="2348856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1970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51100">
                  <a:extLst>
                    <a:ext uri="{9D8B030D-6E8A-4147-A177-3AD203B41FA5}">
                      <a16:colId xmlns:a16="http://schemas.microsoft.com/office/drawing/2014/main" val="335839943"/>
                    </a:ext>
                  </a:extLst>
                </a:gridCol>
                <a:gridCol w="441502">
                  <a:extLst>
                    <a:ext uri="{9D8B030D-6E8A-4147-A177-3AD203B41FA5}">
                      <a16:colId xmlns:a16="http://schemas.microsoft.com/office/drawing/2014/main" val="2689889332"/>
                    </a:ext>
                  </a:extLst>
                </a:gridCol>
              </a:tblGrid>
              <a:tr h="3082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Code Breakdown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STARS_CODE_BREAKDOWN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b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ARCH_RATING_CODE_BREAKDOWN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82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Coupling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STARS_COMPONENT_COUPLING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b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ARCH_RATING_COMPONENT_COUPLING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</a:rPr>
                        <a:t>Component Cohesion</a:t>
                      </a:r>
                      <a:endParaRPr kumimoji="0" lang="en-US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STARS_COMPONENT_COHESION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b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ARCH_RATING_COMPONENT_COHESION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Code Reuse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STARS_CODE_REUSE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b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ARCH_RATING_CODE_REUSE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39936421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Communication Centralization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STARS_COMMUNICATION_CENTRALIZATION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b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ARCH_RATING_COMMUNICATION_CENTRALIZATION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67257320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Data coupling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STARS_DATA_COUPLING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b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ARCH_RATING_DATA_COUPLING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69963878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Technology Prevalence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STARS_TECHNOLOGY_PREVALENCE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b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ARCH_RATING_TECHNOLOGY_PREVALENCE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33660516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Bounded evolution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STARS_BOUNDED_EVOLUTION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b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ARCH_RATING_BOUNDED_EVOLUTION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32174886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GB" sz="1200" b="0" i="0" u="none" strike="noStrike" kern="1200" cap="none" normalizeH="0" baseline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+mn-cs"/>
                        </a:rPr>
                        <a:t>Knowledge distribution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STARS_KNOWLEDGE_DISTRIBUTION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b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ARCH_RATING_KNOWLEDGE_DISTRIBUTION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13005301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freshness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STARS_COMPONENT_FRESHNESS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b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ARCH_RATING_COMPONENT_FRESHNESS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72674231"/>
                  </a:ext>
                </a:extLst>
              </a:tr>
            </a:tbl>
          </a:graphicData>
        </a:graphic>
      </p:graphicFrame>
      <p:sp>
        <p:nvSpPr>
          <p:cNvPr id="3" name="Hexagon 2">
            <a:extLst>
              <a:ext uri="{FF2B5EF4-FFF2-40B4-BE49-F238E27FC236}">
                <a16:creationId xmlns:a16="http://schemas.microsoft.com/office/drawing/2014/main" id="{D5CD9305-CCE9-EA52-C836-9AE14A1102F2}"/>
              </a:ext>
            </a:extLst>
          </p:cNvPr>
          <p:cNvSpPr/>
          <p:nvPr/>
        </p:nvSpPr>
        <p:spPr>
          <a:xfrm>
            <a:off x="707921" y="3519047"/>
            <a:ext cx="1427142" cy="1299028"/>
          </a:xfrm>
          <a:prstGeom prst="hexagon">
            <a:avLst/>
          </a:prstGeom>
          <a:solidFill>
            <a:srgbClr val="DB4A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100" b="1" dirty="0">
                <a:solidFill>
                  <a:schemeClr val="bg1"/>
                </a:solidFill>
              </a:rPr>
              <a:t>Knowledge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COLOR_ARCH_RATING_KNOWLEDGE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20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★</a:t>
            </a:r>
            <a:endParaRPr kumimoji="0" lang="en-US" sz="105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  <p:sp>
        <p:nvSpPr>
          <p:cNvPr id="13" name="Hexagon 12">
            <a:extLst>
              <a:ext uri="{FF2B5EF4-FFF2-40B4-BE49-F238E27FC236}">
                <a16:creationId xmlns:a16="http://schemas.microsoft.com/office/drawing/2014/main" id="{D204D0A0-23BA-8D4D-D1F0-AD503F0745FC}"/>
              </a:ext>
            </a:extLst>
          </p:cNvPr>
          <p:cNvSpPr/>
          <p:nvPr/>
        </p:nvSpPr>
        <p:spPr>
          <a:xfrm>
            <a:off x="1862482" y="2869533"/>
            <a:ext cx="1427142" cy="1299028"/>
          </a:xfrm>
          <a:prstGeom prst="hexagon">
            <a:avLst/>
          </a:prstGeom>
          <a:solidFill>
            <a:srgbClr val="F9C6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900" dirty="0">
                <a:solidFill>
                  <a:srgbClr val="1E354B"/>
                </a:solidFill>
              </a:rPr>
              <a:t>Communication</a:t>
            </a:r>
          </a:p>
          <a:p>
            <a:pPr algn="ctr">
              <a:defRPr/>
            </a:pPr>
            <a:r>
              <a:rPr lang="en-US" sz="1200" dirty="0" err="1">
                <a:solidFill>
                  <a:srgbClr val="1E354B"/>
                </a:solidFill>
                <a:latin typeface="Calibri" panose="020F0502020204030204"/>
              </a:rPr>
              <a:t>COLOR_ARCH_RATING_COMMUNICATION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200" u="none" strike="noStrike" kern="1200" cap="none" spc="0" normalizeH="0" baseline="0" noProof="0" dirty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★</a:t>
            </a:r>
            <a:endParaRPr kumimoji="0" lang="en-US" sz="1050" u="none" strike="noStrike" kern="1200" cap="none" spc="0" normalizeH="0" baseline="0" noProof="0" dirty="0">
              <a:ln>
                <a:noFill/>
              </a:ln>
              <a:solidFill>
                <a:srgbClr val="1E354B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  <p:sp>
        <p:nvSpPr>
          <p:cNvPr id="15" name="Hexagon 14">
            <a:extLst>
              <a:ext uri="{FF2B5EF4-FFF2-40B4-BE49-F238E27FC236}">
                <a16:creationId xmlns:a16="http://schemas.microsoft.com/office/drawing/2014/main" id="{BB2CEEEE-E9A9-1416-5AAD-D972DDBE5A93}"/>
              </a:ext>
            </a:extLst>
          </p:cNvPr>
          <p:cNvSpPr/>
          <p:nvPr/>
        </p:nvSpPr>
        <p:spPr>
          <a:xfrm>
            <a:off x="1862482" y="4212977"/>
            <a:ext cx="1427142" cy="1299028"/>
          </a:xfrm>
          <a:prstGeom prst="hexagon">
            <a:avLst/>
          </a:prstGeom>
          <a:solidFill>
            <a:srgbClr val="F9C6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100" dirty="0">
                <a:solidFill>
                  <a:srgbClr val="1E354B"/>
                </a:solidFill>
              </a:rPr>
              <a:t>Structure</a:t>
            </a:r>
          </a:p>
          <a:p>
            <a:pPr algn="ctr"/>
            <a:r>
              <a:rPr lang="en-US" sz="1200" dirty="0" err="1">
                <a:solidFill>
                  <a:srgbClr val="1E354B"/>
                </a:solidFill>
              </a:rPr>
              <a:t>COLOR_ARCH_RATING_STRUCTURE</a:t>
            </a:r>
            <a:r>
              <a:rPr lang="en-US" sz="1200" dirty="0">
                <a:solidFill>
                  <a:srgbClr val="1E354B"/>
                </a:solidFill>
              </a:rPr>
              <a:t> </a:t>
            </a:r>
            <a:r>
              <a:rPr lang="en-US" sz="1200" dirty="0">
                <a:solidFill>
                  <a:srgbClr val="1E354B"/>
                </a:solidFill>
                <a:latin typeface="Calibri" panose="020F0502020204030204" pitchFamily="34" charset="0"/>
              </a:rPr>
              <a:t>★</a:t>
            </a:r>
            <a:endParaRPr lang="en-US" sz="1050" dirty="0">
              <a:solidFill>
                <a:srgbClr val="1E354B"/>
              </a:solidFill>
              <a:latin typeface="Calibri" panose="020F0502020204030204" pitchFamily="34" charset="0"/>
            </a:endParaRPr>
          </a:p>
        </p:txBody>
      </p:sp>
      <p:sp>
        <p:nvSpPr>
          <p:cNvPr id="17" name="Hexagon 16">
            <a:extLst>
              <a:ext uri="{FF2B5EF4-FFF2-40B4-BE49-F238E27FC236}">
                <a16:creationId xmlns:a16="http://schemas.microsoft.com/office/drawing/2014/main" id="{E28EB117-3C52-28E2-1D2F-E7E5DFD59278}"/>
              </a:ext>
            </a:extLst>
          </p:cNvPr>
          <p:cNvSpPr/>
          <p:nvPr/>
        </p:nvSpPr>
        <p:spPr>
          <a:xfrm>
            <a:off x="707921" y="4879197"/>
            <a:ext cx="1427142" cy="1299028"/>
          </a:xfrm>
          <a:prstGeom prst="hexagon">
            <a:avLst/>
          </a:prstGeom>
          <a:solidFill>
            <a:srgbClr val="F9C6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100" dirty="0">
                <a:solidFill>
                  <a:srgbClr val="1E354B"/>
                </a:solidFill>
              </a:rPr>
              <a:t>Evolution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COLOR_ARCH_RATING_EVOLUTION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200" u="none" strike="noStrike" kern="1200" cap="none" spc="0" normalizeH="0" baseline="0" noProof="0" dirty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★</a:t>
            </a:r>
            <a:endParaRPr kumimoji="0" lang="en-US" sz="1050" u="none" strike="noStrike" kern="1200" cap="none" spc="0" normalizeH="0" baseline="0" noProof="0" dirty="0">
              <a:ln>
                <a:noFill/>
              </a:ln>
              <a:solidFill>
                <a:srgbClr val="1E354B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  <p:sp>
        <p:nvSpPr>
          <p:cNvPr id="18" name="Hexagon 17">
            <a:extLst>
              <a:ext uri="{FF2B5EF4-FFF2-40B4-BE49-F238E27FC236}">
                <a16:creationId xmlns:a16="http://schemas.microsoft.com/office/drawing/2014/main" id="{0235E037-9510-428B-E797-FFDB9B2A8BDD}"/>
              </a:ext>
            </a:extLst>
          </p:cNvPr>
          <p:cNvSpPr/>
          <p:nvPr/>
        </p:nvSpPr>
        <p:spPr>
          <a:xfrm>
            <a:off x="3034403" y="3519047"/>
            <a:ext cx="1427142" cy="1299028"/>
          </a:xfrm>
          <a:prstGeom prst="hexagon">
            <a:avLst/>
          </a:prstGeom>
          <a:solidFill>
            <a:srgbClr val="57C96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100" dirty="0">
                <a:solidFill>
                  <a:srgbClr val="1E354B"/>
                </a:solidFill>
              </a:rPr>
              <a:t>Data Access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 err="1">
                <a:solidFill>
                  <a:srgbClr val="1E354B"/>
                </a:solidFill>
                <a:latin typeface="Calibri" panose="020F0502020204030204"/>
              </a:rPr>
              <a:t>COLOR_ARCH_RATING_DATA_ACCESS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200" u="none" strike="noStrike" kern="1200" cap="none" spc="0" normalizeH="0" baseline="0" noProof="0" dirty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★</a:t>
            </a:r>
            <a:endParaRPr kumimoji="0" lang="en-US" sz="1050" u="none" strike="noStrike" kern="1200" cap="none" spc="0" normalizeH="0" baseline="0" noProof="0" dirty="0">
              <a:ln>
                <a:noFill/>
              </a:ln>
              <a:solidFill>
                <a:srgbClr val="1E354B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  <p:sp>
        <p:nvSpPr>
          <p:cNvPr id="19" name="Hexagon 18">
            <a:extLst>
              <a:ext uri="{FF2B5EF4-FFF2-40B4-BE49-F238E27FC236}">
                <a16:creationId xmlns:a16="http://schemas.microsoft.com/office/drawing/2014/main" id="{44A085BF-41DC-A529-9DF1-2914BA7DD84E}"/>
              </a:ext>
            </a:extLst>
          </p:cNvPr>
          <p:cNvSpPr/>
          <p:nvPr/>
        </p:nvSpPr>
        <p:spPr>
          <a:xfrm>
            <a:off x="3017043" y="4879197"/>
            <a:ext cx="1427142" cy="1299028"/>
          </a:xfrm>
          <a:prstGeom prst="hexagon">
            <a:avLst/>
          </a:prstGeom>
          <a:solidFill>
            <a:srgbClr val="57C96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100" dirty="0">
                <a:solidFill>
                  <a:srgbClr val="1E354B"/>
                </a:solidFill>
              </a:rPr>
              <a:t>Technology Stack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 err="1">
                <a:solidFill>
                  <a:srgbClr val="1E354B"/>
                </a:solidFill>
                <a:latin typeface="Calibri" panose="020F0502020204030204"/>
              </a:rPr>
              <a:t>COLOR_ARCH_RATING_TECHNOLOGY_STACK</a:t>
            </a: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200" u="none" strike="noStrike" kern="1200" cap="none" spc="0" normalizeH="0" baseline="0" noProof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★</a:t>
            </a:r>
            <a:endParaRPr kumimoji="0" lang="en-US" sz="1050" u="none" strike="noStrike" kern="1200" cap="none" spc="0" normalizeH="0" baseline="0" noProof="0" dirty="0">
              <a:ln>
                <a:noFill/>
              </a:ln>
              <a:solidFill>
                <a:srgbClr val="1E354B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FF41BB-98C2-A0F0-E38F-BD2708718FCB}"/>
              </a:ext>
            </a:extLst>
          </p:cNvPr>
          <p:cNvSpPr txBox="1"/>
          <p:nvPr/>
        </p:nvSpPr>
        <p:spPr>
          <a:xfrm>
            <a:off x="4651513" y="3050651"/>
            <a:ext cx="328879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 err="1">
                <a:solidFill>
                  <a:schemeClr val="accent1"/>
                </a:solidFill>
                <a:latin typeface="Calibri" panose="020F0502020204030204"/>
              </a:rPr>
              <a:t>ARCH_WORST_METRIC_REMARK</a:t>
            </a:r>
            <a:endParaRPr lang="en-US" sz="1600" dirty="0">
              <a:solidFill>
                <a:schemeClr val="accent1"/>
              </a:solidFill>
              <a:latin typeface="Calibri" panose="020F0502020204030204"/>
            </a:endParaRPr>
          </a:p>
          <a:p>
            <a:br>
              <a:rPr lang="en-US" sz="1600" dirty="0">
                <a:solidFill>
                  <a:schemeClr val="accent1"/>
                </a:solidFill>
                <a:latin typeface="Calibri" panose="020F0502020204030204"/>
              </a:rPr>
            </a:br>
            <a:r>
              <a:rPr lang="en-US" sz="1600" dirty="0" err="1">
                <a:solidFill>
                  <a:schemeClr val="accent1"/>
                </a:solidFill>
                <a:latin typeface="Calibri" panose="020F0502020204030204"/>
              </a:rPr>
              <a:t>ARCH_BEST_METRIC_REMARK</a:t>
            </a:r>
            <a:endParaRPr lang="en-US" sz="24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679947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_NUMBER">
            <a:extLst>
              <a:ext uri="{FF2B5EF4-FFF2-40B4-BE49-F238E27FC236}">
                <a16:creationId xmlns:a16="http://schemas.microsoft.com/office/drawing/2014/main" id="{7E702EAD-0EDF-F14B-BCF1-3374C48973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30" name="SUBTITLE">
            <a:extLst>
              <a:ext uri="{FF2B5EF4-FFF2-40B4-BE49-F238E27FC236}">
                <a16:creationId xmlns:a16="http://schemas.microsoft.com/office/drawing/2014/main" id="{EB811218-1F4C-A74F-B046-57C38BEBF2C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a-DK" dirty="0" err="1"/>
              <a:t>Key</a:t>
            </a:r>
            <a:r>
              <a:rPr lang="da-DK" dirty="0"/>
              <a:t> </a:t>
            </a:r>
            <a:r>
              <a:rPr lang="da-DK" dirty="0" err="1"/>
              <a:t>findings</a:t>
            </a:r>
            <a:r>
              <a:rPr lang="da-DK" dirty="0"/>
              <a:t> – </a:t>
            </a:r>
            <a:r>
              <a:rPr lang="da-DK" dirty="0">
                <a:solidFill>
                  <a:schemeClr val="accent3"/>
                </a:solidFill>
              </a:rPr>
              <a:t>Open source and IP</a:t>
            </a:r>
          </a:p>
        </p:txBody>
      </p:sp>
      <p:sp>
        <p:nvSpPr>
          <p:cNvPr id="68" name="TITLE">
            <a:extLst>
              <a:ext uri="{FF2B5EF4-FFF2-40B4-BE49-F238E27FC236}">
                <a16:creationId xmlns:a16="http://schemas.microsoft.com/office/drawing/2014/main" id="{819D60A3-E539-D240-8F7B-2E3340053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OSH_TOTAL_VULN</a:t>
            </a:r>
            <a:r>
              <a:rPr lang="en-US" dirty="0"/>
              <a:t> vulnerable 3</a:t>
            </a:r>
            <a:r>
              <a:rPr lang="en-US" baseline="30000" dirty="0"/>
              <a:t>rd</a:t>
            </a:r>
            <a:r>
              <a:rPr lang="en-US" dirty="0"/>
              <a:t> party open-source dependencies were identified</a:t>
            </a:r>
          </a:p>
        </p:txBody>
      </p:sp>
      <p:sp>
        <p:nvSpPr>
          <p:cNvPr id="70" name="CONTENT">
            <a:extLst>
              <a:ext uri="{FF2B5EF4-FFF2-40B4-BE49-F238E27FC236}">
                <a16:creationId xmlns:a16="http://schemas.microsoft.com/office/drawing/2014/main" id="{35382002-BD0E-6D41-9C6F-BAEA966CEA5D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err="1"/>
              <a:t>OSH_VULN_SUMMARY</a:t>
            </a:r>
            <a:endParaRPr lang="en-US" dirty="0"/>
          </a:p>
          <a:p>
            <a:pPr marL="0" indent="0">
              <a:buNone/>
            </a:pPr>
            <a:r>
              <a:rPr lang="en-US" dirty="0" err="1"/>
              <a:t>OSH_LEGAL_SUMMARY</a:t>
            </a:r>
            <a:endParaRPr lang="en-US" dirty="0"/>
          </a:p>
          <a:p>
            <a:pPr marL="0" indent="0">
              <a:buNone/>
            </a:pPr>
            <a:r>
              <a:rPr lang="en-US" dirty="0" err="1"/>
              <a:t>OSH_FRESHNESS_SUMMARY</a:t>
            </a:r>
            <a:endParaRPr lang="en-US" dirty="0"/>
          </a:p>
          <a:p>
            <a:pPr marL="0" indent="0">
              <a:buNone/>
            </a:pPr>
            <a:r>
              <a:rPr lang="en-US" dirty="0" err="1"/>
              <a:t>OSH_MANAGEMENT_SUMMARY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71" name="TOTAL_DEPS">
            <a:extLst>
              <a:ext uri="{FF2B5EF4-FFF2-40B4-BE49-F238E27FC236}">
                <a16:creationId xmlns:a16="http://schemas.microsoft.com/office/drawing/2014/main" id="{8FE61D71-5271-124A-B53B-13F22C55A38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 err="1"/>
              <a:t>OSH_TOTAL_DEPS</a:t>
            </a:r>
            <a:endParaRPr lang="en-US" dirty="0"/>
          </a:p>
        </p:txBody>
      </p:sp>
      <p:sp>
        <p:nvSpPr>
          <p:cNvPr id="57" name="TEXT">
            <a:extLst>
              <a:ext uri="{FF2B5EF4-FFF2-40B4-BE49-F238E27FC236}">
                <a16:creationId xmlns:a16="http://schemas.microsoft.com/office/drawing/2014/main" id="{9D7B5685-CC33-754B-82BD-27D4B80A0CE2}"/>
              </a:ext>
            </a:extLst>
          </p:cNvPr>
          <p:cNvSpPr txBox="1"/>
          <p:nvPr/>
        </p:nvSpPr>
        <p:spPr>
          <a:xfrm>
            <a:off x="4564120" y="924589"/>
            <a:ext cx="813017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b="1" dirty="0"/>
              <a:t>SNAPSHOT DATE</a:t>
            </a:r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4FCD4EA4-8E29-274C-9606-88147EEF45EE}"/>
              </a:ext>
            </a:extLst>
          </p:cNvPr>
          <p:cNvGrpSpPr/>
          <p:nvPr/>
        </p:nvGrpSpPr>
        <p:grpSpPr>
          <a:xfrm>
            <a:off x="5354172" y="806776"/>
            <a:ext cx="594110" cy="850933"/>
            <a:chOff x="10569980" y="810077"/>
            <a:chExt cx="594110" cy="850933"/>
          </a:xfrm>
        </p:grpSpPr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709A7ED2-A2F9-034C-B120-790832D15299}"/>
                </a:ext>
              </a:extLst>
            </p:cNvPr>
            <p:cNvSpPr/>
            <p:nvPr/>
          </p:nvSpPr>
          <p:spPr>
            <a:xfrm>
              <a:off x="10616419" y="833977"/>
              <a:ext cx="234759" cy="368743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>
              <a:outerShdw blurRad="190500" dist="38100" dir="8100000" algn="tr" rotWithShape="0">
                <a:prstClr val="black">
                  <a:alpha val="46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t"/>
            <a:lstStyle/>
            <a:p>
              <a:pPr algn="l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2E632EFC-37E4-9B4A-B654-C53AB5D4C9C4}"/>
                </a:ext>
              </a:extLst>
            </p:cNvPr>
            <p:cNvSpPr/>
            <p:nvPr/>
          </p:nvSpPr>
          <p:spPr>
            <a:xfrm>
              <a:off x="10569980" y="813438"/>
              <a:ext cx="590530" cy="47139"/>
            </a:xfrm>
            <a:custGeom>
              <a:avLst/>
              <a:gdLst>
                <a:gd name="connsiteX0" fmla="*/ 48742 w 590530"/>
                <a:gd name="connsiteY0" fmla="*/ 0 h 47139"/>
                <a:gd name="connsiteX1" fmla="*/ 541788 w 590530"/>
                <a:gd name="connsiteY1" fmla="*/ 0 h 47139"/>
                <a:gd name="connsiteX2" fmla="*/ 587073 w 590530"/>
                <a:gd name="connsiteY2" fmla="*/ 30017 h 47139"/>
                <a:gd name="connsiteX3" fmla="*/ 590530 w 590530"/>
                <a:gd name="connsiteY3" fmla="*/ 47139 h 47139"/>
                <a:gd name="connsiteX4" fmla="*/ 0 w 590530"/>
                <a:gd name="connsiteY4" fmla="*/ 47139 h 47139"/>
                <a:gd name="connsiteX5" fmla="*/ 3457 w 590530"/>
                <a:gd name="connsiteY5" fmla="*/ 30017 h 47139"/>
                <a:gd name="connsiteX6" fmla="*/ 48742 w 590530"/>
                <a:gd name="connsiteY6" fmla="*/ 0 h 47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90530" h="47139">
                  <a:moveTo>
                    <a:pt x="48742" y="0"/>
                  </a:moveTo>
                  <a:lnTo>
                    <a:pt x="541788" y="0"/>
                  </a:lnTo>
                  <a:cubicBezTo>
                    <a:pt x="562145" y="0"/>
                    <a:pt x="579612" y="12377"/>
                    <a:pt x="587073" y="30017"/>
                  </a:cubicBezTo>
                  <a:lnTo>
                    <a:pt x="590530" y="47139"/>
                  </a:lnTo>
                  <a:lnTo>
                    <a:pt x="0" y="47139"/>
                  </a:lnTo>
                  <a:lnTo>
                    <a:pt x="3457" y="30017"/>
                  </a:lnTo>
                  <a:cubicBezTo>
                    <a:pt x="10918" y="12377"/>
                    <a:pt x="28385" y="0"/>
                    <a:pt x="48742" y="0"/>
                  </a:cubicBezTo>
                  <a:close/>
                </a:path>
              </a:pathLst>
            </a:custGeom>
            <a:solidFill>
              <a:schemeClr val="accent1">
                <a:lumMod val="75000"/>
                <a:alpha val="4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t"/>
            <a:lstStyle/>
            <a:p>
              <a:pPr algn="l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91E1648D-EC62-F54D-A2A0-57CEE34B1C83}"/>
                </a:ext>
              </a:extLst>
            </p:cNvPr>
            <p:cNvSpPr/>
            <p:nvPr/>
          </p:nvSpPr>
          <p:spPr>
            <a:xfrm>
              <a:off x="10587816" y="810077"/>
              <a:ext cx="576274" cy="850933"/>
            </a:xfrm>
            <a:custGeom>
              <a:avLst/>
              <a:gdLst>
                <a:gd name="connsiteX0" fmla="*/ 24556 w 576274"/>
                <a:gd name="connsiteY0" fmla="*/ 0 h 850933"/>
                <a:gd name="connsiteX1" fmla="*/ 28104 w 576274"/>
                <a:gd name="connsiteY1" fmla="*/ 0 h 850933"/>
                <a:gd name="connsiteX2" fmla="*/ 329430 w 576274"/>
                <a:gd name="connsiteY2" fmla="*/ 0 h 850933"/>
                <a:gd name="connsiteX3" fmla="*/ 527126 w 576274"/>
                <a:gd name="connsiteY3" fmla="*/ 0 h 850933"/>
                <a:gd name="connsiteX4" fmla="*/ 572411 w 576274"/>
                <a:gd name="connsiteY4" fmla="*/ 30017 h 850933"/>
                <a:gd name="connsiteX5" fmla="*/ 575483 w 576274"/>
                <a:gd name="connsiteY5" fmla="*/ 45234 h 850933"/>
                <a:gd name="connsiteX6" fmla="*/ 575483 w 576274"/>
                <a:gd name="connsiteY6" fmla="*/ 572261 h 850933"/>
                <a:gd name="connsiteX7" fmla="*/ 576274 w 576274"/>
                <a:gd name="connsiteY7" fmla="*/ 573052 h 850933"/>
                <a:gd name="connsiteX8" fmla="*/ 576274 w 576274"/>
                <a:gd name="connsiteY8" fmla="*/ 850933 h 850933"/>
                <a:gd name="connsiteX9" fmla="*/ 300905 w 576274"/>
                <a:gd name="connsiteY9" fmla="*/ 575564 h 850933"/>
                <a:gd name="connsiteX10" fmla="*/ 295881 w 576274"/>
                <a:gd name="connsiteY10" fmla="*/ 575564 h 850933"/>
                <a:gd name="connsiteX11" fmla="*/ 20512 w 576274"/>
                <a:gd name="connsiteY11" fmla="*/ 850933 h 850933"/>
                <a:gd name="connsiteX12" fmla="*/ 20512 w 576274"/>
                <a:gd name="connsiteY12" fmla="*/ 575564 h 850933"/>
                <a:gd name="connsiteX13" fmla="*/ 19858 w 576274"/>
                <a:gd name="connsiteY13" fmla="*/ 575564 h 850933"/>
                <a:gd name="connsiteX14" fmla="*/ 19858 w 576274"/>
                <a:gd name="connsiteY14" fmla="*/ 43281 h 850933"/>
                <a:gd name="connsiteX15" fmla="*/ 17180 w 576274"/>
                <a:gd name="connsiteY15" fmla="*/ 30017 h 850933"/>
                <a:gd name="connsiteX16" fmla="*/ 0 w 576274"/>
                <a:gd name="connsiteY16" fmla="*/ 9154 h 850933"/>
                <a:gd name="connsiteX17" fmla="*/ 626 w 576274"/>
                <a:gd name="connsiteY17" fmla="*/ 8394 h 850933"/>
                <a:gd name="connsiteX18" fmla="*/ 19858 w 576274"/>
                <a:gd name="connsiteY18" fmla="*/ 2519 h 850933"/>
                <a:gd name="connsiteX19" fmla="*/ 19858 w 576274"/>
                <a:gd name="connsiteY19" fmla="*/ 1946 h 850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576274" h="850933">
                  <a:moveTo>
                    <a:pt x="24556" y="0"/>
                  </a:moveTo>
                  <a:lnTo>
                    <a:pt x="28104" y="0"/>
                  </a:lnTo>
                  <a:lnTo>
                    <a:pt x="329430" y="0"/>
                  </a:lnTo>
                  <a:lnTo>
                    <a:pt x="527126" y="0"/>
                  </a:lnTo>
                  <a:cubicBezTo>
                    <a:pt x="547483" y="0"/>
                    <a:pt x="564950" y="12377"/>
                    <a:pt x="572411" y="30017"/>
                  </a:cubicBezTo>
                  <a:lnTo>
                    <a:pt x="575483" y="45234"/>
                  </a:lnTo>
                  <a:lnTo>
                    <a:pt x="575483" y="572261"/>
                  </a:lnTo>
                  <a:lnTo>
                    <a:pt x="576274" y="573052"/>
                  </a:lnTo>
                  <a:lnTo>
                    <a:pt x="576274" y="850933"/>
                  </a:lnTo>
                  <a:lnTo>
                    <a:pt x="300905" y="575564"/>
                  </a:lnTo>
                  <a:lnTo>
                    <a:pt x="295881" y="575564"/>
                  </a:lnTo>
                  <a:lnTo>
                    <a:pt x="20512" y="850933"/>
                  </a:lnTo>
                  <a:lnTo>
                    <a:pt x="20512" y="575564"/>
                  </a:lnTo>
                  <a:lnTo>
                    <a:pt x="19858" y="575564"/>
                  </a:lnTo>
                  <a:lnTo>
                    <a:pt x="19858" y="43281"/>
                  </a:lnTo>
                  <a:lnTo>
                    <a:pt x="17180" y="30017"/>
                  </a:lnTo>
                  <a:lnTo>
                    <a:pt x="0" y="9154"/>
                  </a:lnTo>
                  <a:lnTo>
                    <a:pt x="626" y="8394"/>
                  </a:lnTo>
                  <a:lnTo>
                    <a:pt x="19858" y="2519"/>
                  </a:lnTo>
                  <a:lnTo>
                    <a:pt x="19858" y="1946"/>
                  </a:lnTo>
                  <a:close/>
                </a:path>
              </a:pathLst>
            </a:custGeom>
            <a:gradFill>
              <a:gsLst>
                <a:gs pos="81000">
                  <a:schemeClr val="bg1"/>
                </a:gs>
                <a:gs pos="55000">
                  <a:schemeClr val="bg2"/>
                </a:gs>
                <a:gs pos="0">
                  <a:schemeClr val="tx1">
                    <a:lumMod val="20000"/>
                    <a:lumOff val="80000"/>
                  </a:schemeClr>
                </a:gs>
                <a:gs pos="13000">
                  <a:schemeClr val="bg1"/>
                </a:gs>
              </a:gsLst>
              <a:lin ang="5400000" scaled="0"/>
            </a:gradFill>
            <a:ln>
              <a:noFill/>
            </a:ln>
            <a:effectLst>
              <a:outerShdw blurRad="254000" dist="38100" dir="8100000" algn="t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t"/>
            <a:lstStyle/>
            <a:p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62" name="DATE_BOX">
            <a:extLst>
              <a:ext uri="{FF2B5EF4-FFF2-40B4-BE49-F238E27FC236}">
                <a16:creationId xmlns:a16="http://schemas.microsoft.com/office/drawing/2014/main" id="{99EAEF4D-487F-7E40-988B-DD1B4BDB1B42}"/>
              </a:ext>
            </a:extLst>
          </p:cNvPr>
          <p:cNvSpPr txBox="1"/>
          <p:nvPr/>
        </p:nvSpPr>
        <p:spPr>
          <a:xfrm>
            <a:off x="5037678" y="863629"/>
            <a:ext cx="1269963" cy="539250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1200" b="1" dirty="0" err="1">
                <a:solidFill>
                  <a:schemeClr val="tx2">
                    <a:alpha val="70000"/>
                  </a:schemeClr>
                </a:solidFill>
              </a:rPr>
              <a:t>OSH_DATE_DAY</a:t>
            </a:r>
            <a:endParaRPr lang="en-US" sz="1200" b="1" dirty="0">
              <a:solidFill>
                <a:schemeClr val="tx2">
                  <a:alpha val="70000"/>
                </a:schemeClr>
              </a:solidFill>
            </a:endParaRPr>
          </a:p>
          <a:p>
            <a:pPr algn="ctr">
              <a:lnSpc>
                <a:spcPct val="80000"/>
              </a:lnSpc>
            </a:pPr>
            <a:r>
              <a:rPr lang="en-US" sz="1200" b="1" dirty="0" err="1">
                <a:solidFill>
                  <a:schemeClr val="tx2">
                    <a:alpha val="70000"/>
                  </a:schemeClr>
                </a:solidFill>
              </a:rPr>
              <a:t>OSH_DATE_MONTH</a:t>
            </a:r>
            <a:endParaRPr lang="en-US" sz="1200" b="1" dirty="0">
              <a:solidFill>
                <a:schemeClr val="tx2">
                  <a:alpha val="70000"/>
                </a:schemeClr>
              </a:solidFill>
            </a:endParaRPr>
          </a:p>
          <a:p>
            <a:pPr algn="ctr">
              <a:lnSpc>
                <a:spcPct val="80000"/>
              </a:lnSpc>
            </a:pPr>
            <a:r>
              <a:rPr lang="en-US" sz="1200" dirty="0" err="1">
                <a:solidFill>
                  <a:schemeClr val="tx1">
                    <a:alpha val="60000"/>
                  </a:schemeClr>
                </a:solidFill>
              </a:rPr>
              <a:t>OSH_DATE_YEAR</a:t>
            </a:r>
            <a:endParaRPr lang="en-US" sz="1200" dirty="0">
              <a:solidFill>
                <a:schemeClr val="tx1">
                  <a:alpha val="60000"/>
                </a:schemeClr>
              </a:solidFill>
            </a:endParaRPr>
          </a:p>
        </p:txBody>
      </p:sp>
      <p:graphicFrame>
        <p:nvGraphicFramePr>
          <p:cNvPr id="6" name="CHART_1">
            <a:extLst>
              <a:ext uri="{FF2B5EF4-FFF2-40B4-BE49-F238E27FC236}">
                <a16:creationId xmlns:a16="http://schemas.microsoft.com/office/drawing/2014/main" id="{C04CE8AB-B4BC-90F2-0ABA-6641978088A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86656831"/>
              </p:ext>
            </p:extLst>
          </p:nvPr>
        </p:nvGraphicFramePr>
        <p:xfrm>
          <a:off x="2366249" y="2825980"/>
          <a:ext cx="3240000" cy="147582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7" name="CHART_2">
            <a:extLst>
              <a:ext uri="{FF2B5EF4-FFF2-40B4-BE49-F238E27FC236}">
                <a16:creationId xmlns:a16="http://schemas.microsoft.com/office/drawing/2014/main" id="{81D6CA2D-63F4-2ADE-B0B2-80AF25FA20D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7294388"/>
              </p:ext>
            </p:extLst>
          </p:nvPr>
        </p:nvGraphicFramePr>
        <p:xfrm>
          <a:off x="2365814" y="4021134"/>
          <a:ext cx="3240000" cy="25207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6D0A0AD-8EC9-4B45-9E7B-B0715AA85681}"/>
              </a:ext>
            </a:extLst>
          </p:cNvPr>
          <p:cNvSpPr txBox="1"/>
          <p:nvPr/>
        </p:nvSpPr>
        <p:spPr>
          <a:xfrm>
            <a:off x="11068163" y="-374999"/>
            <a:ext cx="1104939" cy="355225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 err="1">
                <a:solidFill>
                  <a:schemeClr val="tx2"/>
                </a:solidFill>
              </a:rPr>
              <a:t>OSH_SLIDE</a:t>
            </a:r>
            <a:endParaRPr lang="en-US" sz="16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485255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82344C9-4DF8-888C-E386-5F7CF5A90C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220" name="Text Placeholder 219">
            <a:extLst>
              <a:ext uri="{FF2B5EF4-FFF2-40B4-BE49-F238E27FC236}">
                <a16:creationId xmlns:a16="http://schemas.microsoft.com/office/drawing/2014/main" id="{00A717DA-DAF2-CAA1-EA44-F96119C0200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a-DK" dirty="0"/>
              <a:t>Key </a:t>
            </a:r>
            <a:r>
              <a:rPr lang="da-DK" dirty="0" err="1"/>
              <a:t>findings</a:t>
            </a:r>
            <a:r>
              <a:rPr lang="da-DK" dirty="0"/>
              <a:t> – </a:t>
            </a:r>
            <a:r>
              <a:rPr lang="da-DK" dirty="0">
                <a:solidFill>
                  <a:schemeClr val="accent3"/>
                </a:solidFill>
              </a:rPr>
              <a:t>Open source and IP</a:t>
            </a:r>
          </a:p>
        </p:txBody>
      </p:sp>
      <p:sp>
        <p:nvSpPr>
          <p:cNvPr id="219" name="Title 218">
            <a:extLst>
              <a:ext uri="{FF2B5EF4-FFF2-40B4-BE49-F238E27FC236}">
                <a16:creationId xmlns:a16="http://schemas.microsoft.com/office/drawing/2014/main" id="{81A0B100-9255-B9B3-FB75-7D8481E0F0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SYSTEM_NAME</a:t>
            </a:r>
            <a:r>
              <a:rPr lang="en-US" dirty="0"/>
              <a:t> rates </a:t>
            </a:r>
            <a:r>
              <a:rPr lang="en-US" err="1"/>
              <a:t>OSH</a:t>
            </a:r>
            <a:r>
              <a:rPr lang="en-US"/>
              <a:t>_RELATIVE </a:t>
            </a:r>
            <a:r>
              <a:rPr lang="en-US" dirty="0"/>
              <a:t>in Open-Source health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E03FAA-8831-A561-22BE-0BD6A7F10B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/>
              <a:t>Confidential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386256E-1079-FD76-4125-F912312BA9C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7525" y="2955487"/>
            <a:ext cx="7135680" cy="3304980"/>
          </a:xfrm>
        </p:spPr>
        <p:txBody>
          <a:bodyPr/>
          <a:lstStyle/>
          <a:p>
            <a:pPr marL="0" indent="0">
              <a:buNone/>
            </a:pPr>
            <a:r>
              <a:rPr lang="en-US" sz="1400" dirty="0" err="1"/>
              <a:t>OSH_VULN_SUMMARY</a:t>
            </a:r>
            <a:endParaRPr lang="en-US" sz="1400" dirty="0"/>
          </a:p>
          <a:p>
            <a:pPr marL="0" indent="0">
              <a:buNone/>
            </a:pPr>
            <a:r>
              <a:rPr lang="en-US" sz="1400" dirty="0" err="1"/>
              <a:t>OSH_LEGAL_SUMMARY</a:t>
            </a:r>
            <a:endParaRPr lang="en-US" sz="1400" dirty="0"/>
          </a:p>
          <a:p>
            <a:pPr marL="0" indent="0">
              <a:buNone/>
            </a:pPr>
            <a:r>
              <a:rPr lang="en-US" sz="1400" dirty="0" err="1"/>
              <a:t>OSH_FRESHNESS_SUMMARY</a:t>
            </a:r>
            <a:endParaRPr lang="en-US" sz="1400" dirty="0"/>
          </a:p>
          <a:p>
            <a:pPr marL="0" indent="0">
              <a:buNone/>
            </a:pPr>
            <a:r>
              <a:rPr lang="en-US" sz="1400" dirty="0" err="1"/>
              <a:t>OSH_MANAGEMENT_SUMMARY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endParaRPr lang="en-US" sz="1400" dirty="0"/>
          </a:p>
        </p:txBody>
      </p:sp>
      <p:sp>
        <p:nvSpPr>
          <p:cNvPr id="226" name="Text Placeholder 225">
            <a:extLst>
              <a:ext uri="{FF2B5EF4-FFF2-40B4-BE49-F238E27FC236}">
                <a16:creationId xmlns:a16="http://schemas.microsoft.com/office/drawing/2014/main" id="{FB22F9B3-4547-04E1-D239-8DDD0D95567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dirty="0" err="1"/>
              <a:t>OSH_DATE_DAY</a:t>
            </a:r>
            <a:endParaRPr lang="en-NL"/>
          </a:p>
        </p:txBody>
      </p:sp>
      <p:sp>
        <p:nvSpPr>
          <p:cNvPr id="228" name="Text Placeholder 227">
            <a:extLst>
              <a:ext uri="{FF2B5EF4-FFF2-40B4-BE49-F238E27FC236}">
                <a16:creationId xmlns:a16="http://schemas.microsoft.com/office/drawing/2014/main" id="{6875D777-0302-90E7-7B00-67C7D944864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en-US" dirty="0" err="1"/>
              <a:t>OSH_DATE_YEAR</a:t>
            </a:r>
            <a:endParaRPr lang="en-NL"/>
          </a:p>
        </p:txBody>
      </p:sp>
      <p:sp>
        <p:nvSpPr>
          <p:cNvPr id="221" name="Text Placeholder 220">
            <a:extLst>
              <a:ext uri="{FF2B5EF4-FFF2-40B4-BE49-F238E27FC236}">
                <a16:creationId xmlns:a16="http://schemas.microsoft.com/office/drawing/2014/main" id="{D4753102-29AF-71C5-724A-938F8A485FE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222" name="Text Placeholder 221">
            <a:extLst>
              <a:ext uri="{FF2B5EF4-FFF2-40B4-BE49-F238E27FC236}">
                <a16:creationId xmlns:a16="http://schemas.microsoft.com/office/drawing/2014/main" id="{112BC55F-876B-F175-0A81-D56FEE3ACFB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223" name="Text Placeholder 222">
            <a:extLst>
              <a:ext uri="{FF2B5EF4-FFF2-40B4-BE49-F238E27FC236}">
                <a16:creationId xmlns:a16="http://schemas.microsoft.com/office/drawing/2014/main" id="{06A016B0-CA85-481A-1CD2-DE648976874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224" name="Text Placeholder 223">
            <a:extLst>
              <a:ext uri="{FF2B5EF4-FFF2-40B4-BE49-F238E27FC236}">
                <a16:creationId xmlns:a16="http://schemas.microsoft.com/office/drawing/2014/main" id="{8918AB29-C999-2398-FB62-CD600B4855E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225" name="Text Placeholder 224">
            <a:extLst>
              <a:ext uri="{FF2B5EF4-FFF2-40B4-BE49-F238E27FC236}">
                <a16:creationId xmlns:a16="http://schemas.microsoft.com/office/drawing/2014/main" id="{5E7F6B39-A5EF-94AB-2702-F3E643831B3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8" name="Text Placeholder 228">
            <a:extLst>
              <a:ext uri="{FF2B5EF4-FFF2-40B4-BE49-F238E27FC236}">
                <a16:creationId xmlns:a16="http://schemas.microsoft.com/office/drawing/2014/main" id="{EA58BDC9-A65D-1EF9-C06F-B133B2334169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923595" y="914509"/>
            <a:ext cx="1211870" cy="257763"/>
          </a:xfrm>
        </p:spPr>
        <p:txBody>
          <a:bodyPr/>
          <a:lstStyle/>
          <a:p>
            <a:r>
              <a:rPr lang="en-NL"/>
              <a:t>Open source health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49D8E7-562C-3F83-EDA5-551D478BD8A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lang="en-US" dirty="0" err="1"/>
              <a:t>OSH_DATE_MONTH</a:t>
            </a:r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E408717E-20F8-B094-F836-3F06B295F0CF}"/>
              </a:ext>
            </a:extLst>
          </p:cNvPr>
          <p:cNvGrpSpPr/>
          <p:nvPr/>
        </p:nvGrpSpPr>
        <p:grpSpPr>
          <a:xfrm>
            <a:off x="5871997" y="1568465"/>
            <a:ext cx="373034" cy="430054"/>
            <a:chOff x="5730574" y="2099850"/>
            <a:chExt cx="373034" cy="43005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52849B8-61B3-C046-18A7-A21F353E4A0E}"/>
                </a:ext>
              </a:extLst>
            </p:cNvPr>
            <p:cNvSpPr>
              <a:spLocks/>
            </p:cNvSpPr>
            <p:nvPr/>
          </p:nvSpPr>
          <p:spPr>
            <a:xfrm>
              <a:off x="5730574" y="2099850"/>
              <a:ext cx="373034" cy="28814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>
              <a:outerShdw blurRad="215900" dist="38100" dir="5400000" sx="91000" sy="91000" algn="t" rotWithShape="0">
                <a:srgbClr val="5C6F7B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72000" tIns="36000" rIns="72000" bIns="36000" rtlCol="0" anchor="b">
              <a:noAutofit/>
            </a:bodyPr>
            <a:lstStyle/>
            <a:p>
              <a:pPr algn="ctr"/>
              <a:r>
                <a:rPr lang="en-US" sz="1400" b="1" dirty="0" err="1"/>
                <a:t>MARKER_OSH_RATING</a:t>
              </a:r>
              <a:endParaRPr lang="en-US" sz="1400" b="1" dirty="0"/>
            </a:p>
          </p:txBody>
        </p:sp>
        <p:sp>
          <p:nvSpPr>
            <p:cNvPr id="7" name="Pentagon 6">
              <a:extLst>
                <a:ext uri="{FF2B5EF4-FFF2-40B4-BE49-F238E27FC236}">
                  <a16:creationId xmlns:a16="http://schemas.microsoft.com/office/drawing/2014/main" id="{3E78CEEB-4204-7EE6-1D31-1B8DC2596A01}"/>
                </a:ext>
              </a:extLst>
            </p:cNvPr>
            <p:cNvSpPr/>
            <p:nvPr/>
          </p:nvSpPr>
          <p:spPr>
            <a:xfrm rot="5400000">
              <a:off x="5846487" y="2410820"/>
              <a:ext cx="146814" cy="91353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  <a:effectLst>
              <a:outerShdw dist="12700" dir="5400000" sx="102000" sy="102000" algn="t" rotWithShape="0">
                <a:srgbClr val="F0F3FA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aphicFrame>
        <p:nvGraphicFramePr>
          <p:cNvPr id="9" name="Group 52">
            <a:extLst>
              <a:ext uri="{FF2B5EF4-FFF2-40B4-BE49-F238E27FC236}">
                <a16:creationId xmlns:a16="http://schemas.microsoft.com/office/drawing/2014/main" id="{9BEC8872-3FB6-1910-ED65-16029E5B2A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8767665"/>
              </p:ext>
            </p:extLst>
          </p:nvPr>
        </p:nvGraphicFramePr>
        <p:xfrm>
          <a:off x="7984631" y="3243717"/>
          <a:ext cx="3755424" cy="552636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0107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7159">
                  <a:extLst>
                    <a:ext uri="{9D8B030D-6E8A-4147-A177-3AD203B41FA5}">
                      <a16:colId xmlns:a16="http://schemas.microsoft.com/office/drawing/2014/main" val="335839943"/>
                    </a:ext>
                  </a:extLst>
                </a:gridCol>
                <a:gridCol w="567558">
                  <a:extLst>
                    <a:ext uri="{9D8B030D-6E8A-4147-A177-3AD203B41FA5}">
                      <a16:colId xmlns:a16="http://schemas.microsoft.com/office/drawing/2014/main" val="2689889332"/>
                    </a:ext>
                  </a:extLst>
                </a:gridCol>
              </a:tblGrid>
              <a:tr h="3024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173241"/>
                          </a:solidFill>
                          <a:effectLst/>
                          <a:latin typeface="+mn-lt"/>
                        </a:rPr>
                        <a:t>Vulnerability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rgbClr val="17324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STARS_VULNERABILITY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OSH_RATING_VULNERABILITY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24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17324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License use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STARS_LICENSES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OSH_RATING_LICENSES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24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173241"/>
                          </a:solidFill>
                          <a:effectLst/>
                          <a:latin typeface="+mn-lt"/>
                        </a:rPr>
                        <a:t>Freshness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rgbClr val="17324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STARS_FRESHNESS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OSH_RATING_FRESHNESS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24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17324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Management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STARS_MANAGEMENT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OSH_RATING_MANAGEMENT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39936421"/>
                  </a:ext>
                </a:extLst>
              </a:tr>
              <a:tr h="3024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17324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Activity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Calibri" panose="020F0502020204030204" pitchFamily="34" charset="0"/>
                          <a:ea typeface="ＭＳ Ｐゴシック" charset="0"/>
                          <a:cs typeface="TheSans B7 Bold"/>
                        </a:rPr>
                        <a:t>STARS_ACTIVITY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Calibri" panose="020F0502020204030204" pitchFamily="34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OSH_RATING_ACTIVITY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672573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163747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D4AF23F-0AD1-0347-BF7F-1B20660C75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150B659-F724-1B47-9AC0-0C9C91F9FEC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Refactoring Candidates – DUPLICATION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FFB116C-E601-C24A-9C7F-0F52952382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overview of the longest duplicates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FA917F-83E5-5E45-B28C-D0C1B781495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Confidential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EB1030-EE41-F840-9218-1CBC0360023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7" name="REFACTORING_CANDIDATES_TABLE_DUPLICATION">
            <a:extLst>
              <a:ext uri="{FF2B5EF4-FFF2-40B4-BE49-F238E27FC236}">
                <a16:creationId xmlns:a16="http://schemas.microsoft.com/office/drawing/2014/main" id="{6D18B547-BA3F-1046-9F1B-A8CA602DA83E}"/>
              </a:ext>
            </a:extLst>
          </p:cNvPr>
          <p:cNvGraphicFramePr>
            <a:graphicFrameLocks noGrp="1"/>
          </p:cNvGraphicFramePr>
          <p:nvPr/>
        </p:nvGraphicFramePr>
        <p:xfrm>
          <a:off x="514373" y="1366988"/>
          <a:ext cx="11231294" cy="493368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70040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09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1132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4988">
                  <a:extLst>
                    <a:ext uri="{9D8B030D-6E8A-4147-A177-3AD203B41FA5}">
                      <a16:colId xmlns:a16="http://schemas.microsoft.com/office/drawing/2014/main" val="2857446439"/>
                    </a:ext>
                  </a:extLst>
                </a:gridCol>
              </a:tblGrid>
              <a:tr h="30582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Description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Redundant LOC</a:t>
                      </a:r>
                    </a:p>
                  </a:txBody>
                  <a:tcPr marL="108000" marR="108000" marT="72000" marB="72000" anchor="b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FC10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Level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Technology</a:t>
                      </a:r>
                    </a:p>
                  </a:txBody>
                  <a:tcPr marL="108000" marR="108000" marT="72000" marB="72000" anchor="b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33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noProof="0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kern="1200" noProof="0" dirty="0">
                          <a:solidFill>
                            <a:schemeClr val="tx2"/>
                          </a:solidFill>
                          <a:effectLst/>
                          <a:latin typeface="Calibri Bold"/>
                          <a:ea typeface="+mn-ea"/>
                          <a:cs typeface="+mn-cs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r>
                        <a:rPr lang="en-US" sz="1200" b="0" i="0" u="none" strike="noStrike" kern="1200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263985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6404128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606331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97001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302028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90E241-59C2-6F55-4707-FD2CC82A6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B397773-E61A-9D94-159E-FE176D511F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C070E2EE-7B25-5041-16B6-A6265C553E9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Refactoring Candidates – Unit Size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E6AFEFE-FA0F-CDBD-40F1-A3FF99211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overview of the longest units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76392F-4A8E-477A-00F5-76B3207433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Confidential</a:t>
            </a:r>
          </a:p>
        </p:txBody>
      </p:sp>
      <p:graphicFrame>
        <p:nvGraphicFramePr>
          <p:cNvPr id="4" name="REFACTORING_CANDIDATES_TABLE_UNIT_SIZE">
            <a:extLst>
              <a:ext uri="{FF2B5EF4-FFF2-40B4-BE49-F238E27FC236}">
                <a16:creationId xmlns:a16="http://schemas.microsoft.com/office/drawing/2014/main" id="{6526472F-557C-F0F9-9AC9-DA0F1F07D816}"/>
              </a:ext>
            </a:extLst>
          </p:cNvPr>
          <p:cNvGraphicFramePr>
            <a:graphicFrameLocks noGrp="1"/>
          </p:cNvGraphicFramePr>
          <p:nvPr/>
        </p:nvGraphicFramePr>
        <p:xfrm>
          <a:off x="514373" y="1366988"/>
          <a:ext cx="11232250" cy="497256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60249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80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89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3781">
                  <a:extLst>
                    <a:ext uri="{9D8B030D-6E8A-4147-A177-3AD203B41FA5}">
                      <a16:colId xmlns:a16="http://schemas.microsoft.com/office/drawing/2014/main" val="3286041723"/>
                    </a:ext>
                  </a:extLst>
                </a:gridCol>
                <a:gridCol w="1500910">
                  <a:extLst>
                    <a:ext uri="{9D8B030D-6E8A-4147-A177-3AD203B41FA5}">
                      <a16:colId xmlns:a16="http://schemas.microsoft.com/office/drawing/2014/main" val="4263492041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5090921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Unit name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LOC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McCabe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Parameters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Component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Technology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noProof="0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 noProof="0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2639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64041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6063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488762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3C50C-D5AC-B980-57E1-AB9740C2F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5C47716-66EC-A5D9-AE7C-3AF047ABA0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7D58E3A-84C6-E394-9DB2-843E3C2B420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Refactoring Candidates – Unit COMPLEXITY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1B683A4-1422-9996-73B9-EDF74B14B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overview of the most complex units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8D24E3-806B-1789-735C-FD0762CEDC5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Confidential</a:t>
            </a:r>
          </a:p>
        </p:txBody>
      </p:sp>
      <p:graphicFrame>
        <p:nvGraphicFramePr>
          <p:cNvPr id="4" name="REFACTORING_CANDIDATES_TABLE_UNIT_COMPLEXITY">
            <a:extLst>
              <a:ext uri="{FF2B5EF4-FFF2-40B4-BE49-F238E27FC236}">
                <a16:creationId xmlns:a16="http://schemas.microsoft.com/office/drawing/2014/main" id="{B2AD6F83-29C1-E9BE-13AF-24963E398AE4}"/>
              </a:ext>
            </a:extLst>
          </p:cNvPr>
          <p:cNvGraphicFramePr>
            <a:graphicFrameLocks noGrp="1"/>
          </p:cNvGraphicFramePr>
          <p:nvPr/>
        </p:nvGraphicFramePr>
        <p:xfrm>
          <a:off x="514373" y="1366988"/>
          <a:ext cx="11232250" cy="497256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60249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80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89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3781">
                  <a:extLst>
                    <a:ext uri="{9D8B030D-6E8A-4147-A177-3AD203B41FA5}">
                      <a16:colId xmlns:a16="http://schemas.microsoft.com/office/drawing/2014/main" val="3286041723"/>
                    </a:ext>
                  </a:extLst>
                </a:gridCol>
                <a:gridCol w="1500910">
                  <a:extLst>
                    <a:ext uri="{9D8B030D-6E8A-4147-A177-3AD203B41FA5}">
                      <a16:colId xmlns:a16="http://schemas.microsoft.com/office/drawing/2014/main" val="4263492041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5090921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Unit name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LOC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54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McCabe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Parameters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Component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Technology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noProof="0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lang="en-US" sz="1200" b="0" i="0" u="none" strike="noStrike" kern="1200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lang="en-US" sz="1200" b="0" i="0" u="none" strike="noStrike" kern="1200" noProof="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2639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64041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6063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341736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E5DF8-42C2-D9A0-C581-926F88850E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384C2E-E259-D449-D3FC-4501B83DD5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92E8F9D-227D-DE48-28FD-49E58F9EE84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Refactoring Candidates – Unit INTERFACING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36CF5EF-9D37-AF0B-8482-89079D5C2E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overview of the units with the largest interfaces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3E2457-37D9-7B56-B0F1-9C62576D55B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Confidential</a:t>
            </a:r>
          </a:p>
        </p:txBody>
      </p:sp>
      <p:graphicFrame>
        <p:nvGraphicFramePr>
          <p:cNvPr id="4" name="REFACTORING_CANDIDATES_TABLE_UNIT_INTERFACING">
            <a:extLst>
              <a:ext uri="{FF2B5EF4-FFF2-40B4-BE49-F238E27FC236}">
                <a16:creationId xmlns:a16="http://schemas.microsoft.com/office/drawing/2014/main" id="{886DDEFD-B6CA-D10A-3710-9F71507BA754}"/>
              </a:ext>
            </a:extLst>
          </p:cNvPr>
          <p:cNvGraphicFramePr>
            <a:graphicFrameLocks noGrp="1"/>
          </p:cNvGraphicFramePr>
          <p:nvPr/>
        </p:nvGraphicFramePr>
        <p:xfrm>
          <a:off x="514373" y="1366988"/>
          <a:ext cx="11232250" cy="497256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60249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80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89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3781">
                  <a:extLst>
                    <a:ext uri="{9D8B030D-6E8A-4147-A177-3AD203B41FA5}">
                      <a16:colId xmlns:a16="http://schemas.microsoft.com/office/drawing/2014/main" val="3286041723"/>
                    </a:ext>
                  </a:extLst>
                </a:gridCol>
                <a:gridCol w="1500910">
                  <a:extLst>
                    <a:ext uri="{9D8B030D-6E8A-4147-A177-3AD203B41FA5}">
                      <a16:colId xmlns:a16="http://schemas.microsoft.com/office/drawing/2014/main" val="4263492041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5090921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Unit name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LOC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54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McCabe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Parameters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FC1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Component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Technology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noProof="0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lang="en-US" sz="1200" b="0" i="0" u="none" strike="noStrike" kern="1200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lang="en-US" sz="1200" b="0" i="0" u="none" strike="noStrike" kern="1200" noProof="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2639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64041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6063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78206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9E2D5C-3E5F-6B9D-908E-50F0A86AC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1ED10E3-5A1E-EB42-A8DD-8C3EA6AFCB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14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C2401406-73FA-D043-F4F9-83583AFBBF7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Refactoring Candidates – Module COUPLING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6B4BED9-C15D-5B49-DC19-82A8E7339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overview of the modules with the highest coupling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B246FC-EA60-CE91-78AD-F32916748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Confidential</a:t>
            </a:r>
          </a:p>
        </p:txBody>
      </p:sp>
      <p:graphicFrame>
        <p:nvGraphicFramePr>
          <p:cNvPr id="4" name="REFACTORING_CANDIDATES_TABLE_MODULE_COUPLING">
            <a:extLst>
              <a:ext uri="{FF2B5EF4-FFF2-40B4-BE49-F238E27FC236}">
                <a16:creationId xmlns:a16="http://schemas.microsoft.com/office/drawing/2014/main" id="{08CD0C1C-FF15-4288-5694-0C8CA50F5FE0}"/>
              </a:ext>
            </a:extLst>
          </p:cNvPr>
          <p:cNvGraphicFramePr>
            <a:graphicFrameLocks noGrp="1"/>
          </p:cNvGraphicFramePr>
          <p:nvPr/>
        </p:nvGraphicFramePr>
        <p:xfrm>
          <a:off x="514373" y="1366988"/>
          <a:ext cx="11231293" cy="478968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60365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4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57908">
                  <a:extLst>
                    <a:ext uri="{9D8B030D-6E8A-4147-A177-3AD203B41FA5}">
                      <a16:colId xmlns:a16="http://schemas.microsoft.com/office/drawing/2014/main" val="3286041723"/>
                    </a:ext>
                  </a:extLst>
                </a:gridCol>
                <a:gridCol w="1766924">
                  <a:extLst>
                    <a:ext uri="{9D8B030D-6E8A-4147-A177-3AD203B41FA5}">
                      <a16:colId xmlns:a16="http://schemas.microsoft.com/office/drawing/2014/main" val="4263492041"/>
                    </a:ext>
                  </a:extLst>
                </a:gridCol>
                <a:gridCol w="1405383">
                  <a:extLst>
                    <a:ext uri="{9D8B030D-6E8A-4147-A177-3AD203B41FA5}">
                      <a16:colId xmlns:a16="http://schemas.microsoft.com/office/drawing/2014/main" val="25090921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File name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LOC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54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Fan-in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FC1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Component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Technology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noProof="0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lang="en-US" sz="1200" b="0" i="0" u="none" strike="noStrike" kern="1200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lang="en-US" sz="1200" b="0" i="0" u="none" strike="noStrike" kern="1200" noProof="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2639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64041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2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5B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6063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283083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5261DE-516A-2C47-C290-CC53EE2EC3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D025075-AF88-4ABD-0816-000FE85C61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15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6BA0A77-753D-20DB-3D53-A7D106A78F7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Refactoring Candidates – COMPONENT ENTANGLEMENT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362569B-8BFD-D308-A55E-04765D4E13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overview of component entanglement related findings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ED554A-888F-C192-ED2E-3071DD750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Confidential</a:t>
            </a:r>
          </a:p>
        </p:txBody>
      </p:sp>
      <p:graphicFrame>
        <p:nvGraphicFramePr>
          <p:cNvPr id="4" name="REFACTORING_CANDIDATES_TABLE_COMPONENT_ENTANGLEMENT">
            <a:extLst>
              <a:ext uri="{FF2B5EF4-FFF2-40B4-BE49-F238E27FC236}">
                <a16:creationId xmlns:a16="http://schemas.microsoft.com/office/drawing/2014/main" id="{9838512D-A010-DDD6-1567-37B565CF5809}"/>
              </a:ext>
            </a:extLst>
          </p:cNvPr>
          <p:cNvGraphicFramePr>
            <a:graphicFrameLocks noGrp="1"/>
          </p:cNvGraphicFramePr>
          <p:nvPr/>
        </p:nvGraphicFramePr>
        <p:xfrm>
          <a:off x="514373" y="1351494"/>
          <a:ext cx="11231294" cy="460680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96632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79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853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Description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Weight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5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noProof="0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lang="en-US" sz="1200" b="0" i="0" u="none" strike="noStrike" kern="1200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263985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6404128"/>
                  </a:ext>
                </a:extLst>
              </a:tr>
              <a:tr h="254774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6063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476272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B2A1D-C398-FD00-A262-F1315FFA7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C62FCDF-5E0F-1700-45E3-65B5191C49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F418E4D-4C1B-5CF0-D4B4-9BE92D28DF1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Refactoring Candidates – COMPONENT Independence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E4658BA-0814-EB54-4871-7EA3307973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overview of high impact communicating files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FCF33D-A478-D36E-605A-D3A5163CFE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1000" b="1" kern="1200" cap="all" spc="10" baseline="0" dirty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Confidential</a:t>
            </a:r>
          </a:p>
        </p:txBody>
      </p:sp>
      <p:graphicFrame>
        <p:nvGraphicFramePr>
          <p:cNvPr id="4" name="REFACTORING_CANDIDATES_TABLE_COMPONENT_INDEPENDENCE">
            <a:extLst>
              <a:ext uri="{FF2B5EF4-FFF2-40B4-BE49-F238E27FC236}">
                <a16:creationId xmlns:a16="http://schemas.microsoft.com/office/drawing/2014/main" id="{0354F911-27AA-DF84-8BBC-02F20E05B6DA}"/>
              </a:ext>
            </a:extLst>
          </p:cNvPr>
          <p:cNvGraphicFramePr>
            <a:graphicFrameLocks noGrp="1"/>
          </p:cNvGraphicFramePr>
          <p:nvPr/>
        </p:nvGraphicFramePr>
        <p:xfrm>
          <a:off x="514373" y="1366988"/>
          <a:ext cx="11231293" cy="460680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65994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37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31675">
                  <a:extLst>
                    <a:ext uri="{9D8B030D-6E8A-4147-A177-3AD203B41FA5}">
                      <a16:colId xmlns:a16="http://schemas.microsoft.com/office/drawing/2014/main" val="4263492041"/>
                    </a:ext>
                  </a:extLst>
                </a:gridCol>
                <a:gridCol w="1536423">
                  <a:extLst>
                    <a:ext uri="{9D8B030D-6E8A-4147-A177-3AD203B41FA5}">
                      <a16:colId xmlns:a16="http://schemas.microsoft.com/office/drawing/2014/main" val="25090921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File name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LOC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54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Component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Technology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noProof="0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r>
                        <a:rPr lang="en-US" sz="1200" b="0" i="0" u="none" strike="noStrike" kern="1200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Example style</a:t>
                      </a: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2639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64041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>
                            <a:lumMod val="60000"/>
                            <a:lumOff val="4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108000" marR="108000" marT="72000" marB="7200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6063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617202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20D80B1-1DD7-236F-9B91-B3FA651A23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17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2392A5-169E-CF65-0C41-C1C81B8D0A2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CF5C235-EE43-F072-CFE2-8B3B48BA16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Other</a:t>
            </a:r>
            <a:r>
              <a:rPr lang="nl-NL" dirty="0"/>
              <a:t> </a:t>
            </a:r>
            <a:r>
              <a:rPr lang="nl-NL" dirty="0" err="1"/>
              <a:t>placeholders</a:t>
            </a:r>
            <a:endParaRPr lang="nl-NL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7FCCB3C-AEF5-844E-6965-1CDA93673B9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nl-NL" dirty="0" err="1"/>
              <a:t>MAINT_DATE_MONTH_FULL</a:t>
            </a:r>
            <a:endParaRPr lang="nl-NL" dirty="0"/>
          </a:p>
          <a:p>
            <a:pPr marL="0" indent="0">
              <a:buNone/>
            </a:pPr>
            <a:r>
              <a:rPr lang="nl-NL"/>
              <a:t>ARCH_</a:t>
            </a:r>
            <a:r>
              <a:rPr lang="nl-NL" dirty="0" err="1"/>
              <a:t>DATE_MONTH_FULL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3820716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SIG 2020">
      <a:dk1>
        <a:srgbClr val="657484"/>
      </a:dk1>
      <a:lt1>
        <a:srgbClr val="FFFFFF"/>
      </a:lt1>
      <a:dk2>
        <a:srgbClr val="1F354B"/>
      </a:dk2>
      <a:lt2>
        <a:srgbClr val="EFF3F8"/>
      </a:lt2>
      <a:accent1>
        <a:srgbClr val="1F354B"/>
      </a:accent1>
      <a:accent2>
        <a:srgbClr val="DFC101"/>
      </a:accent2>
      <a:accent3>
        <a:srgbClr val="04ABC8"/>
      </a:accent3>
      <a:accent4>
        <a:srgbClr val="8269A4"/>
      </a:accent4>
      <a:accent5>
        <a:srgbClr val="C5CD58"/>
      </a:accent5>
      <a:accent6>
        <a:srgbClr val="D45200"/>
      </a:accent6>
      <a:hlink>
        <a:srgbClr val="08ACC8"/>
      </a:hlink>
      <a:folHlink>
        <a:srgbClr val="00ADC8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rgbClr val="B3BECD"/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2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6" id="{87A88162-E9FA-E744-BFFA-BC08FDA9AD0B}" vid="{A5F00ED1-E9E7-C44B-A961-D0FA0EAA5A7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fa937df2-abe2-4d38-b5f4-c228acba3827">
      <Terms xmlns="http://schemas.microsoft.com/office/infopath/2007/PartnerControls"/>
    </lcf76f155ced4ddcb4097134ff3c332f>
    <TaxCatchAll xmlns="bc8ba18a-4a58-4ad2-bfc0-6516af8e7dc2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98B4EB28540854BB4092730D7F67224" ma:contentTypeVersion="13" ma:contentTypeDescription="Create a new document." ma:contentTypeScope="" ma:versionID="07d6997c7358ecc3b6f0d78039f1ac55">
  <xsd:schema xmlns:xsd="http://www.w3.org/2001/XMLSchema" xmlns:xs="http://www.w3.org/2001/XMLSchema" xmlns:p="http://schemas.microsoft.com/office/2006/metadata/properties" xmlns:ns2="fa937df2-abe2-4d38-b5f4-c228acba3827" xmlns:ns3="bc8ba18a-4a58-4ad2-bfc0-6516af8e7dc2" targetNamespace="http://schemas.microsoft.com/office/2006/metadata/properties" ma:root="true" ma:fieldsID="a7d20d2c9a349b6838acf4b79389f2fd" ns2:_="" ns3:_="">
    <xsd:import namespace="fa937df2-abe2-4d38-b5f4-c228acba3827"/>
    <xsd:import namespace="bc8ba18a-4a58-4ad2-bfc0-6516af8e7dc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a937df2-abe2-4d38-b5f4-c228acba382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40897a51-27a2-4a5e-b602-66a4649d25e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c8ba18a-4a58-4ad2-bfc0-6516af8e7dc2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2119a7a8-86cc-43f5-a248-74259e6177ea}" ma:internalName="TaxCatchAll" ma:showField="CatchAllData" ma:web="bc8ba18a-4a58-4ad2-bfc0-6516af8e7dc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B629362-CF15-4610-8FAC-A8E699942233}">
  <ds:schemaRefs>
    <ds:schemaRef ds:uri="http://schemas.microsoft.com/office/2006/documentManagement/types"/>
    <ds:schemaRef ds:uri="http://purl.org/dc/elements/1.1/"/>
    <ds:schemaRef ds:uri="bc8ba18a-4a58-4ad2-bfc0-6516af8e7dc2"/>
    <ds:schemaRef ds:uri="http://purl.org/dc/terms/"/>
    <ds:schemaRef ds:uri="http://www.w3.org/XML/1998/namespace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fa937df2-abe2-4d38-b5f4-c228acba3827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06E6923A-C221-4753-B75B-BA213EEB7564}">
  <ds:schemaRefs>
    <ds:schemaRef ds:uri="bc8ba18a-4a58-4ad2-bfc0-6516af8e7dc2"/>
    <ds:schemaRef ds:uri="fa937df2-abe2-4d38-b5f4-c228acba3827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570928F0-D7CA-4732-B7F3-1F945720D0A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22532</TotalTime>
  <Words>1387</Words>
  <Application>Microsoft Macintosh PowerPoint</Application>
  <PresentationFormat>Widescreen</PresentationFormat>
  <Paragraphs>351</Paragraphs>
  <Slides>17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6" baseType="lpstr">
      <vt:lpstr>Arial</vt:lpstr>
      <vt:lpstr>Calibri</vt:lpstr>
      <vt:lpstr>Calibri Bold</vt:lpstr>
      <vt:lpstr>Calibri Light</vt:lpstr>
      <vt:lpstr>Calibri Regular</vt:lpstr>
      <vt:lpstr>TheSans B5 Plain</vt:lpstr>
      <vt:lpstr>TheSansMono M5</vt:lpstr>
      <vt:lpstr>Wingdings</vt:lpstr>
      <vt:lpstr>Office Theme</vt:lpstr>
      <vt:lpstr>PowerPoint Presentation</vt:lpstr>
      <vt:lpstr>SYSTEM_NAME technical quality: management summary</vt:lpstr>
      <vt:lpstr>The system is VOLUME_RELATIVE in size and is built primarily in TECH_1_NAME</vt:lpstr>
      <vt:lpstr>SYSTEM_NAME has an TEST_CODE_RELATIVE test/code ratio</vt:lpstr>
      <vt:lpstr>SYSTEM_NAME is a MAINT_SIZE system of SYSTEM_PY PY which scores MAINT_RATING for maintainability </vt:lpstr>
      <vt:lpstr>SYSTEM_NAME scores MAINT_INDICATION for maintainability</vt:lpstr>
      <vt:lpstr>SYSTEM_NAME scores ARCH_AT_BELOW average (ARCH_RATING ★) for Architecture Quality</vt:lpstr>
      <vt:lpstr>OSH_TOTAL_VULN vulnerable 3rd party open-source dependencies were identified</vt:lpstr>
      <vt:lpstr>SYSTEM_NAME rates OSH_RELATIVE in Open-Source health</vt:lpstr>
      <vt:lpstr>An overview of the longest duplicates</vt:lpstr>
      <vt:lpstr>An overview of the longest units</vt:lpstr>
      <vt:lpstr>An overview of the most complex units</vt:lpstr>
      <vt:lpstr>An overview of the units with the largest interfaces</vt:lpstr>
      <vt:lpstr>An overview of the modules with the highest coupling</vt:lpstr>
      <vt:lpstr>An overview of component entanglement related findings</vt:lpstr>
      <vt:lpstr>An overview of high impact communicating files</vt:lpstr>
      <vt:lpstr>Other placeholders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Daniel O'Brien</dc:creator>
  <cp:lastModifiedBy>Floris van Leeuwen</cp:lastModifiedBy>
  <cp:revision>120</cp:revision>
  <cp:lastPrinted>2020-07-02T15:41:27Z</cp:lastPrinted>
  <dcterms:created xsi:type="dcterms:W3CDTF">2024-01-03T15:04:34Z</dcterms:created>
  <dcterms:modified xsi:type="dcterms:W3CDTF">2025-10-29T17:02:10Z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0x010100398B4EB28540854BB4092730D7F67224</vt:lpwstr>
  </property>
  <property fmtid="{D5CDD505-2E9C-101B-9397-08002B2CF9AE}" pid="3" name="MediaServiceImageTags">
    <vt:lpwstr/>
  </property>
</Properties>
</file>