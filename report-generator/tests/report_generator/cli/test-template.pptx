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561" r:id="rId5"/>
    <p:sldId id="11162" r:id="rId6"/>
    <p:sldId id="11167" r:id="rId7"/>
    <p:sldId id="11166" r:id="rId8"/>
    <p:sldId id="1824" r:id="rId9"/>
    <p:sldId id="1652" r:id="rId10"/>
    <p:sldId id="11164" r:id="rId11"/>
    <p:sldId id="11170" r:id="rId12"/>
    <p:sldId id="2185" r:id="rId13"/>
    <p:sldId id="516" r:id="rId14"/>
    <p:sldId id="517" r:id="rId15"/>
    <p:sldId id="519" r:id="rId16"/>
    <p:sldId id="518" r:id="rId17"/>
    <p:sldId id="520" r:id="rId18"/>
    <p:sldId id="521" r:id="rId19"/>
    <p:sldId id="523" r:id="rId20"/>
    <p:sldId id="111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55"/>
    <p:restoredTop sz="96327"/>
  </p:normalViewPr>
  <p:slideViewPr>
    <p:cSldViewPr snapToGrid="0" snapToObjects="1" showGuides="1">
      <p:cViewPr varScale="1">
        <p:scale>
          <a:sx n="119" d="100"/>
          <a:sy n="119" d="100"/>
        </p:scale>
        <p:origin x="-272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034B-534E-9ADC-79D3329DBEB7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AA6CA5E8-FDB8-434A-B68E-C7A3CC6735E5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FA8-464D-BE91-55CE5770358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6E19E0AF-A501-7C4B-8799-4B6F8CFD540B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7FA8-464D-BE91-55CE5770358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Java</c:v>
                </c:pt>
                <c:pt idx="1">
                  <c:v>C++</c:v>
                </c:pt>
                <c:pt idx="2">
                  <c:v>JavaScript</c:v>
                </c:pt>
                <c:pt idx="3">
                  <c:v>Python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0.86965532760192477</c:v>
                </c:pt>
                <c:pt idx="1">
                  <c:v>0.12658757732049117</c:v>
                </c:pt>
                <c:pt idx="2">
                  <c:v>3.5367373931502054E-3</c:v>
                </c:pt>
                <c:pt idx="3">
                  <c:v>2.2035768443385634E-4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0-034B-534E-9ADC-79D3329DBE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C0-8749-A89A-75F11CBE0F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C0-8749-A89A-75F11CBE0F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C0-8749-A89A-75F11CBE0F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C0-8749-A89A-75F11CBE0F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80-1E47-A0AF-94D32305F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0"/>
            <c:spPr>
              <a:solidFill>
                <a:schemeClr val="accent1"/>
              </a:solidFill>
              <a:ln w="28575">
                <a:solidFill>
                  <a:schemeClr val="accent3"/>
                </a:soli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layout>
                <c:manualLayout>
                  <c:x val="1.6061704965061169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[</a:t>
                    </a:r>
                    <a:r>
                      <a:rPr lang="en-US" dirty="0" err="1"/>
                      <a:t>SYSTEM_NAME</a:t>
                    </a:r>
                    <a:r>
                      <a:rPr lang="en-US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B86A-D14B-85E9-B8DEC18B60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519-7043-91E7-EECF3C41425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19-7043-91E7-EECF3C41425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519-7043-91E7-EECF3C41425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19-7043-91E7-EECF3C41425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19-7043-91E7-EECF3C41425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19-7043-91E7-EECF3C41425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19-7043-91E7-EECF3C41425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19-7043-91E7-EECF3C41425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19-7043-91E7-EECF3C41425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19-7043-91E7-EECF3C41425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19-7043-91E7-EECF3C41425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19-7043-91E7-EECF3C41425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Googleguava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19-7043-91E7-EECF3C41425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0519-7043-91E7-EECF3C41425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0519-7043-91E7-EECF3C41425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0519-7043-91E7-EECF3C41425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0519-7043-91E7-EECF3C41425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0519-7043-91E7-EECF3C41425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0519-7043-91E7-EECF3C41425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0519-7043-91E7-EECF3C41425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0519-7043-91E7-EECF3C41425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Microsoftterminal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0519-7043-91E7-EECF3C41425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0519-7043-91E7-EECF3C41425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Mysql-server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0519-7043-91E7-EECF3C41425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0519-7043-91E7-EECF3C41425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0519-7043-91E7-EECF3C41425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Oraclegraal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0519-7043-91E7-EECF3C41425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0519-7043-91E7-EECF3C41425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Postgres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0519-7043-91E7-EECF3C41425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0519-7043-91E7-EECF3C41425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0519-7043-91E7-EECF3C41425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0519-7043-91E7-EECF3C41425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0519-7043-91E7-EECF3C41425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0519-7043-91E7-EECF3C41425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0519-7043-91E7-EECF3C41425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0519-7043-91E7-EECF3C41425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0519-7043-91E7-EECF3C41425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0519-7043-91E7-EECF3C41425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0519-7043-91E7-EECF3C41425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0519-7043-91E7-EECF3C41425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0519-7043-91E7-EECF3C41425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0519-7043-91E7-EECF3C41425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0519-7043-91E7-EECF3C41425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0519-7043-91E7-EECF3C41425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Webmethods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0519-7043-91E7-EECF3C41425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0519-7043-91E7-EECF3C41425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0519-7043-91E7-EECF3C414252}"/>
                </c:ext>
              </c:extLst>
            </c:dLbl>
            <c:numFmt formatCode="#,##0.0" sourceLinked="0"/>
            <c:spPr>
              <a:solidFill>
                <a:schemeClr val="accent3">
                  <a:alpha val="85000"/>
                </a:schemeClr>
              </a:soli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28.068333333333332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2.3086110126054158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Sheet1!$C$2:$C$3</c15:f>
                <c15:dlblRangeCache>
                  <c:ptCount val="2"/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1-0A4B-BF3C-1F87FFDAFF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7C1-0A4B-BF3C-1F87FFDAFFAB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C1-0A4B-BF3C-1F87FFDAFFAB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7C1-0A4B-BF3C-1F87FFDAFF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7C1-0A4B-BF3C-1F87FFDAFF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178-A848-A9F6-D040B7E58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49-5C45-872A-96D6CCD489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A49-5C45-872A-96D6CCD48952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A49-5C45-872A-96D6CCD48952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A49-5C45-872A-96D6CCD489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A49-5C45-872A-96D6CCD489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8F-804A-98C0-2EFA001BB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6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8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81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419480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endParaRPr lang="en-GB" sz="1400" b="1" dirty="0">
              <a:solidFill>
                <a:schemeClr val="accent1"/>
              </a:solidFill>
              <a:latin typeface="Calibri Regular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70243"/>
            <a:ext cx="4504276" cy="372650"/>
          </a:xfrm>
          <a:prstGeom prst="rect">
            <a:avLst/>
          </a:pr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62617" y="1867237"/>
            <a:ext cx="1946019" cy="16927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l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 dependencies in total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58" y="1816783"/>
            <a:ext cx="562010" cy="265112"/>
          </a:xfrm>
        </p:spPr>
        <p:txBody>
          <a:bodyPr anchor="ctr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32BDF-19FE-16E0-140C-A92D63BFE40D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D846DF8-6FB9-113B-E643-AFB994F128E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2CB4BC1-E3EB-78F3-84A5-877A5B841E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CF1F6A-1F88-8145-FE5C-042E83FC70D0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833F2AE-B882-CA12-2A4B-CA6E81F265E6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B06F22-E984-AAA7-DF5B-49AA31FAED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ECFD4-7514-0241-5872-BB758C0682D7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58AA51C-901A-9B84-CE25-4D427A46CAC1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09C6217-E883-2005-7854-9846D558305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35142B-912E-4B8A-58D9-C27402CCBF87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0CB14B6-5B84-25D4-9CE0-CD4E9AB33AC3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26661C-B819-E9F6-2659-EBBAE34CB6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29CEE3-98D7-9F5B-587E-4C33DB5EB3B8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31422A-942B-5C44-B632-3495D5574AD2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A08C835-BC34-CED7-C169-00E4B30B00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69FE6E-A255-48D4-C7E8-F5E6D264D886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8C6D75-F690-0C6C-33C1-6B28E6F5F6AC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163BBF-D73D-9771-B050-1D5ACCF613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B860CF2-34E2-DE9F-17DE-0B05CCAB9F66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E5C3847-A367-1ACD-62C1-099B8EEB07F1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3281700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hyperlink" Target="https://wiki.sig.eu/confluence/x/JoDbC" TargetMode="Externa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3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4" r:id="rId19"/>
    <p:sldLayoutId id="2147483726" r:id="rId20"/>
    <p:sldLayoutId id="2147483727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emf"/><Relationship Id="rId5" Type="http://schemas.openxmlformats.org/officeDocument/2006/relationships/chart" Target="../charts/chart3.xml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722244" y="6525935"/>
            <a:ext cx="64" cy="2577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Management summary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10023452" cy="313412"/>
          </a:xfrm>
        </p:spPr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technical quality: management summary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9348AE8-5FBC-0E41-B4E0-8BE6CD80C0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5878" y="1363330"/>
            <a:ext cx="10889789" cy="518572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[Maintainability]</a:t>
            </a:r>
            <a:r>
              <a:rPr lang="en-US" sz="1800" dirty="0"/>
              <a:t> The system scores </a:t>
            </a:r>
            <a:r>
              <a:rPr lang="en-US" sz="1800" dirty="0" err="1"/>
              <a:t>MAINT_RELATIVE</a:t>
            </a:r>
            <a:r>
              <a:rPr lang="en-US" sz="1800" dirty="0"/>
              <a:t> the market average with </a:t>
            </a:r>
            <a:r>
              <a:rPr lang="en-US" sz="1800" dirty="0" err="1"/>
              <a:t>MAINT_RATING</a:t>
            </a:r>
            <a:r>
              <a:rPr lang="en-US" sz="1800" dirty="0"/>
              <a:t> stars (</a:t>
            </a:r>
            <a:r>
              <a:rPr lang="en-US" sz="1800" dirty="0" err="1"/>
              <a:t>MAINT_STARS</a:t>
            </a:r>
            <a:r>
              <a:rPr lang="en-US" sz="1800" dirty="0"/>
              <a:t>) on the SIG maintainability model. This indicates </a:t>
            </a:r>
            <a:r>
              <a:rPr lang="en-US" sz="1800" dirty="0" err="1"/>
              <a:t>MAINT_INDICATION</a:t>
            </a:r>
            <a:r>
              <a:rPr lang="en-US" sz="1800" dirty="0"/>
              <a:t> maintenance costs and time to market for functional changes. </a:t>
            </a:r>
            <a:r>
              <a:rPr lang="en-US" sz="1800" dirty="0" err="1"/>
              <a:t>MAINT_OBSERVATION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[Technology choice]</a:t>
            </a:r>
            <a:r>
              <a:rPr lang="en-US" sz="1800" dirty="0"/>
              <a:t> The system is </a:t>
            </a:r>
            <a:r>
              <a:rPr lang="en-US" sz="1800" dirty="0" err="1"/>
              <a:t>SYSTEM_PY</a:t>
            </a:r>
            <a:r>
              <a:rPr lang="en-US" sz="1800" dirty="0"/>
              <a:t> </a:t>
            </a:r>
            <a:r>
              <a:rPr lang="en-US" sz="1800" dirty="0" err="1"/>
              <a:t>PY</a:t>
            </a:r>
            <a:r>
              <a:rPr lang="en-US" sz="1800" dirty="0"/>
              <a:t> (</a:t>
            </a:r>
            <a:r>
              <a:rPr lang="en-US" sz="1800" dirty="0" err="1"/>
              <a:t>SYSTEM_LOC_FORMAT_COMMA</a:t>
            </a:r>
            <a:r>
              <a:rPr lang="en-US" sz="1800" dirty="0"/>
              <a:t> LOC) large. </a:t>
            </a:r>
            <a:r>
              <a:rPr lang="en-US" sz="1800" dirty="0" err="1"/>
              <a:t>TECH_SUMMARY</a:t>
            </a:r>
            <a:r>
              <a:rPr lang="en-US" sz="1800" dirty="0"/>
              <a:t> Its main technology is TECH_1_NAME.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[Test code] </a:t>
            </a:r>
            <a:r>
              <a:rPr lang="en-US" sz="1800" dirty="0"/>
              <a:t>The system has a test/code ratio of </a:t>
            </a:r>
            <a:r>
              <a:rPr lang="en-US" sz="1800" dirty="0" err="1"/>
              <a:t>TEST_CODE_RATIO</a:t>
            </a:r>
            <a:r>
              <a:rPr lang="en-US" sz="1800" dirty="0"/>
              <a:t>. This indicates </a:t>
            </a:r>
            <a:r>
              <a:rPr lang="en-US" sz="1800" dirty="0" err="1"/>
              <a:t>TEST_CODE_SUMMARY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4ABC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[Architecture Quality] </a:t>
            </a:r>
            <a:r>
              <a:rPr lang="en-US" sz="1800" dirty="0"/>
              <a:t>The system rates </a:t>
            </a:r>
            <a:r>
              <a:rPr lang="en-US" sz="1800" dirty="0" err="1"/>
              <a:t>ARCH_RATING</a:t>
            </a:r>
            <a:r>
              <a:rPr lang="en-US" sz="1800" dirty="0"/>
              <a:t> stars (</a:t>
            </a:r>
            <a:r>
              <a:rPr lang="en-US" sz="1800" dirty="0" err="1">
                <a:latin typeface="+mj-lt"/>
              </a:rPr>
              <a:t>ARCH_STARS</a:t>
            </a:r>
            <a:r>
              <a:rPr lang="en-US" sz="1800" dirty="0">
                <a:latin typeface="Calibri" panose="020F0502020204030204" pitchFamily="34" charset="0"/>
              </a:rPr>
              <a:t>)</a:t>
            </a:r>
            <a:r>
              <a:rPr lang="en-US" sz="1800" dirty="0"/>
              <a:t> on the SIG Architecture Quality model, </a:t>
            </a:r>
            <a:r>
              <a:rPr lang="en-US" sz="1800" dirty="0" err="1"/>
              <a:t>ARCH_AT_BELOW</a:t>
            </a:r>
            <a:r>
              <a:rPr lang="en-US" sz="1800" dirty="0"/>
              <a:t> the market average. </a:t>
            </a:r>
            <a:r>
              <a:rPr lang="en-US" sz="1800" dirty="0" err="1"/>
              <a:t>ARCH_WORST_METRIC_REMARK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[Open-source health]</a:t>
            </a:r>
            <a:r>
              <a:rPr lang="en-US" sz="1800" dirty="0"/>
              <a:t> </a:t>
            </a:r>
            <a:r>
              <a:rPr lang="en-US" sz="1800" dirty="0" err="1"/>
              <a:t>OSH_RISK_SUMMARY</a:t>
            </a:r>
            <a:r>
              <a:rPr lang="en-US" sz="18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43D544-1328-F0BC-2B01-FA489ECF0038}"/>
              </a:ext>
            </a:extLst>
          </p:cNvPr>
          <p:cNvGrpSpPr/>
          <p:nvPr/>
        </p:nvGrpSpPr>
        <p:grpSpPr>
          <a:xfrm>
            <a:off x="3447975" y="6529101"/>
            <a:ext cx="3073536" cy="256609"/>
            <a:chOff x="8280472" y="6533991"/>
            <a:chExt cx="3073536" cy="25660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B3137-0ADF-0C01-58A6-4DC8AAE543B6}"/>
                </a:ext>
              </a:extLst>
            </p:cNvPr>
            <p:cNvSpPr txBox="1"/>
            <p:nvPr/>
          </p:nvSpPr>
          <p:spPr>
            <a:xfrm>
              <a:off x="8280472" y="6533991"/>
              <a:ext cx="3073536" cy="256609"/>
            </a:xfrm>
            <a:prstGeom prst="rect">
              <a:avLst/>
            </a:prstGeom>
            <a:noFill/>
          </p:spPr>
          <p:txBody>
            <a:bodyPr wrap="square" lIns="90000" rtlCol="0" anchor="t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000" b="1">
                  <a:solidFill>
                    <a:schemeClr val="accent1"/>
                  </a:solidFill>
                </a:rPr>
                <a:t>LEGEND</a:t>
              </a:r>
              <a:r>
                <a:rPr lang="en-US" sz="1000">
                  <a:solidFill>
                    <a:schemeClr val="accent1"/>
                  </a:solidFill>
                </a:rPr>
                <a:t>:    Low/no risk                                           High risk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CA0954F-6B17-F07B-256E-572A096BF3BE}"/>
                </a:ext>
              </a:extLst>
            </p:cNvPr>
            <p:cNvCxnSpPr/>
            <p:nvPr/>
          </p:nvCxnSpPr>
          <p:spPr>
            <a:xfrm>
              <a:off x="9631624" y="6670459"/>
              <a:ext cx="1023457" cy="0"/>
            </a:xfrm>
            <a:prstGeom prst="line">
              <a:avLst/>
            </a:prstGeom>
            <a:ln w="63500" cap="rnd">
              <a:gradFill>
                <a:gsLst>
                  <a:gs pos="0">
                    <a:srgbClr val="57C968"/>
                  </a:gs>
                  <a:gs pos="33000">
                    <a:srgbClr val="F8C740"/>
                  </a:gs>
                  <a:gs pos="66000">
                    <a:srgbClr val="EF981A"/>
                  </a:gs>
                  <a:gs pos="100000">
                    <a:srgbClr val="DB493D"/>
                  </a:gs>
                </a:gsLst>
                <a:lin ang="0" scaled="0"/>
              </a:gra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4B119E-D97B-2CBE-3AAC-33962491AA02}"/>
              </a:ext>
            </a:extLst>
          </p:cNvPr>
          <p:cNvSpPr txBox="1"/>
          <p:nvPr/>
        </p:nvSpPr>
        <p:spPr>
          <a:xfrm>
            <a:off x="6445572" y="6528939"/>
            <a:ext cx="2996384" cy="25659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000">
                <a:solidFill>
                  <a:schemeClr val="accent1"/>
                </a:solidFill>
              </a:rPr>
              <a:t>L = No/Low | M = Moderate | </a:t>
            </a:r>
            <a:r>
              <a:rPr lang="en-GB" sz="1000">
                <a:solidFill>
                  <a:schemeClr val="accent1"/>
                </a:solidFill>
              </a:rPr>
              <a:t>H</a:t>
            </a:r>
            <a:r>
              <a:rPr lang="en-NL" sz="1000">
                <a:solidFill>
                  <a:schemeClr val="accent1"/>
                </a:solidFill>
              </a:rPr>
              <a:t> = High | C = Critical</a:t>
            </a:r>
          </a:p>
        </p:txBody>
      </p:sp>
    </p:spTree>
    <p:extLst>
      <p:ext uri="{BB962C8B-B14F-4D97-AF65-F5344CB8AC3E}">
        <p14:creationId xmlns:p14="http://schemas.microsoft.com/office/powerpoint/2010/main" val="183515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F449F31-3719-D447-B334-2BA3512A2A58}"/>
              </a:ext>
            </a:extLst>
          </p:cNvPr>
          <p:cNvSpPr/>
          <p:nvPr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57" name="Slide Number Placeholder 1">
            <a:extLst>
              <a:ext uri="{FF2B5EF4-FFF2-40B4-BE49-F238E27FC236}">
                <a16:creationId xmlns:a16="http://schemas.microsoft.com/office/drawing/2014/main" id="{43010B43-E6A1-0A42-81DC-A2705ED0D8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2F5A018-2E28-3A48-A092-0C11E239922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 err="1">
                <a:solidFill>
                  <a:schemeClr val="accent3"/>
                </a:solidFill>
              </a:rPr>
              <a:t>technology</a:t>
            </a:r>
            <a:endParaRPr lang="da-DK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196999-2FDC-B64D-87C7-CBB95F403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system is </a:t>
            </a:r>
            <a:r>
              <a:rPr lang="en-US" dirty="0" err="1"/>
              <a:t>VOLUME_RELATIVE</a:t>
            </a:r>
            <a:r>
              <a:rPr lang="en-US" dirty="0"/>
              <a:t> in size and is built primarily in TECH_1_NAME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97E62-871D-ED41-BB4A-23A54EDA32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3297764" cy="4950000"/>
          </a:xfrm>
        </p:spPr>
        <p:txBody>
          <a:bodyPr/>
          <a:lstStyle/>
          <a:p>
            <a:r>
              <a:rPr lang="en-US" dirty="0" err="1"/>
              <a:t>TECH_COMMON_SUMMARY</a:t>
            </a:r>
            <a:endParaRPr lang="en-US" dirty="0"/>
          </a:p>
          <a:p>
            <a:r>
              <a:rPr lang="en-US" dirty="0" err="1"/>
              <a:t>TECH_VARIANCE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B95F9BC0-7330-914B-8E9E-94AD448E4FBA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SYSTEM_PY</a:t>
            </a:r>
            <a:r>
              <a:rPr lang="en-US" dirty="0"/>
              <a:t> </a:t>
            </a:r>
            <a:r>
              <a:rPr lang="en-US" dirty="0" err="1"/>
              <a:t>PY</a:t>
            </a:r>
            <a:endParaRPr lang="en-US" b="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F056781-96E5-A84E-9B0E-0816F0C0E5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8478197"/>
              </p:ext>
            </p:extLst>
          </p:nvPr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7602722-FBEA-F24D-A573-D8200328D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163907"/>
              </p:ext>
            </p:extLst>
          </p:nvPr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size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(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PY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TECH_5_LOC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34953B0A-BA73-504C-811A-B3CDE825A186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Total system volume:</a:t>
            </a:r>
            <a:endParaRPr lang="en-US" b="0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9EA93C31-7D02-A448-9A77-0EEE72037098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SYSTEM_LOC_FORMAT_COMMA</a:t>
            </a:r>
            <a:r>
              <a:rPr lang="en-US" dirty="0"/>
              <a:t> LOC</a:t>
            </a:r>
            <a:endParaRPr lang="en-US" b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C1FDA-5A36-AF44-81EB-8575C7793171}"/>
              </a:ext>
            </a:extLst>
          </p:cNvPr>
          <p:cNvSpPr txBox="1"/>
          <p:nvPr/>
        </p:nvSpPr>
        <p:spPr>
          <a:xfrm>
            <a:off x="3588669" y="6539325"/>
            <a:ext cx="7345448" cy="24622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</a:rPr>
              <a:t>PM</a:t>
            </a:r>
            <a:r>
              <a:rPr lang="en-US" sz="1000">
                <a:solidFill>
                  <a:schemeClr val="accent1"/>
                </a:solidFill>
              </a:rPr>
              <a:t> = Person Months (rebuild size), </a:t>
            </a:r>
            <a:r>
              <a:rPr lang="en-US" sz="1000" b="1" err="1">
                <a:solidFill>
                  <a:schemeClr val="accent1"/>
                </a:solidFill>
              </a:rPr>
              <a:t>PY</a:t>
            </a:r>
            <a:r>
              <a:rPr lang="en-US" sz="1000">
                <a:solidFill>
                  <a:schemeClr val="accent1"/>
                </a:solidFill>
              </a:rPr>
              <a:t> = Person Years (rebuild size)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8CFB0-8BED-E2AA-7F87-EA8A27DA4B79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TECHNOLOGY_CHART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06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18A21A-24C5-40C5-4CDB-EA624C29A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33BDC-89A5-E3A4-AEC7-4B221AF3E3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TEST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0EBEF5-DCD9-FC37-4864-9AD952D1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has an </a:t>
            </a:r>
            <a:r>
              <a:rPr lang="en-US" dirty="0" err="1"/>
              <a:t>TEST_CODE_RELATIVE</a:t>
            </a:r>
            <a:r>
              <a:rPr lang="en-US" dirty="0"/>
              <a:t> test/code ratio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7E356-2302-043B-D4F1-18D148D4F0C8}"/>
              </a:ext>
            </a:extLst>
          </p:cNvPr>
          <p:cNvSpPr txBox="1"/>
          <p:nvPr/>
        </p:nvSpPr>
        <p:spPr>
          <a:xfrm>
            <a:off x="7118733" y="1234521"/>
            <a:ext cx="4376866" cy="38805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b="1" dirty="0" err="1">
                <a:solidFill>
                  <a:schemeClr val="tx2"/>
                </a:solidFill>
              </a:rPr>
              <a:t>TEST_CODE_RATIO</a:t>
            </a:r>
            <a:r>
              <a:rPr lang="en-US" b="1" dirty="0">
                <a:solidFill>
                  <a:schemeClr val="tx2"/>
                </a:solidFill>
              </a:rPr>
              <a:t> overall Test/code ratio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A68CB-2FEE-81FD-058E-2E5AD8DB5C6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68932" y="5953982"/>
            <a:ext cx="4758570" cy="307564"/>
          </a:xfrm>
          <a:prstGeom prst="rect">
            <a:avLst/>
          </a:prstGeom>
        </p:spPr>
      </p:pic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AC1B7746-944D-B669-0A8D-A3370AB580D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8654622"/>
              </p:ext>
            </p:extLst>
          </p:nvPr>
        </p:nvGraphicFramePr>
        <p:xfrm>
          <a:off x="6957718" y="1622576"/>
          <a:ext cx="4537881" cy="4331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AA0E6AF-E77A-4F4C-45E8-1299E5B1FD0B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TEST_CODE_RATIO_CHART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3147D-DFE7-6BE7-7441-6D385DFAA343}"/>
              </a:ext>
            </a:extLst>
          </p:cNvPr>
          <p:cNvSpPr txBox="1"/>
          <p:nvPr/>
        </p:nvSpPr>
        <p:spPr>
          <a:xfrm>
            <a:off x="553154" y="1444963"/>
            <a:ext cx="4989689" cy="118987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SYSTEM_NAME</a:t>
            </a:r>
            <a:r>
              <a:rPr lang="en-US" sz="1600" dirty="0">
                <a:solidFill>
                  <a:schemeClr val="tx2"/>
                </a:solidFill>
              </a:rPr>
              <a:t> scores </a:t>
            </a:r>
            <a:r>
              <a:rPr lang="en-US" sz="1600" dirty="0" err="1">
                <a:solidFill>
                  <a:schemeClr val="tx2"/>
                </a:solidFill>
              </a:rPr>
              <a:t>TEST_CODE_RELATIVE</a:t>
            </a:r>
            <a:r>
              <a:rPr lang="en-US" sz="1600" dirty="0">
                <a:solidFill>
                  <a:schemeClr val="tx2"/>
                </a:solidFill>
              </a:rPr>
              <a:t>, with </a:t>
            </a:r>
            <a:r>
              <a:rPr lang="en-US" sz="1600" dirty="0" err="1">
                <a:solidFill>
                  <a:schemeClr val="tx2"/>
                </a:solidFill>
              </a:rPr>
              <a:t>TEST_CODE_RATIO</a:t>
            </a:r>
            <a:r>
              <a:rPr lang="en-US" sz="1600" dirty="0">
                <a:solidFill>
                  <a:schemeClr val="tx2"/>
                </a:solidFill>
              </a:rPr>
              <a:t> test/production code ratio. </a:t>
            </a:r>
          </a:p>
          <a:p>
            <a:pPr algn="l">
              <a:lnSpc>
                <a:spcPct val="113000"/>
              </a:lnSpc>
            </a:pPr>
            <a:endParaRPr lang="en-US" sz="1600" dirty="0">
              <a:solidFill>
                <a:schemeClr val="tx2"/>
              </a:solidFill>
            </a:endParaRPr>
          </a:p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TEST_CODE_SUMMARY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713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86A1C3D-3AA8-834F-A994-FA0207D3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10101"/>
            <a:ext cx="12192000" cy="53904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99F1CB-7901-D148-8851-054AF6F7AB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216756"/>
          </a:xfrm>
        </p:spPr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DE34061-4828-C24F-8E69-8233C2B42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is a </a:t>
            </a:r>
            <a:r>
              <a:rPr lang="en-US" dirty="0" err="1"/>
              <a:t>MAINT_SIZE</a:t>
            </a:r>
            <a:r>
              <a:rPr lang="en-US" dirty="0"/>
              <a:t> system of </a:t>
            </a:r>
            <a:r>
              <a:rPr lang="en-US"/>
              <a:t>SYSTEM_PY </a:t>
            </a:r>
            <a:r>
              <a:rPr lang="en-US" dirty="0" err="1"/>
              <a:t>PY</a:t>
            </a:r>
            <a:r>
              <a:rPr lang="en-US" dirty="0"/>
              <a:t> which scores </a:t>
            </a:r>
            <a:r>
              <a:rPr lang="en-US" dirty="0" err="1"/>
              <a:t>MAINT_RATING</a:t>
            </a:r>
            <a:r>
              <a:rPr lang="en-US" dirty="0"/>
              <a:t> for maintainability 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A22FF7-2BA3-1F40-8DD0-DE0D3F1EF364}"/>
              </a:ext>
            </a:extLst>
          </p:cNvPr>
          <p:cNvSpPr/>
          <p:nvPr/>
        </p:nvSpPr>
        <p:spPr>
          <a:xfrm>
            <a:off x="0" y="856385"/>
            <a:ext cx="12192001" cy="940610"/>
          </a:xfrm>
          <a:prstGeom prst="rect">
            <a:avLst/>
          </a:prstGeom>
          <a:gradFill>
            <a:gsLst>
              <a:gs pos="100000">
                <a:schemeClr val="tx2">
                  <a:alpha val="0"/>
                </a:schemeClr>
              </a:gs>
              <a:gs pos="5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4B5C55A-0F65-334C-BA45-7E6C78227CA0}"/>
              </a:ext>
            </a:extLst>
          </p:cNvPr>
          <p:cNvSpPr/>
          <p:nvPr/>
        </p:nvSpPr>
        <p:spPr>
          <a:xfrm>
            <a:off x="634296" y="856385"/>
            <a:ext cx="9349048" cy="6001615"/>
          </a:xfrm>
          <a:prstGeom prst="rect">
            <a:avLst/>
          </a:prstGeom>
          <a:gradFill>
            <a:gsLst>
              <a:gs pos="38000">
                <a:schemeClr val="accent2">
                  <a:alpha val="0"/>
                </a:schemeClr>
              </a:gs>
              <a:gs pos="62000">
                <a:schemeClr val="accent1"/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dirty="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CE94B3-7184-6F49-9E35-6B595DC2D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9304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74159" y="3637528"/>
            <a:ext cx="1247606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27385" y="5971218"/>
            <a:ext cx="2826564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SYSTEM REBUILD VOLUME</a:t>
            </a:r>
            <a:r>
              <a:rPr lang="en-NL" sz="1100" dirty="0">
                <a:solidFill>
                  <a:schemeClr val="accent2"/>
                </a:solidFill>
              </a:rPr>
              <a:t>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/>
          <p:nvPr/>
        </p:nvCxnSpPr>
        <p:spPr>
          <a:xfrm flipV="1">
            <a:off x="723627" y="3154373"/>
            <a:ext cx="0" cy="1245793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/>
          <p:nvPr/>
        </p:nvCxnSpPr>
        <p:spPr>
          <a:xfrm>
            <a:off x="5427385" y="6293337"/>
            <a:ext cx="2826564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3780878"/>
              </p:ext>
            </p:extLst>
          </p:nvPr>
        </p:nvGraphicFramePr>
        <p:xfrm>
          <a:off x="1477919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245200" y="1363956"/>
            <a:ext cx="3091908" cy="388055"/>
            <a:chOff x="4652159" y="1363956"/>
            <a:chExt cx="3091908" cy="38805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2756480" cy="388055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b="1" dirty="0">
                  <a:solidFill>
                    <a:schemeClr val="bg1"/>
                  </a:solidFill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54803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NL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sz="120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6F0224-6430-EFA1-D313-482D221B7593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MAINT_INDICATION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MAINT_DATE_DAY</a:t>
            </a:r>
            <a:endParaRPr lang="en-NL"/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MAINT_DATE_MONTH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MAINT_DATE_YEAR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MARKER_MAINT_RATING</a:t>
              </a:r>
              <a:endParaRPr lang="en-US" sz="1400" b="1" dirty="0"/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945820"/>
              </p:ext>
            </p:extLst>
          </p:nvPr>
        </p:nvGraphicFramePr>
        <p:xfrm>
          <a:off x="7984631" y="3243717"/>
          <a:ext cx="3755424" cy="1154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36369" y="3344081"/>
            <a:ext cx="68118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market average for maintainability. </a:t>
            </a:r>
            <a:r>
              <a:rPr lang="en-US" sz="1600" dirty="0">
                <a:solidFill>
                  <a:schemeClr val="accent1"/>
                </a:solidFill>
              </a:rPr>
              <a:t>This indicates </a:t>
            </a:r>
            <a:r>
              <a:rPr lang="en-US" sz="1600" dirty="0" err="1">
                <a:solidFill>
                  <a:schemeClr val="accent1"/>
                </a:solidFill>
              </a:rPr>
              <a:t>MAINT_INDICATION</a:t>
            </a:r>
            <a:r>
              <a:rPr lang="en-US" sz="1600" dirty="0">
                <a:solidFill>
                  <a:schemeClr val="accent1"/>
                </a:solidFill>
              </a:rPr>
              <a:t> maintenance costs and time to market for functional changes. 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Notable Metrics</a:t>
            </a:r>
          </a:p>
          <a:p>
            <a:r>
              <a:rPr lang="en-US" sz="1600" dirty="0" err="1">
                <a:solidFill>
                  <a:schemeClr val="accent1"/>
                </a:solidFill>
              </a:rPr>
              <a:t>MAINT_MULTIPLE_OBSERVATIONS</a:t>
            </a:r>
            <a:endParaRPr lang="en-US" sz="16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ARCH_AT_BELOW</a:t>
            </a:r>
            <a:r>
              <a:rPr lang="en-US" sz="2000" b="1" dirty="0">
                <a:solidFill>
                  <a:schemeClr val="tx2"/>
                </a:solidFill>
              </a:rPr>
              <a:t> average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b="0" dirty="0">
                <a:latin typeface="Calibri" panose="020F0502020204030204" pitchFamily="34" charset="0"/>
              </a:rPr>
              <a:t>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dirty="0">
                <a:latin typeface="Calibri" panose="020F0502020204030204" pitchFamily="34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C5CCD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  <a:endParaRPr lang="en-GB" sz="1400" dirty="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9AA6B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6E7F8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42596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1732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346257"/>
              </p:ext>
            </p:extLst>
          </p:nvPr>
        </p:nvGraphicFramePr>
        <p:xfrm>
          <a:off x="8124539" y="3092432"/>
          <a:ext cx="3589609" cy="242200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504466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Calibri" panose="020F0502020204030204" pitchFamily="34" charset="0"/>
              </a:rPr>
              <a:t>★</a:t>
            </a:r>
            <a:endParaRPr lang="en-US" sz="1050" dirty="0">
              <a:solidFill>
                <a:srgbClr val="1E354B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ARCH_WORST_METRIC_REMARK</a:t>
            </a:r>
            <a:endParaRPr lang="en-US" sz="1600" dirty="0">
              <a:solidFill>
                <a:schemeClr val="accent1"/>
              </a:solidFill>
              <a:latin typeface="Calibri" panose="020F0502020204030204"/>
            </a:endParaRPr>
          </a:p>
          <a:p>
            <a:br>
              <a:rPr lang="en-US" sz="1600" dirty="0">
                <a:solidFill>
                  <a:schemeClr val="accent1"/>
                </a:solidFill>
                <a:latin typeface="Calibri" panose="020F0502020204030204"/>
              </a:rPr>
            </a:br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ARCH_BEST_METRIC_REMARK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NUMBER">
            <a:extLst>
              <a:ext uri="{FF2B5EF4-FFF2-40B4-BE49-F238E27FC236}">
                <a16:creationId xmlns:a16="http://schemas.microsoft.com/office/drawing/2014/main" id="{7E702EAD-0EDF-F14B-BCF1-3374C4897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0" name="SUBTITLE">
            <a:extLst>
              <a:ext uri="{FF2B5EF4-FFF2-40B4-BE49-F238E27FC236}">
                <a16:creationId xmlns:a16="http://schemas.microsoft.com/office/drawing/2014/main" id="{EB811218-1F4C-A74F-B046-57C38BEBF2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 err="1"/>
              <a:t>Key</a:t>
            </a:r>
            <a:r>
              <a:rPr lang="da-DK" dirty="0"/>
              <a:t>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68" name="TITLE">
            <a:extLst>
              <a:ext uri="{FF2B5EF4-FFF2-40B4-BE49-F238E27FC236}">
                <a16:creationId xmlns:a16="http://schemas.microsoft.com/office/drawing/2014/main" id="{819D60A3-E539-D240-8F7B-2E33400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OSH_TOTAL_VULN</a:t>
            </a:r>
            <a:r>
              <a:rPr lang="en-US" dirty="0"/>
              <a:t> vulnerable 3</a:t>
            </a:r>
            <a:r>
              <a:rPr lang="en-US" baseline="30000" dirty="0"/>
              <a:t>rd</a:t>
            </a:r>
            <a:r>
              <a:rPr lang="en-US" dirty="0"/>
              <a:t> party open-source dependencies were identified</a:t>
            </a:r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35382002-BD0E-6D41-9C6F-BAEA966CEA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OSH_VULN_SUMMARY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OSH_LEGAL_SUMMARY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OSH_FRESHNESS_SUMMARY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OSH_MANAGEMENT_SUMMARY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1" name="TOTAL_DEPS">
            <a:extLst>
              <a:ext uri="{FF2B5EF4-FFF2-40B4-BE49-F238E27FC236}">
                <a16:creationId xmlns:a16="http://schemas.microsoft.com/office/drawing/2014/main" id="{8FE61D71-5271-124A-B53B-13F22C55A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err="1"/>
              <a:t>OSH_TOTAL_DEPS</a:t>
            </a:r>
            <a:endParaRPr lang="en-US" dirty="0"/>
          </a:p>
        </p:txBody>
      </p:sp>
      <p:sp>
        <p:nvSpPr>
          <p:cNvPr id="57" name="TEXT">
            <a:extLst>
              <a:ext uri="{FF2B5EF4-FFF2-40B4-BE49-F238E27FC236}">
                <a16:creationId xmlns:a16="http://schemas.microsoft.com/office/drawing/2014/main" id="{9D7B5685-CC33-754B-82BD-27D4B80A0CE2}"/>
              </a:ext>
            </a:extLst>
          </p:cNvPr>
          <p:cNvSpPr txBox="1"/>
          <p:nvPr/>
        </p:nvSpPr>
        <p:spPr>
          <a:xfrm>
            <a:off x="456412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SNAPSHOT DATE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CD4EA4-8E29-274C-9606-88147EEF45EE}"/>
              </a:ext>
            </a:extLst>
          </p:cNvPr>
          <p:cNvGrpSpPr/>
          <p:nvPr/>
        </p:nvGrpSpPr>
        <p:grpSpPr>
          <a:xfrm>
            <a:off x="5354172" y="806776"/>
            <a:ext cx="594110" cy="850933"/>
            <a:chOff x="10569980" y="810077"/>
            <a:chExt cx="594110" cy="8509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9A7ED2-A2F9-034C-B120-790832D15299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E632EFC-37E4-9B4A-B654-C53AB5D4C9C4}"/>
                </a:ext>
              </a:extLst>
            </p:cNvPr>
            <p:cNvSpPr/>
            <p:nvPr/>
          </p:nvSpPr>
          <p:spPr>
            <a:xfrm>
              <a:off x="10569980" y="813438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1E1648D-EC62-F54D-A2A0-57CEE34B1C8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bg1"/>
                </a:gs>
                <a:gs pos="55000">
                  <a:schemeClr val="bg2"/>
                </a:gs>
                <a:gs pos="0">
                  <a:schemeClr val="tx1">
                    <a:lumMod val="20000"/>
                    <a:lumOff val="80000"/>
                  </a:schemeClr>
                </a:gs>
                <a:gs pos="13000">
                  <a:schemeClr val="bg1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62" name="DATE_BOX">
            <a:extLst>
              <a:ext uri="{FF2B5EF4-FFF2-40B4-BE49-F238E27FC236}">
                <a16:creationId xmlns:a16="http://schemas.microsoft.com/office/drawing/2014/main" id="{99EAEF4D-487F-7E40-988B-DD1B4BDB1B42}"/>
              </a:ext>
            </a:extLst>
          </p:cNvPr>
          <p:cNvSpPr txBox="1"/>
          <p:nvPr/>
        </p:nvSpPr>
        <p:spPr>
          <a:xfrm>
            <a:off x="5037678" y="863629"/>
            <a:ext cx="1269963" cy="53925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OSH_DATE_DAY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OSH_DATE_MONTH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chemeClr val="tx1">
                    <a:alpha val="60000"/>
                  </a:schemeClr>
                </a:solidFill>
              </a:rPr>
              <a:t>OSH_DATE_YEAR</a:t>
            </a:r>
            <a:endParaRPr lang="en-US" sz="1200" dirty="0">
              <a:solidFill>
                <a:schemeClr val="tx1">
                  <a:alpha val="60000"/>
                </a:schemeClr>
              </a:solidFill>
            </a:endParaRPr>
          </a:p>
        </p:txBody>
      </p:sp>
      <p:graphicFrame>
        <p:nvGraphicFramePr>
          <p:cNvPr id="6" name="CHART_1">
            <a:extLst>
              <a:ext uri="{FF2B5EF4-FFF2-40B4-BE49-F238E27FC236}">
                <a16:creationId xmlns:a16="http://schemas.microsoft.com/office/drawing/2014/main" id="{C04CE8AB-B4BC-90F2-0ABA-6641978088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6656831"/>
              </p:ext>
            </p:extLst>
          </p:nvPr>
        </p:nvGraphicFramePr>
        <p:xfrm>
          <a:off x="2366249" y="2825980"/>
          <a:ext cx="3240000" cy="1475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_2">
            <a:extLst>
              <a:ext uri="{FF2B5EF4-FFF2-40B4-BE49-F238E27FC236}">
                <a16:creationId xmlns:a16="http://schemas.microsoft.com/office/drawing/2014/main" id="{81D6CA2D-63F4-2ADE-B0B2-80AF25FA20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94388"/>
              </p:ext>
            </p:extLst>
          </p:nvPr>
        </p:nvGraphicFramePr>
        <p:xfrm>
          <a:off x="2365814" y="402113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D0A0AD-8EC9-4B45-9E7B-B0715AA85681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OSH_SLIDE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525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rates </a:t>
            </a:r>
            <a:r>
              <a:rPr lang="en-US" err="1"/>
              <a:t>OSH</a:t>
            </a:r>
            <a:r>
              <a:rPr lang="en-US"/>
              <a:t>_RELATIVE </a:t>
            </a:r>
            <a:r>
              <a:rPr lang="en-US" dirty="0"/>
              <a:t>in Open-Source health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Confidential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386256E-1079-FD76-4125-F912312BA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525" y="2955487"/>
            <a:ext cx="7135680" cy="3304980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 err="1"/>
              <a:t>OSH_VULN_SUMMARY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OSH_LEGAL_SUMMARY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OSH_FRESHNESS_SUMMARY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OSH_MANAGEMENT_SUMMARY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OSH_DATE_DAY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OSH_DATE_YEAR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8" name="Text Placeholder 228">
            <a:extLst>
              <a:ext uri="{FF2B5EF4-FFF2-40B4-BE49-F238E27FC236}">
                <a16:creationId xmlns:a16="http://schemas.microsoft.com/office/drawing/2014/main" id="{EA58BDC9-A65D-1EF9-C06F-B133B23341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23595" y="914509"/>
            <a:ext cx="1211870" cy="257763"/>
          </a:xfrm>
        </p:spPr>
        <p:txBody>
          <a:bodyPr/>
          <a:lstStyle/>
          <a:p>
            <a:r>
              <a:rPr lang="en-NL"/>
              <a:t>Open source health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9D8E7-562C-3F83-EDA5-551D478BD8A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OSH_DATE_MONTH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8717E-20F8-B094-F836-3F06B295F0CF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2849B8-61B3-C046-18A7-A21F353E4A0E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MARKER_OSH_RATING</a:t>
              </a:r>
              <a:endParaRPr lang="en-US" sz="1400" b="1" dirty="0"/>
            </a:p>
          </p:txBody>
        </p:sp>
        <p:sp>
          <p:nvSpPr>
            <p:cNvPr id="7" name="Pentagon 6">
              <a:extLst>
                <a:ext uri="{FF2B5EF4-FFF2-40B4-BE49-F238E27FC236}">
                  <a16:creationId xmlns:a16="http://schemas.microsoft.com/office/drawing/2014/main" id="{3E78CEEB-4204-7EE6-1D31-1B8DC2596A01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Group 52">
            <a:extLst>
              <a:ext uri="{FF2B5EF4-FFF2-40B4-BE49-F238E27FC236}">
                <a16:creationId xmlns:a16="http://schemas.microsoft.com/office/drawing/2014/main" id="{9BEC8872-3FB6-1910-ED65-16029E5B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67665"/>
              </p:ext>
            </p:extLst>
          </p:nvPr>
        </p:nvGraphicFramePr>
        <p:xfrm>
          <a:off x="7984631" y="3243717"/>
          <a:ext cx="3755424" cy="5526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374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0D80B1-1DD7-236F-9B91-B3FA651A2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392A5-169E-CF65-0C41-C1C81B8D0A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F5C235-EE43-F072-CFE2-8B3B48BA1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placeholders</a:t>
            </a:r>
            <a:endParaRPr lang="nl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CCB3C-AEF5-844E-6965-1CDA93673B9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 err="1"/>
              <a:t>MAINT_DATE_MONTH_FULL</a:t>
            </a:r>
            <a:endParaRPr lang="nl-NL" dirty="0"/>
          </a:p>
          <a:p>
            <a:pPr marL="0" indent="0">
              <a:buNone/>
            </a:pPr>
            <a:r>
              <a:rPr lang="nl-NL"/>
              <a:t>ARCH_</a:t>
            </a:r>
            <a:r>
              <a:rPr lang="nl-NL" dirty="0" err="1"/>
              <a:t>DATE_MONTH_FULL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82071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22532</TotalTime>
  <Words>1387</Words>
  <Application>Microsoft Macintosh PowerPoint</Application>
  <PresentationFormat>Widescreen</PresentationFormat>
  <Paragraphs>351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Calibri Bold</vt:lpstr>
      <vt:lpstr>Calibri Regular</vt:lpstr>
      <vt:lpstr>TheSans B5 Plain</vt:lpstr>
      <vt:lpstr>TheSansMono M5</vt:lpstr>
      <vt:lpstr>Arial</vt:lpstr>
      <vt:lpstr>Calibri</vt:lpstr>
      <vt:lpstr>Calibri Light</vt:lpstr>
      <vt:lpstr>Wingdings</vt:lpstr>
      <vt:lpstr>Office Theme</vt:lpstr>
      <vt:lpstr>PowerPoint Presentation</vt:lpstr>
      <vt:lpstr>SYSTEM_NAME technical quality: management summary</vt:lpstr>
      <vt:lpstr>The system is VOLUME_RELATIVE in size and is built primarily in TECH_1_NAME</vt:lpstr>
      <vt:lpstr>SYSTEM_NAME has an TEST_CODE_RELATIVE test/code ratio</vt:lpstr>
      <vt:lpstr>SYSTEM_NAME is a MAINT_SIZE system of SYSTEM_PY PY which scores MAINT_RATING for maintainability </vt:lpstr>
      <vt:lpstr>SYSTEM_NAME scores MAINT_INDICATION for maintainability</vt:lpstr>
      <vt:lpstr>SYSTEM_NAME scores ARCH_AT_BELOW average (ARCH_RATING ★) for Architecture Quality</vt:lpstr>
      <vt:lpstr>OSH_TOTAL_VULN vulnerable 3rd party open-source dependencies were identified</vt:lpstr>
      <vt:lpstr>SYSTEM_NAME rates OSH_RELATIVE in Open-Source health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  <vt:lpstr>Other placeholders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123</cp:revision>
  <cp:lastPrinted>2020-07-02T15:41:27Z</cp:lastPrinted>
  <dcterms:created xsi:type="dcterms:W3CDTF">2024-01-03T15:04:34Z</dcterms:created>
  <dcterms:modified xsi:type="dcterms:W3CDTF">2025-12-10T08:18:36Z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