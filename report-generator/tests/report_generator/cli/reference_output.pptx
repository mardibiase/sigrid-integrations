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notesSlides/notesSlide3.xml" ContentType="application/vnd.openxmlformats-officedocument.presentationml.notesSlid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 id="111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5"/>
    <p:restoredTop sz="96327"/>
  </p:normalViewPr>
  <p:slideViewPr>
    <p:cSldViewPr snapToGrid="0" snapToObjects="1" showGuides="1">
      <p:cViewPr varScale="1">
        <p:scale>
          <a:sx n="119" d="100"/>
          <a:sy n="119" d="100"/>
        </p:scale>
        <p:origin x="224" y="272"/>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bubble3D val="0"/>
            <c:spPr>
              <a:solidFill>
                <a:srgbClr val="E06C4F"/>
              </a:solidFill>
            </c:spPr>
            <c:extLst>
              <c:ext xmlns:c16="http://schemas.microsoft.com/office/drawing/2014/chart" uri="{C3380CC4-5D6E-409C-BE32-E72D297353CC}">
                <c16:uniqueId val="{00000009-A03A-2D41-97F0-47123EC09EB3}"/>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rPr lang="en-US"/>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39.700000000000003</c:v>
                </c:pt>
              </c:numCache>
            </c:numRef>
          </c:xVal>
          <c:yVal>
            <c:numRef>
              <c:f>Sheet1!$B$2:$B$2</c:f>
              <c:numCache>
                <c:formatCode>General</c:formatCode>
                <c:ptCount val="1"/>
                <c:pt idx="0">
                  <c:v>3.1088759386596374</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0</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c:v>
                </c:pt>
                <c:pt idx="1">
                  <c:v>0</c:v>
                </c:pt>
                <c:pt idx="2">
                  <c:v>0</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11</c:v>
                </c:pt>
                <c:pt idx="1">
                  <c:v>0</c:v>
                </c:pt>
                <c:pt idx="2">
                  <c:v>0</c:v>
                </c:pt>
                <c:pt idx="3">
                  <c:v>3</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5</c:v>
                </c:pt>
                <c:pt idx="1">
                  <c:v>0</c:v>
                </c:pt>
                <c:pt idx="2">
                  <c:v>0</c:v>
                </c:pt>
                <c:pt idx="3">
                  <c:v>7</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12/9/25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12/9/25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_rels/slideLayout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hyperlink" Target="https://wiki.sig.eu/confluence/x/JoDbC" TargetMode="Externa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20.emf"/><Relationship Id="rId5" Type="http://schemas.openxmlformats.org/officeDocument/2006/relationships/chart" Target="../charts/chart3.xml"/><Relationship Id="rId4" Type="http://schemas.openxmlformats.org/officeDocument/2006/relationships/image" Target="../media/image19.tif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average maintenance costs and time to market for functional changes. The system shows high risk in units with large interfaces</a:t>
            </a:r>
          </a:p>
          <a:p>
            <a:pPr marL="0" indent="0">
              <a:lnSpc>
                <a:spcPct val="100000"/>
              </a:lnSpc>
              <a:buNone/>
            </a:pPr>
            <a:r>
              <a:rPr lang="en-US" sz="1800" b="1" dirty="0">
                <a:solidFill>
                  <a:schemeClr val="accent3"/>
                </a:solidFill>
              </a:rPr>
              <a:t>[Technology choice]</a:t>
            </a:r>
            <a:r>
              <a:rPr lang="en-US" sz="1800" dirty="0"/>
              <a:t> The system is 39.7 PY (292,704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681163907"/>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4618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292,704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err="1"/>
              <a:t>Twitter Algorithm scores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24192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3407333645"/>
              </p:ext>
            </p:extLst>
          </p:nvPr>
        </p:nvGraphicFramePr>
        <p:xfrm>
          <a:off x="8124539" y="3092432"/>
          <a:ext cx="3589609" cy="3099839"/>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7590437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37% of dependencies (15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037678" y="863629"/>
            <a:ext cx="1269963" cy="539250"/>
          </a:xfrm>
          <a:prstGeom prst="rect">
            <a:avLst/>
          </a:prstGeom>
          <a:noFill/>
        </p:spPr>
        <p:txBody>
          <a:bodyPr wrap="none" lIns="0" rIns="0" rtlCol="0">
            <a:spAutoFit/>
          </a:bodyPr>
          <a:lstStyle/>
          <a:p>
            <a:pPr algn="ctr">
              <a:lnSpc>
                <a:spcPct val="80000"/>
              </a:lnSpc>
            </a:pPr>
            <a:r>
              <a:rPr lang="en-US" sz="1200" b="1" dirty="0" err="1">
                <a:solidFill>
                  <a:schemeClr val="tx2">
                    <a:alpha val="70000"/>
                  </a:schemeClr>
                </a:solidFill>
              </a:rPr>
              <a:t>8</a:t>
            </a:r>
            <a:endParaRPr lang="en-US" sz="1200" b="1" dirty="0">
              <a:solidFill>
                <a:schemeClr val="tx2">
                  <a:alpha val="70000"/>
                </a:schemeClr>
              </a:solidFill>
            </a:endParaRPr>
          </a:p>
          <a:p>
            <a:pPr algn="ctr">
              <a:lnSpc>
                <a:spcPct val="80000"/>
              </a:lnSpc>
            </a:pPr>
            <a:r>
              <a:rPr lang="en-US" sz="1200" b="1" dirty="0" err="1">
                <a:solidFill>
                  <a:schemeClr val="tx2">
                    <a:alpha val="70000"/>
                  </a:schemeClr>
                </a:solidFill>
              </a:rPr>
              <a:t>OCT</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2025</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37% of dependencies (15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8</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2025</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OCT</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2068767665"/>
              </p:ext>
            </p:extLst>
          </p:nvPr>
        </p:nvGraphicFramePr>
        <p:xfrm>
          <a:off x="7984631" y="3243717"/>
          <a:ext cx="3755424" cy="552636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sz="1400" b="1" i="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sz="1400" b="1">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sz="1200" b="0" i="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sz="1200" b="0" i="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sz="1200" b="0" i="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sz="1200" b="0" i="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sz="1200" b="0" i="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sz="1200" b="0" i="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sz="1200" b="0" i="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sz="1200" b="0" i="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sz="1200" b="0" i="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sz="1200" b="0" i="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sz="1200" b="0" i="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i="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sz="1200" b="0" i="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sz="1200" b="0" i="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sz="1200" b="0" i="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sz="1200" b="0" i="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sz="1200" b="0" i="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0D80B1-1DD7-236F-9B91-B3FA651A2395}"/>
              </a:ext>
            </a:extLst>
          </p:cNvPr>
          <p:cNvSpPr>
            <a:spLocks noGrp="1"/>
          </p:cNvSpPr>
          <p:nvPr>
            <p:ph type="sldNum" sz="quarter" idx="4"/>
          </p:nvPr>
        </p:nvSpPr>
        <p:spPr/>
        <p:txBody>
          <a:bodyPr/>
          <a:lstStyle/>
          <a:p>
            <a:fld id="{E242BD21-9B61-2246-BCB1-4BE5E1BEBE1C}" type="slidenum">
              <a:rPr lang="en-US" smtClean="0"/>
              <a:pPr/>
              <a:t>17</a:t>
            </a:fld>
            <a:endParaRPr lang="en-US"/>
          </a:p>
        </p:txBody>
      </p:sp>
      <p:sp>
        <p:nvSpPr>
          <p:cNvPr id="3" name="Text Placeholder 2">
            <a:extLst>
              <a:ext uri="{FF2B5EF4-FFF2-40B4-BE49-F238E27FC236}">
                <a16:creationId xmlns:a16="http://schemas.microsoft.com/office/drawing/2014/main" id="{E32392A5-169E-CF65-0C41-C1C81B8D0A2A}"/>
              </a:ext>
            </a:extLst>
          </p:cNvPr>
          <p:cNvSpPr>
            <a:spLocks noGrp="1"/>
          </p:cNvSpPr>
          <p:nvPr>
            <p:ph type="body" sz="quarter" idx="12"/>
          </p:nvPr>
        </p:nvSpPr>
        <p:spPr/>
        <p:txBody>
          <a:bodyPr/>
          <a:lstStyle/>
          <a:p>
            <a:endParaRPr lang="nl-NL"/>
          </a:p>
        </p:txBody>
      </p:sp>
      <p:sp>
        <p:nvSpPr>
          <p:cNvPr id="4" name="Title 3">
            <a:extLst>
              <a:ext uri="{FF2B5EF4-FFF2-40B4-BE49-F238E27FC236}">
                <a16:creationId xmlns:a16="http://schemas.microsoft.com/office/drawing/2014/main" id="{5CF5C235-EE43-F072-CFE2-8B3B48BA1604}"/>
              </a:ext>
            </a:extLst>
          </p:cNvPr>
          <p:cNvSpPr>
            <a:spLocks noGrp="1"/>
          </p:cNvSpPr>
          <p:nvPr>
            <p:ph type="title"/>
          </p:nvPr>
        </p:nvSpPr>
        <p:spPr/>
        <p:txBody>
          <a:bodyPr/>
          <a:lstStyle/>
          <a:p>
            <a:r>
              <a:rPr lang="nl-NL" dirty="0" err="1"/>
              <a:t>Other</a:t>
            </a:r>
            <a:r>
              <a:rPr lang="nl-NL" dirty="0"/>
              <a:t> </a:t>
            </a:r>
            <a:r>
              <a:rPr lang="nl-NL" dirty="0" err="1"/>
              <a:t>placeholders</a:t>
            </a:r>
            <a:endParaRPr lang="nl-NL" dirty="0"/>
          </a:p>
        </p:txBody>
      </p:sp>
      <p:sp>
        <p:nvSpPr>
          <p:cNvPr id="5" name="Content Placeholder 4">
            <a:extLst>
              <a:ext uri="{FF2B5EF4-FFF2-40B4-BE49-F238E27FC236}">
                <a16:creationId xmlns:a16="http://schemas.microsoft.com/office/drawing/2014/main" id="{D7FCCB3C-AEF5-844E-6965-1CDA93673B93}"/>
              </a:ext>
            </a:extLst>
          </p:cNvPr>
          <p:cNvSpPr>
            <a:spLocks noGrp="1"/>
          </p:cNvSpPr>
          <p:nvPr>
            <p:ph sz="quarter" idx="13"/>
          </p:nvPr>
        </p:nvSpPr>
        <p:spPr/>
        <p:txBody>
          <a:bodyPr/>
          <a:lstStyle/>
          <a:p>
            <a:pPr marL="0" indent="0">
              <a:buNone/>
            </a:pPr>
            <a:r>
              <a:rPr lang="nl-NL" dirty="0" err="1"/>
              <a:t>April</a:t>
            </a:r>
            <a:endParaRPr lang="nl-NL" dirty="0"/>
          </a:p>
          <a:p>
            <a:pPr marL="0" indent="0">
              <a:buNone/>
            </a:pPr>
            <a:r>
              <a:rPr lang="nl-NL"/>
              <a:t>April</a:t>
            </a:r>
            <a:endParaRPr lang="nl-NL" dirty="0"/>
          </a:p>
        </p:txBody>
      </p:sp>
    </p:spTree>
    <p:extLst>
      <p:ext uri="{BB962C8B-B14F-4D97-AF65-F5344CB8AC3E}">
        <p14:creationId xmlns:p14="http://schemas.microsoft.com/office/powerpoint/2010/main" val="1382071632"/>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Props1.xml><?xml version="1.0" encoding="utf-8"?>
<ds:datastoreItem xmlns:ds="http://schemas.openxmlformats.org/officeDocument/2006/customXml" ds:itemID="{570928F0-D7CA-4732-B7F3-1F945720D0AA}">
  <ds:schemaRefs>
    <ds:schemaRef ds:uri="http://schemas.microsoft.com/sharepoint/v3/contenttype/forms"/>
  </ds:schemaRefs>
</ds:datastoreItem>
</file>

<file path=customXml/itemProps2.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22532</TotalTime>
  <Words>2921</Words>
  <Application>Microsoft Macintosh PowerPoint</Application>
  <PresentationFormat>Widescreen</PresentationFormat>
  <Paragraphs>733</Paragraphs>
  <Slides>17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Calibri Bold</vt:lpstr>
      <vt:lpstr>Calibri Regular</vt:lpstr>
      <vt:lpstr>TheSans B5 Plain</vt:lpstr>
      <vt:lpstr>TheSansMono M5</vt:lpstr>
      <vt:lpstr>Arial</vt:lpstr>
      <vt:lpstr>Calibri</vt:lpstr>
      <vt:lpstr>Calibri Light</vt:lpstr>
      <vt:lpstr>Wingdings</vt:lpstr>
      <vt:lpstr>Office Theme</vt:lpstr>
      <vt:lpstr>PowerPoint Presentation</vt:lpstr>
      <vt:lpstr>Twitter Algorithm technical quality: management summary</vt:lpstr>
      <vt:lpstr>The system is large in size and is built primarily in Scala</vt:lpstr>
      <vt:lpstr>Twitter Algorithm has an below market average test/code ratio</vt:lpstr>
      <vt:lpstr>Twitter Algorithm is a large system of 39.7 PY which scores 3.1 for maintainability </vt:lpstr>
      <vt:lpstr>Twitter Algorithm scores average for maintainability</vt:lpstr>
      <vt:lpstr>Twitter Algorithm scores above average (3.9 ★) for Architecture Quality</vt:lpstr>
      <vt:lpstr>1 vulnerable 3rd party open-source dependencies were identified</vt:lpstr>
      <vt:lpstr>Twitter Algorithm rates above market average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lpstr>Other placeholders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Dennis Bijlsma</cp:lastModifiedBy>
  <cp:revision>121</cp:revision>
  <cp:lastPrinted>2020-07-02T15:41:27Z</cp:lastPrinted>
  <dcterms:created xsi:type="dcterms:W3CDTF">2024-01-03T15:04:34Z</dcterms:created>
  <dcterms:modified xsi:type="dcterms:W3CDTF">2025-12-09T15:17:06Z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