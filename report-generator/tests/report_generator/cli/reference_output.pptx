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handoutMasterIdLst>
    <p:handoutMasterId r:id="rId23"/>
  </p:handoutMasterIdLst>
  <p:sldIdLst>
    <p:sldId id="561" r:id="rId5"/>
    <p:sldId id="11162" r:id="rId6"/>
    <p:sldId id="11167" r:id="rId7"/>
    <p:sldId id="11166" r:id="rId8"/>
    <p:sldId id="1824" r:id="rId9"/>
    <p:sldId id="1652" r:id="rId10"/>
    <p:sldId id="11164" r:id="rId11"/>
    <p:sldId id="11170" r:id="rId12"/>
    <p:sldId id="2185" r:id="rId13"/>
    <p:sldId id="516" r:id="rId14"/>
    <p:sldId id="517" r:id="rId15"/>
    <p:sldId id="519" r:id="rId16"/>
    <p:sldId id="518" r:id="rId17"/>
    <p:sldId id="520" r:id="rId18"/>
    <p:sldId id="521" r:id="rId19"/>
    <p:sldId id="523" r:id="rId20"/>
    <p:sldId id="111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8E17"/>
    <a:srgbClr val="910813"/>
    <a:srgbClr val="CF4731"/>
    <a:srgbClr val="EBC937"/>
    <a:srgbClr val="DB4A3D"/>
    <a:srgbClr val="F0089F"/>
    <a:srgbClr val="1E354B"/>
    <a:srgbClr val="57C967"/>
    <a:srgbClr val="F9C640"/>
    <a:srgbClr val="1E36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2094BA-3324-E44C-AFE3-01F0E8F31A48}" v="69" dt="2024-01-12T19:24:27.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55"/>
    <p:restoredTop sz="96327"/>
  </p:normalViewPr>
  <p:slideViewPr>
    <p:cSldViewPr snapToGrid="0" snapToObjects="1" showGuides="1">
      <p:cViewPr varScale="1">
        <p:scale>
          <a:sx n="128" d="100"/>
          <a:sy n="128" d="100"/>
        </p:scale>
        <p:origin x="360" y="184"/>
      </p:cViewPr>
      <p:guideLst>
        <p:guide orient="horz" pos="2160"/>
        <p:guide pos="3840"/>
      </p:guideLst>
    </p:cSldViewPr>
  </p:slideViewPr>
  <p:notesTextViewPr>
    <p:cViewPr>
      <p:scale>
        <a:sx n="1" d="1"/>
        <a:sy n="1" d="1"/>
      </p:scale>
      <p:origin x="0" y="0"/>
    </p:cViewPr>
  </p:notesTextViewPr>
  <p:sorterViewPr>
    <p:cViewPr>
      <p:scale>
        <a:sx n="38" d="100"/>
        <a:sy n="38" d="100"/>
      </p:scale>
      <p:origin x="0" y="0"/>
    </p:cViewPr>
  </p:sorterViewPr>
  <p:notesViewPr>
    <p:cSldViewPr snapToGrid="0" snapToObjects="1">
      <p:cViewPr varScale="1">
        <p:scale>
          <a:sx n="163" d="100"/>
          <a:sy n="163" d="100"/>
        </p:scale>
        <p:origin x="672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034B-534E-9ADC-79D3329DBEB7}"/>
              </c:ext>
            </c:extLst>
          </c:dPt>
          <c:dLbls>
            <c:dLbl>
              <c:idx val="2"/>
              <c:tx>
                <c:rich>
                  <a:bodyPr/>
                  <a:lstStyle/>
                  <a:p>
                    <a:r>
                      <a:rPr lang="en-US"/>
                      <a:t>&gt;</a:t>
                    </a:r>
                    <a:fld id="{AA6CA5E8-FDB8-434A-B68E-C7A3CC6735E5}"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FA8-464D-BE91-55CE5770358C}"/>
                </c:ext>
              </c:extLst>
            </c:dLbl>
            <c:dLbl>
              <c:idx val="3"/>
              <c:tx>
                <c:rich>
                  <a:bodyPr/>
                  <a:lstStyle/>
                  <a:p>
                    <a:r>
                      <a:rPr lang="en-US"/>
                      <a:t>&gt;</a:t>
                    </a:r>
                    <a:fld id="{6E19E0AF-A501-7C4B-8799-4B6F8CFD540B}"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FA8-464D-BE91-55CE5770358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5="http://schemas.microsoft.com/office/drawing/2012/chart" uri="{CE6537A1-D6FC-4f65-9D91-7224C49458BB}">
                <c15:showLeaderLines val="0"/>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0.030990466421789493</c:v>
                </c:pt>
                <c:pt idx="3">
                  <c:v>0.028508116214593864</c:v>
                </c:pt>
                <c:pt idx="4">
                  <c:v>0.013843515502198148</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0-034B-534E-9ADC-79D3329DBEB7}"/>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0%"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8CC0-8749-A89A-75F11CBE0F81}"/>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8CC0-8749-A89A-75F11CBE0F81}"/>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8CC0-8749-A89A-75F11CBE0F81}"/>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8CC0-8749-A89A-75F11CBE0F81}"/>
              </c:ext>
            </c:extLst>
          </c:dPt>
          <c:dPt>
            <c:idx val="4"/>
            <c:spPr>
              <a:solidFill>
                <a:srgbClr val="E06C4F"/>
              </a:solidFill>
            </c:spPr>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0.030990466421789493</c:v>
                </c:pt>
                <c:pt idx="3">
                  <c:v>0.028508116214593864</c:v>
                </c:pt>
                <c:pt idx="4">
                  <c:v>0.013843515502198148</c:v>
                </c:pt>
              </c:numCache>
            </c:numRef>
          </c:val>
          <c:extLst>
            <c:ext xmlns:c16="http://schemas.microsoft.com/office/drawing/2014/chart" uri="{C3380CC4-5D6E-409C-BE32-E72D297353CC}">
              <c16:uniqueId val="{00000000-3780-1E47-A0AF-94D32305FB4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0"/>
            <c:spPr>
              <a:solidFill>
                <a:schemeClr val="accent1"/>
              </a:solidFill>
              <a:ln w="28575">
                <a:solidFill>
                  <a:schemeClr val="accent3"/>
                </a:solidFill>
              </a:ln>
              <a:effectLst>
                <a:outerShdw blurRad="76200" sx="102000" sy="102000" algn="ctr" rotWithShape="0">
                  <a:schemeClr val="accent3">
                    <a:alpha val="30000"/>
                  </a:schemeClr>
                </a:outerShdw>
              </a:effectLst>
            </c:spPr>
          </c:marker>
          <c:dLbls>
            <c:dLbl>
              <c:idx val="0"/>
              <c:layout>
                <c:manualLayout>
                  <c:x val="1.6061704965061169E-2"/>
                  <c:y val="0"/>
                </c:manualLayout>
              </c:layout>
              <c:tx>
                <c:rich>
                  <a:bodyPr/>
                  <a:lstStyle/>
                  <a:p>
                    <a:r>
                      <a:t>Twitter Algorithm</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1"/>
              <c:tx>
                <c:rich>
                  <a:bodyPr/>
                  <a:lstStyle/>
                  <a:p>
                    <a:r>
                      <a:rPr lang="en-US"/>
                      <a:t>Android-core</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1-B86A-D14B-85E9-B8DEC18B60F7}"/>
                </c:ext>
              </c:extLst>
            </c:dLbl>
            <c:dLbl>
              <c:idx val="2"/>
              <c:tx>
                <c:rich>
                  <a:bodyPr/>
                  <a:lstStyle/>
                  <a:p>
                    <a:r>
                      <a:rPr lang="en-US"/>
                      <a:t>Angular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519-7043-91E7-EECF3C414252}"/>
                </c:ext>
              </c:extLst>
            </c:dLbl>
            <c:dLbl>
              <c:idx val="3"/>
              <c:layout>
                <c:manualLayout>
                  <c:x val="-2.3413399101154898E-2"/>
                  <c:y val="-4.5616973413873718E-2"/>
                </c:manualLayout>
              </c:layout>
              <c:tx>
                <c:rich>
                  <a:bodyPr/>
                  <a:lstStyle/>
                  <a:p>
                    <a:r>
                      <a:rPr lang="en-US"/>
                      <a:t>Bazel</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rPr lang="en-US"/>
                      <a:t>Bitcoin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519-7043-91E7-EECF3C414252}"/>
                </c:ext>
              </c:extLst>
            </c:dLbl>
            <c:dLbl>
              <c:idx val="5"/>
              <c:tx>
                <c:rich>
                  <a:bodyPr/>
                  <a:lstStyle/>
                  <a:p>
                    <a:r>
                      <a:rPr lang="en-US"/>
                      <a:t>Card Management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519-7043-91E7-EECF3C414252}"/>
                </c:ext>
              </c:extLst>
            </c:dLbl>
            <c:dLbl>
              <c:idx val="6"/>
              <c:tx>
                <c:rich>
                  <a:bodyPr/>
                  <a:lstStyle/>
                  <a:p>
                    <a:r>
                      <a:rPr lang="en-US"/>
                      <a:t>Django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519-7043-91E7-EECF3C414252}"/>
                </c:ext>
              </c:extLst>
            </c:dLbl>
            <c:dLbl>
              <c:idx val="7"/>
              <c:tx>
                <c:rich>
                  <a:bodyPr/>
                  <a:lstStyle/>
                  <a:p>
                    <a:r>
                      <a:rPr lang="en-US"/>
                      <a:t>Druid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519-7043-91E7-EECF3C414252}"/>
                </c:ext>
              </c:extLst>
            </c:dLbl>
            <c:dLbl>
              <c:idx val="8"/>
              <c:tx>
                <c:rich>
                  <a:bodyPr/>
                  <a:lstStyle/>
                  <a:p>
                    <a:r>
                      <a:rPr lang="en-US"/>
                      <a:t>Dubbo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519-7043-91E7-EECF3C414252}"/>
                </c:ext>
              </c:extLst>
            </c:dLbl>
            <c:dLbl>
              <c:idx val="9"/>
              <c:tx>
                <c:rich>
                  <a:bodyPr/>
                  <a:lstStyle/>
                  <a:p>
                    <a:r>
                      <a:rPr lang="en-US"/>
                      <a:t>Echarts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519-7043-91E7-EECF3C414252}"/>
                </c:ext>
              </c:extLst>
            </c:dLbl>
            <c:dLbl>
              <c:idx val="10"/>
              <c:tx>
                <c:rich>
                  <a:bodyPr/>
                  <a:lstStyle/>
                  <a:p>
                    <a:r>
                      <a:rPr lang="en-US"/>
                      <a:t>Elasticsearch</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519-7043-91E7-EECF3C414252}"/>
                </c:ext>
              </c:extLst>
            </c:dLbl>
            <c:dLbl>
              <c:idx val="11"/>
              <c:tx>
                <c:rich>
                  <a:bodyPr/>
                  <a:lstStyle/>
                  <a:p>
                    <a:r>
                      <a:rPr lang="en-US"/>
                      <a:t>Electron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0519-7043-91E7-EECF3C414252}"/>
                </c:ext>
              </c:extLst>
            </c:dLbl>
            <c:dLbl>
              <c:idx val="12"/>
              <c:tx>
                <c:rich>
                  <a:bodyPr/>
                  <a:lstStyle/>
                  <a:p>
                    <a:r>
                      <a:rPr lang="en-US"/>
                      <a:t>Facebookyoga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519-7043-91E7-EECF3C414252}"/>
                </c:ext>
              </c:extLst>
            </c:dLbl>
            <c:dLbl>
              <c:idx val="13"/>
              <c:tx>
                <c:rich>
                  <a:bodyPr/>
                  <a:lstStyle/>
                  <a:p>
                    <a:r>
                      <a:rPr lang="en-US"/>
                      <a:t>GIT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0519-7043-91E7-EECF3C414252}"/>
                </c:ext>
              </c:extLst>
            </c:dLbl>
            <c:dLbl>
              <c:idx val="14"/>
              <c:tx>
                <c:rich>
                  <a:bodyPr/>
                  <a:lstStyle/>
                  <a:p>
                    <a:r>
                      <a:rPr lang="en-US"/>
                      <a:t>Google V8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519-7043-91E7-EECF3C414252}"/>
                </c:ext>
              </c:extLst>
            </c:dLbl>
            <c:dLbl>
              <c:idx val="15"/>
              <c:tx>
                <c:rich>
                  <a:bodyPr/>
                  <a:lstStyle/>
                  <a:p>
                    <a:r>
                      <a:rPr lang="en-US"/>
                      <a:t>Googleguava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0519-7043-91E7-EECF3C414252}"/>
                </c:ext>
              </c:extLst>
            </c:dLbl>
            <c:dLbl>
              <c:idx val="16"/>
              <c:tx>
                <c:rich>
                  <a:bodyPr/>
                  <a:lstStyle/>
                  <a:p>
                    <a:r>
                      <a:rPr lang="en-US"/>
                      <a:t>Hadoop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0519-7043-91E7-EECF3C414252}"/>
                </c:ext>
              </c:extLst>
            </c:dLbl>
            <c:dLbl>
              <c:idx val="17"/>
              <c:tx>
                <c:rich>
                  <a:bodyPr/>
                  <a:lstStyle/>
                  <a:p>
                    <a:r>
                      <a:rPr lang="en-US"/>
                      <a:t>Hibernate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0519-7043-91E7-EECF3C414252}"/>
                </c:ext>
              </c:extLst>
            </c:dLbl>
            <c:dLbl>
              <c:idx val="18"/>
              <c:tx>
                <c:rich>
                  <a:bodyPr/>
                  <a:lstStyle/>
                  <a:p>
                    <a:r>
                      <a:rPr lang="en-US"/>
                      <a:t>HR App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0519-7043-91E7-EECF3C414252}"/>
                </c:ext>
              </c:extLst>
            </c:dLbl>
            <c:dLbl>
              <c:idx val="19"/>
              <c:tx>
                <c:rich>
                  <a:bodyPr/>
                  <a:lstStyle/>
                  <a:p>
                    <a:r>
                      <a:rPr lang="en-US"/>
                      <a:t>Insecure-bank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0519-7043-91E7-EECF3C414252}"/>
                </c:ext>
              </c:extLst>
            </c:dLbl>
            <c:dLbl>
              <c:idx val="20"/>
              <c:tx>
                <c:rich>
                  <a:bodyPr/>
                  <a:lstStyle/>
                  <a:p>
                    <a:r>
                      <a:rPr lang="en-US"/>
                      <a:t>Jruby</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0519-7043-91E7-EECF3C414252}"/>
                </c:ext>
              </c:extLst>
            </c:dLbl>
            <c:dLbl>
              <c:idx val="21"/>
              <c:tx>
                <c:rich>
                  <a:bodyPr/>
                  <a:lstStyle/>
                  <a:p>
                    <a:r>
                      <a:rPr lang="en-US"/>
                      <a:t>Kafka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0519-7043-91E7-EECF3C414252}"/>
                </c:ext>
              </c:extLst>
            </c:dLbl>
            <c:dLbl>
              <c:idx val="22"/>
              <c:tx>
                <c:rich>
                  <a:bodyPr/>
                  <a:lstStyle/>
                  <a:p>
                    <a:r>
                      <a:rPr lang="en-US"/>
                      <a:t>Mainframe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0519-7043-91E7-EECF3C414252}"/>
                </c:ext>
              </c:extLst>
            </c:dLbl>
            <c:dLbl>
              <c:idx val="23"/>
              <c:tx>
                <c:rich>
                  <a:bodyPr/>
                  <a:lstStyle/>
                  <a:p>
                    <a:r>
                      <a:rPr lang="en-US"/>
                      <a:t>Mariadb-server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0519-7043-91E7-EECF3C414252}"/>
                </c:ext>
              </c:extLst>
            </c:dLbl>
            <c:dLbl>
              <c:idx val="24"/>
              <c:tx>
                <c:rich>
                  <a:bodyPr/>
                  <a:lstStyle/>
                  <a:p>
                    <a:r>
                      <a:rPr lang="en-US"/>
                      <a:t>Microsoftterminal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0519-7043-91E7-EECF3C414252}"/>
                </c:ext>
              </c:extLst>
            </c:dLbl>
            <c:dLbl>
              <c:idx val="25"/>
              <c:tx>
                <c:rich>
                  <a:bodyPr/>
                  <a:lstStyle/>
                  <a:p>
                    <a:r>
                      <a:rPr lang="en-US"/>
                      <a:t>Mongodb</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0519-7043-91E7-EECF3C414252}"/>
                </c:ext>
              </c:extLst>
            </c:dLbl>
            <c:dLbl>
              <c:idx val="26"/>
              <c:tx>
                <c:rich>
                  <a:bodyPr/>
                  <a:lstStyle/>
                  <a:p>
                    <a:r>
                      <a:rPr lang="en-US"/>
                      <a:t>Mysql-server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0519-7043-91E7-EECF3C414252}"/>
                </c:ext>
              </c:extLst>
            </c:dLbl>
            <c:dLbl>
              <c:idx val="27"/>
              <c:tx>
                <c:rich>
                  <a:bodyPr/>
                  <a:lstStyle/>
                  <a:p>
                    <a:r>
                      <a:rPr lang="en-US"/>
                      <a:t>Nodejs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0519-7043-91E7-EECF3C414252}"/>
                </c:ext>
              </c:extLst>
            </c:dLbl>
            <c:dLbl>
              <c:idx val="28"/>
              <c:tx>
                <c:rich>
                  <a:bodyPr/>
                  <a:lstStyle/>
                  <a:p>
                    <a:r>
                      <a:rPr lang="en-US"/>
                      <a:t>Okhttp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0519-7043-91E7-EECF3C414252}"/>
                </c:ext>
              </c:extLst>
            </c:dLbl>
            <c:dLbl>
              <c:idx val="29"/>
              <c:tx>
                <c:rich>
                  <a:bodyPr/>
                  <a:lstStyle/>
                  <a:p>
                    <a:r>
                      <a:rPr lang="en-US"/>
                      <a:t>Oraclegraal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0519-7043-91E7-EECF3C414252}"/>
                </c:ext>
              </c:extLst>
            </c:dLbl>
            <c:dLbl>
              <c:idx val="30"/>
              <c:tx>
                <c:rich>
                  <a:bodyPr/>
                  <a:lstStyle/>
                  <a:p>
                    <a:r>
                      <a:rPr lang="en-US"/>
                      <a:t>Platform cloud demo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0519-7043-91E7-EECF3C414252}"/>
                </c:ext>
              </c:extLst>
            </c:dLbl>
            <c:dLbl>
              <c:idx val="31"/>
              <c:tx>
                <c:rich>
                  <a:bodyPr/>
                  <a:lstStyle/>
                  <a:p>
                    <a:r>
                      <a:rPr lang="en-US"/>
                      <a:t>Postgres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0519-7043-91E7-EECF3C414252}"/>
                </c:ext>
              </c:extLst>
            </c:dLbl>
            <c:dLbl>
              <c:idx val="32"/>
              <c:tx>
                <c:rich>
                  <a:bodyPr/>
                  <a:lstStyle/>
                  <a:p>
                    <a:r>
                      <a:rPr lang="en-US"/>
                      <a:t>Postman-runtime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0519-7043-91E7-EECF3C414252}"/>
                </c:ext>
              </c:extLst>
            </c:dLbl>
            <c:dLbl>
              <c:idx val="33"/>
              <c:tx>
                <c:rich>
                  <a:bodyPr/>
                  <a:lstStyle/>
                  <a:p>
                    <a:r>
                      <a:rPr lang="en-US"/>
                      <a:t>Puppet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0519-7043-91E7-EECF3C414252}"/>
                </c:ext>
              </c:extLst>
            </c:dLbl>
            <c:dLbl>
              <c:idx val="34"/>
              <c:tx>
                <c:rich>
                  <a:bodyPr/>
                  <a:lstStyle/>
                  <a:p>
                    <a:r>
                      <a:rPr lang="en-US"/>
                      <a:t>Pure Aloe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0519-7043-91E7-EECF3C414252}"/>
                </c:ext>
              </c:extLst>
            </c:dLbl>
            <c:dLbl>
              <c:idx val="35"/>
              <c:tx>
                <c:rich>
                  <a:bodyPr/>
                  <a:lstStyle/>
                  <a:p>
                    <a:r>
                      <a:rPr lang="en-US"/>
                      <a:t>Rasa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0519-7043-91E7-EECF3C414252}"/>
                </c:ext>
              </c:extLst>
            </c:dLbl>
            <c:dLbl>
              <c:idx val="36"/>
              <c:tx>
                <c:rich>
                  <a:bodyPr/>
                  <a:lstStyle/>
                  <a:p>
                    <a:r>
                      <a:rPr lang="en-US"/>
                      <a:t>React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0519-7043-91E7-EECF3C414252}"/>
                </c:ext>
              </c:extLst>
            </c:dLbl>
            <c:dLbl>
              <c:idx val="37"/>
              <c:tx>
                <c:rich>
                  <a:bodyPr/>
                  <a:lstStyle/>
                  <a:p>
                    <a:r>
                      <a:rPr lang="en-US"/>
                      <a:t>Redis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0519-7043-91E7-EECF3C414252}"/>
                </c:ext>
              </c:extLst>
            </c:dLbl>
            <c:dLbl>
              <c:idx val="38"/>
              <c:tx>
                <c:rich>
                  <a:bodyPr/>
                  <a:lstStyle/>
                  <a:p>
                    <a:r>
                      <a:rPr lang="en-US"/>
                      <a:t>Roslyn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3-0519-7043-91E7-EECF3C414252}"/>
                </c:ext>
              </c:extLst>
            </c:dLbl>
            <c:dLbl>
              <c:idx val="39"/>
              <c:tx>
                <c:rich>
                  <a:bodyPr/>
                  <a:lstStyle/>
                  <a:p>
                    <a:r>
                      <a:rPr lang="en-US"/>
                      <a:t>Roslyn analyzers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4-0519-7043-91E7-EECF3C414252}"/>
                </c:ext>
              </c:extLst>
            </c:dLbl>
            <c:dLbl>
              <c:idx val="40"/>
              <c:tx>
                <c:rich>
                  <a:bodyPr/>
                  <a:lstStyle/>
                  <a:p>
                    <a:r>
                      <a:rPr lang="en-US"/>
                      <a:t>Spring-boot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5-0519-7043-91E7-EECF3C414252}"/>
                </c:ext>
              </c:extLst>
            </c:dLbl>
            <c:dLbl>
              <c:idx val="41"/>
              <c:tx>
                <c:rich>
                  <a:bodyPr/>
                  <a:lstStyle/>
                  <a:p>
                    <a:r>
                      <a:rPr lang="en-US"/>
                      <a:t>Swift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6-0519-7043-91E7-EECF3C414252}"/>
                </c:ext>
              </c:extLst>
            </c:dLbl>
            <c:dLbl>
              <c:idx val="42"/>
              <c:tx>
                <c:rich>
                  <a:bodyPr/>
                  <a:lstStyle/>
                  <a:p>
                    <a:r>
                      <a:rPr lang="en-US"/>
                      <a:t>Systemd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7-0519-7043-91E7-EECF3C414252}"/>
                </c:ext>
              </c:extLst>
            </c:dLbl>
            <c:dLbl>
              <c:idx val="43"/>
              <c:tx>
                <c:rich>
                  <a:bodyPr/>
                  <a:lstStyle/>
                  <a:p>
                    <a:r>
                      <a:rPr lang="en-US"/>
                      <a:t>Tensorflow</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8-0519-7043-91E7-EECF3C414252}"/>
                </c:ext>
              </c:extLst>
            </c:dLbl>
            <c:dLbl>
              <c:idx val="44"/>
              <c:tx>
                <c:rich>
                  <a:bodyPr/>
                  <a:lstStyle/>
                  <a:p>
                    <a:r>
                      <a:rPr lang="en-US"/>
                      <a:t>Utplsql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9-0519-7043-91E7-EECF3C414252}"/>
                </c:ext>
              </c:extLst>
            </c:dLbl>
            <c:dLbl>
              <c:idx val="45"/>
              <c:tx>
                <c:rich>
                  <a:bodyPr/>
                  <a:lstStyle/>
                  <a:p>
                    <a:r>
                      <a:rPr lang="en-US"/>
                      <a:t>Visual Studio Code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A-0519-7043-91E7-EECF3C414252}"/>
                </c:ext>
              </c:extLst>
            </c:dLbl>
            <c:dLbl>
              <c:idx val="46"/>
              <c:tx>
                <c:rich>
                  <a:bodyPr/>
                  <a:lstStyle/>
                  <a:p>
                    <a:r>
                      <a:rPr lang="en-US"/>
                      <a:t>Vuejs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B-0519-7043-91E7-EECF3C414252}"/>
                </c:ext>
              </c:extLst>
            </c:dLbl>
            <c:dLbl>
              <c:idx val="47"/>
              <c:tx>
                <c:rich>
                  <a:bodyPr/>
                  <a:lstStyle/>
                  <a:p>
                    <a:r>
                      <a:rPr lang="en-US"/>
                      <a:t>Webmethods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C-0519-7043-91E7-EECF3C414252}"/>
                </c:ext>
              </c:extLst>
            </c:dLbl>
            <c:dLbl>
              <c:idx val="48"/>
              <c:tx>
                <c:rich>
                  <a:bodyPr/>
                  <a:lstStyle/>
                  <a:p>
                    <a:r>
                      <a:rPr lang="en-US"/>
                      <a:t>Webpack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D-0519-7043-91E7-EECF3C414252}"/>
                </c:ext>
              </c:extLst>
            </c:dLbl>
            <c:dLbl>
              <c:idx val="49"/>
              <c:tx>
                <c:rich>
                  <a:bodyPr/>
                  <a:lstStyle/>
                  <a:p>
                    <a:r>
                      <a:rPr lang="en-US"/>
                      <a:t>Zuul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E-0519-7043-91E7-EECF3C414252}"/>
                </c:ext>
              </c:extLst>
            </c:dLbl>
            <c:numFmt formatCode="#,##0.0" sourceLinked="0"/>
            <c:spPr>
              <a:solidFill>
                <a:schemeClr val="accent3">
                  <a:alpha val="85000"/>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bg1"/>
                    </a:solidFill>
                    <a:latin typeface="+mn-lt"/>
                    <a:ea typeface="+mn-ea"/>
                    <a:cs typeface="+mn-cs"/>
                  </a:defRPr>
                </a:pPr>
                <a:endParaRPr lang="en-NL"/>
              </a:p>
            </c:txPr>
            <c:dLblPos val="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c:v>
                </c:pt>
              </c:numCache>
            </c:numRef>
          </c:xVal>
          <c:yVal>
            <c:numRef>
              <c:f>Sheet1!$B$2:$B$2</c:f>
              <c:numCache>
                <c:formatCode>General</c:formatCode>
                <c:ptCount val="1"/>
                <c:pt idx="0">
                  <c:v>3.1085510232189746</c:v>
                </c:pt>
              </c:numCache>
            </c:numRef>
          </c:yVal>
          <c:smooth val="0"/>
          <c:extLst>
            <c:ext xmlns:c15="http://schemas.microsoft.com/office/drawing/2012/chart" uri="{02D57815-91ED-43cb-92C2-25804820EDAC}">
              <c15:datalabelsRange>
                <c15:f>Sheet1!$C$2:$C$3</c15:f>
                <c15:dlblRangeCache>
                  <c:ptCount val="2"/>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bg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Freshness risk</c:v>
                </c:pt>
              </c:strCache>
            </c:strRef>
          </c:cat>
          <c:val>
            <c:numRef>
              <c:f>Sheet1!$B$2:$B$3</c:f>
              <c:numCache>
                <c:formatCode>General</c:formatCode>
                <c:ptCount val="2"/>
                <c:pt idx="0">
                  <c:v>10</c:v>
                </c:pt>
                <c:pt idx="1">
                  <c:v>92</c:v>
                </c:pt>
              </c:numCache>
            </c:numRef>
          </c:val>
          <c:extLst>
            <c:ext xmlns:c16="http://schemas.microsoft.com/office/drawing/2014/chart" uri="{C3380CC4-5D6E-409C-BE32-E72D297353CC}">
              <c16:uniqueId val="{00000000-D7C1-0A4B-BF3C-1F87FFDAFFAB}"/>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7C1-0A4B-BF3C-1F87FFDAFFAB}"/>
              </c:ext>
            </c:extLst>
          </c:dPt>
          <c:dPt>
            <c:idx val="3"/>
            <c:invertIfNegative val="0"/>
            <c:bubble3D val="0"/>
            <c:spPr>
              <a:solidFill>
                <a:srgbClr val="CF4731"/>
              </a:solidFill>
              <a:ln>
                <a:noFill/>
              </a:ln>
              <a:effectLst/>
            </c:spPr>
            <c:extLst>
              <c:ext xmlns:c16="http://schemas.microsoft.com/office/drawing/2014/chart" uri="{C3380CC4-5D6E-409C-BE32-E72D297353CC}">
                <c16:uniqueId val="{00000004-D7C1-0A4B-BF3C-1F87FFDAFFAB}"/>
              </c:ext>
            </c:extLst>
          </c:dPt>
          <c:dPt>
            <c:idx val="4"/>
            <c:invertIfNegative val="0"/>
            <c:bubble3D val="0"/>
            <c:spPr>
              <a:solidFill>
                <a:srgbClr val="CF4731"/>
              </a:solidFill>
              <a:ln>
                <a:noFill/>
              </a:ln>
              <a:effectLst/>
            </c:spPr>
            <c:extLst>
              <c:ext xmlns:c16="http://schemas.microsoft.com/office/drawing/2014/chart" uri="{C3380CC4-5D6E-409C-BE32-E72D297353CC}">
                <c16:uniqueId val="{00000006-D7C1-0A4B-BF3C-1F87FFDAFFAB}"/>
              </c:ext>
            </c:extLst>
          </c:dPt>
          <c:dPt>
            <c:idx val="5"/>
            <c:invertIfNegative val="0"/>
            <c:bubble3D val="0"/>
            <c:spPr>
              <a:solidFill>
                <a:srgbClr val="CF4731"/>
              </a:solidFill>
              <a:ln>
                <a:noFill/>
              </a:ln>
              <a:effectLst/>
            </c:spPr>
            <c:extLst>
              <c:ext xmlns:c16="http://schemas.microsoft.com/office/drawing/2014/chart" uri="{C3380CC4-5D6E-409C-BE32-E72D297353CC}">
                <c16:uniqueId val="{00000008-D7C1-0A4B-BF3C-1F87FFDAFFAB}"/>
              </c:ext>
            </c:extLst>
          </c:dPt>
          <c:cat>
            <c:strRef>
              <c:f>Sheet1!$A$2:$A$3</c:f>
              <c:strCache>
                <c:ptCount val="2"/>
                <c:pt idx="0">
                  <c:v>Vulnerability risk</c:v>
                </c:pt>
                <c:pt idx="1">
                  <c:v>Freshness risk</c:v>
                </c:pt>
              </c:strCache>
            </c:strRef>
          </c:cat>
          <c:val>
            <c:numRef>
              <c:f>Sheet1!$C$2:$C$3</c:f>
              <c:numCache>
                <c:formatCode>General</c:formatCode>
                <c:ptCount val="2"/>
                <c:pt idx="0">
                  <c:v>6</c:v>
                </c:pt>
                <c:pt idx="1">
                  <c:v>21</c:v>
                </c:pt>
              </c:numCache>
            </c:numRef>
          </c:val>
          <c:extLst>
            <c:ext xmlns:c16="http://schemas.microsoft.com/office/drawing/2014/chart" uri="{C3380CC4-5D6E-409C-BE32-E72D297353CC}">
              <c16:uniqueId val="{00000009-D7C1-0A4B-BF3C-1F87FFDAFFAB}"/>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7C1-0A4B-BF3C-1F87FFDAFFAB}"/>
              </c:ext>
            </c:extLst>
          </c:dPt>
          <c:dPt>
            <c:idx val="5"/>
            <c:invertIfNegative val="0"/>
            <c:bubble3D val="0"/>
            <c:spPr>
              <a:solidFill>
                <a:srgbClr val="E78E17"/>
              </a:solidFill>
              <a:ln>
                <a:noFill/>
              </a:ln>
              <a:effectLst/>
            </c:spPr>
            <c:extLst>
              <c:ext xmlns:c16="http://schemas.microsoft.com/office/drawing/2014/chart" uri="{C3380CC4-5D6E-409C-BE32-E72D297353CC}">
                <c16:uniqueId val="{0000000D-D7C1-0A4B-BF3C-1F87FFDAFFAB}"/>
              </c:ext>
            </c:extLst>
          </c:dPt>
          <c:cat>
            <c:strRef>
              <c:f>Sheet1!$A$2:$A$3</c:f>
              <c:strCache>
                <c:ptCount val="2"/>
                <c:pt idx="0">
                  <c:v>Vulnerability risk</c:v>
                </c:pt>
                <c:pt idx="1">
                  <c:v>Freshness risk</c:v>
                </c:pt>
              </c:strCache>
            </c:strRef>
          </c:cat>
          <c:val>
            <c:numRef>
              <c:f>Sheet1!$D$2:$D$3</c:f>
              <c:numCache>
                <c:formatCode>General</c:formatCode>
                <c:ptCount val="2"/>
                <c:pt idx="0">
                  <c:v>5</c:v>
                </c:pt>
                <c:pt idx="1">
                  <c:v>25</c:v>
                </c:pt>
              </c:numCache>
            </c:numRef>
          </c:val>
          <c:extLst>
            <c:ext xmlns:c16="http://schemas.microsoft.com/office/drawing/2014/chart" uri="{C3380CC4-5D6E-409C-BE32-E72D297353CC}">
              <c16:uniqueId val="{0000000E-D7C1-0A4B-BF3C-1F87FFDAFFAB}"/>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Freshness risk</c:v>
                </c:pt>
              </c:strCache>
            </c:strRef>
          </c:cat>
          <c:val>
            <c:numRef>
              <c:f>Sheet1!$E$2:$E$3</c:f>
              <c:numCache>
                <c:formatCode>General</c:formatCode>
                <c:ptCount val="2"/>
                <c:pt idx="0">
                  <c:v>5</c:v>
                </c:pt>
                <c:pt idx="1">
                  <c:v>2</c:v>
                </c:pt>
              </c:numCache>
            </c:numRef>
          </c:val>
          <c:extLst>
            <c:ext xmlns:c16="http://schemas.microsoft.com/office/drawing/2014/chart" uri="{C3380CC4-5D6E-409C-BE32-E72D297353CC}">
              <c16:uniqueId val="{0000000C-3178-A848-A9F6-D040B7E589FA}"/>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2</c:v>
                </c:pt>
                <c:pt idx="2">
                  <c:v>3</c:v>
                </c:pt>
                <c:pt idx="3">
                  <c:v>1</c:v>
                </c:pt>
              </c:numCache>
            </c:numRef>
          </c:val>
          <c:extLst>
            <c:ext xmlns:c16="http://schemas.microsoft.com/office/drawing/2014/chart" uri="{C3380CC4-5D6E-409C-BE32-E72D297353CC}">
              <c16:uniqueId val="{00000000-8A49-5C45-872A-96D6CCD48952}"/>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8A49-5C45-872A-96D6CCD48952}"/>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8A49-5C45-872A-96D6CCD48952}"/>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8A49-5C45-872A-96D6CCD48952}"/>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8A49-5C45-872A-96D6CCD48952}"/>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40</c:v>
                </c:pt>
                <c:pt idx="1">
                  <c:v>79</c:v>
                </c:pt>
                <c:pt idx="2">
                  <c:v>6</c:v>
                </c:pt>
                <c:pt idx="3">
                  <c:v>1</c:v>
                </c:pt>
              </c:numCache>
            </c:numRef>
          </c:val>
          <c:extLst>
            <c:ext xmlns:c16="http://schemas.microsoft.com/office/drawing/2014/chart" uri="{C3380CC4-5D6E-409C-BE32-E72D297353CC}">
              <c16:uniqueId val="{00000009-8A49-5C45-872A-96D6CCD48952}"/>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8A49-5C45-872A-96D6CCD48952}"/>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8A49-5C45-872A-96D6CCD48952}"/>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18</c:v>
                </c:pt>
                <c:pt idx="1">
                  <c:v>0</c:v>
                </c:pt>
                <c:pt idx="2">
                  <c:v>0</c:v>
                </c:pt>
                <c:pt idx="3">
                  <c:v>21</c:v>
                </c:pt>
              </c:numCache>
            </c:numRef>
          </c:val>
          <c:extLst>
            <c:ext xmlns:c16="http://schemas.microsoft.com/office/drawing/2014/chart" uri="{C3380CC4-5D6E-409C-BE32-E72D297353CC}">
              <c16:uniqueId val="{0000000E-8A49-5C45-872A-96D6CCD48952}"/>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1</c:v>
                </c:pt>
                <c:pt idx="1">
                  <c:v>2</c:v>
                </c:pt>
                <c:pt idx="2">
                  <c:v>3</c:v>
                </c:pt>
                <c:pt idx="3">
                  <c:v>4</c:v>
                </c:pt>
              </c:numCache>
            </c:numRef>
          </c:val>
          <c:extLst>
            <c:ext xmlns:c16="http://schemas.microsoft.com/office/drawing/2014/chart" uri="{C3380CC4-5D6E-409C-BE32-E72D297353CC}">
              <c16:uniqueId val="{0000000C-078F-804A-98C0-2EFA001BBAD0}"/>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15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3/20/26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907836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758188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10800915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15.png"/><Relationship Id="rId13" Type="http://schemas.openxmlformats.org/officeDocument/2006/relationships/image" Target="../media/image1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15.png"/><Relationship Id="rId13" Type="http://schemas.openxmlformats.org/officeDocument/2006/relationships/image" Target="../media/image16.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6D4EE728-E82E-704D-ADEB-24FAC51A5077}"/>
              </a:ext>
            </a:extLst>
          </p:cNvPr>
          <p:cNvPicPr>
            <a:picLocks noChangeAspect="1"/>
          </p:cNvPicPr>
          <p:nvPr userDrawn="1"/>
        </p:nvPicPr>
        <p:blipFill>
          <a:blip r:embed="rId2"/>
          <a:stretch>
            <a:fillRect/>
          </a:stretch>
        </p:blipFill>
        <p:spPr>
          <a:xfrm>
            <a:off x="0" y="-9833"/>
            <a:ext cx="12192000" cy="6875783"/>
          </a:xfrm>
          <a:prstGeom prst="rect">
            <a:avLst/>
          </a:prstGeom>
        </p:spPr>
      </p:pic>
      <p:pic>
        <p:nvPicPr>
          <p:cNvPr id="19" name="Picture 18">
            <a:extLst>
              <a:ext uri="{FF2B5EF4-FFF2-40B4-BE49-F238E27FC236}">
                <a16:creationId xmlns:a16="http://schemas.microsoft.com/office/drawing/2014/main" id="{E1BFBDC1-0F88-404F-8878-DA6B9775F7E9}"/>
              </a:ext>
            </a:extLst>
          </p:cNvPr>
          <p:cNvPicPr>
            <a:picLocks noChangeAspect="1"/>
          </p:cNvPicPr>
          <p:nvPr userDrawn="1"/>
        </p:nvPicPr>
        <p:blipFill>
          <a:blip r:embed="rId3">
            <a:alphaModFix amt="93000"/>
          </a:blip>
          <a:stretch>
            <a:fillRect/>
          </a:stretch>
        </p:blipFill>
        <p:spPr>
          <a:xfrm>
            <a:off x="0" y="0"/>
            <a:ext cx="12192000" cy="6858000"/>
          </a:xfrm>
          <a:prstGeom prst="rect">
            <a:avLst/>
          </a:prstGeom>
        </p:spPr>
      </p:pic>
      <p:sp>
        <p:nvSpPr>
          <p:cNvPr id="11" name="Text Placeholder 5">
            <a:extLst>
              <a:ext uri="{FF2B5EF4-FFF2-40B4-BE49-F238E27FC236}">
                <a16:creationId xmlns:a16="http://schemas.microsoft.com/office/drawing/2014/main" id="{7AF298E3-4E90-9E47-86B5-57AC25744388}"/>
              </a:ext>
            </a:extLst>
          </p:cNvPr>
          <p:cNvSpPr>
            <a:spLocks noGrp="1"/>
          </p:cNvSpPr>
          <p:nvPr>
            <p:ph type="body" sz="quarter" idx="13" hasCustomPrompt="1"/>
          </p:nvPr>
        </p:nvSpPr>
        <p:spPr>
          <a:xfrm>
            <a:off x="3235414" y="2937600"/>
            <a:ext cx="8486893" cy="366712"/>
          </a:xfrm>
          <a:prstGeom prst="rect">
            <a:avLst/>
          </a:prstGeom>
        </p:spPr>
        <p:txBody>
          <a:bodyPr wrap="none" tIns="0" bIns="0" anchor="t">
            <a:noAutofit/>
          </a:bodyPr>
          <a:lstStyle>
            <a:lvl1pPr marL="0" indent="0">
              <a:lnSpc>
                <a:spcPct val="100000"/>
              </a:lnSpc>
              <a:buNone/>
              <a:defRPr sz="2800" b="0" i="0">
                <a:solidFill>
                  <a:schemeClr val="bg1"/>
                </a:solidFill>
                <a:latin typeface="Calibri Light" panose="020F0302020204030204" pitchFamily="34"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2" name="Text Placeholder 7">
            <a:extLst>
              <a:ext uri="{FF2B5EF4-FFF2-40B4-BE49-F238E27FC236}">
                <a16:creationId xmlns:a16="http://schemas.microsoft.com/office/drawing/2014/main" id="{67C6FE27-98CB-9247-98B6-B1989EF943B5}"/>
              </a:ext>
            </a:extLst>
          </p:cNvPr>
          <p:cNvSpPr>
            <a:spLocks noGrp="1"/>
          </p:cNvSpPr>
          <p:nvPr>
            <p:ph type="body" sz="quarter" idx="14" hasCustomPrompt="1"/>
          </p:nvPr>
        </p:nvSpPr>
        <p:spPr>
          <a:xfrm>
            <a:off x="3235415" y="3319200"/>
            <a:ext cx="8486892" cy="344488"/>
          </a:xfrm>
          <a:prstGeom prst="rect">
            <a:avLst/>
          </a:prstGeom>
        </p:spPr>
        <p:txBody>
          <a:bodyPr tIns="0" bIns="0" anchor="t">
            <a:noAutofit/>
          </a:bodyPr>
          <a:lstStyle>
            <a:lvl1pPr marL="0" indent="0">
              <a:lnSpc>
                <a:spcPct val="100000"/>
              </a:lnSpc>
              <a:buNone/>
              <a:defRPr sz="2800" b="1" i="0">
                <a:solidFill>
                  <a:schemeClr val="bg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8" name="Text Placeholder 11">
            <a:extLst>
              <a:ext uri="{FF2B5EF4-FFF2-40B4-BE49-F238E27FC236}">
                <a16:creationId xmlns:a16="http://schemas.microsoft.com/office/drawing/2014/main" id="{F0D60B5C-8D30-9A43-A2F0-A420A723845D}"/>
              </a:ext>
            </a:extLst>
          </p:cNvPr>
          <p:cNvSpPr>
            <a:spLocks noGrp="1"/>
          </p:cNvSpPr>
          <p:nvPr>
            <p:ph type="body" sz="quarter" idx="16" hasCustomPrompt="1"/>
          </p:nvPr>
        </p:nvSpPr>
        <p:spPr>
          <a:xfrm>
            <a:off x="10576161" y="6525935"/>
            <a:ext cx="1146147" cy="257763"/>
          </a:xfrm>
          <a:prstGeom prst="rect">
            <a:avLst/>
          </a:prstGeom>
        </p:spPr>
        <p:txBody>
          <a:bodyPr wrap="none" rIns="0">
            <a:spAutoFit/>
          </a:bodyPr>
          <a:lstStyle>
            <a:lvl1pPr marL="0" indent="0" algn="r">
              <a:buNone/>
              <a:defRPr sz="1000" b="1" cap="all" baseline="0">
                <a:solidFill>
                  <a:schemeClr val="bg1"/>
                </a:solidFill>
                <a:effectLst>
                  <a:outerShdw blurRad="571500" dist="38100" dir="2700000" sx="105000" sy="105000" algn="tl" rotWithShape="0">
                    <a:schemeClr val="tx2"/>
                  </a:outerShdw>
                </a:effectLst>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a:t>
            </a:r>
          </a:p>
        </p:txBody>
      </p:sp>
    </p:spTree>
    <p:extLst>
      <p:ext uri="{BB962C8B-B14F-4D97-AF65-F5344CB8AC3E}">
        <p14:creationId xmlns:p14="http://schemas.microsoft.com/office/powerpoint/2010/main" val="4182363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122E66F4-7F53-DD4A-8713-C073FB230CE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tx2"/>
                </a:solidFill>
              </a:defRPr>
            </a:lvl1pPr>
            <a:lvl2pPr>
              <a:defRPr sz="1600">
                <a:solidFill>
                  <a:schemeClr val="tx2"/>
                </a:solidFill>
              </a:defRPr>
            </a:lvl2pPr>
            <a:lvl3pPr>
              <a:defRPr sz="1600">
                <a:solidFill>
                  <a:schemeClr val="tx2"/>
                </a:solidFill>
              </a:defRPr>
            </a:lvl3pPr>
            <a:lvl4pPr>
              <a:defRPr sz="1600">
                <a:solidFill>
                  <a:schemeClr val="tx2"/>
                </a:solidFill>
              </a:defRPr>
            </a:lvl4pPr>
            <a:lvl5pPr>
              <a:defRPr sz="1600">
                <a:solidFill>
                  <a:schemeClr val="tx2"/>
                </a:solidFill>
              </a:defRPr>
            </a:lvl5pPr>
            <a:lvl6pPr>
              <a:defRPr sz="1600">
                <a:solidFill>
                  <a:schemeClr val="tx2"/>
                </a:solidFill>
              </a:defRPr>
            </a:lvl6pPr>
            <a:lvl7pPr>
              <a:defRPr sz="1600">
                <a:solidFill>
                  <a:schemeClr val="tx2"/>
                </a:solidFill>
              </a:defRPr>
            </a:lvl7pPr>
            <a:lvl8pPr>
              <a:defRPr sz="1600">
                <a:solidFill>
                  <a:schemeClr val="tx2"/>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8" name="Footer Placeholder 5">
            <a:extLst>
              <a:ext uri="{FF2B5EF4-FFF2-40B4-BE49-F238E27FC236}">
                <a16:creationId xmlns:a16="http://schemas.microsoft.com/office/drawing/2014/main" id="{B4138DB0-ED82-C84A-8589-E27E32B9B58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3BECD"/>
                </a:solidFill>
              </a:defRPr>
            </a:lvl1pPr>
          </a:lstStyle>
          <a:p>
            <a:r>
              <a:rPr lang="en-US"/>
              <a:t>Confidential</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F7AAF3-E03F-F445-84B7-DEC6FD5CC0B8}"/>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48F36FC-ED84-CE49-90C1-FB88EDBAE7F2}"/>
              </a:ext>
            </a:extLst>
          </p:cNvPr>
          <p:cNvSpPr/>
          <p:nvPr userDrawn="1"/>
        </p:nvSpPr>
        <p:spPr>
          <a:xfrm>
            <a:off x="1526401" y="0"/>
            <a:ext cx="10665600"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smtClean="0"/>
              <a:pPr/>
              <a:t>‹#›</a:t>
            </a:fld>
            <a:endParaRPr dirty="0"/>
          </a:p>
        </p:txBody>
      </p:sp>
      <p:sp>
        <p:nvSpPr>
          <p:cNvPr id="20" name="Title 1">
            <a:extLst>
              <a:ext uri="{FF2B5EF4-FFF2-40B4-BE49-F238E27FC236}">
                <a16:creationId xmlns:a16="http://schemas.microsoft.com/office/drawing/2014/main" id="{3A2DC225-29A5-1C4E-85B1-B1B58619FC8B}"/>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13" name="Text Placeholder 2">
            <a:extLst>
              <a:ext uri="{FF2B5EF4-FFF2-40B4-BE49-F238E27FC236}">
                <a16:creationId xmlns:a16="http://schemas.microsoft.com/office/drawing/2014/main" id="{D37A1B97-F536-DA40-9B5F-C768D92CAC7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bg1"/>
                </a:solidFill>
              </a:defRPr>
            </a:lvl1pPr>
            <a:lvl2pPr>
              <a:defRPr sz="1600">
                <a:solidFill>
                  <a:schemeClr val="bg1"/>
                </a:solidFill>
              </a:defRPr>
            </a:lvl2pPr>
            <a:lvl3pPr>
              <a:defRPr sz="1600">
                <a:solidFill>
                  <a:schemeClr val="bg1"/>
                </a:solidFill>
              </a:defRPr>
            </a:lvl3pPr>
            <a:lvl4pPr>
              <a:defRPr sz="1600">
                <a:solidFill>
                  <a:schemeClr val="bg1"/>
                </a:solidFill>
              </a:defRPr>
            </a:lvl4pPr>
            <a:lvl5pPr>
              <a:defRPr sz="1600">
                <a:solidFill>
                  <a:schemeClr val="bg1"/>
                </a:solidFill>
              </a:defRPr>
            </a:lvl5pPr>
            <a:lvl6pPr>
              <a:defRPr sz="1600">
                <a:solidFill>
                  <a:schemeClr val="bg1"/>
                </a:solidFill>
              </a:defRPr>
            </a:lvl6pPr>
            <a:lvl7pPr>
              <a:defRPr sz="1600">
                <a:solidFill>
                  <a:schemeClr val="bg1"/>
                </a:solidFill>
              </a:defRPr>
            </a:lvl7pPr>
            <a:lvl8pPr>
              <a:defRPr sz="1600">
                <a:solidFill>
                  <a:schemeClr val="bg1"/>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Tree>
    <p:extLst>
      <p:ext uri="{BB962C8B-B14F-4D97-AF65-F5344CB8AC3E}">
        <p14:creationId xmlns:p14="http://schemas.microsoft.com/office/powerpoint/2010/main" val="3569207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546037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 Title only">
    <p:spTree>
      <p:nvGrpSpPr>
        <p:cNvPr id="1" name=""/>
        <p:cNvGrpSpPr/>
        <p:nvPr/>
      </p:nvGrpSpPr>
      <p:grpSpPr>
        <a:xfrm>
          <a:off x="0" y="0"/>
          <a:ext cx="0" cy="0"/>
          <a:chOff x="0" y="0"/>
          <a:chExt cx="0" cy="0"/>
        </a:xfrm>
      </p:grpSpPr>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7" name="Content Placeholder 2">
            <a:extLst>
              <a:ext uri="{FF2B5EF4-FFF2-40B4-BE49-F238E27FC236}">
                <a16:creationId xmlns:a16="http://schemas.microsoft.com/office/drawing/2014/main" id="{5606E028-6F75-5A40-AE18-EB44D4BC81AB}"/>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2499030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7348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rast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100000">
                <a:srgbClr val="AA98C4"/>
              </a:gs>
              <a:gs pos="0">
                <a:srgbClr val="576BA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4062C32F-BF79-8E4D-80C7-A236088BE3DC}"/>
              </a:ext>
            </a:extLst>
          </p:cNvPr>
          <p:cNvSpPr/>
          <p:nvPr userDrawn="1"/>
        </p:nvSpPr>
        <p:spPr>
          <a:xfrm>
            <a:off x="-230588" y="385969"/>
            <a:ext cx="12730038" cy="7310231"/>
          </a:xfrm>
          <a:prstGeom prst="ellipse">
            <a:avLst/>
          </a:prstGeom>
          <a:gradFill flip="none" rotWithShape="1">
            <a:gsLst>
              <a:gs pos="100000">
                <a:schemeClr val="bg1">
                  <a:alpha val="0"/>
                </a:schemeClr>
              </a:gs>
              <a:gs pos="45000">
                <a:srgbClr val="FFFFFF">
                  <a:alpha val="15000"/>
                </a:srgbClr>
              </a:gs>
              <a:gs pos="0">
                <a:schemeClr val="bg1">
                  <a:alpha val="57000"/>
                </a:schemeClr>
              </a:gs>
            </a:gsLst>
            <a:path path="circle">
              <a:fillToRect l="50000" t="50000" r="50000" b="50000"/>
            </a:path>
            <a:tileRect/>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 name="Rectangle 18">
            <a:extLst>
              <a:ext uri="{FF2B5EF4-FFF2-40B4-BE49-F238E27FC236}">
                <a16:creationId xmlns:a16="http://schemas.microsoft.com/office/drawing/2014/main" id="{85B5964A-85C4-E845-8FF0-BCE54011F8F7}"/>
              </a:ext>
            </a:extLst>
          </p:cNvPr>
          <p:cNvSpPr/>
          <p:nvPr userDrawn="1"/>
        </p:nvSpPr>
        <p:spPr>
          <a:xfrm>
            <a:off x="0" y="-4586"/>
            <a:ext cx="12192000" cy="6858000"/>
          </a:xfrm>
          <a:prstGeom prst="rect">
            <a:avLst/>
          </a:prstGeom>
          <a:gradFill>
            <a:gsLst>
              <a:gs pos="100000">
                <a:srgbClr val="576BAA">
                  <a:alpha val="45000"/>
                </a:srgbClr>
              </a:gs>
              <a:gs pos="50000">
                <a:srgbClr val="AA98C4">
                  <a:alpha val="0"/>
                </a:srgbClr>
              </a:gs>
              <a:gs pos="0">
                <a:srgbClr val="576BAA">
                  <a:alpha val="65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04821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with graphic backgroun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24000">
                <a:schemeClr val="tx2">
                  <a:alpha val="80000"/>
                </a:schemeClr>
              </a:gs>
              <a:gs pos="0">
                <a:schemeClr val="tx2">
                  <a:alpha val="74000"/>
                </a:schemeClr>
              </a:gs>
              <a:gs pos="93000">
                <a:schemeClr val="tx2">
                  <a:alpha val="25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44">
              <a:solidFill>
                <a:schemeClr val="accent2"/>
              </a:solidFill>
            </a:endParaRPr>
          </a:p>
        </p:txBody>
      </p:sp>
      <p:sp>
        <p:nvSpPr>
          <p:cNvPr id="2" name="Rectangle 1">
            <a:extLst>
              <a:ext uri="{FF2B5EF4-FFF2-40B4-BE49-F238E27FC236}">
                <a16:creationId xmlns:a16="http://schemas.microsoft.com/office/drawing/2014/main" id="{A9FB5ABF-597D-DA40-9F8B-5743780B79A1}"/>
              </a:ext>
            </a:extLst>
          </p:cNvPr>
          <p:cNvSpPr/>
          <p:nvPr userDrawn="1"/>
        </p:nvSpPr>
        <p:spPr>
          <a:xfrm>
            <a:off x="0" y="1720892"/>
            <a:ext cx="12192000" cy="5145061"/>
          </a:xfrm>
          <a:prstGeom prst="rect">
            <a:avLst/>
          </a:prstGeom>
          <a:gradFill>
            <a:gsLst>
              <a:gs pos="46000">
                <a:schemeClr val="accent2">
                  <a:alpha val="0"/>
                </a:schemeClr>
              </a:gs>
              <a:gs pos="100000">
                <a:srgbClr val="DFC101">
                  <a:alpha val="32000"/>
                </a:srgbClr>
              </a:gs>
              <a:gs pos="82000">
                <a:schemeClr val="accent2">
                  <a:alpha val="1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85912" tIns="57275" rIns="85912" bIns="57275" rtlCol="0" anchor="t"/>
          <a:lstStyle/>
          <a:p>
            <a:pPr algn="l"/>
            <a:endParaRPr lang="en-US" sz="1273" dirty="0" err="1">
              <a:solidFill>
                <a:schemeClr val="bg1"/>
              </a:solidFill>
            </a:endParaRPr>
          </a:p>
        </p:txBody>
      </p:sp>
      <p:sp>
        <p:nvSpPr>
          <p:cNvPr id="18" name="Rectangle 17">
            <a:extLst>
              <a:ext uri="{FF2B5EF4-FFF2-40B4-BE49-F238E27FC236}">
                <a16:creationId xmlns:a16="http://schemas.microsoft.com/office/drawing/2014/main" id="{F0B229FA-CC1D-8949-846A-2C092B3B817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lide Number Placeholder 5">
            <a:extLst>
              <a:ext uri="{FF2B5EF4-FFF2-40B4-BE49-F238E27FC236}">
                <a16:creationId xmlns:a16="http://schemas.microsoft.com/office/drawing/2014/main" id="{F1029506-2B22-D540-9093-4B18C0BD137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4" name="TextBox 23">
            <a:extLst>
              <a:ext uri="{FF2B5EF4-FFF2-40B4-BE49-F238E27FC236}">
                <a16:creationId xmlns:a16="http://schemas.microsoft.com/office/drawing/2014/main" id="{54543FC0-FA8A-4842-8FC2-F203AF9029D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5" name="Text Placeholder 4">
            <a:extLst>
              <a:ext uri="{FF2B5EF4-FFF2-40B4-BE49-F238E27FC236}">
                <a16:creationId xmlns:a16="http://schemas.microsoft.com/office/drawing/2014/main" id="{B0B6AD95-6CA1-134E-A06C-BEECADF70E04}"/>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6" name="Title 1">
            <a:extLst>
              <a:ext uri="{FF2B5EF4-FFF2-40B4-BE49-F238E27FC236}">
                <a16:creationId xmlns:a16="http://schemas.microsoft.com/office/drawing/2014/main" id="{EC2317AA-E47D-1A45-A701-485ECFFE29F9}"/>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3" name="Content Placeholder 2">
            <a:extLst>
              <a:ext uri="{FF2B5EF4-FFF2-40B4-BE49-F238E27FC236}">
                <a16:creationId xmlns:a16="http://schemas.microsoft.com/office/drawing/2014/main" id="{B399D4FA-CC06-BB46-A0F0-A490F2F22187}"/>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8475046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eneral reversed color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401" y="0"/>
            <a:ext cx="10665600" cy="856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88014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1" name="Slide Number Placeholder 5">
            <a:extLst>
              <a:ext uri="{FF2B5EF4-FFF2-40B4-BE49-F238E27FC236}">
                <a16:creationId xmlns:a16="http://schemas.microsoft.com/office/drawing/2014/main" id="{C0CA7ACA-36F1-CC4B-B88F-E30BC3BB7F8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Box 17">
            <a:extLst>
              <a:ext uri="{FF2B5EF4-FFF2-40B4-BE49-F238E27FC236}">
                <a16:creationId xmlns:a16="http://schemas.microsoft.com/office/drawing/2014/main" id="{2E70E661-2568-014D-9679-50866771DD38}"/>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17FC6343-20BF-144E-82D5-AAFFD46B946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lvl1pPr>
          </a:lstStyle>
          <a:p>
            <a:pPr lvl="0"/>
            <a:r>
              <a:rPr lang="en-US" dirty="0"/>
              <a:t>Insert content text (headers in bold)</a:t>
            </a:r>
          </a:p>
        </p:txBody>
      </p:sp>
    </p:spTree>
    <p:extLst>
      <p:ext uri="{BB962C8B-B14F-4D97-AF65-F5344CB8AC3E}">
        <p14:creationId xmlns:p14="http://schemas.microsoft.com/office/powerpoint/2010/main" val="1990561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02F3CE-3A89-6048-9903-A3ECEDE9519E}"/>
              </a:ext>
            </a:extLst>
          </p:cNvPr>
          <p:cNvSpPr/>
          <p:nvPr userDrawn="1"/>
        </p:nvSpPr>
        <p:spPr>
          <a:xfrm>
            <a:off x="6092456" y="857977"/>
            <a:ext cx="6099544" cy="60095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4A2A52-2842-B847-AEC4-CBD2BA3484C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4" name="Title 1">
            <a:extLst>
              <a:ext uri="{FF2B5EF4-FFF2-40B4-BE49-F238E27FC236}">
                <a16:creationId xmlns:a16="http://schemas.microsoft.com/office/drawing/2014/main" id="{E9CA1143-6585-1C41-BCC0-F6D86454877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33317707-F6BD-BC43-AFE4-EF3A58BA0D6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4265944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25304"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332642"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97449"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F45A2829-FFCA-D14F-91DA-F2D5FAE26F0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41312653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 image">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Picture Placeholder 2">
            <a:extLst>
              <a:ext uri="{FF2B5EF4-FFF2-40B4-BE49-F238E27FC236}">
                <a16:creationId xmlns:a16="http://schemas.microsoft.com/office/drawing/2014/main" id="{13A7E353-A588-4F4A-90F0-66ACD5821690}"/>
              </a:ext>
            </a:extLst>
          </p:cNvPr>
          <p:cNvSpPr>
            <a:spLocks noGrp="1"/>
          </p:cNvSpPr>
          <p:nvPr>
            <p:ph type="pic" sz="quarter" idx="19" hasCustomPrompt="1"/>
          </p:nvPr>
        </p:nvSpPr>
        <p:spPr>
          <a:xfrm>
            <a:off x="8218715" y="1366988"/>
            <a:ext cx="3526952" cy="4950000"/>
          </a:xfrm>
          <a:prstGeom prst="rect">
            <a:avLst/>
          </a:prstGeom>
        </p:spPr>
        <p:txBody>
          <a:bodyPr wrap="square" lIns="0" rIns="0" bIns="46800" anchor="ctr"/>
          <a:lstStyle>
            <a:lvl1pPr marL="0" indent="0" algn="ctr">
              <a:buNone/>
              <a:defRPr lang="en-US" sz="1400" b="0">
                <a:solidFill>
                  <a:schemeClr val="tx2"/>
                </a:solidFill>
              </a:defRPr>
            </a:lvl1pPr>
          </a:lstStyle>
          <a:p>
            <a:pPr marL="228600" lvl="0" indent="-228600">
              <a:lnSpc>
                <a:spcPct val="114000"/>
              </a:lnSpc>
            </a:pPr>
            <a:r>
              <a:rPr lang="en-US" dirty="0"/>
              <a:t>Insert a picture here. </a:t>
            </a:r>
            <a:br>
              <a:rPr lang="en-US" dirty="0"/>
            </a:br>
            <a:r>
              <a:rPr lang="en-US" dirty="0"/>
              <a:t>The picture will be cropped to placeholder.</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2" name="Content Placeholder 4">
            <a:extLst>
              <a:ext uri="{FF2B5EF4-FFF2-40B4-BE49-F238E27FC236}">
                <a16:creationId xmlns:a16="http://schemas.microsoft.com/office/drawing/2014/main" id="{0930E766-BD21-724F-ADBE-C3AA43F4CD87}"/>
              </a:ext>
            </a:extLst>
          </p:cNvPr>
          <p:cNvSpPr>
            <a:spLocks noGrp="1"/>
          </p:cNvSpPr>
          <p:nvPr>
            <p:ph sz="quarter" idx="22" hasCustomPrompt="1"/>
          </p:nvPr>
        </p:nvSpPr>
        <p:spPr>
          <a:xfrm>
            <a:off x="425304"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3" name="Content Placeholder 4">
            <a:extLst>
              <a:ext uri="{FF2B5EF4-FFF2-40B4-BE49-F238E27FC236}">
                <a16:creationId xmlns:a16="http://schemas.microsoft.com/office/drawing/2014/main" id="{F11B0C39-D009-B544-B7E4-F06D9BA4A5A7}"/>
              </a:ext>
            </a:extLst>
          </p:cNvPr>
          <p:cNvSpPr>
            <a:spLocks noGrp="1"/>
          </p:cNvSpPr>
          <p:nvPr>
            <p:ph sz="quarter" idx="23" hasCustomPrompt="1"/>
          </p:nvPr>
        </p:nvSpPr>
        <p:spPr>
          <a:xfrm>
            <a:off x="4332642"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4" name="Slide Number Placeholder 5">
            <a:extLst>
              <a:ext uri="{FF2B5EF4-FFF2-40B4-BE49-F238E27FC236}">
                <a16:creationId xmlns:a16="http://schemas.microsoft.com/office/drawing/2014/main" id="{9D44F31D-ED30-0B48-8DF3-597B351FA8E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28553119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A208878-2260-3E4C-BBF0-1ABC5DE85308}"/>
              </a:ext>
            </a:extLst>
          </p:cNvPr>
          <p:cNvSpPr>
            <a:spLocks noGrp="1"/>
          </p:cNvSpPr>
          <p:nvPr>
            <p:ph type="pic" sz="quarter" idx="17" hasCustomPrompt="1"/>
          </p:nvPr>
        </p:nvSpPr>
        <p:spPr>
          <a:xfrm>
            <a:off x="8218713" y="1366988"/>
            <a:ext cx="3526953" cy="4951412"/>
          </a:xfrm>
          <a:prstGeom prst="rect">
            <a:avLst/>
          </a:prstGeom>
        </p:spPr>
        <p:txBody>
          <a:bodyPr anchor="ctr"/>
          <a:lstStyle>
            <a:lvl1pPr marL="0" indent="0" algn="ctr">
              <a:lnSpc>
                <a:spcPct val="100000"/>
              </a:lnSpc>
              <a:buNone/>
              <a:defRPr sz="1400" b="0" i="0">
                <a:solidFill>
                  <a:schemeClr val="tx2"/>
                </a:solidFill>
              </a:defRPr>
            </a:lvl1pPr>
          </a:lstStyle>
          <a:p>
            <a:r>
              <a:rPr lang="en-US" dirty="0"/>
              <a:t>Insert a picture here. </a:t>
            </a:r>
            <a:br>
              <a:rPr lang="en-US" dirty="0"/>
            </a:br>
            <a:r>
              <a:rPr lang="en-US" dirty="0"/>
              <a:t>The picture will be cropped to placeholder size.</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7" name="TextBox 16">
            <a:extLst>
              <a:ext uri="{FF2B5EF4-FFF2-40B4-BE49-F238E27FC236}">
                <a16:creationId xmlns:a16="http://schemas.microsoft.com/office/drawing/2014/main" id="{CE2F1FF5-0CB8-5244-87C9-8C167EB6734D}"/>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9" name="Title 1">
            <a:extLst>
              <a:ext uri="{FF2B5EF4-FFF2-40B4-BE49-F238E27FC236}">
                <a16:creationId xmlns:a16="http://schemas.microsoft.com/office/drawing/2014/main" id="{DCAD90D6-8AB2-DE4E-A1B2-D53B38CD2570}"/>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514372" y="1366988"/>
            <a:ext cx="7345113" cy="4951412"/>
          </a:xfrm>
        </p:spPr>
        <p:txBody>
          <a:bodyPr>
            <a:noAutofit/>
          </a:bodyPr>
          <a:lstStyle>
            <a:lvl1pPr marL="268288" indent="-268288">
              <a:tabLst/>
              <a:defRPr/>
            </a:lvl1pPr>
          </a:lstStyle>
          <a:p>
            <a:pPr lvl="0"/>
            <a:r>
              <a:rPr lang="en-US" dirty="0"/>
              <a:t>Insert content text (headers in bold)</a:t>
            </a:r>
          </a:p>
        </p:txBody>
      </p:sp>
      <p:sp>
        <p:nvSpPr>
          <p:cNvPr id="10" name="Slide Number Placeholder 5">
            <a:extLst>
              <a:ext uri="{FF2B5EF4-FFF2-40B4-BE49-F238E27FC236}">
                <a16:creationId xmlns:a16="http://schemas.microsoft.com/office/drawing/2014/main" id="{A1EFC51B-F0FA-CF4B-AC2A-30474AC390B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6117839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8438"/>
            <a:ext cx="2397600" cy="223200"/>
          </a:xfrm>
          <a:prstGeom prst="rect">
            <a:avLst/>
          </a:prstGeom>
          <a:noFill/>
        </p:spPr>
        <p:txBody>
          <a:bodyPr wrap="square" lIns="0" tIns="0" rIns="90000" bIns="0" anchor="ctr">
            <a:spAutoFit/>
          </a:bodyPr>
          <a:lstStyle>
            <a:lvl1pPr marL="0" indent="0" algn="l">
              <a:lnSpc>
                <a:spcPct val="90000"/>
              </a:lnSpc>
              <a:buNone/>
              <a:defRPr sz="1600" b="1">
                <a:solidFill>
                  <a:schemeClr val="bg1"/>
                </a:solidFill>
              </a:defRPr>
            </a:lvl1pPr>
          </a:lstStyle>
          <a:p>
            <a:pPr lvl="0"/>
            <a:r>
              <a:rPr lang="en-US" dirty="0"/>
              <a:t>metric name</a:t>
            </a:r>
          </a:p>
        </p:txBody>
      </p:sp>
      <p:sp>
        <p:nvSpPr>
          <p:cNvPr id="29" name="Rectangle 28">
            <a:extLst>
              <a:ext uri="{FF2B5EF4-FFF2-40B4-BE49-F238E27FC236}">
                <a16:creationId xmlns:a16="http://schemas.microsoft.com/office/drawing/2014/main" id="{45AD301B-75B6-8D48-80C0-A4199B9A02BF}"/>
              </a:ext>
            </a:extLst>
          </p:cNvPr>
          <p:cNvSpPr/>
          <p:nvPr userDrawn="1"/>
        </p:nvSpPr>
        <p:spPr>
          <a:xfrm>
            <a:off x="2517735" y="859129"/>
            <a:ext cx="1721491" cy="4674369"/>
          </a:xfrm>
          <a:prstGeom prst="rect">
            <a:avLst/>
          </a:prstGeom>
          <a:gradFill>
            <a:gsLst>
              <a:gs pos="10000">
                <a:srgbClr val="AFB9C2">
                  <a:alpha val="1000"/>
                </a:srgbClr>
              </a:gs>
              <a:gs pos="90000">
                <a:srgbClr val="AFB9C2">
                  <a:alpha val="0"/>
                </a:srgbClr>
              </a:gs>
              <a:gs pos="50000">
                <a:srgbClr val="AFB9C2">
                  <a:alpha val="25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E1BDCF-5BFE-FE49-A911-63130C874BA0}"/>
              </a:ext>
            </a:extLst>
          </p:cNvPr>
          <p:cNvSpPr/>
          <p:nvPr userDrawn="1"/>
        </p:nvSpPr>
        <p:spPr>
          <a:xfrm>
            <a:off x="2515428" y="860920"/>
            <a:ext cx="1715709" cy="4644640"/>
          </a:xfrm>
          <a:prstGeom prst="rect">
            <a:avLst/>
          </a:prstGeom>
          <a:gradFill>
            <a:gsLst>
              <a:gs pos="0">
                <a:schemeClr val="bg2"/>
              </a:gs>
              <a:gs pos="10000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246367" y="1366988"/>
            <a:ext cx="0" cy="4025055"/>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3354895" cy="3954086"/>
          </a:xfrm>
        </p:spPr>
        <p:txBody>
          <a:bodyPr>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C4B0E93E-75EE-6A4B-8272-3D8D30E3A84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7638643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tric overview - Qualitative">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9858"/>
            <a:ext cx="2397600" cy="223200"/>
          </a:xfrm>
          <a:prstGeom prst="rect">
            <a:avLst/>
          </a:prstGeom>
          <a:noFill/>
        </p:spPr>
        <p:txBody>
          <a:bodyPr vert="horz" wrap="square" lIns="0" tIns="0" rIns="90000" bIns="0" rtlCol="0" anchor="ctr">
            <a:spAutoFit/>
          </a:bodyPr>
          <a:lstStyle>
            <a:lvl1pPr marL="0" indent="0">
              <a:lnSpc>
                <a:spcPct val="90000"/>
              </a:lnSpc>
              <a:buNone/>
              <a:defRPr lang="en-US" b="1" dirty="0">
                <a:solidFill>
                  <a:schemeClr val="bg1"/>
                </a:solidFill>
              </a:defRPr>
            </a:lvl1pPr>
          </a:lstStyle>
          <a:p>
            <a:pPr marL="285750" lvl="0" indent="-285750"/>
            <a:r>
              <a:rPr lang="en-US" dirty="0"/>
              <a:t>metric name</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522333" y="1488831"/>
            <a:ext cx="0" cy="3903212"/>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11231295" cy="3954086"/>
          </a:xfrm>
        </p:spPr>
        <p:txBody>
          <a:bodyPr lIns="180000">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7F9FF7DA-17F8-2241-8F5E-D615FB44FF62}"/>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11375286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pic>
        <p:nvPicPr>
          <p:cNvPr id="4" name="Picture 3">
            <a:extLst>
              <a:ext uri="{FF2B5EF4-FFF2-40B4-BE49-F238E27FC236}">
                <a16:creationId xmlns:a16="http://schemas.microsoft.com/office/drawing/2014/main" id="{90565017-894C-E344-A8B5-B1F451E1E1C8}"/>
              </a:ext>
            </a:extLst>
          </p:cNvPr>
          <p:cNvPicPr>
            <a:picLocks noChangeAspect="1"/>
          </p:cNvPicPr>
          <p:nvPr userDrawn="1"/>
        </p:nvPicPr>
        <p:blipFill>
          <a:blip r:embed="rId3"/>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277200"/>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35" name="Text Placeholder 2">
            <a:extLst>
              <a:ext uri="{FF2B5EF4-FFF2-40B4-BE49-F238E27FC236}">
                <a16:creationId xmlns:a16="http://schemas.microsoft.com/office/drawing/2014/main" id="{EA732E99-E093-BA43-9D65-ED4C138D063D}"/>
              </a:ext>
            </a:extLst>
          </p:cNvPr>
          <p:cNvSpPr txBox="1">
            <a:spLocks/>
          </p:cNvSpPr>
          <p:nvPr userDrawn="1"/>
        </p:nvSpPr>
        <p:spPr>
          <a:xfrm>
            <a:off x="1869429" y="1504098"/>
            <a:ext cx="2881289" cy="216792"/>
          </a:xfrm>
          <a:prstGeom prst="rect">
            <a:avLst/>
          </a:prstGeom>
        </p:spPr>
        <p:txBody>
          <a:bodyPr wrap="square" tIns="0" bIns="0" anchor="t">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2400" b="1" i="0" dirty="0">
                <a:solidFill>
                  <a:schemeClr val="bg1"/>
                </a:solidFill>
                <a:latin typeface="Calibri" panose="020F0502020204030204" pitchFamily="34" charset="0"/>
                <a:cs typeface="Calibri" panose="020F0502020204030204" pitchFamily="34" charset="0"/>
              </a:rPr>
              <a:t>Presented </a:t>
            </a:r>
            <a:r>
              <a:rPr lang="en-US" sz="2400" b="0" i="0" dirty="0">
                <a:solidFill>
                  <a:schemeClr val="bg1"/>
                </a:solidFill>
                <a:latin typeface="Calibri Light" panose="020F0302020204030204" pitchFamily="34" charset="0"/>
                <a:cs typeface="Calibri Light" panose="020F0302020204030204" pitchFamily="34" charset="0"/>
              </a:rPr>
              <a:t>by</a:t>
            </a:r>
            <a:endParaRPr lang="en-US" sz="2400" b="1" i="0" dirty="0">
              <a:solidFill>
                <a:schemeClr val="bg1"/>
              </a:solidFill>
              <a:latin typeface="Calibri" panose="020F0502020204030204" pitchFamily="34" charset="0"/>
              <a:cs typeface="Calibri" panose="020F0502020204030204" pitchFamily="34" charset="0"/>
            </a:endParaRPr>
          </a:p>
        </p:txBody>
      </p:sp>
      <p:sp>
        <p:nvSpPr>
          <p:cNvPr id="28" name="Rectangle 27">
            <a:extLst>
              <a:ext uri="{FF2B5EF4-FFF2-40B4-BE49-F238E27FC236}">
                <a16:creationId xmlns:a16="http://schemas.microsoft.com/office/drawing/2014/main" id="{7A240597-FB20-6A42-8EA6-4B770828805B}"/>
              </a:ext>
            </a:extLst>
          </p:cNvPr>
          <p:cNvSpPr/>
          <p:nvPr userDrawn="1"/>
        </p:nvSpPr>
        <p:spPr>
          <a:xfrm>
            <a:off x="6096000" y="853201"/>
            <a:ext cx="6095999" cy="6012750"/>
          </a:xfrm>
          <a:prstGeom prst="rect">
            <a:avLst/>
          </a:prstGeom>
          <a:gradFill>
            <a:gsLst>
              <a:gs pos="0">
                <a:srgbClr val="DFC101"/>
              </a:gs>
              <a:gs pos="30000">
                <a:schemeClr val="accent2">
                  <a:alpha val="85000"/>
                </a:schemeClr>
              </a:gs>
              <a:gs pos="100000">
                <a:schemeClr val="accent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cxnSp>
        <p:nvCxnSpPr>
          <p:cNvPr id="5" name="Straight Connector 4">
            <a:extLst>
              <a:ext uri="{FF2B5EF4-FFF2-40B4-BE49-F238E27FC236}">
                <a16:creationId xmlns:a16="http://schemas.microsoft.com/office/drawing/2014/main" id="{0F12D71D-5C15-3F47-9ACB-1C4A8CF8A4B8}"/>
              </a:ext>
            </a:extLst>
          </p:cNvPr>
          <p:cNvCxnSpPr/>
          <p:nvPr userDrawn="1"/>
        </p:nvCxnSpPr>
        <p:spPr>
          <a:xfrm>
            <a:off x="6096000" y="853201"/>
            <a:ext cx="0" cy="4067142"/>
          </a:xfrm>
          <a:prstGeom prst="line">
            <a:avLst/>
          </a:prstGeom>
          <a:ln w="15875">
            <a:gradFill>
              <a:gsLst>
                <a:gs pos="19000">
                  <a:schemeClr val="accent2"/>
                </a:gs>
                <a:gs pos="100000">
                  <a:schemeClr val="accent2">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1935666" y="219527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1935666" y="38088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1935666" y="4078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1935666" y="2663507"/>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1935666" y="3000701"/>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1935666" y="3468938"/>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1935666" y="46152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1935666" y="4885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1935666" y="54216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1935666" y="5691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1935665" y="246434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1935665" y="326560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1935666" y="4276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1935666" y="5083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1935666" y="5889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3" name="Slide Number Placeholder 5">
            <a:extLst>
              <a:ext uri="{FF2B5EF4-FFF2-40B4-BE49-F238E27FC236}">
                <a16:creationId xmlns:a16="http://schemas.microsoft.com/office/drawing/2014/main" id="{B688E3D0-C02A-B94C-A130-548294B8EE4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021480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B226EB-715A-5F46-819A-D97E866136EF}"/>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1" y="0"/>
            <a:ext cx="12192001" cy="6868901"/>
          </a:xfrm>
          <a:prstGeom prst="rect">
            <a:avLst/>
          </a:prstGeom>
        </p:spPr>
      </p:pic>
      <p:pic>
        <p:nvPicPr>
          <p:cNvPr id="3" name="Picture 2">
            <a:extLst>
              <a:ext uri="{FF2B5EF4-FFF2-40B4-BE49-F238E27FC236}">
                <a16:creationId xmlns:a16="http://schemas.microsoft.com/office/drawing/2014/main" id="{6F796445-AFA9-D44D-80A5-7B00312D6B1E}"/>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ive levels – Maintainability">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1389AAB-7EAB-2BCE-EF27-38E7BCB93625}"/>
              </a:ext>
            </a:extLst>
          </p:cNvPr>
          <p:cNvSpPr/>
          <p:nvPr userDrawn="1"/>
        </p:nvSpPr>
        <p:spPr>
          <a:xfrm>
            <a:off x="540685" y="2101058"/>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6" name="Rectangle 45">
            <a:extLst>
              <a:ext uri="{FF2B5EF4-FFF2-40B4-BE49-F238E27FC236}">
                <a16:creationId xmlns:a16="http://schemas.microsoft.com/office/drawing/2014/main" id="{5BF13346-4B42-9F09-0053-A9BED105047A}"/>
              </a:ext>
            </a:extLst>
          </p:cNvPr>
          <p:cNvSpPr/>
          <p:nvPr userDrawn="1"/>
        </p:nvSpPr>
        <p:spPr>
          <a:xfrm>
            <a:off x="525694" y="2026652"/>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cxnSp>
        <p:nvCxnSpPr>
          <p:cNvPr id="47" name="Straight Connector 46">
            <a:extLst>
              <a:ext uri="{FF2B5EF4-FFF2-40B4-BE49-F238E27FC236}">
                <a16:creationId xmlns:a16="http://schemas.microsoft.com/office/drawing/2014/main" id="{81C024B4-A888-6074-86D4-D86B016E0171}"/>
              </a:ext>
            </a:extLst>
          </p:cNvPr>
          <p:cNvCxnSpPr>
            <a:cxnSpLocks/>
          </p:cNvCxnSpPr>
          <p:nvPr userDrawn="1"/>
        </p:nvCxnSpPr>
        <p:spPr>
          <a:xfrm>
            <a:off x="540689" y="2877393"/>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17" name="Footer Placeholder 5">
            <a:extLst>
              <a:ext uri="{FF2B5EF4-FFF2-40B4-BE49-F238E27FC236}">
                <a16:creationId xmlns:a16="http://schemas.microsoft.com/office/drawing/2014/main" id="{64DEC668-5250-1B4C-B969-8FC04E1B68D3}"/>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3013020"/>
            <a:ext cx="7135680" cy="3304980"/>
          </a:xfrm>
        </p:spPr>
        <p:txBody>
          <a:bodyPr>
            <a:noAutofit/>
          </a:bodyPr>
          <a:lstStyle>
            <a:lvl1pPr marL="285750" indent="-285750">
              <a:buFont typeface="Wingdings" pitchFamily="2" charset="2"/>
              <a:buChar char="§"/>
              <a:tabLst/>
              <a:defRPr/>
            </a:lvl1pPr>
          </a:lstStyle>
          <a:p>
            <a:pPr lvl="0"/>
            <a:r>
              <a:rPr lang="en-US"/>
              <a:t>Insert content text (headers in bold)</a:t>
            </a:r>
          </a:p>
        </p:txBody>
      </p:sp>
      <p:sp>
        <p:nvSpPr>
          <p:cNvPr id="9" name="Rectangle 8">
            <a:extLst>
              <a:ext uri="{FF2B5EF4-FFF2-40B4-BE49-F238E27FC236}">
                <a16:creationId xmlns:a16="http://schemas.microsoft.com/office/drawing/2014/main" id="{92119D16-1B43-83B4-AAC8-3F62CE8DD7EA}"/>
              </a:ext>
            </a:extLst>
          </p:cNvPr>
          <p:cNvSpPr/>
          <p:nvPr userDrawn="1"/>
        </p:nvSpPr>
        <p:spPr bwMode="auto">
          <a:xfrm rot="5400000">
            <a:off x="1548588" y="957613"/>
            <a:ext cx="195321" cy="2211125"/>
          </a:xfrm>
          <a:prstGeom prst="rect">
            <a:avLst/>
          </a:prstGeom>
          <a:solidFill>
            <a:schemeClr val="bg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0" name="Rectangle 9">
            <a:extLst>
              <a:ext uri="{FF2B5EF4-FFF2-40B4-BE49-F238E27FC236}">
                <a16:creationId xmlns:a16="http://schemas.microsoft.com/office/drawing/2014/main" id="{E427916A-C3C6-004B-AECE-7FDC1C99337B}"/>
              </a:ext>
            </a:extLst>
          </p:cNvPr>
          <p:cNvSpPr/>
          <p:nvPr userDrawn="1"/>
        </p:nvSpPr>
        <p:spPr bwMode="auto">
          <a:xfrm rot="5400000">
            <a:off x="3758269" y="959055"/>
            <a:ext cx="195321" cy="2208241"/>
          </a:xfrm>
          <a:prstGeom prst="rect">
            <a:avLst/>
          </a:prstGeom>
          <a:solidFill>
            <a:srgbClr val="DAE2EB"/>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11" name="Rectangle 10">
            <a:extLst>
              <a:ext uri="{FF2B5EF4-FFF2-40B4-BE49-F238E27FC236}">
                <a16:creationId xmlns:a16="http://schemas.microsoft.com/office/drawing/2014/main" id="{68B1625B-745E-62D9-BD2A-55957EA061A3}"/>
              </a:ext>
            </a:extLst>
          </p:cNvPr>
          <p:cNvSpPr/>
          <p:nvPr userDrawn="1"/>
        </p:nvSpPr>
        <p:spPr bwMode="auto">
          <a:xfrm rot="5400000">
            <a:off x="8182546" y="951652"/>
            <a:ext cx="195321" cy="2223047"/>
          </a:xfrm>
          <a:prstGeom prst="rect">
            <a:avLst/>
          </a:prstGeom>
          <a:solidFill>
            <a:srgbClr val="697C8E"/>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2" name="Rectangle 11">
            <a:extLst>
              <a:ext uri="{FF2B5EF4-FFF2-40B4-BE49-F238E27FC236}">
                <a16:creationId xmlns:a16="http://schemas.microsoft.com/office/drawing/2014/main" id="{3FFA4D38-4E21-D4C5-440B-8F86DC2718F7}"/>
              </a:ext>
            </a:extLst>
          </p:cNvPr>
          <p:cNvSpPr/>
          <p:nvPr userDrawn="1"/>
        </p:nvSpPr>
        <p:spPr bwMode="auto">
          <a:xfrm rot="5400000">
            <a:off x="10398054" y="959190"/>
            <a:ext cx="195321" cy="2207971"/>
          </a:xfrm>
          <a:prstGeom prst="rect">
            <a:avLst/>
          </a:prstGeom>
          <a:solidFill>
            <a:schemeClr val="accent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6" name="Rectangle 15">
            <a:extLst>
              <a:ext uri="{FF2B5EF4-FFF2-40B4-BE49-F238E27FC236}">
                <a16:creationId xmlns:a16="http://schemas.microsoft.com/office/drawing/2014/main" id="{867F30B0-F038-9819-805C-8B583196DFC5}"/>
              </a:ext>
            </a:extLst>
          </p:cNvPr>
          <p:cNvSpPr/>
          <p:nvPr userDrawn="1"/>
        </p:nvSpPr>
        <p:spPr bwMode="auto">
          <a:xfrm rot="5400000">
            <a:off x="5966706" y="958857"/>
            <a:ext cx="195321" cy="2208636"/>
          </a:xfrm>
          <a:prstGeom prst="rect">
            <a:avLst/>
          </a:prstGeom>
          <a:solidFill>
            <a:srgbClr val="B3BECD"/>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grpSp>
        <p:nvGrpSpPr>
          <p:cNvPr id="23" name="Group 22">
            <a:extLst>
              <a:ext uri="{FF2B5EF4-FFF2-40B4-BE49-F238E27FC236}">
                <a16:creationId xmlns:a16="http://schemas.microsoft.com/office/drawing/2014/main" id="{019642B4-94D7-E002-5F8F-4B21E3C2B65C}"/>
              </a:ext>
            </a:extLst>
          </p:cNvPr>
          <p:cNvGrpSpPr/>
          <p:nvPr userDrawn="1"/>
        </p:nvGrpSpPr>
        <p:grpSpPr>
          <a:xfrm>
            <a:off x="11006327" y="810077"/>
            <a:ext cx="594110" cy="850933"/>
            <a:chOff x="10569980" y="810077"/>
            <a:chExt cx="594110" cy="850933"/>
          </a:xfrm>
        </p:grpSpPr>
        <p:sp>
          <p:nvSpPr>
            <p:cNvPr id="24" name="Oval 23">
              <a:extLst>
                <a:ext uri="{FF2B5EF4-FFF2-40B4-BE49-F238E27FC236}">
                  <a16:creationId xmlns:a16="http://schemas.microsoft.com/office/drawing/2014/main" id="{B4E37F83-14A0-0B68-AAEB-CA6647EFED37}"/>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8" name="Freeform 27">
              <a:extLst>
                <a:ext uri="{FF2B5EF4-FFF2-40B4-BE49-F238E27FC236}">
                  <a16:creationId xmlns:a16="http://schemas.microsoft.com/office/drawing/2014/main" id="{C711BE83-E5FD-6BD3-812A-5637E13953A8}"/>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9" name="Freeform 28">
              <a:extLst>
                <a:ext uri="{FF2B5EF4-FFF2-40B4-BE49-F238E27FC236}">
                  <a16:creationId xmlns:a16="http://schemas.microsoft.com/office/drawing/2014/main" id="{0DCB0456-FBFD-F1A5-7BB5-98B8476CCA9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31" name="TextBox 30">
            <a:extLst>
              <a:ext uri="{FF2B5EF4-FFF2-40B4-BE49-F238E27FC236}">
                <a16:creationId xmlns:a16="http://schemas.microsoft.com/office/drawing/2014/main" id="{7C247D5E-E670-34AF-DF42-421FD37A7527}"/>
              </a:ext>
            </a:extLst>
          </p:cNvPr>
          <p:cNvSpPr txBox="1"/>
          <p:nvPr userDrawn="1"/>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sp>
        <p:nvSpPr>
          <p:cNvPr id="5" name="Text Placeholder 4">
            <a:extLst>
              <a:ext uri="{FF2B5EF4-FFF2-40B4-BE49-F238E27FC236}">
                <a16:creationId xmlns:a16="http://schemas.microsoft.com/office/drawing/2014/main" id="{5BF8B723-3138-94E0-50D1-42ABD67C94CF}"/>
              </a:ext>
            </a:extLst>
          </p:cNvPr>
          <p:cNvSpPr>
            <a:spLocks noGrp="1"/>
          </p:cNvSpPr>
          <p:nvPr>
            <p:ph type="body" sz="quarter" idx="19" hasCustomPrompt="1"/>
          </p:nvPr>
        </p:nvSpPr>
        <p:spPr>
          <a:xfrm>
            <a:off x="11098721" y="871382"/>
            <a:ext cx="442912" cy="144000"/>
          </a:xfrm>
        </p:spPr>
        <p:txBody>
          <a:bodyPr wrap="none" tIns="0" bIns="0">
            <a:noAutofit/>
          </a:bodyPr>
          <a:lstStyle>
            <a:lvl1pPr marL="0" indent="0" algn="ctr">
              <a:lnSpc>
                <a:spcPct val="100000"/>
              </a:lnSpc>
              <a:buFont typeface="Arial" panose="020B0604020202020204" pitchFamily="34" charset="0"/>
              <a:buNone/>
              <a:defRPr sz="1200" b="1">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a:t>
            </a:r>
            <a:endParaRPr lang="en-NL"/>
          </a:p>
        </p:txBody>
      </p:sp>
      <p:sp>
        <p:nvSpPr>
          <p:cNvPr id="43" name="Text Placeholder 4">
            <a:extLst>
              <a:ext uri="{FF2B5EF4-FFF2-40B4-BE49-F238E27FC236}">
                <a16:creationId xmlns:a16="http://schemas.microsoft.com/office/drawing/2014/main" id="{71B52DB1-1BF8-95E7-0DE2-99D8E78CA3C5}"/>
              </a:ext>
            </a:extLst>
          </p:cNvPr>
          <p:cNvSpPr>
            <a:spLocks noGrp="1"/>
          </p:cNvSpPr>
          <p:nvPr>
            <p:ph type="body" sz="quarter" idx="20" hasCustomPrompt="1"/>
          </p:nvPr>
        </p:nvSpPr>
        <p:spPr>
          <a:xfrm>
            <a:off x="11098721" y="1030633"/>
            <a:ext cx="442912" cy="144000"/>
          </a:xfrm>
        </p:spPr>
        <p:txBody>
          <a:bodyPr wrap="none" tIns="0" bIns="0">
            <a:noAutofit/>
          </a:bodyPr>
          <a:lstStyle>
            <a:lvl1pPr marL="0" indent="0" algn="ctr">
              <a:lnSpc>
                <a:spcPct val="100000"/>
              </a:lnSpc>
              <a:buFont typeface="Arial" panose="020B0604020202020204" pitchFamily="34" charset="0"/>
              <a:buNone/>
              <a:defRPr sz="1200" b="1" cap="all" baseline="0">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MMM</a:t>
            </a:r>
            <a:endParaRPr lang="en-NL"/>
          </a:p>
        </p:txBody>
      </p:sp>
      <p:sp>
        <p:nvSpPr>
          <p:cNvPr id="44" name="Text Placeholder 4">
            <a:extLst>
              <a:ext uri="{FF2B5EF4-FFF2-40B4-BE49-F238E27FC236}">
                <a16:creationId xmlns:a16="http://schemas.microsoft.com/office/drawing/2014/main" id="{7469CFBD-4AB0-5FB5-93CB-E2192E5AD397}"/>
              </a:ext>
            </a:extLst>
          </p:cNvPr>
          <p:cNvSpPr>
            <a:spLocks noGrp="1"/>
          </p:cNvSpPr>
          <p:nvPr>
            <p:ph type="body" sz="quarter" idx="21" hasCustomPrompt="1"/>
          </p:nvPr>
        </p:nvSpPr>
        <p:spPr>
          <a:xfrm>
            <a:off x="11098721" y="1189883"/>
            <a:ext cx="442912" cy="144000"/>
          </a:xfrm>
        </p:spPr>
        <p:txBody>
          <a:bodyPr wrap="none" tIns="0" bIns="0">
            <a:noAutofit/>
          </a:bodyPr>
          <a:lstStyle>
            <a:lvl1pPr marL="0" indent="0" algn="ctr">
              <a:lnSpc>
                <a:spcPct val="100000"/>
              </a:lnSpc>
              <a:buFont typeface="Arial" panose="020B0604020202020204" pitchFamily="34" charset="0"/>
              <a:buNone/>
              <a:defRPr sz="1200" b="0" cap="all" baseline="0">
                <a:solidFill>
                  <a:schemeClr val="tx1">
                    <a:lumMod val="60000"/>
                    <a:lumOff val="40000"/>
                  </a:schemeClr>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err="1"/>
              <a:t>YYYY</a:t>
            </a:r>
            <a:endParaRPr lang="en-NL"/>
          </a:p>
        </p:txBody>
      </p:sp>
      <p:sp>
        <p:nvSpPr>
          <p:cNvPr id="30" name="Rectangle 29">
            <a:extLst>
              <a:ext uri="{FF2B5EF4-FFF2-40B4-BE49-F238E27FC236}">
                <a16:creationId xmlns:a16="http://schemas.microsoft.com/office/drawing/2014/main" id="{F4E3AC85-C0F9-B46B-348B-4B11984EC5E1}"/>
              </a:ext>
            </a:extLst>
          </p:cNvPr>
          <p:cNvSpPr/>
          <p:nvPr userDrawn="1"/>
        </p:nvSpPr>
        <p:spPr>
          <a:xfrm>
            <a:off x="543839" y="2188488"/>
            <a:ext cx="2210009" cy="307777"/>
          </a:xfrm>
          <a:prstGeom prst="rect">
            <a:avLst/>
          </a:prstGeom>
        </p:spPr>
        <p:txBody>
          <a:bodyPr wrap="square"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b="0" i="0" dirty="0">
                <a:solidFill>
                  <a:srgbClr val="B3BECD"/>
                </a:solidFill>
                <a:latin typeface="Calibri" panose="020F0502020204030204" pitchFamily="34" charset="0"/>
                <a:cs typeface="Calibri" panose="020F0502020204030204" pitchFamily="34" charset="0"/>
              </a:rPr>
              <a:t>★☆☆☆☆</a:t>
            </a:r>
          </a:p>
        </p:txBody>
      </p:sp>
      <p:sp>
        <p:nvSpPr>
          <p:cNvPr id="35" name="Rectangle 34">
            <a:extLst>
              <a:ext uri="{FF2B5EF4-FFF2-40B4-BE49-F238E27FC236}">
                <a16:creationId xmlns:a16="http://schemas.microsoft.com/office/drawing/2014/main" id="{2FBD2BA3-6863-8915-EEE5-38EF562641E3}"/>
              </a:ext>
            </a:extLst>
          </p:cNvPr>
          <p:cNvSpPr/>
          <p:nvPr userDrawn="1"/>
        </p:nvSpPr>
        <p:spPr>
          <a:xfrm>
            <a:off x="2748924" y="2185760"/>
            <a:ext cx="2209087"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6" name="Rectangle 35">
            <a:extLst>
              <a:ext uri="{FF2B5EF4-FFF2-40B4-BE49-F238E27FC236}">
                <a16:creationId xmlns:a16="http://schemas.microsoft.com/office/drawing/2014/main" id="{AF205139-0A17-D664-05C0-54D53A944BDA}"/>
              </a:ext>
            </a:extLst>
          </p:cNvPr>
          <p:cNvSpPr/>
          <p:nvPr userDrawn="1"/>
        </p:nvSpPr>
        <p:spPr>
          <a:xfrm>
            <a:off x="4956896" y="2183032"/>
            <a:ext cx="2213826"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7" name="Rectangle 36">
            <a:extLst>
              <a:ext uri="{FF2B5EF4-FFF2-40B4-BE49-F238E27FC236}">
                <a16:creationId xmlns:a16="http://schemas.microsoft.com/office/drawing/2014/main" id="{CE367BEC-37DC-3116-8A37-73B187EE071A}"/>
              </a:ext>
            </a:extLst>
          </p:cNvPr>
          <p:cNvSpPr/>
          <p:nvPr userDrawn="1"/>
        </p:nvSpPr>
        <p:spPr>
          <a:xfrm>
            <a:off x="7181055" y="2191551"/>
            <a:ext cx="221067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697C8E"/>
              </a:solidFill>
            </a:endParaRPr>
          </a:p>
        </p:txBody>
      </p:sp>
      <p:sp>
        <p:nvSpPr>
          <p:cNvPr id="38" name="Rectangle 37">
            <a:extLst>
              <a:ext uri="{FF2B5EF4-FFF2-40B4-BE49-F238E27FC236}">
                <a16:creationId xmlns:a16="http://schemas.microsoft.com/office/drawing/2014/main" id="{11E551A6-ABB3-F7C9-4D66-48E5CACFAA61}"/>
              </a:ext>
            </a:extLst>
          </p:cNvPr>
          <p:cNvSpPr/>
          <p:nvPr userDrawn="1"/>
        </p:nvSpPr>
        <p:spPr>
          <a:xfrm>
            <a:off x="9402060" y="2191551"/>
            <a:ext cx="219383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chemeClr val="accent1"/>
              </a:solidFill>
            </a:endParaRPr>
          </a:p>
        </p:txBody>
      </p:sp>
      <p:sp>
        <p:nvSpPr>
          <p:cNvPr id="39" name="TextBox 38">
            <a:extLst>
              <a:ext uri="{FF2B5EF4-FFF2-40B4-BE49-F238E27FC236}">
                <a16:creationId xmlns:a16="http://schemas.microsoft.com/office/drawing/2014/main" id="{63D34E97-9069-8EB5-D476-4767C60B9DCB}"/>
              </a:ext>
            </a:extLst>
          </p:cNvPr>
          <p:cNvSpPr txBox="1"/>
          <p:nvPr userDrawn="1"/>
        </p:nvSpPr>
        <p:spPr>
          <a:xfrm>
            <a:off x="381410" y="2387321"/>
            <a:ext cx="11429587" cy="246221"/>
          </a:xfrm>
          <a:prstGeom prst="rect">
            <a:avLst/>
          </a:prstGeom>
          <a:noFill/>
        </p:spPr>
        <p:txBody>
          <a:bodyPr wrap="square" rtlCol="0">
            <a:spAutoFit/>
          </a:bodyPr>
          <a:lstStyle/>
          <a:p>
            <a:r>
              <a:rPr lang="en-US" sz="1000" dirty="0">
                <a:solidFill>
                  <a:schemeClr val="tx1">
                    <a:lumMod val="60000"/>
                    <a:lumOff val="40000"/>
                  </a:schemeClr>
                </a:solidFill>
              </a:rPr>
              <a:t>0.5		             1.5		                           2.5		        3.5		                      4.5			   5.5</a:t>
            </a:r>
          </a:p>
        </p:txBody>
      </p:sp>
      <p:sp>
        <p:nvSpPr>
          <p:cNvPr id="40" name="TextBox 39">
            <a:extLst>
              <a:ext uri="{FF2B5EF4-FFF2-40B4-BE49-F238E27FC236}">
                <a16:creationId xmlns:a16="http://schemas.microsoft.com/office/drawing/2014/main" id="{68349FA0-813B-F1FB-15A1-2F51541BD669}"/>
              </a:ext>
            </a:extLst>
          </p:cNvPr>
          <p:cNvSpPr txBox="1"/>
          <p:nvPr userDrawn="1"/>
        </p:nvSpPr>
        <p:spPr>
          <a:xfrm>
            <a:off x="5471355" y="2462115"/>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48" name="Straight Connector 47">
            <a:extLst>
              <a:ext uri="{FF2B5EF4-FFF2-40B4-BE49-F238E27FC236}">
                <a16:creationId xmlns:a16="http://schemas.microsoft.com/office/drawing/2014/main" id="{49FB1209-72DE-2C48-B685-6B5419CD68FB}"/>
              </a:ext>
            </a:extLst>
          </p:cNvPr>
          <p:cNvCxnSpPr>
            <a:cxnSpLocks/>
          </p:cNvCxnSpPr>
          <p:nvPr userDrawn="1"/>
        </p:nvCxnSpPr>
        <p:spPr>
          <a:xfrm flipV="1">
            <a:off x="7788343" y="3092712"/>
            <a:ext cx="0" cy="2605671"/>
          </a:xfrm>
          <a:prstGeom prst="line">
            <a:avLst/>
          </a:prstGeom>
          <a:ln w="19050" cmpd="sng">
            <a:solidFill>
              <a:srgbClr val="C7CCCF"/>
            </a:solidFill>
            <a:prstDash val="sysDot"/>
          </a:ln>
        </p:spPr>
        <p:style>
          <a:lnRef idx="2">
            <a:schemeClr val="accent1"/>
          </a:lnRef>
          <a:fillRef idx="0">
            <a:schemeClr val="accent1"/>
          </a:fillRef>
          <a:effectRef idx="1">
            <a:schemeClr val="accent1"/>
          </a:effectRef>
          <a:fontRef idx="minor">
            <a:schemeClr val="tx1"/>
          </a:fontRef>
        </p:style>
      </p:cxnSp>
      <p:graphicFrame>
        <p:nvGraphicFramePr>
          <p:cNvPr id="2" name="Table 3">
            <a:extLst>
              <a:ext uri="{FF2B5EF4-FFF2-40B4-BE49-F238E27FC236}">
                <a16:creationId xmlns:a16="http://schemas.microsoft.com/office/drawing/2014/main" id="{A9EB7DA5-A189-5E80-A40E-0D5A616174F0}"/>
              </a:ext>
            </a:extLst>
          </p:cNvPr>
          <p:cNvGraphicFramePr>
            <a:graphicFrameLocks noGrp="1"/>
          </p:cNvGraphicFramePr>
          <p:nvPr userDrawn="1">
            <p:extLst>
              <p:ext uri="{D42A27DB-BD31-4B8C-83A1-F6EECF244321}">
                <p14:modId xmlns:p14="http://schemas.microsoft.com/office/powerpoint/2010/main" val="2644525619"/>
              </p:ext>
            </p:extLst>
          </p:nvPr>
        </p:nvGraphicFramePr>
        <p:xfrm>
          <a:off x="543838" y="2137271"/>
          <a:ext cx="11047550" cy="45720"/>
        </p:xfrm>
        <a:graphic>
          <a:graphicData uri="http://schemas.openxmlformats.org/drawingml/2006/table">
            <a:tbl>
              <a:tblPr>
                <a:tableStyleId>{5C22544A-7EE6-4342-B048-85BDC9FD1C3A}</a:tableStyleId>
              </a:tblPr>
              <a:tblGrid>
                <a:gridCol w="220951">
                  <a:extLst>
                    <a:ext uri="{9D8B030D-6E8A-4147-A177-3AD203B41FA5}">
                      <a16:colId xmlns:a16="http://schemas.microsoft.com/office/drawing/2014/main" val="213295414"/>
                    </a:ext>
                  </a:extLst>
                </a:gridCol>
                <a:gridCol w="220951">
                  <a:extLst>
                    <a:ext uri="{9D8B030D-6E8A-4147-A177-3AD203B41FA5}">
                      <a16:colId xmlns:a16="http://schemas.microsoft.com/office/drawing/2014/main" val="903666758"/>
                    </a:ext>
                  </a:extLst>
                </a:gridCol>
                <a:gridCol w="220951">
                  <a:extLst>
                    <a:ext uri="{9D8B030D-6E8A-4147-A177-3AD203B41FA5}">
                      <a16:colId xmlns:a16="http://schemas.microsoft.com/office/drawing/2014/main" val="1885156680"/>
                    </a:ext>
                  </a:extLst>
                </a:gridCol>
                <a:gridCol w="220951">
                  <a:extLst>
                    <a:ext uri="{9D8B030D-6E8A-4147-A177-3AD203B41FA5}">
                      <a16:colId xmlns:a16="http://schemas.microsoft.com/office/drawing/2014/main" val="1495153275"/>
                    </a:ext>
                  </a:extLst>
                </a:gridCol>
                <a:gridCol w="220951">
                  <a:extLst>
                    <a:ext uri="{9D8B030D-6E8A-4147-A177-3AD203B41FA5}">
                      <a16:colId xmlns:a16="http://schemas.microsoft.com/office/drawing/2014/main" val="2657424204"/>
                    </a:ext>
                  </a:extLst>
                </a:gridCol>
                <a:gridCol w="220951">
                  <a:extLst>
                    <a:ext uri="{9D8B030D-6E8A-4147-A177-3AD203B41FA5}">
                      <a16:colId xmlns:a16="http://schemas.microsoft.com/office/drawing/2014/main" val="716304315"/>
                    </a:ext>
                  </a:extLst>
                </a:gridCol>
                <a:gridCol w="220951">
                  <a:extLst>
                    <a:ext uri="{9D8B030D-6E8A-4147-A177-3AD203B41FA5}">
                      <a16:colId xmlns:a16="http://schemas.microsoft.com/office/drawing/2014/main" val="2950638044"/>
                    </a:ext>
                  </a:extLst>
                </a:gridCol>
                <a:gridCol w="220951">
                  <a:extLst>
                    <a:ext uri="{9D8B030D-6E8A-4147-A177-3AD203B41FA5}">
                      <a16:colId xmlns:a16="http://schemas.microsoft.com/office/drawing/2014/main" val="1105443378"/>
                    </a:ext>
                  </a:extLst>
                </a:gridCol>
                <a:gridCol w="220951">
                  <a:extLst>
                    <a:ext uri="{9D8B030D-6E8A-4147-A177-3AD203B41FA5}">
                      <a16:colId xmlns:a16="http://schemas.microsoft.com/office/drawing/2014/main" val="3269029847"/>
                    </a:ext>
                  </a:extLst>
                </a:gridCol>
                <a:gridCol w="220951">
                  <a:extLst>
                    <a:ext uri="{9D8B030D-6E8A-4147-A177-3AD203B41FA5}">
                      <a16:colId xmlns:a16="http://schemas.microsoft.com/office/drawing/2014/main" val="2424136166"/>
                    </a:ext>
                  </a:extLst>
                </a:gridCol>
                <a:gridCol w="220951">
                  <a:extLst>
                    <a:ext uri="{9D8B030D-6E8A-4147-A177-3AD203B41FA5}">
                      <a16:colId xmlns:a16="http://schemas.microsoft.com/office/drawing/2014/main" val="3177950420"/>
                    </a:ext>
                  </a:extLst>
                </a:gridCol>
                <a:gridCol w="220951">
                  <a:extLst>
                    <a:ext uri="{9D8B030D-6E8A-4147-A177-3AD203B41FA5}">
                      <a16:colId xmlns:a16="http://schemas.microsoft.com/office/drawing/2014/main" val="1663229786"/>
                    </a:ext>
                  </a:extLst>
                </a:gridCol>
                <a:gridCol w="220951">
                  <a:extLst>
                    <a:ext uri="{9D8B030D-6E8A-4147-A177-3AD203B41FA5}">
                      <a16:colId xmlns:a16="http://schemas.microsoft.com/office/drawing/2014/main" val="942425598"/>
                    </a:ext>
                  </a:extLst>
                </a:gridCol>
                <a:gridCol w="220951">
                  <a:extLst>
                    <a:ext uri="{9D8B030D-6E8A-4147-A177-3AD203B41FA5}">
                      <a16:colId xmlns:a16="http://schemas.microsoft.com/office/drawing/2014/main" val="1814439937"/>
                    </a:ext>
                  </a:extLst>
                </a:gridCol>
                <a:gridCol w="220951">
                  <a:extLst>
                    <a:ext uri="{9D8B030D-6E8A-4147-A177-3AD203B41FA5}">
                      <a16:colId xmlns:a16="http://schemas.microsoft.com/office/drawing/2014/main" val="3164329391"/>
                    </a:ext>
                  </a:extLst>
                </a:gridCol>
                <a:gridCol w="220951">
                  <a:extLst>
                    <a:ext uri="{9D8B030D-6E8A-4147-A177-3AD203B41FA5}">
                      <a16:colId xmlns:a16="http://schemas.microsoft.com/office/drawing/2014/main" val="3521393928"/>
                    </a:ext>
                  </a:extLst>
                </a:gridCol>
                <a:gridCol w="220951">
                  <a:extLst>
                    <a:ext uri="{9D8B030D-6E8A-4147-A177-3AD203B41FA5}">
                      <a16:colId xmlns:a16="http://schemas.microsoft.com/office/drawing/2014/main" val="3069234948"/>
                    </a:ext>
                  </a:extLst>
                </a:gridCol>
                <a:gridCol w="220951">
                  <a:extLst>
                    <a:ext uri="{9D8B030D-6E8A-4147-A177-3AD203B41FA5}">
                      <a16:colId xmlns:a16="http://schemas.microsoft.com/office/drawing/2014/main" val="2500553852"/>
                    </a:ext>
                  </a:extLst>
                </a:gridCol>
                <a:gridCol w="220951">
                  <a:extLst>
                    <a:ext uri="{9D8B030D-6E8A-4147-A177-3AD203B41FA5}">
                      <a16:colId xmlns:a16="http://schemas.microsoft.com/office/drawing/2014/main" val="2187502831"/>
                    </a:ext>
                  </a:extLst>
                </a:gridCol>
                <a:gridCol w="217443">
                  <a:extLst>
                    <a:ext uri="{9D8B030D-6E8A-4147-A177-3AD203B41FA5}">
                      <a16:colId xmlns:a16="http://schemas.microsoft.com/office/drawing/2014/main" val="3396659716"/>
                    </a:ext>
                  </a:extLst>
                </a:gridCol>
                <a:gridCol w="224459">
                  <a:extLst>
                    <a:ext uri="{9D8B030D-6E8A-4147-A177-3AD203B41FA5}">
                      <a16:colId xmlns:a16="http://schemas.microsoft.com/office/drawing/2014/main" val="2475302107"/>
                    </a:ext>
                  </a:extLst>
                </a:gridCol>
                <a:gridCol w="220951">
                  <a:extLst>
                    <a:ext uri="{9D8B030D-6E8A-4147-A177-3AD203B41FA5}">
                      <a16:colId xmlns:a16="http://schemas.microsoft.com/office/drawing/2014/main" val="3393671400"/>
                    </a:ext>
                  </a:extLst>
                </a:gridCol>
                <a:gridCol w="220951">
                  <a:extLst>
                    <a:ext uri="{9D8B030D-6E8A-4147-A177-3AD203B41FA5}">
                      <a16:colId xmlns:a16="http://schemas.microsoft.com/office/drawing/2014/main" val="2985708332"/>
                    </a:ext>
                  </a:extLst>
                </a:gridCol>
                <a:gridCol w="220951">
                  <a:extLst>
                    <a:ext uri="{9D8B030D-6E8A-4147-A177-3AD203B41FA5}">
                      <a16:colId xmlns:a16="http://schemas.microsoft.com/office/drawing/2014/main" val="3482998259"/>
                    </a:ext>
                  </a:extLst>
                </a:gridCol>
                <a:gridCol w="220951">
                  <a:extLst>
                    <a:ext uri="{9D8B030D-6E8A-4147-A177-3AD203B41FA5}">
                      <a16:colId xmlns:a16="http://schemas.microsoft.com/office/drawing/2014/main" val="4287070680"/>
                    </a:ext>
                  </a:extLst>
                </a:gridCol>
                <a:gridCol w="220951">
                  <a:extLst>
                    <a:ext uri="{9D8B030D-6E8A-4147-A177-3AD203B41FA5}">
                      <a16:colId xmlns:a16="http://schemas.microsoft.com/office/drawing/2014/main" val="1067620793"/>
                    </a:ext>
                  </a:extLst>
                </a:gridCol>
                <a:gridCol w="220951">
                  <a:extLst>
                    <a:ext uri="{9D8B030D-6E8A-4147-A177-3AD203B41FA5}">
                      <a16:colId xmlns:a16="http://schemas.microsoft.com/office/drawing/2014/main" val="631246911"/>
                    </a:ext>
                  </a:extLst>
                </a:gridCol>
                <a:gridCol w="220951">
                  <a:extLst>
                    <a:ext uri="{9D8B030D-6E8A-4147-A177-3AD203B41FA5}">
                      <a16:colId xmlns:a16="http://schemas.microsoft.com/office/drawing/2014/main" val="590436206"/>
                    </a:ext>
                  </a:extLst>
                </a:gridCol>
                <a:gridCol w="220951">
                  <a:extLst>
                    <a:ext uri="{9D8B030D-6E8A-4147-A177-3AD203B41FA5}">
                      <a16:colId xmlns:a16="http://schemas.microsoft.com/office/drawing/2014/main" val="2476769573"/>
                    </a:ext>
                  </a:extLst>
                </a:gridCol>
                <a:gridCol w="217733">
                  <a:extLst>
                    <a:ext uri="{9D8B030D-6E8A-4147-A177-3AD203B41FA5}">
                      <a16:colId xmlns:a16="http://schemas.microsoft.com/office/drawing/2014/main" val="3064695449"/>
                    </a:ext>
                  </a:extLst>
                </a:gridCol>
                <a:gridCol w="224169">
                  <a:extLst>
                    <a:ext uri="{9D8B030D-6E8A-4147-A177-3AD203B41FA5}">
                      <a16:colId xmlns:a16="http://schemas.microsoft.com/office/drawing/2014/main" val="482981876"/>
                    </a:ext>
                  </a:extLst>
                </a:gridCol>
                <a:gridCol w="220951">
                  <a:extLst>
                    <a:ext uri="{9D8B030D-6E8A-4147-A177-3AD203B41FA5}">
                      <a16:colId xmlns:a16="http://schemas.microsoft.com/office/drawing/2014/main" val="3312332019"/>
                    </a:ext>
                  </a:extLst>
                </a:gridCol>
                <a:gridCol w="220951">
                  <a:extLst>
                    <a:ext uri="{9D8B030D-6E8A-4147-A177-3AD203B41FA5}">
                      <a16:colId xmlns:a16="http://schemas.microsoft.com/office/drawing/2014/main" val="4191596387"/>
                    </a:ext>
                  </a:extLst>
                </a:gridCol>
                <a:gridCol w="220951">
                  <a:extLst>
                    <a:ext uri="{9D8B030D-6E8A-4147-A177-3AD203B41FA5}">
                      <a16:colId xmlns:a16="http://schemas.microsoft.com/office/drawing/2014/main" val="3792865137"/>
                    </a:ext>
                  </a:extLst>
                </a:gridCol>
                <a:gridCol w="220951">
                  <a:extLst>
                    <a:ext uri="{9D8B030D-6E8A-4147-A177-3AD203B41FA5}">
                      <a16:colId xmlns:a16="http://schemas.microsoft.com/office/drawing/2014/main" val="4195788290"/>
                    </a:ext>
                  </a:extLst>
                </a:gridCol>
                <a:gridCol w="220951">
                  <a:extLst>
                    <a:ext uri="{9D8B030D-6E8A-4147-A177-3AD203B41FA5}">
                      <a16:colId xmlns:a16="http://schemas.microsoft.com/office/drawing/2014/main" val="2814304402"/>
                    </a:ext>
                  </a:extLst>
                </a:gridCol>
                <a:gridCol w="220951">
                  <a:extLst>
                    <a:ext uri="{9D8B030D-6E8A-4147-A177-3AD203B41FA5}">
                      <a16:colId xmlns:a16="http://schemas.microsoft.com/office/drawing/2014/main" val="207008813"/>
                    </a:ext>
                  </a:extLst>
                </a:gridCol>
                <a:gridCol w="220951">
                  <a:extLst>
                    <a:ext uri="{9D8B030D-6E8A-4147-A177-3AD203B41FA5}">
                      <a16:colId xmlns:a16="http://schemas.microsoft.com/office/drawing/2014/main" val="3849921265"/>
                    </a:ext>
                  </a:extLst>
                </a:gridCol>
                <a:gridCol w="220951">
                  <a:extLst>
                    <a:ext uri="{9D8B030D-6E8A-4147-A177-3AD203B41FA5}">
                      <a16:colId xmlns:a16="http://schemas.microsoft.com/office/drawing/2014/main" val="1765944989"/>
                    </a:ext>
                  </a:extLst>
                </a:gridCol>
                <a:gridCol w="230723">
                  <a:extLst>
                    <a:ext uri="{9D8B030D-6E8A-4147-A177-3AD203B41FA5}">
                      <a16:colId xmlns:a16="http://schemas.microsoft.com/office/drawing/2014/main" val="1071605657"/>
                    </a:ext>
                  </a:extLst>
                </a:gridCol>
                <a:gridCol w="211179">
                  <a:extLst>
                    <a:ext uri="{9D8B030D-6E8A-4147-A177-3AD203B41FA5}">
                      <a16:colId xmlns:a16="http://schemas.microsoft.com/office/drawing/2014/main" val="13612736"/>
                    </a:ext>
                  </a:extLst>
                </a:gridCol>
                <a:gridCol w="220951">
                  <a:extLst>
                    <a:ext uri="{9D8B030D-6E8A-4147-A177-3AD203B41FA5}">
                      <a16:colId xmlns:a16="http://schemas.microsoft.com/office/drawing/2014/main" val="4269870884"/>
                    </a:ext>
                  </a:extLst>
                </a:gridCol>
                <a:gridCol w="220951">
                  <a:extLst>
                    <a:ext uri="{9D8B030D-6E8A-4147-A177-3AD203B41FA5}">
                      <a16:colId xmlns:a16="http://schemas.microsoft.com/office/drawing/2014/main" val="3173781128"/>
                    </a:ext>
                  </a:extLst>
                </a:gridCol>
                <a:gridCol w="220951">
                  <a:extLst>
                    <a:ext uri="{9D8B030D-6E8A-4147-A177-3AD203B41FA5}">
                      <a16:colId xmlns:a16="http://schemas.microsoft.com/office/drawing/2014/main" val="2748546533"/>
                    </a:ext>
                  </a:extLst>
                </a:gridCol>
                <a:gridCol w="220951">
                  <a:extLst>
                    <a:ext uri="{9D8B030D-6E8A-4147-A177-3AD203B41FA5}">
                      <a16:colId xmlns:a16="http://schemas.microsoft.com/office/drawing/2014/main" val="267896039"/>
                    </a:ext>
                  </a:extLst>
                </a:gridCol>
                <a:gridCol w="220951">
                  <a:extLst>
                    <a:ext uri="{9D8B030D-6E8A-4147-A177-3AD203B41FA5}">
                      <a16:colId xmlns:a16="http://schemas.microsoft.com/office/drawing/2014/main" val="3001967019"/>
                    </a:ext>
                  </a:extLst>
                </a:gridCol>
                <a:gridCol w="220951">
                  <a:extLst>
                    <a:ext uri="{9D8B030D-6E8A-4147-A177-3AD203B41FA5}">
                      <a16:colId xmlns:a16="http://schemas.microsoft.com/office/drawing/2014/main" val="772205724"/>
                    </a:ext>
                  </a:extLst>
                </a:gridCol>
                <a:gridCol w="220951">
                  <a:extLst>
                    <a:ext uri="{9D8B030D-6E8A-4147-A177-3AD203B41FA5}">
                      <a16:colId xmlns:a16="http://schemas.microsoft.com/office/drawing/2014/main" val="2110281530"/>
                    </a:ext>
                  </a:extLst>
                </a:gridCol>
                <a:gridCol w="220951">
                  <a:extLst>
                    <a:ext uri="{9D8B030D-6E8A-4147-A177-3AD203B41FA5}">
                      <a16:colId xmlns:a16="http://schemas.microsoft.com/office/drawing/2014/main" val="1001807318"/>
                    </a:ext>
                  </a:extLst>
                </a:gridCol>
                <a:gridCol w="220951">
                  <a:extLst>
                    <a:ext uri="{9D8B030D-6E8A-4147-A177-3AD203B41FA5}">
                      <a16:colId xmlns:a16="http://schemas.microsoft.com/office/drawing/2014/main" val="2932458597"/>
                    </a:ext>
                  </a:extLst>
                </a:gridCol>
              </a:tblGrid>
              <a:tr h="45720">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41" name="Rounded Rectangle 40">
            <a:extLst>
              <a:ext uri="{FF2B5EF4-FFF2-40B4-BE49-F238E27FC236}">
                <a16:creationId xmlns:a16="http://schemas.microsoft.com/office/drawing/2014/main" id="{896CDAE8-7781-588D-787F-5341C2540339}"/>
              </a:ext>
            </a:extLst>
          </p:cNvPr>
          <p:cNvSpPr/>
          <p:nvPr userDrawn="1"/>
        </p:nvSpPr>
        <p:spPr>
          <a:xfrm>
            <a:off x="537472" y="1946275"/>
            <a:ext cx="11062598" cy="233800"/>
          </a:xfrm>
          <a:prstGeom prst="roundRect">
            <a:avLst>
              <a:gd name="adj" fmla="val 24201"/>
            </a:avLst>
          </a:prstGeom>
          <a:noFill/>
          <a:ln w="381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42" name="Rounded Rectangle 41">
            <a:extLst>
              <a:ext uri="{FF2B5EF4-FFF2-40B4-BE49-F238E27FC236}">
                <a16:creationId xmlns:a16="http://schemas.microsoft.com/office/drawing/2014/main" id="{537BF9B2-1645-5B9F-1FFC-28D76C8C78E8}"/>
              </a:ext>
            </a:extLst>
          </p:cNvPr>
          <p:cNvSpPr/>
          <p:nvPr userDrawn="1"/>
        </p:nvSpPr>
        <p:spPr>
          <a:xfrm>
            <a:off x="537472" y="1920940"/>
            <a:ext cx="11062598" cy="233800"/>
          </a:xfrm>
          <a:prstGeom prst="roundRect">
            <a:avLst>
              <a:gd name="adj" fmla="val 24201"/>
            </a:avLst>
          </a:prstGeom>
          <a:noFill/>
          <a:ln w="38100">
            <a:solidFill>
              <a:schemeClr val="bg2">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cxnSp>
        <p:nvCxnSpPr>
          <p:cNvPr id="55" name="Straight Connector 54">
            <a:extLst>
              <a:ext uri="{FF2B5EF4-FFF2-40B4-BE49-F238E27FC236}">
                <a16:creationId xmlns:a16="http://schemas.microsoft.com/office/drawing/2014/main" id="{0A4A0693-D200-6EF1-A143-74668BA406B3}"/>
              </a:ext>
            </a:extLst>
          </p:cNvPr>
          <p:cNvCxnSpPr/>
          <p:nvPr userDrawn="1"/>
        </p:nvCxnSpPr>
        <p:spPr>
          <a:xfrm>
            <a:off x="7168686"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105382CA-3D46-3383-CE61-96754CBCB2DC}"/>
              </a:ext>
            </a:extLst>
          </p:cNvPr>
          <p:cNvCxnSpPr/>
          <p:nvPr userDrawn="1"/>
        </p:nvCxnSpPr>
        <p:spPr>
          <a:xfrm>
            <a:off x="939173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902FFCB-A60C-1ABB-22DD-D81A4F233622}"/>
              </a:ext>
            </a:extLst>
          </p:cNvPr>
          <p:cNvCxnSpPr/>
          <p:nvPr userDrawn="1"/>
        </p:nvCxnSpPr>
        <p:spPr>
          <a:xfrm>
            <a:off x="496005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6512980-BEE5-E7F0-720E-A747745DDB11}"/>
              </a:ext>
            </a:extLst>
          </p:cNvPr>
          <p:cNvCxnSpPr/>
          <p:nvPr userDrawn="1"/>
        </p:nvCxnSpPr>
        <p:spPr>
          <a:xfrm>
            <a:off x="2751812" y="171146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sp>
        <p:nvSpPr>
          <p:cNvPr id="49" name="Text Placeholder 2">
            <a:extLst>
              <a:ext uri="{FF2B5EF4-FFF2-40B4-BE49-F238E27FC236}">
                <a16:creationId xmlns:a16="http://schemas.microsoft.com/office/drawing/2014/main" id="{1FD5B0F4-1A06-1D76-C351-F35CEC5B2D45}"/>
              </a:ext>
            </a:extLst>
          </p:cNvPr>
          <p:cNvSpPr>
            <a:spLocks noGrp="1"/>
          </p:cNvSpPr>
          <p:nvPr>
            <p:ph type="body" sz="quarter" idx="14" hasCustomPrompt="1"/>
          </p:nvPr>
        </p:nvSpPr>
        <p:spPr>
          <a:xfrm>
            <a:off x="61569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Ignore or delete.</a:t>
            </a:r>
            <a:endParaRPr lang="en-NL"/>
          </a:p>
        </p:txBody>
      </p:sp>
      <p:sp>
        <p:nvSpPr>
          <p:cNvPr id="50" name="Text Placeholder 2">
            <a:extLst>
              <a:ext uri="{FF2B5EF4-FFF2-40B4-BE49-F238E27FC236}">
                <a16:creationId xmlns:a16="http://schemas.microsoft.com/office/drawing/2014/main" id="{EB45C554-BC58-F501-2AFB-377EF5E1AF2E}"/>
              </a:ext>
            </a:extLst>
          </p:cNvPr>
          <p:cNvSpPr>
            <a:spLocks noGrp="1"/>
          </p:cNvSpPr>
          <p:nvPr>
            <p:ph type="body" sz="quarter" idx="15" hasCustomPrompt="1"/>
          </p:nvPr>
        </p:nvSpPr>
        <p:spPr>
          <a:xfrm>
            <a:off x="2825641"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1" name="Text Placeholder 2">
            <a:extLst>
              <a:ext uri="{FF2B5EF4-FFF2-40B4-BE49-F238E27FC236}">
                <a16:creationId xmlns:a16="http://schemas.microsoft.com/office/drawing/2014/main" id="{386184D8-48AE-84C4-D2D0-BD148A626FD2}"/>
              </a:ext>
            </a:extLst>
          </p:cNvPr>
          <p:cNvSpPr>
            <a:spLocks noGrp="1"/>
          </p:cNvSpPr>
          <p:nvPr>
            <p:ph type="body" sz="quarter" idx="16" hasCustomPrompt="1"/>
          </p:nvPr>
        </p:nvSpPr>
        <p:spPr>
          <a:xfrm>
            <a:off x="5028227"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2" name="Text Placeholder 2">
            <a:extLst>
              <a:ext uri="{FF2B5EF4-FFF2-40B4-BE49-F238E27FC236}">
                <a16:creationId xmlns:a16="http://schemas.microsoft.com/office/drawing/2014/main" id="{5C2F7945-8C5F-3982-B444-D1FDBBCD9902}"/>
              </a:ext>
            </a:extLst>
          </p:cNvPr>
          <p:cNvSpPr>
            <a:spLocks noGrp="1"/>
          </p:cNvSpPr>
          <p:nvPr>
            <p:ph type="body" sz="quarter" idx="17" hasCustomPrompt="1"/>
          </p:nvPr>
        </p:nvSpPr>
        <p:spPr>
          <a:xfrm>
            <a:off x="7248188"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9" name="Text Placeholder 2">
            <a:extLst>
              <a:ext uri="{FF2B5EF4-FFF2-40B4-BE49-F238E27FC236}">
                <a16:creationId xmlns:a16="http://schemas.microsoft.com/office/drawing/2014/main" id="{98ABF9CF-BBFE-4E06-9E06-4F52587081CC}"/>
              </a:ext>
            </a:extLst>
          </p:cNvPr>
          <p:cNvSpPr>
            <a:spLocks noGrp="1"/>
          </p:cNvSpPr>
          <p:nvPr>
            <p:ph type="body" sz="quarter" idx="18" hasCustomPrompt="1"/>
          </p:nvPr>
        </p:nvSpPr>
        <p:spPr>
          <a:xfrm>
            <a:off x="946542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3" name="TextBox 2">
            <a:extLst>
              <a:ext uri="{FF2B5EF4-FFF2-40B4-BE49-F238E27FC236}">
                <a16:creationId xmlns:a16="http://schemas.microsoft.com/office/drawing/2014/main" id="{A9AD1F54-467C-F6F4-B066-0E8FD46045A1}"/>
              </a:ext>
            </a:extLst>
          </p:cNvPr>
          <p:cNvSpPr txBox="1"/>
          <p:nvPr userDrawn="1"/>
        </p:nvSpPr>
        <p:spPr>
          <a:xfrm>
            <a:off x="884809" y="-256756"/>
            <a:ext cx="10304572" cy="246221"/>
          </a:xfrm>
          <a:prstGeom prst="rect">
            <a:avLst/>
          </a:prstGeom>
          <a:noFill/>
        </p:spPr>
        <p:txBody>
          <a:bodyPr wrap="none" lIns="90000" rtlCol="0" anchor="t">
            <a:spAutoFit/>
          </a:bodyPr>
          <a:lstStyle/>
          <a:p>
            <a:pPr lvl="0"/>
            <a:r>
              <a:rPr lang="en-GB" sz="1000">
                <a:solidFill>
                  <a:schemeClr val="tx1">
                    <a:lumMod val="60000"/>
                    <a:lumOff val="40000"/>
                  </a:schemeClr>
                </a:solidFill>
              </a:rPr>
              <a:t>▲ </a:t>
            </a:r>
            <a:r>
              <a:rPr lang="en-GB" sz="1000" b="1">
                <a:solidFill>
                  <a:schemeClr val="tx1">
                    <a:lumMod val="60000"/>
                    <a:lumOff val="40000"/>
                  </a:schemeClr>
                </a:solidFill>
              </a:rPr>
              <a:t>Dummy placeholders, </a:t>
            </a:r>
            <a:r>
              <a:rPr lang="en-GB" sz="1000" b="0">
                <a:solidFill>
                  <a:schemeClr val="tx1">
                    <a:lumMod val="60000"/>
                    <a:lumOff val="40000"/>
                  </a:schemeClr>
                </a:solidFill>
              </a:rPr>
              <a:t>due to use of star ratings for level descriptions. I</a:t>
            </a:r>
            <a:r>
              <a:rPr lang="en-GB" sz="1000">
                <a:solidFill>
                  <a:schemeClr val="tx1">
                    <a:lumMod val="60000"/>
                    <a:lumOff val="40000"/>
                  </a:schemeClr>
                </a:solidFill>
              </a:rPr>
              <a:t>gnore them, they are not visible on the slide (t</a:t>
            </a:r>
            <a:r>
              <a:rPr lang="en-GB" sz="1000" b="0">
                <a:solidFill>
                  <a:schemeClr val="tx1">
                    <a:lumMod val="60000"/>
                    <a:lumOff val="40000"/>
                  </a:schemeClr>
                </a:solidFill>
              </a:rPr>
              <a:t>hese placeholders are necessary</a:t>
            </a:r>
            <a:r>
              <a:rPr lang="en-GB" sz="1000" b="1">
                <a:solidFill>
                  <a:schemeClr val="tx1">
                    <a:lumMod val="60000"/>
                    <a:lumOff val="40000"/>
                  </a:schemeClr>
                </a:solidFill>
              </a:rPr>
              <a:t> </a:t>
            </a:r>
            <a:r>
              <a:rPr lang="en-GB" sz="1000">
                <a:solidFill>
                  <a:schemeClr val="tx1">
                    <a:lumMod val="60000"/>
                    <a:lumOff val="40000"/>
                  </a:schemeClr>
                </a:solidFill>
              </a:rPr>
              <a:t>for compatibility with other templates). ▲</a:t>
            </a:r>
            <a:endParaRPr lang="en-NL" sz="1000">
              <a:solidFill>
                <a:schemeClr val="tx1">
                  <a:lumMod val="60000"/>
                  <a:lumOff val="40000"/>
                </a:schemeClr>
              </a:solidFill>
            </a:endParaRPr>
          </a:p>
        </p:txBody>
      </p:sp>
      <p:sp>
        <p:nvSpPr>
          <p:cNvPr id="61" name="Text Placeholder 5">
            <a:extLst>
              <a:ext uri="{FF2B5EF4-FFF2-40B4-BE49-F238E27FC236}">
                <a16:creationId xmlns:a16="http://schemas.microsoft.com/office/drawing/2014/main" id="{E1901AC2-680E-4CD9-7DE1-234CE548C4A6}"/>
              </a:ext>
            </a:extLst>
          </p:cNvPr>
          <p:cNvSpPr>
            <a:spLocks noGrp="1"/>
          </p:cNvSpPr>
          <p:nvPr>
            <p:ph type="body" sz="quarter" idx="22" hasCustomPrompt="1"/>
          </p:nvPr>
        </p:nvSpPr>
        <p:spPr>
          <a:xfrm>
            <a:off x="8966875" y="914509"/>
            <a:ext cx="1168590" cy="257763"/>
          </a:xfrm>
        </p:spPr>
        <p:txBody>
          <a:bodyPr wrap="none">
            <a:spAutoFit/>
          </a:bodyPr>
          <a:lstStyle>
            <a:lvl1pPr marL="0" indent="0" algn="r">
              <a:buFont typeface="Arial" panose="020B0604020202020204" pitchFamily="34" charset="0"/>
              <a:buNone/>
              <a:defRPr sz="1000" b="1" cap="all" baseline="0">
                <a:solidFill>
                  <a:schemeClr val="accent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Insert model name</a:t>
            </a:r>
            <a:endParaRPr lang="en-NL"/>
          </a:p>
        </p:txBody>
      </p:sp>
      <p:cxnSp>
        <p:nvCxnSpPr>
          <p:cNvPr id="63" name="Straight Connector 62">
            <a:extLst>
              <a:ext uri="{FF2B5EF4-FFF2-40B4-BE49-F238E27FC236}">
                <a16:creationId xmlns:a16="http://schemas.microsoft.com/office/drawing/2014/main" id="{39B21183-F5CA-24B5-B8D6-DFE3A10DA671}"/>
              </a:ext>
            </a:extLst>
          </p:cNvPr>
          <p:cNvCxnSpPr>
            <a:cxnSpLocks/>
          </p:cNvCxnSpPr>
          <p:nvPr userDrawn="1"/>
        </p:nvCxnSpPr>
        <p:spPr>
          <a:xfrm>
            <a:off x="10247651" y="999720"/>
            <a:ext cx="0" cy="98830"/>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62813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dirty="0">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dirty="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32817005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737023"/>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r>
              <a:rPr lang="en-GB" sz="1400" b="1" dirty="0">
                <a:solidFill>
                  <a:schemeClr val="accent1"/>
                </a:solidFill>
                <a:latin typeface="Calibri Regular"/>
              </a:rPr>
              <a:t>Risk categories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533868" y="2164896"/>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561038" y="2243219"/>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290395" y="2241262"/>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373046" y="2164896"/>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250436" y="2236451"/>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206995" y="2164896"/>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5035071" y="2240877"/>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5040951" y="2164896"/>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529948" y="1793444"/>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529948" y="2082563"/>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bg2"/>
                </a:solidFill>
                <a:latin typeface="Calibri" panose="020F0502020204030204" pitchFamily="34" charset="0"/>
                <a:cs typeface="Calibri" panose="020F0502020204030204" pitchFamily="34" charset="0"/>
              </a:rPr>
              <a:t>external</a:t>
            </a:r>
            <a:br>
              <a:rPr lang="en-US" sz="1100" dirty="0">
                <a:solidFill>
                  <a:schemeClr val="bg2"/>
                </a:solidFill>
                <a:latin typeface="Calibri" panose="020F0502020204030204" pitchFamily="34" charset="0"/>
                <a:cs typeface="Calibri" panose="020F0502020204030204" pitchFamily="34" charset="0"/>
              </a:rPr>
            </a:br>
            <a:r>
              <a:rPr lang="en-US" sz="1100" dirty="0">
                <a:solidFill>
                  <a:schemeClr val="bg2"/>
                </a:solidFill>
                <a:latin typeface="Calibri" panose="020F0502020204030204" pitchFamily="34" charset="0"/>
                <a:cs typeface="Calibri" panose="020F0502020204030204" pitchFamily="34" charset="0"/>
              </a:rPr>
              <a:t>dependencies</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97149" y="1816783"/>
            <a:ext cx="83510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522570" y="1816783"/>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3451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1800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998590" y="1816783"/>
            <a:ext cx="776867" cy="265112"/>
          </a:xfrm>
        </p:spPr>
        <p:txBody>
          <a:bodyPr anchor="ctr">
            <a:noAutofit/>
          </a:bodyPr>
          <a:lstStyle>
            <a:lvl1pPr marL="0" indent="0" algn="ctr">
              <a:buFont typeface="Arial" panose="020B0604020202020204" pitchFamily="34" charset="0"/>
              <a:buNone/>
              <a:defRPr sz="1600" b="1">
                <a:solidFill>
                  <a:srgbClr val="57C968"/>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696774" y="2159781"/>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663674" y="2238104"/>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685476" y="1811668"/>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3" name="TextBox 2">
            <a:extLst>
              <a:ext uri="{FF2B5EF4-FFF2-40B4-BE49-F238E27FC236}">
                <a16:creationId xmlns:a16="http://schemas.microsoft.com/office/drawing/2014/main" id="{5546E4A2-084F-9B55-1A76-59A9E48860A4}"/>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4" name="Group 3">
            <a:extLst>
              <a:ext uri="{FF2B5EF4-FFF2-40B4-BE49-F238E27FC236}">
                <a16:creationId xmlns:a16="http://schemas.microsoft.com/office/drawing/2014/main" id="{14748B4A-7DD2-00DB-AD86-FD93B244FC19}"/>
              </a:ext>
            </a:extLst>
          </p:cNvPr>
          <p:cNvGrpSpPr/>
          <p:nvPr userDrawn="1"/>
        </p:nvGrpSpPr>
        <p:grpSpPr>
          <a:xfrm>
            <a:off x="184167" y="2938848"/>
            <a:ext cx="2176758" cy="478914"/>
            <a:chOff x="184167" y="2938848"/>
            <a:chExt cx="2176758" cy="478914"/>
          </a:xfrm>
        </p:grpSpPr>
        <p:pic>
          <p:nvPicPr>
            <p:cNvPr id="5" name="Graphic 4">
              <a:extLst>
                <a:ext uri="{FF2B5EF4-FFF2-40B4-BE49-F238E27FC236}">
                  <a16:creationId xmlns:a16="http://schemas.microsoft.com/office/drawing/2014/main" id="{FD8BF416-6FD7-D2A6-2D79-58E7A1832B0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9" name="TextBox 8">
              <a:extLst>
                <a:ext uri="{FF2B5EF4-FFF2-40B4-BE49-F238E27FC236}">
                  <a16:creationId xmlns:a16="http://schemas.microsoft.com/office/drawing/2014/main" id="{88FA3170-93BB-C32C-D469-8D7B377640BD}"/>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1" name="Group 10">
            <a:extLst>
              <a:ext uri="{FF2B5EF4-FFF2-40B4-BE49-F238E27FC236}">
                <a16:creationId xmlns:a16="http://schemas.microsoft.com/office/drawing/2014/main" id="{55DD96C8-3ACF-1DFF-CF73-0AF5F066614E}"/>
              </a:ext>
            </a:extLst>
          </p:cNvPr>
          <p:cNvGrpSpPr/>
          <p:nvPr userDrawn="1"/>
        </p:nvGrpSpPr>
        <p:grpSpPr>
          <a:xfrm>
            <a:off x="1016807" y="3564280"/>
            <a:ext cx="1344118" cy="423514"/>
            <a:chOff x="1016807" y="3564280"/>
            <a:chExt cx="1344118" cy="423514"/>
          </a:xfrm>
        </p:grpSpPr>
        <p:pic>
          <p:nvPicPr>
            <p:cNvPr id="13" name="Graphic 12">
              <a:extLst>
                <a:ext uri="{FF2B5EF4-FFF2-40B4-BE49-F238E27FC236}">
                  <a16:creationId xmlns:a16="http://schemas.microsoft.com/office/drawing/2014/main" id="{5D59CE77-F471-DC75-C135-1DA00EA336BA}"/>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24" name="TextBox 23">
              <a:extLst>
                <a:ext uri="{FF2B5EF4-FFF2-40B4-BE49-F238E27FC236}">
                  <a16:creationId xmlns:a16="http://schemas.microsoft.com/office/drawing/2014/main" id="{4AB1C286-E53F-9CE4-4C64-B0026A68614C}"/>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32" name="Group 31">
            <a:extLst>
              <a:ext uri="{FF2B5EF4-FFF2-40B4-BE49-F238E27FC236}">
                <a16:creationId xmlns:a16="http://schemas.microsoft.com/office/drawing/2014/main" id="{F3B04AA6-0170-8ABA-260D-D0032728A162}"/>
              </a:ext>
            </a:extLst>
          </p:cNvPr>
          <p:cNvGrpSpPr/>
          <p:nvPr userDrawn="1"/>
        </p:nvGrpSpPr>
        <p:grpSpPr>
          <a:xfrm>
            <a:off x="283779" y="4213198"/>
            <a:ext cx="2077146" cy="276999"/>
            <a:chOff x="283779" y="4213198"/>
            <a:chExt cx="2077146" cy="276999"/>
          </a:xfrm>
        </p:grpSpPr>
        <p:pic>
          <p:nvPicPr>
            <p:cNvPr id="35" name="Graphic 34">
              <a:extLst>
                <a:ext uri="{FF2B5EF4-FFF2-40B4-BE49-F238E27FC236}">
                  <a16:creationId xmlns:a16="http://schemas.microsoft.com/office/drawing/2014/main" id="{54275B3F-AB3B-D0D7-E66A-918FA53CB79D}"/>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6" name="TextBox 35">
              <a:extLst>
                <a:ext uri="{FF2B5EF4-FFF2-40B4-BE49-F238E27FC236}">
                  <a16:creationId xmlns:a16="http://schemas.microsoft.com/office/drawing/2014/main" id="{CAED634E-2496-806E-376D-3C44D5DAEAD1}"/>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39" name="Group 38">
            <a:extLst>
              <a:ext uri="{FF2B5EF4-FFF2-40B4-BE49-F238E27FC236}">
                <a16:creationId xmlns:a16="http://schemas.microsoft.com/office/drawing/2014/main" id="{693FE0FE-23FE-D4C7-7966-960B2D6BD3D4}"/>
              </a:ext>
            </a:extLst>
          </p:cNvPr>
          <p:cNvGrpSpPr/>
          <p:nvPr userDrawn="1"/>
        </p:nvGrpSpPr>
        <p:grpSpPr>
          <a:xfrm>
            <a:off x="763256" y="4628191"/>
            <a:ext cx="1597669" cy="307777"/>
            <a:chOff x="763256" y="4610126"/>
            <a:chExt cx="1597669" cy="307777"/>
          </a:xfrm>
        </p:grpSpPr>
        <p:pic>
          <p:nvPicPr>
            <p:cNvPr id="40" name="Graphic 39">
              <a:extLst>
                <a:ext uri="{FF2B5EF4-FFF2-40B4-BE49-F238E27FC236}">
                  <a16:creationId xmlns:a16="http://schemas.microsoft.com/office/drawing/2014/main" id="{A884E1D2-68C4-CC99-6761-4E51BA139A5F}"/>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44" name="TextBox 43">
              <a:extLst>
                <a:ext uri="{FF2B5EF4-FFF2-40B4-BE49-F238E27FC236}">
                  <a16:creationId xmlns:a16="http://schemas.microsoft.com/office/drawing/2014/main" id="{1B637B0B-B9F7-C45A-A2CD-E4236903CA44}"/>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47" name="Group 46">
            <a:extLst>
              <a:ext uri="{FF2B5EF4-FFF2-40B4-BE49-F238E27FC236}">
                <a16:creationId xmlns:a16="http://schemas.microsoft.com/office/drawing/2014/main" id="{ADDEE55D-85C5-F1E0-82C9-656E14C98A45}"/>
              </a:ext>
            </a:extLst>
          </p:cNvPr>
          <p:cNvGrpSpPr/>
          <p:nvPr userDrawn="1"/>
        </p:nvGrpSpPr>
        <p:grpSpPr>
          <a:xfrm>
            <a:off x="632049" y="5073962"/>
            <a:ext cx="1728876" cy="276999"/>
            <a:chOff x="632049" y="5033912"/>
            <a:chExt cx="1728876" cy="276999"/>
          </a:xfrm>
        </p:grpSpPr>
        <p:pic>
          <p:nvPicPr>
            <p:cNvPr id="49" name="Graphic 48">
              <a:extLst>
                <a:ext uri="{FF2B5EF4-FFF2-40B4-BE49-F238E27FC236}">
                  <a16:creationId xmlns:a16="http://schemas.microsoft.com/office/drawing/2014/main" id="{638CBB33-3CAC-D4D4-95F0-E601E9651F1C}"/>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51" name="TextBox 50">
              <a:extLst>
                <a:ext uri="{FF2B5EF4-FFF2-40B4-BE49-F238E27FC236}">
                  <a16:creationId xmlns:a16="http://schemas.microsoft.com/office/drawing/2014/main" id="{DEBE0748-E831-C177-8482-1AD9D7C8020A}"/>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57" name="Group 56">
            <a:extLst>
              <a:ext uri="{FF2B5EF4-FFF2-40B4-BE49-F238E27FC236}">
                <a16:creationId xmlns:a16="http://schemas.microsoft.com/office/drawing/2014/main" id="{82F96D4F-7882-8E1E-059F-CF281133C60A}"/>
              </a:ext>
            </a:extLst>
          </p:cNvPr>
          <p:cNvGrpSpPr/>
          <p:nvPr userDrawn="1"/>
        </p:nvGrpSpPr>
        <p:grpSpPr>
          <a:xfrm>
            <a:off x="708077" y="5488955"/>
            <a:ext cx="1652848" cy="276999"/>
            <a:chOff x="708077" y="5488955"/>
            <a:chExt cx="1652848" cy="276999"/>
          </a:xfrm>
        </p:grpSpPr>
        <p:pic>
          <p:nvPicPr>
            <p:cNvPr id="59" name="Graphic 58">
              <a:extLst>
                <a:ext uri="{FF2B5EF4-FFF2-40B4-BE49-F238E27FC236}">
                  <a16:creationId xmlns:a16="http://schemas.microsoft.com/office/drawing/2014/main" id="{1A99E526-2AFE-852A-F382-C92035CEFB78}"/>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63" name="TextBox 62">
              <a:extLst>
                <a:ext uri="{FF2B5EF4-FFF2-40B4-BE49-F238E27FC236}">
                  <a16:creationId xmlns:a16="http://schemas.microsoft.com/office/drawing/2014/main" id="{64638D2F-CAB2-BA06-872A-ED7C6CD060EB}"/>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64" name="TextBox 63">
            <a:extLst>
              <a:ext uri="{FF2B5EF4-FFF2-40B4-BE49-F238E27FC236}">
                <a16:creationId xmlns:a16="http://schemas.microsoft.com/office/drawing/2014/main" id="{DA66A356-888B-5B88-7541-A81781B37E16}"/>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784851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hyperlink" Target="https://wiki.sig.eu/confluence/x/JoDbC"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CDFA920-C997-D084-6D6F-203835674864}"/>
              </a:ext>
            </a:extLst>
          </p:cNvPr>
          <p:cNvGraphicFramePr>
            <a:graphicFrameLocks noGrp="1"/>
          </p:cNvGraphicFramePr>
          <p:nvPr userDrawn="1">
            <p:extLst>
              <p:ext uri="{D42A27DB-BD31-4B8C-83A1-F6EECF244321}">
                <p14:modId xmlns:p14="http://schemas.microsoft.com/office/powerpoint/2010/main" val="3177137826"/>
              </p:ext>
            </p:extLst>
          </p:nvPr>
        </p:nvGraphicFramePr>
        <p:xfrm>
          <a:off x="12294145" y="1986729"/>
          <a:ext cx="1440000" cy="2304000"/>
        </p:xfrm>
        <a:graphic>
          <a:graphicData uri="http://schemas.openxmlformats.org/drawingml/2006/table">
            <a:tbl>
              <a:tblPr firstRow="1" bandRow="1">
                <a:tableStyleId>{5C22544A-7EE6-4342-B048-85BDC9FD1C3A}</a:tableStyleId>
              </a:tblPr>
              <a:tblGrid>
                <a:gridCol w="144000">
                  <a:extLst>
                    <a:ext uri="{9D8B030D-6E8A-4147-A177-3AD203B41FA5}">
                      <a16:colId xmlns:a16="http://schemas.microsoft.com/office/drawing/2014/main" val="3557183788"/>
                    </a:ext>
                  </a:extLst>
                </a:gridCol>
                <a:gridCol w="144000">
                  <a:extLst>
                    <a:ext uri="{9D8B030D-6E8A-4147-A177-3AD203B41FA5}">
                      <a16:colId xmlns:a16="http://schemas.microsoft.com/office/drawing/2014/main" val="3871316488"/>
                    </a:ext>
                  </a:extLst>
                </a:gridCol>
                <a:gridCol w="144000">
                  <a:extLst>
                    <a:ext uri="{9D8B030D-6E8A-4147-A177-3AD203B41FA5}">
                      <a16:colId xmlns:a16="http://schemas.microsoft.com/office/drawing/2014/main" val="2550956232"/>
                    </a:ext>
                  </a:extLst>
                </a:gridCol>
                <a:gridCol w="144000">
                  <a:extLst>
                    <a:ext uri="{9D8B030D-6E8A-4147-A177-3AD203B41FA5}">
                      <a16:colId xmlns:a16="http://schemas.microsoft.com/office/drawing/2014/main" val="1391318227"/>
                    </a:ext>
                  </a:extLst>
                </a:gridCol>
                <a:gridCol w="144000">
                  <a:extLst>
                    <a:ext uri="{9D8B030D-6E8A-4147-A177-3AD203B41FA5}">
                      <a16:colId xmlns:a16="http://schemas.microsoft.com/office/drawing/2014/main" val="2662168378"/>
                    </a:ext>
                  </a:extLst>
                </a:gridCol>
                <a:gridCol w="144000">
                  <a:extLst>
                    <a:ext uri="{9D8B030D-6E8A-4147-A177-3AD203B41FA5}">
                      <a16:colId xmlns:a16="http://schemas.microsoft.com/office/drawing/2014/main" val="609036797"/>
                    </a:ext>
                  </a:extLst>
                </a:gridCol>
                <a:gridCol w="144000">
                  <a:extLst>
                    <a:ext uri="{9D8B030D-6E8A-4147-A177-3AD203B41FA5}">
                      <a16:colId xmlns:a16="http://schemas.microsoft.com/office/drawing/2014/main" val="3687972093"/>
                    </a:ext>
                  </a:extLst>
                </a:gridCol>
                <a:gridCol w="144000">
                  <a:extLst>
                    <a:ext uri="{9D8B030D-6E8A-4147-A177-3AD203B41FA5}">
                      <a16:colId xmlns:a16="http://schemas.microsoft.com/office/drawing/2014/main" val="474073916"/>
                    </a:ext>
                  </a:extLst>
                </a:gridCol>
                <a:gridCol w="144000">
                  <a:extLst>
                    <a:ext uri="{9D8B030D-6E8A-4147-A177-3AD203B41FA5}">
                      <a16:colId xmlns:a16="http://schemas.microsoft.com/office/drawing/2014/main" val="1186812505"/>
                    </a:ext>
                  </a:extLst>
                </a:gridCol>
                <a:gridCol w="144000">
                  <a:extLst>
                    <a:ext uri="{9D8B030D-6E8A-4147-A177-3AD203B41FA5}">
                      <a16:colId xmlns:a16="http://schemas.microsoft.com/office/drawing/2014/main" val="3855898394"/>
                    </a:ext>
                  </a:extLst>
                </a:gridCol>
              </a:tblGrid>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97C8E"/>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B3BECD"/>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9E1EB"/>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D9E1EC"/>
                      </a:solid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D9E1EC"/>
                      </a:solidFill>
                      <a:prstDash val="solid"/>
                      <a:round/>
                      <a:headEnd type="none" w="med" len="med"/>
                      <a:tailEnd type="none" w="med" len="med"/>
                    </a:lnB>
                    <a:lnTlToBr w="12700" cmpd="sng">
                      <a:noFill/>
                      <a:prstDash val="solid"/>
                    </a:lnTlToBr>
                    <a:lnBlToTr w="12700" cmpd="sng">
                      <a:noFill/>
                      <a:prstDash val="solid"/>
                    </a:lnBlToTr>
                    <a:solidFill>
                      <a:srgbClr val="F2F6FA"/>
                    </a:solidFill>
                  </a:tcPr>
                </a:tc>
                <a:tc hMerge="1">
                  <a:txBody>
                    <a:bodyPr/>
                    <a:lstStyle/>
                    <a:p>
                      <a:endParaRPr lang="en-US"/>
                    </a:p>
                  </a:txBody>
                  <a:tcPr/>
                </a:tc>
                <a:extLst>
                  <a:ext uri="{0D108BD9-81ED-4DB2-BD59-A6C34878D82A}">
                    <a16:rowId xmlns:a16="http://schemas.microsoft.com/office/drawing/2014/main" val="2507771366"/>
                  </a:ext>
                </a:extLst>
              </a:tr>
              <a:tr h="72000">
                <a:tc gridSpan="2">
                  <a:txBody>
                    <a:bodyPr/>
                    <a:lstStyle/>
                    <a:p>
                      <a:pPr algn="ctr"/>
                      <a:endParaRPr lang="en-US" sz="1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006575328"/>
                  </a:ext>
                </a:extLst>
              </a:tr>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1215949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2470536"/>
                  </a:ext>
                </a:extLst>
              </a:tr>
              <a:tr h="288000">
                <a:tc gridSpan="2">
                  <a:txBody>
                    <a:bodyPr/>
                    <a:lstStyle/>
                    <a:p>
                      <a:endParaRPr lang="en-US" dirty="0"/>
                    </a:p>
                  </a:txBody>
                  <a:tcPr marL="0" marR="0" marT="0" marB="0">
                    <a:lnL w="76200" cap="flat" cmpd="sng" algn="ctr">
                      <a:no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no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en-US"/>
                    </a:p>
                  </a:txBody>
                  <a:tcPr/>
                </a:tc>
                <a:extLst>
                  <a:ext uri="{0D108BD9-81ED-4DB2-BD59-A6C34878D82A}">
                    <a16:rowId xmlns:a16="http://schemas.microsoft.com/office/drawing/2014/main" val="1271587105"/>
                  </a:ext>
                </a:extLst>
              </a:tr>
              <a:tr h="288000">
                <a:tc gridSpan="2">
                  <a:txBody>
                    <a:bodyPr/>
                    <a:lstStyle/>
                    <a:p>
                      <a:endParaRPr lang="en-US" dirty="0"/>
                    </a:p>
                  </a:txBody>
                  <a:tcPr marL="0" marR="0" marT="0" marB="0">
                    <a:lnL w="76200"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5EC5D4"/>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A591BE"/>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D55200"/>
                    </a:solidFill>
                  </a:tcPr>
                </a:tc>
                <a:tc hMerge="1">
                  <a:txBody>
                    <a:bodyPr/>
                    <a:lstStyle/>
                    <a:p>
                      <a:endParaRPr lang="en-US"/>
                    </a:p>
                  </a:txBody>
                  <a:tcPr/>
                </a:tc>
                <a:extLst>
                  <a:ext uri="{0D108BD9-81ED-4DB2-BD59-A6C34878D82A}">
                    <a16:rowId xmlns:a16="http://schemas.microsoft.com/office/drawing/2014/main" val="123238233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68818685"/>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F7E16D"/>
                        </a:gs>
                        <a:gs pos="100000">
                          <a:srgbClr val="E0C223"/>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100000">
                          <a:srgbClr val="6AD6E5"/>
                        </a:gs>
                        <a:gs pos="0">
                          <a:srgbClr val="04ABC8"/>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AA98C3"/>
                        </a:gs>
                        <a:gs pos="100000">
                          <a:srgbClr val="6076BA"/>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C5CD59"/>
                        </a:gs>
                        <a:gs pos="100000">
                          <a:srgbClr val="9DA43C"/>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EB935C"/>
                        </a:gs>
                        <a:gs pos="35000">
                          <a:srgbClr val="D65200"/>
                        </a:gs>
                      </a:gsLst>
                      <a:lin ang="2700000" scaled="0"/>
                    </a:gradFill>
                  </a:tcPr>
                </a:tc>
                <a:tc hMerge="1">
                  <a:txBody>
                    <a:bodyPr/>
                    <a:lstStyle/>
                    <a:p>
                      <a:endParaRPr lang="en-US"/>
                    </a:p>
                  </a:txBody>
                  <a:tcPr/>
                </a:tc>
                <a:extLst>
                  <a:ext uri="{0D108BD9-81ED-4DB2-BD59-A6C34878D82A}">
                    <a16:rowId xmlns:a16="http://schemas.microsoft.com/office/drawing/2014/main" val="3795602441"/>
                  </a:ext>
                </a:extLst>
              </a:tr>
              <a:tr h="288000">
                <a:tc>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F7E16D"/>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AD6E5"/>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4ABC8"/>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AA98C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076BA"/>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9DA43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B935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65200"/>
                    </a:solidFill>
                  </a:tcPr>
                </a:tc>
                <a:extLst>
                  <a:ext uri="{0D108BD9-81ED-4DB2-BD59-A6C34878D82A}">
                    <a16:rowId xmlns:a16="http://schemas.microsoft.com/office/drawing/2014/main" val="2506871530"/>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250424333"/>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DB4A3D"/>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EF981A"/>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8C640"/>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57C968"/>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2C963F"/>
                    </a:solidFill>
                  </a:tcPr>
                </a:tc>
                <a:tc hMerge="1">
                  <a:txBody>
                    <a:bodyPr/>
                    <a:lstStyle/>
                    <a:p>
                      <a:endParaRPr lang="en-US"/>
                    </a:p>
                  </a:txBody>
                  <a:tcPr/>
                </a:tc>
                <a:extLst>
                  <a:ext uri="{0D108BD9-81ED-4DB2-BD59-A6C34878D82A}">
                    <a16:rowId xmlns:a16="http://schemas.microsoft.com/office/drawing/2014/main" val="1289488421"/>
                  </a:ext>
                </a:extLst>
              </a:tr>
            </a:tbl>
          </a:graphicData>
        </a:graphic>
      </p:graphicFrame>
      <p:sp>
        <p:nvSpPr>
          <p:cNvPr id="5" name="TextBox 4">
            <a:hlinkClick r:id="rId23"/>
            <a:extLst>
              <a:ext uri="{FF2B5EF4-FFF2-40B4-BE49-F238E27FC236}">
                <a16:creationId xmlns:a16="http://schemas.microsoft.com/office/drawing/2014/main" id="{97451D23-9484-A5AC-6DE0-B05B1E0505F7}"/>
              </a:ext>
            </a:extLst>
          </p:cNvPr>
          <p:cNvSpPr txBox="1"/>
          <p:nvPr userDrawn="1"/>
        </p:nvSpPr>
        <p:spPr>
          <a:xfrm>
            <a:off x="12260945" y="4406201"/>
            <a:ext cx="1574597" cy="433196"/>
          </a:xfrm>
          <a:prstGeom prst="rect">
            <a:avLst/>
          </a:prstGeom>
          <a:noFill/>
        </p:spPr>
        <p:txBody>
          <a:bodyPr wrap="square" rtlCol="0" anchor="b">
            <a:spAutoFit/>
          </a:bodyPr>
          <a:lstStyle/>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1" i="0" u="none" strike="noStrike" kern="1200" cap="none" spc="0" normalizeH="0" baseline="0" noProof="0" dirty="0">
                <a:ln>
                  <a:noFill/>
                </a:ln>
                <a:solidFill>
                  <a:schemeClr val="tx1">
                    <a:lumMod val="60000"/>
                    <a:lumOff val="40000"/>
                  </a:schemeClr>
                </a:solidFill>
                <a:effectLst/>
                <a:uLnTx/>
                <a:uFillTx/>
                <a:latin typeface="Calibri Bold"/>
                <a:ea typeface="+mn-ea"/>
                <a:cs typeface="+mn-cs"/>
              </a:rPr>
              <a:t>Master template version: </a:t>
            </a:r>
          </a:p>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0" i="0" u="none" strike="noStrike" kern="1200" cap="none" spc="0" normalizeH="0" baseline="0" noProof="0" dirty="0">
                <a:ln>
                  <a:noFill/>
                </a:ln>
                <a:solidFill>
                  <a:schemeClr val="tx1">
                    <a:lumMod val="60000"/>
                    <a:lumOff val="40000"/>
                  </a:schemeClr>
                </a:solidFill>
                <a:effectLst/>
                <a:uLnTx/>
                <a:uFillTx/>
                <a:latin typeface="Calibri Regular"/>
                <a:ea typeface="+mn-ea"/>
                <a:cs typeface="+mn-cs"/>
              </a:rPr>
              <a:t>v20220729</a:t>
            </a:r>
            <a:endParaRPr lang="en-US" sz="1000" b="0" i="0" dirty="0">
              <a:solidFill>
                <a:schemeClr val="tx1">
                  <a:lumMod val="60000"/>
                  <a:lumOff val="40000"/>
                </a:schemeClr>
              </a:solidFill>
              <a:latin typeface="Calibri Regular"/>
            </a:endParaRPr>
          </a:p>
        </p:txBody>
      </p:sp>
      <p:sp>
        <p:nvSpPr>
          <p:cNvPr id="7" name="Rectangle 6">
            <a:extLst>
              <a:ext uri="{FF2B5EF4-FFF2-40B4-BE49-F238E27FC236}">
                <a16:creationId xmlns:a16="http://schemas.microsoft.com/office/drawing/2014/main" id="{499FC6F2-3923-4241-B710-1B30D0874A09}"/>
              </a:ext>
            </a:extLst>
          </p:cNvPr>
          <p:cNvSpPr/>
          <p:nvPr userDrawn="1"/>
        </p:nvSpPr>
        <p:spPr>
          <a:xfrm>
            <a:off x="0" y="-1"/>
            <a:ext cx="12192000" cy="686595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2F04000-FB3A-6842-9B07-0251B414D6E4}"/>
              </a:ext>
            </a:extLst>
          </p:cNvPr>
          <p:cNvSpPr/>
          <p:nvPr userDrawn="1"/>
        </p:nvSpPr>
        <p:spPr>
          <a:xfrm>
            <a:off x="1526401" y="0"/>
            <a:ext cx="10665600" cy="85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523798" y="1360359"/>
            <a:ext cx="11231962" cy="4971737"/>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936800" y="277200"/>
            <a:ext cx="9810000" cy="284400"/>
          </a:xfrm>
          <a:prstGeom prst="rect">
            <a:avLst/>
          </a:prstGeom>
        </p:spPr>
        <p:txBody>
          <a:bodyPr wrap="square" lIns="0" tIns="0" rIns="0" bIns="0" anchor="t">
            <a:noAutofit/>
          </a:bodyPr>
          <a:lstStyle/>
          <a:p>
            <a:pPr marL="228600" lvl="0" indent="-228600">
              <a:spcBef>
                <a:spcPts val="1000"/>
              </a:spcBef>
              <a:buFont typeface="Arial"/>
            </a:pPr>
            <a:r>
              <a:rPr lang="en-US"/>
              <a:t>Click to edit Master title style</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spAutoFit/>
          </a:bodyP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58" name="TextBox 57">
            <a:extLst>
              <a:ext uri="{FF2B5EF4-FFF2-40B4-BE49-F238E27FC236}">
                <a16:creationId xmlns:a16="http://schemas.microsoft.com/office/drawing/2014/main" id="{2068D9D8-6BDF-E84E-92C4-860CA2E281CA}"/>
              </a:ext>
            </a:extLst>
          </p:cNvPr>
          <p:cNvSpPr txBox="1"/>
          <p:nvPr userDrawn="1"/>
        </p:nvSpPr>
        <p:spPr>
          <a:xfrm>
            <a:off x="-1228363" y="-303006"/>
            <a:ext cx="1228362" cy="1658286"/>
          </a:xfrm>
          <a:prstGeom prst="rect">
            <a:avLst/>
          </a:prstGeom>
          <a:gradFill>
            <a:gsLst>
              <a:gs pos="53000">
                <a:schemeClr val="tx1">
                  <a:lumMod val="40000"/>
                  <a:lumOff val="60000"/>
                  <a:alpha val="0"/>
                </a:schemeClr>
              </a:gs>
              <a:gs pos="100000">
                <a:schemeClr val="tx1">
                  <a:lumMod val="40000"/>
                  <a:lumOff val="60000"/>
                  <a:alpha val="70000"/>
                </a:schemeClr>
              </a:gs>
            </a:gsLst>
            <a:lin ang="2400000" scaled="0"/>
          </a:gradFill>
        </p:spPr>
        <p:txBody>
          <a:bodyPr wrap="square" rtlCol="0" anchor="b">
            <a:noAutofit/>
          </a:bodyPr>
          <a:lstStyle/>
          <a:p>
            <a:pPr algn="l"/>
            <a:r>
              <a:rPr lang="en-US" sz="900" b="1" i="0" dirty="0">
                <a:solidFill>
                  <a:schemeClr val="tx1">
                    <a:alpha val="70000"/>
                  </a:schemeClr>
                </a:solidFill>
                <a:latin typeface="Calibri Bold"/>
              </a:rPr>
              <a:t>NO CONTENT HERE</a:t>
            </a:r>
          </a:p>
        </p:txBody>
      </p:sp>
      <p:sp>
        <p:nvSpPr>
          <p:cNvPr id="60" name="TextBox 59">
            <a:extLst>
              <a:ext uri="{FF2B5EF4-FFF2-40B4-BE49-F238E27FC236}">
                <a16:creationId xmlns:a16="http://schemas.microsoft.com/office/drawing/2014/main" id="{D66DECB5-D39A-5146-B4F8-F6AE03D6367F}"/>
              </a:ext>
            </a:extLst>
          </p:cNvPr>
          <p:cNvSpPr txBox="1"/>
          <p:nvPr userDrawn="1"/>
        </p:nvSpPr>
        <p:spPr>
          <a:xfrm>
            <a:off x="-301318" y="-372507"/>
            <a:ext cx="826141" cy="369332"/>
          </a:xfrm>
          <a:prstGeom prst="rect">
            <a:avLst/>
          </a:prstGeom>
          <a:gradFill>
            <a:gsLst>
              <a:gs pos="60000">
                <a:schemeClr val="tx1">
                  <a:lumMod val="40000"/>
                  <a:lumOff val="60000"/>
                  <a:alpha val="0"/>
                </a:schemeClr>
              </a:gs>
              <a:gs pos="100000">
                <a:schemeClr val="tx1">
                  <a:lumMod val="40000"/>
                  <a:lumOff val="60000"/>
                  <a:alpha val="70000"/>
                </a:schemeClr>
              </a:gs>
            </a:gsLst>
            <a:lin ang="30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80" name="Triangle 79">
            <a:extLst>
              <a:ext uri="{FF2B5EF4-FFF2-40B4-BE49-F238E27FC236}">
                <a16:creationId xmlns:a16="http://schemas.microsoft.com/office/drawing/2014/main" id="{F11C372E-FF74-1C46-AC9A-9C6FAC6B5901}"/>
              </a:ext>
            </a:extLst>
          </p:cNvPr>
          <p:cNvSpPr/>
          <p:nvPr userDrawn="1"/>
        </p:nvSpPr>
        <p:spPr>
          <a:xfrm rot="16200000">
            <a:off x="313381" y="-15883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a:extLst>
              <a:ext uri="{FF2B5EF4-FFF2-40B4-BE49-F238E27FC236}">
                <a16:creationId xmlns:a16="http://schemas.microsoft.com/office/drawing/2014/main" id="{C37BE910-150E-F547-AA99-B012E5B28DE1}"/>
              </a:ext>
            </a:extLst>
          </p:cNvPr>
          <p:cNvSpPr/>
          <p:nvPr userDrawn="1"/>
        </p:nvSpPr>
        <p:spPr>
          <a:xfrm>
            <a:off x="12191262" y="1535801"/>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00000">
                <a:schemeClr val="accent1">
                  <a:alpha val="85000"/>
                </a:schemeClr>
              </a:gs>
              <a:gs pos="4000">
                <a:schemeClr val="accent1">
                  <a:alpha val="70000"/>
                </a:schemeClr>
              </a:gs>
              <a:gs pos="0">
                <a:srgbClr val="17323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rtlCol="0" anchor="ctr">
            <a:noAutofit/>
          </a:bodyPr>
          <a:lstStyle/>
          <a:p>
            <a:pPr lvl="0"/>
            <a:r>
              <a:rPr lang="en-US" sz="1000" b="1" i="0" dirty="0">
                <a:solidFill>
                  <a:schemeClr val="bg1"/>
                </a:solidFill>
                <a:latin typeface="Calibri Bold"/>
              </a:rPr>
              <a:t>SIG COLOR </a:t>
            </a:r>
            <a:r>
              <a:rPr lang="en-US" sz="1000" b="0" i="0" dirty="0">
                <a:solidFill>
                  <a:schemeClr val="bg1"/>
                </a:solidFill>
                <a:latin typeface="Calibri Bold"/>
              </a:rPr>
              <a:t>PALETTE</a:t>
            </a:r>
          </a:p>
        </p:txBody>
      </p:sp>
      <p:sp>
        <p:nvSpPr>
          <p:cNvPr id="87" name="TextBox 86">
            <a:extLst>
              <a:ext uri="{FF2B5EF4-FFF2-40B4-BE49-F238E27FC236}">
                <a16:creationId xmlns:a16="http://schemas.microsoft.com/office/drawing/2014/main" id="{20CBF917-BBFA-154F-AE49-00C72A97DC4D}"/>
              </a:ext>
            </a:extLst>
          </p:cNvPr>
          <p:cNvSpPr txBox="1"/>
          <p:nvPr userDrawn="1"/>
        </p:nvSpPr>
        <p:spPr>
          <a:xfrm>
            <a:off x="12261348" y="3358336"/>
            <a:ext cx="1432427" cy="268253"/>
          </a:xfrm>
          <a:prstGeom prst="rect">
            <a:avLst/>
          </a:prstGeom>
          <a:noFill/>
          <a:effectLst/>
        </p:spPr>
        <p:txBody>
          <a:bodyPr wrap="square" rtlCol="0" anchor="ctr">
            <a:noAutofit/>
          </a:bodyPr>
          <a:lstStyle/>
          <a:p>
            <a:pPr algn="l"/>
            <a:r>
              <a:rPr lang="en-US" sz="1000" b="1" i="0">
                <a:solidFill>
                  <a:schemeClr val="bg1"/>
                </a:solidFill>
                <a:latin typeface="Calibri Bold"/>
              </a:rPr>
              <a:t>Gradients</a:t>
            </a:r>
            <a:endParaRPr lang="en-US" sz="1000" b="1" i="0" dirty="0">
              <a:solidFill>
                <a:schemeClr val="bg1"/>
              </a:solidFill>
              <a:latin typeface="Calibri Bold"/>
            </a:endParaRPr>
          </a:p>
        </p:txBody>
      </p:sp>
      <p:sp>
        <p:nvSpPr>
          <p:cNvPr id="88" name="TextBox 87">
            <a:extLst>
              <a:ext uri="{FF2B5EF4-FFF2-40B4-BE49-F238E27FC236}">
                <a16:creationId xmlns:a16="http://schemas.microsoft.com/office/drawing/2014/main" id="{D3190199-C1C2-0549-B59C-931BCAB1B18A}"/>
              </a:ext>
            </a:extLst>
          </p:cNvPr>
          <p:cNvSpPr txBox="1"/>
          <p:nvPr userDrawn="1"/>
        </p:nvSpPr>
        <p:spPr>
          <a:xfrm>
            <a:off x="12261350" y="1990137"/>
            <a:ext cx="777584" cy="276999"/>
          </a:xfrm>
          <a:prstGeom prst="rect">
            <a:avLst/>
          </a:prstGeom>
          <a:noFill/>
          <a:effectLst/>
        </p:spPr>
        <p:txBody>
          <a:bodyPr wrap="square" rtlCol="0" anchor="ctr">
            <a:noAutofit/>
          </a:bodyPr>
          <a:lstStyle/>
          <a:p>
            <a:pPr algn="l"/>
            <a:r>
              <a:rPr lang="en-US" sz="1000" b="1" i="0">
                <a:solidFill>
                  <a:schemeClr val="bg1"/>
                </a:solidFill>
                <a:latin typeface="Calibri Bold"/>
              </a:rPr>
              <a:t>Grey tones</a:t>
            </a:r>
            <a:endParaRPr lang="en-US" sz="1000" b="1" i="0" dirty="0">
              <a:solidFill>
                <a:schemeClr val="bg1"/>
              </a:solidFill>
              <a:latin typeface="Calibri Bold"/>
            </a:endParaRPr>
          </a:p>
        </p:txBody>
      </p:sp>
      <p:sp>
        <p:nvSpPr>
          <p:cNvPr id="89" name="TextBox 88">
            <a:extLst>
              <a:ext uri="{FF2B5EF4-FFF2-40B4-BE49-F238E27FC236}">
                <a16:creationId xmlns:a16="http://schemas.microsoft.com/office/drawing/2014/main" id="{0A2C8420-18BB-7B4C-A8CE-24531816B381}"/>
              </a:ext>
            </a:extLst>
          </p:cNvPr>
          <p:cNvSpPr txBox="1"/>
          <p:nvPr userDrawn="1"/>
        </p:nvSpPr>
        <p:spPr>
          <a:xfrm>
            <a:off x="12255293" y="2341826"/>
            <a:ext cx="1914733" cy="276999"/>
          </a:xfrm>
          <a:prstGeom prst="rect">
            <a:avLst/>
          </a:prstGeom>
          <a:noFill/>
          <a:effectLst/>
        </p:spPr>
        <p:txBody>
          <a:bodyPr wrap="square" rtlCol="0" anchor="ctr">
            <a:noAutofit/>
          </a:bodyPr>
          <a:lstStyle/>
          <a:p>
            <a:pPr algn="l"/>
            <a:r>
              <a:rPr lang="en-US" sz="1000" b="1" i="0">
                <a:solidFill>
                  <a:schemeClr val="bg1"/>
                </a:solidFill>
                <a:latin typeface="Calibri Bold"/>
              </a:rPr>
              <a:t>Text colors light bg</a:t>
            </a:r>
            <a:endParaRPr lang="en-US" sz="1000" b="1" i="0" dirty="0">
              <a:solidFill>
                <a:schemeClr val="bg1"/>
              </a:solidFill>
              <a:latin typeface="Calibri Bold"/>
            </a:endParaRPr>
          </a:p>
        </p:txBody>
      </p:sp>
      <p:sp>
        <p:nvSpPr>
          <p:cNvPr id="90" name="TextBox 89">
            <a:extLst>
              <a:ext uri="{FF2B5EF4-FFF2-40B4-BE49-F238E27FC236}">
                <a16:creationId xmlns:a16="http://schemas.microsoft.com/office/drawing/2014/main" id="{C0C230F0-D526-6C4F-9E43-2F708FEF06D1}"/>
              </a:ext>
            </a:extLst>
          </p:cNvPr>
          <p:cNvSpPr txBox="1"/>
          <p:nvPr userDrawn="1"/>
        </p:nvSpPr>
        <p:spPr>
          <a:xfrm>
            <a:off x="12255293" y="2703535"/>
            <a:ext cx="1478852" cy="276999"/>
          </a:xfrm>
          <a:prstGeom prst="rect">
            <a:avLst/>
          </a:prstGeom>
          <a:noFill/>
          <a:effectLst/>
        </p:spPr>
        <p:txBody>
          <a:bodyPr wrap="square" rtlCol="0" anchor="ctr">
            <a:noAutofit/>
          </a:bodyPr>
          <a:lstStyle/>
          <a:p>
            <a:pPr algn="l"/>
            <a:r>
              <a:rPr lang="en-US" sz="1000" b="1" i="0">
                <a:solidFill>
                  <a:schemeClr val="bg1"/>
                </a:solidFill>
                <a:latin typeface="Calibri Bold"/>
              </a:rPr>
              <a:t>Adjusted PPT colors</a:t>
            </a:r>
            <a:endParaRPr lang="en-US" sz="1000" b="1" i="0" dirty="0">
              <a:solidFill>
                <a:schemeClr val="bg1"/>
              </a:solidFill>
              <a:latin typeface="Calibri Bold"/>
            </a:endParaRPr>
          </a:p>
        </p:txBody>
      </p:sp>
      <p:sp>
        <p:nvSpPr>
          <p:cNvPr id="91" name="TextBox 90">
            <a:extLst>
              <a:ext uri="{FF2B5EF4-FFF2-40B4-BE49-F238E27FC236}">
                <a16:creationId xmlns:a16="http://schemas.microsoft.com/office/drawing/2014/main" id="{266F376A-0B7A-B448-B37D-0C09B74FA9CF}"/>
              </a:ext>
            </a:extLst>
          </p:cNvPr>
          <p:cNvSpPr txBox="1"/>
          <p:nvPr userDrawn="1"/>
        </p:nvSpPr>
        <p:spPr>
          <a:xfrm>
            <a:off x="12299254" y="2974539"/>
            <a:ext cx="1316722" cy="276999"/>
          </a:xfrm>
          <a:prstGeom prst="rect">
            <a:avLst/>
          </a:prstGeom>
          <a:noFill/>
          <a:effectLst/>
        </p:spPr>
        <p:txBody>
          <a:bodyPr wrap="square" rtlCol="0" anchor="ctr">
            <a:noAutofit/>
          </a:bodyPr>
          <a:lstStyle/>
          <a:p>
            <a:pPr algn="l"/>
            <a:r>
              <a:rPr lang="en-US" sz="1000" b="1" i="0">
                <a:solidFill>
                  <a:schemeClr val="bg1"/>
                </a:solidFill>
                <a:latin typeface="Calibri Bold"/>
              </a:rPr>
              <a:t>Default SIG colors</a:t>
            </a:r>
            <a:endParaRPr lang="en-US" sz="1000" b="1" i="0" dirty="0">
              <a:solidFill>
                <a:schemeClr val="bg1"/>
              </a:solidFill>
              <a:latin typeface="Calibri Bold"/>
            </a:endParaRPr>
          </a:p>
        </p:txBody>
      </p:sp>
      <p:sp>
        <p:nvSpPr>
          <p:cNvPr id="92" name="TextBox 91">
            <a:extLst>
              <a:ext uri="{FF2B5EF4-FFF2-40B4-BE49-F238E27FC236}">
                <a16:creationId xmlns:a16="http://schemas.microsoft.com/office/drawing/2014/main" id="{F446E0B7-64D4-2F4F-AD07-A36525F701FD}"/>
              </a:ext>
            </a:extLst>
          </p:cNvPr>
          <p:cNvSpPr txBox="1"/>
          <p:nvPr userDrawn="1"/>
        </p:nvSpPr>
        <p:spPr>
          <a:xfrm>
            <a:off x="12255294" y="4008901"/>
            <a:ext cx="1003261" cy="276999"/>
          </a:xfrm>
          <a:prstGeom prst="rect">
            <a:avLst/>
          </a:prstGeom>
          <a:noFill/>
          <a:effectLst/>
        </p:spPr>
        <p:txBody>
          <a:bodyPr wrap="square" rtlCol="0" anchor="ctr">
            <a:noAutofit/>
          </a:bodyPr>
          <a:lstStyle/>
          <a:p>
            <a:pPr algn="l"/>
            <a:r>
              <a:rPr lang="en-US" sz="1000" b="1" i="0" dirty="0">
                <a:solidFill>
                  <a:schemeClr val="bg1"/>
                </a:solidFill>
                <a:latin typeface="Calibri Bold"/>
              </a:rPr>
              <a:t>Signal colors</a:t>
            </a:r>
          </a:p>
        </p:txBody>
      </p:sp>
      <p:sp>
        <p:nvSpPr>
          <p:cNvPr id="94" name="Triangle 93">
            <a:extLst>
              <a:ext uri="{FF2B5EF4-FFF2-40B4-BE49-F238E27FC236}">
                <a16:creationId xmlns:a16="http://schemas.microsoft.com/office/drawing/2014/main" id="{95EA91EB-DF88-DC4C-8867-A6E89E2C68C6}"/>
              </a:ext>
            </a:extLst>
          </p:cNvPr>
          <p:cNvSpPr/>
          <p:nvPr userDrawn="1"/>
        </p:nvSpPr>
        <p:spPr>
          <a:xfrm>
            <a:off x="-178692"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a:extLst>
              <a:ext uri="{FF2B5EF4-FFF2-40B4-BE49-F238E27FC236}">
                <a16:creationId xmlns:a16="http://schemas.microsoft.com/office/drawing/2014/main" id="{23730BB1-9B79-EB43-8C9B-DD4E1F8DAD52}"/>
              </a:ext>
            </a:extLst>
          </p:cNvPr>
          <p:cNvCxnSpPr>
            <a:cxnSpLocks/>
          </p:cNvCxnSpPr>
          <p:nvPr userDrawn="1"/>
        </p:nvCxnSpPr>
        <p:spPr>
          <a:xfrm>
            <a:off x="517893" y="-299831"/>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3CBACC-10D2-674D-8DF2-97BE380A1038}"/>
              </a:ext>
            </a:extLst>
          </p:cNvPr>
          <p:cNvCxnSpPr>
            <a:cxnSpLocks/>
          </p:cNvCxnSpPr>
          <p:nvPr userDrawn="1"/>
        </p:nvCxnSpPr>
        <p:spPr>
          <a:xfrm flipH="1">
            <a:off x="-1179871" y="1352986"/>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58AB2E3C-062E-554B-991E-0F04B3480EAB}"/>
              </a:ext>
            </a:extLst>
          </p:cNvPr>
          <p:cNvSpPr txBox="1"/>
          <p:nvPr userDrawn="1"/>
        </p:nvSpPr>
        <p:spPr>
          <a:xfrm>
            <a:off x="-1228363" y="6332096"/>
            <a:ext cx="1228362" cy="533854"/>
          </a:xfrm>
          <a:prstGeom prst="rect">
            <a:avLst/>
          </a:prstGeom>
          <a:gradFill>
            <a:gsLst>
              <a:gs pos="56000">
                <a:schemeClr val="tx1">
                  <a:lumMod val="40000"/>
                  <a:lumOff val="60000"/>
                  <a:alpha val="0"/>
                </a:schemeClr>
              </a:gs>
              <a:gs pos="100000">
                <a:schemeClr val="tx1">
                  <a:lumMod val="40000"/>
                  <a:lumOff val="60000"/>
                  <a:alpha val="70000"/>
                </a:schemeClr>
              </a:gs>
            </a:gsLst>
            <a:lin ang="18000000" scaled="0"/>
          </a:gradFill>
        </p:spPr>
        <p:txBody>
          <a:bodyPr wrap="square" rtlCol="0" anchor="t">
            <a:noAutofit/>
          </a:bodyPr>
          <a:lstStyle/>
          <a:p>
            <a:pPr algn="l"/>
            <a:r>
              <a:rPr lang="en-US" sz="900" b="1" i="0" dirty="0">
                <a:solidFill>
                  <a:schemeClr val="tx1">
                    <a:alpha val="70000"/>
                  </a:schemeClr>
                </a:solidFill>
                <a:latin typeface="Calibri Bold"/>
              </a:rPr>
              <a:t>NO CONTENT HERE</a:t>
            </a:r>
          </a:p>
        </p:txBody>
      </p:sp>
      <p:sp>
        <p:nvSpPr>
          <p:cNvPr id="98" name="Triangle 97">
            <a:extLst>
              <a:ext uri="{FF2B5EF4-FFF2-40B4-BE49-F238E27FC236}">
                <a16:creationId xmlns:a16="http://schemas.microsoft.com/office/drawing/2014/main" id="{11579231-7E59-274F-85B7-5EF4619636F1}"/>
              </a:ext>
            </a:extLst>
          </p:cNvPr>
          <p:cNvSpPr/>
          <p:nvPr userDrawn="1"/>
        </p:nvSpPr>
        <p:spPr>
          <a:xfrm flipV="1">
            <a:off x="-178692"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45E706FE-9CC7-DB4A-94D2-5B4F0983B282}"/>
              </a:ext>
            </a:extLst>
          </p:cNvPr>
          <p:cNvCxnSpPr>
            <a:cxnSpLocks/>
          </p:cNvCxnSpPr>
          <p:nvPr userDrawn="1"/>
        </p:nvCxnSpPr>
        <p:spPr>
          <a:xfrm flipH="1">
            <a:off x="-1179871" y="6336930"/>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A2D8030A-24DD-F24C-B561-91D005086F32}"/>
              </a:ext>
            </a:extLst>
          </p:cNvPr>
          <p:cNvSpPr txBox="1"/>
          <p:nvPr userDrawn="1"/>
        </p:nvSpPr>
        <p:spPr>
          <a:xfrm>
            <a:off x="-301318" y="6865950"/>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89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01" name="Triangle 100">
            <a:extLst>
              <a:ext uri="{FF2B5EF4-FFF2-40B4-BE49-F238E27FC236}">
                <a16:creationId xmlns:a16="http://schemas.microsoft.com/office/drawing/2014/main" id="{FAF50A31-8A21-194A-AACD-F93E3F7DDBA2}"/>
              </a:ext>
            </a:extLst>
          </p:cNvPr>
          <p:cNvSpPr/>
          <p:nvPr userDrawn="1"/>
        </p:nvSpPr>
        <p:spPr>
          <a:xfrm rot="16200000">
            <a:off x="313381" y="7083822"/>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EA568D93-8F76-1F47-8432-E5BA84BD883F}"/>
              </a:ext>
            </a:extLst>
          </p:cNvPr>
          <p:cNvCxnSpPr>
            <a:cxnSpLocks/>
          </p:cNvCxnSpPr>
          <p:nvPr userDrawn="1"/>
        </p:nvCxnSpPr>
        <p:spPr>
          <a:xfrm>
            <a:off x="517893" y="68876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CA5E9F19-F0DD-8D49-906A-3B4B9F498BE0}"/>
              </a:ext>
            </a:extLst>
          </p:cNvPr>
          <p:cNvSpPr txBox="1"/>
          <p:nvPr userDrawn="1"/>
        </p:nvSpPr>
        <p:spPr>
          <a:xfrm>
            <a:off x="12197109" y="-7624"/>
            <a:ext cx="1256301" cy="1362904"/>
          </a:xfrm>
          <a:prstGeom prst="rect">
            <a:avLst/>
          </a:prstGeom>
          <a:gradFill>
            <a:gsLst>
              <a:gs pos="53000">
                <a:schemeClr val="tx1">
                  <a:lumMod val="40000"/>
                  <a:lumOff val="60000"/>
                  <a:alpha val="0"/>
                </a:schemeClr>
              </a:gs>
              <a:gs pos="100000">
                <a:schemeClr val="tx1">
                  <a:lumMod val="40000"/>
                  <a:lumOff val="60000"/>
                  <a:alpha val="70000"/>
                </a:schemeClr>
              </a:gs>
            </a:gsLst>
            <a:lin ang="8400000" scaled="0"/>
          </a:gradFill>
        </p:spPr>
        <p:txBody>
          <a:bodyPr wrap="square" rtlCol="0" anchor="b">
            <a:noAutofit/>
          </a:bodyPr>
          <a:lstStyle/>
          <a:p>
            <a:pPr algn="l"/>
            <a:r>
              <a:rPr lang="en-US" sz="900" b="1" i="0" dirty="0">
                <a:solidFill>
                  <a:schemeClr val="tx1">
                    <a:alpha val="70000"/>
                  </a:schemeClr>
                </a:solidFill>
                <a:latin typeface="Calibri Bold"/>
              </a:rPr>
              <a:t>      NO CONTENT HERE</a:t>
            </a:r>
          </a:p>
        </p:txBody>
      </p:sp>
      <p:sp>
        <p:nvSpPr>
          <p:cNvPr id="104" name="Triangle 103">
            <a:extLst>
              <a:ext uri="{FF2B5EF4-FFF2-40B4-BE49-F238E27FC236}">
                <a16:creationId xmlns:a16="http://schemas.microsoft.com/office/drawing/2014/main" id="{26D0B294-32A3-6E48-A0F8-F348E1C5475D}"/>
              </a:ext>
            </a:extLst>
          </p:cNvPr>
          <p:cNvSpPr/>
          <p:nvPr userDrawn="1"/>
        </p:nvSpPr>
        <p:spPr>
          <a:xfrm>
            <a:off x="12278571"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25C59B47-1A1E-E048-B3C7-1674CBF00BA4}"/>
              </a:ext>
            </a:extLst>
          </p:cNvPr>
          <p:cNvCxnSpPr>
            <a:cxnSpLocks/>
          </p:cNvCxnSpPr>
          <p:nvPr userDrawn="1"/>
        </p:nvCxnSpPr>
        <p:spPr>
          <a:xfrm flipH="1">
            <a:off x="12206176" y="1352986"/>
            <a:ext cx="1141114" cy="1"/>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6" name="TextBox 105">
            <a:extLst>
              <a:ext uri="{FF2B5EF4-FFF2-40B4-BE49-F238E27FC236}">
                <a16:creationId xmlns:a16="http://schemas.microsoft.com/office/drawing/2014/main" id="{31C1F5FB-91A2-734D-A19C-C1FBD5BA6428}"/>
              </a:ext>
            </a:extLst>
          </p:cNvPr>
          <p:cNvSpPr txBox="1"/>
          <p:nvPr userDrawn="1"/>
        </p:nvSpPr>
        <p:spPr>
          <a:xfrm>
            <a:off x="12197109" y="6332096"/>
            <a:ext cx="1256301" cy="533854"/>
          </a:xfrm>
          <a:prstGeom prst="rect">
            <a:avLst/>
          </a:prstGeom>
          <a:gradFill>
            <a:gsLst>
              <a:gs pos="56000">
                <a:schemeClr val="tx1">
                  <a:lumMod val="40000"/>
                  <a:lumOff val="60000"/>
                  <a:alpha val="0"/>
                </a:schemeClr>
              </a:gs>
              <a:gs pos="100000">
                <a:schemeClr val="tx1">
                  <a:lumMod val="40000"/>
                  <a:lumOff val="60000"/>
                  <a:alpha val="70000"/>
                </a:schemeClr>
              </a:gs>
            </a:gsLst>
            <a:lin ang="14400000" scaled="0"/>
          </a:gradFill>
        </p:spPr>
        <p:txBody>
          <a:bodyPr wrap="square" rtlCol="0" anchor="t">
            <a:noAutofit/>
          </a:bodyPr>
          <a:lstStyle/>
          <a:p>
            <a:pPr algn="l"/>
            <a:r>
              <a:rPr lang="en-US" sz="900" b="1" i="0" dirty="0">
                <a:solidFill>
                  <a:schemeClr val="tx1">
                    <a:alpha val="70000"/>
                  </a:schemeClr>
                </a:solidFill>
                <a:latin typeface="Calibri Bold"/>
              </a:rPr>
              <a:t>      NO CONTENT HERE</a:t>
            </a:r>
          </a:p>
        </p:txBody>
      </p:sp>
      <p:sp>
        <p:nvSpPr>
          <p:cNvPr id="107" name="Triangle 106">
            <a:extLst>
              <a:ext uri="{FF2B5EF4-FFF2-40B4-BE49-F238E27FC236}">
                <a16:creationId xmlns:a16="http://schemas.microsoft.com/office/drawing/2014/main" id="{DE0C5951-F714-9C44-8682-C724B5FE1100}"/>
              </a:ext>
            </a:extLst>
          </p:cNvPr>
          <p:cNvSpPr/>
          <p:nvPr userDrawn="1"/>
        </p:nvSpPr>
        <p:spPr>
          <a:xfrm flipV="1">
            <a:off x="12278571"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a:extLst>
              <a:ext uri="{FF2B5EF4-FFF2-40B4-BE49-F238E27FC236}">
                <a16:creationId xmlns:a16="http://schemas.microsoft.com/office/drawing/2014/main" id="{1B6EB480-EA98-0A40-89A3-61F487FE4C85}"/>
              </a:ext>
            </a:extLst>
          </p:cNvPr>
          <p:cNvCxnSpPr>
            <a:cxnSpLocks/>
          </p:cNvCxnSpPr>
          <p:nvPr userDrawn="1"/>
        </p:nvCxnSpPr>
        <p:spPr>
          <a:xfrm flipH="1">
            <a:off x="12206176" y="6329115"/>
            <a:ext cx="1133740"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6D8FDB07-3CA8-1B45-A406-77809CF8B74B}"/>
              </a:ext>
            </a:extLst>
          </p:cNvPr>
          <p:cNvSpPr txBox="1"/>
          <p:nvPr userDrawn="1"/>
        </p:nvSpPr>
        <p:spPr>
          <a:xfrm>
            <a:off x="11753369" y="-369332"/>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84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0" name="Triangle 109">
            <a:extLst>
              <a:ext uri="{FF2B5EF4-FFF2-40B4-BE49-F238E27FC236}">
                <a16:creationId xmlns:a16="http://schemas.microsoft.com/office/drawing/2014/main" id="{3B56AC1A-0522-8447-B54E-A3B921BE61CA}"/>
              </a:ext>
            </a:extLst>
          </p:cNvPr>
          <p:cNvSpPr/>
          <p:nvPr userDrawn="1"/>
        </p:nvSpPr>
        <p:spPr>
          <a:xfrm rot="5400000" flipH="1">
            <a:off x="11831127" y="-158835"/>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297B4272-1DA3-CD44-8357-76391CEA3A5F}"/>
              </a:ext>
            </a:extLst>
          </p:cNvPr>
          <p:cNvCxnSpPr>
            <a:cxnSpLocks/>
          </p:cNvCxnSpPr>
          <p:nvPr userDrawn="1"/>
        </p:nvCxnSpPr>
        <p:spPr>
          <a:xfrm>
            <a:off x="11748091" y="-303006"/>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38127C6C-4883-104A-B1C6-B43ADDFA08D8}"/>
              </a:ext>
            </a:extLst>
          </p:cNvPr>
          <p:cNvSpPr txBox="1"/>
          <p:nvPr userDrawn="1"/>
        </p:nvSpPr>
        <p:spPr>
          <a:xfrm>
            <a:off x="11753369" y="6873324"/>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32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3" name="Triangle 112">
            <a:extLst>
              <a:ext uri="{FF2B5EF4-FFF2-40B4-BE49-F238E27FC236}">
                <a16:creationId xmlns:a16="http://schemas.microsoft.com/office/drawing/2014/main" id="{5E23F091-2253-9A46-A773-B6E33A4E19DA}"/>
              </a:ext>
            </a:extLst>
          </p:cNvPr>
          <p:cNvSpPr/>
          <p:nvPr userDrawn="1"/>
        </p:nvSpPr>
        <p:spPr>
          <a:xfrm rot="5400000" flipH="1">
            <a:off x="11831127" y="7083821"/>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4" name="Straight Connector 113">
            <a:extLst>
              <a:ext uri="{FF2B5EF4-FFF2-40B4-BE49-F238E27FC236}">
                <a16:creationId xmlns:a16="http://schemas.microsoft.com/office/drawing/2014/main" id="{ED939B88-4AB8-874C-A524-9CF7AB4C7AE2}"/>
              </a:ext>
            </a:extLst>
          </p:cNvPr>
          <p:cNvCxnSpPr>
            <a:cxnSpLocks/>
          </p:cNvCxnSpPr>
          <p:nvPr userDrawn="1"/>
        </p:nvCxnSpPr>
        <p:spPr>
          <a:xfrm>
            <a:off x="11748091" y="68749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703" r:id="rId1"/>
    <p:sldLayoutId id="2147483662" r:id="rId2"/>
    <p:sldLayoutId id="2147483673" r:id="rId3"/>
    <p:sldLayoutId id="2147483713" r:id="rId4"/>
    <p:sldLayoutId id="2147483714" r:id="rId5"/>
    <p:sldLayoutId id="2147483668" r:id="rId6"/>
    <p:sldLayoutId id="2147483720" r:id="rId7"/>
    <p:sldLayoutId id="2147483719" r:id="rId8"/>
    <p:sldLayoutId id="2147483661" r:id="rId9"/>
    <p:sldLayoutId id="2147483664" r:id="rId10"/>
    <p:sldLayoutId id="2147483692" r:id="rId11"/>
    <p:sldLayoutId id="2147483693" r:id="rId12"/>
    <p:sldLayoutId id="2147483690" r:id="rId13"/>
    <p:sldLayoutId id="2147483691" r:id="rId14"/>
    <p:sldLayoutId id="2147483697" r:id="rId15"/>
    <p:sldLayoutId id="2147483715" r:id="rId16"/>
    <p:sldLayoutId id="2147483717" r:id="rId17"/>
    <p:sldLayoutId id="2147483704" r:id="rId18"/>
    <p:sldLayoutId id="2147483724" r:id="rId19"/>
    <p:sldLayoutId id="2147483726" r:id="rId20"/>
    <p:sldLayoutId id="2147483727" r:id="rId21"/>
  </p:sldLayoutIdLst>
  <p:hf hdr="0" dt="0"/>
  <p:txStyles>
    <p:titleStyle>
      <a:lvl1pPr algn="l" defTabSz="914400" rtl="0" eaLnBrk="1" latinLnBrk="0" hangingPunct="1">
        <a:lnSpc>
          <a:spcPct val="90000"/>
        </a:lnSpc>
        <a:spcBef>
          <a:spcPct val="0"/>
        </a:spcBef>
        <a:buNone/>
        <a:defRPr lang="en-US" sz="2000" b="1" kern="1200" spc="-10" smtClean="0">
          <a:solidFill>
            <a:schemeClr val="tx2"/>
          </a:solidFill>
          <a:latin typeface="+mn-lt"/>
          <a:ea typeface="+mn-ea"/>
          <a:cs typeface="+mn-cs"/>
        </a:defRPr>
      </a:lvl1pPr>
    </p:titleStyle>
    <p:bodyStyle>
      <a:lvl1pPr marL="0" indent="-264600" algn="l" defTabSz="914400" rtl="0" eaLnBrk="1" latinLnBrk="0" hangingPunct="1">
        <a:lnSpc>
          <a:spcPct val="114000"/>
        </a:lnSpc>
        <a:spcBef>
          <a:spcPts val="0"/>
        </a:spcBef>
        <a:spcAft>
          <a:spcPts val="600"/>
        </a:spcAft>
        <a:buClr>
          <a:srgbClr val="B3BDCD"/>
        </a:buClr>
        <a:buFont typeface="Wingdings" pitchFamily="2" charset="2"/>
        <a:buChar char="§"/>
        <a:defRPr lang="en-US" sz="1600" kern="1200" smtClean="0">
          <a:solidFill>
            <a:schemeClr val="tx2"/>
          </a:solidFill>
          <a:latin typeface="+mn-lt"/>
          <a:ea typeface="+mn-ea"/>
          <a:cs typeface="+mn-cs"/>
        </a:defRPr>
      </a:lvl1pPr>
      <a:lvl2pPr marL="540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2pPr>
      <a:lvl3pPr marL="792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3pPr>
      <a:lvl4pPr marL="1044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4pPr>
      <a:lvl5pPr marL="1296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51" userDrawn="1">
          <p15:clr>
            <a:srgbClr val="F26B43"/>
          </p15:clr>
        </p15:guide>
        <p15:guide id="2" pos="3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8.png"/><Relationship Id="rId4" Type="http://schemas.openxmlformats.org/officeDocument/2006/relationships/image" Target="../media/image19.tiff"/><Relationship Id="rId5" Type="http://schemas.openxmlformats.org/officeDocument/2006/relationships/chart" Target="../charts/chart3.xml"/><Relationship Id="rId6" Type="http://schemas.openxmlformats.org/officeDocument/2006/relationships/image" Target="../media/image2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chart" Target="../charts/chart4.xml"/><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6C553A6-C217-8C4D-9A6D-8D0D48D4D708}"/>
              </a:ext>
            </a:extLst>
          </p:cNvPr>
          <p:cNvSpPr>
            <a:spLocks noGrp="1"/>
          </p:cNvSpPr>
          <p:nvPr>
            <p:ph type="body" sz="quarter" idx="13"/>
          </p:nvPr>
        </p:nvSpPr>
        <p:spPr/>
        <p:txBody>
          <a:bodyPr/>
          <a:lstStyle/>
          <a:p>
            <a:r>
              <a:rPr lang="en-US" dirty="0"/>
              <a:t>Software Quality Report on Twitter Algorithm</a:t>
            </a:r>
            <a:endParaRPr lang="en-US" dirty="0"/>
          </a:p>
        </p:txBody>
      </p:sp>
      <p:sp>
        <p:nvSpPr>
          <p:cNvPr id="7" name="Text Placeholder 6">
            <a:extLst>
              <a:ext uri="{FF2B5EF4-FFF2-40B4-BE49-F238E27FC236}">
                <a16:creationId xmlns:a16="http://schemas.microsoft.com/office/drawing/2014/main" id="{31FE993F-25A4-CA1C-44DD-67230D2F26A6}"/>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99FC6248-201F-1144-8C5C-E4B4C27EF42F}"/>
              </a:ext>
            </a:extLst>
          </p:cNvPr>
          <p:cNvSpPr>
            <a:spLocks noGrp="1"/>
          </p:cNvSpPr>
          <p:nvPr>
            <p:ph type="body" sz="quarter" idx="4294967295"/>
          </p:nvPr>
        </p:nvSpPr>
        <p:spPr>
          <a:xfrm>
            <a:off x="3636000" y="4119279"/>
            <a:ext cx="1450572" cy="215444"/>
          </a:xfrm>
        </p:spPr>
        <p:txBody>
          <a:bodyPr>
            <a:normAutofit fontScale="40000" lnSpcReduction="20000"/>
          </a:bodyPr>
          <a:lstStyle/>
          <a:p>
            <a:r>
              <a:rPr lang="en-US" dirty="0"/>
              <a:t>Software Improvement Group</a:t>
            </a:r>
          </a:p>
        </p:txBody>
      </p:sp>
      <p:sp>
        <p:nvSpPr>
          <p:cNvPr id="6" name="Text Placeholder 5">
            <a:extLst>
              <a:ext uri="{FF2B5EF4-FFF2-40B4-BE49-F238E27FC236}">
                <a16:creationId xmlns:a16="http://schemas.microsoft.com/office/drawing/2014/main" id="{97EB27F3-0AC4-E148-A0B1-7E0851BF0D30}"/>
              </a:ext>
            </a:extLst>
          </p:cNvPr>
          <p:cNvSpPr>
            <a:spLocks noGrp="1"/>
          </p:cNvSpPr>
          <p:nvPr>
            <p:ph type="body" sz="quarter" idx="16"/>
          </p:nvPr>
        </p:nvSpPr>
        <p:spPr>
          <a:xfrm>
            <a:off x="11722244" y="6525935"/>
            <a:ext cx="64" cy="257763"/>
          </a:xfrm>
        </p:spPr>
        <p:txBody>
          <a:bodyPr/>
          <a:lstStyle/>
          <a:p>
            <a:endParaRPr lang="en-US" dirty="0"/>
          </a:p>
        </p:txBody>
      </p:sp>
      <p:sp>
        <p:nvSpPr>
          <p:cNvPr id="10" name="Text Placeholder 9">
            <a:extLst>
              <a:ext uri="{FF2B5EF4-FFF2-40B4-BE49-F238E27FC236}">
                <a16:creationId xmlns:a16="http://schemas.microsoft.com/office/drawing/2014/main" id="{ED10CA19-199D-DB48-2F97-A61E7A0CD1A8}"/>
              </a:ext>
            </a:extLst>
          </p:cNvPr>
          <p:cNvSpPr>
            <a:spLocks noGrp="1"/>
          </p:cNvSpPr>
          <p:nvPr>
            <p:ph type="body" sz="quarter" idx="4294967295"/>
          </p:nvPr>
        </p:nvSpPr>
        <p:spPr>
          <a:xfrm>
            <a:off x="4629355" y="6536558"/>
            <a:ext cx="2391680" cy="247948"/>
          </a:xfrm>
        </p:spPr>
        <p:txBody>
          <a:bodyPr>
            <a:normAutofit fontScale="62500" lnSpcReduction="20000"/>
          </a:bodyPr>
          <a:lstStyle/>
          <a:p>
            <a:endParaRPr lang="en-US"/>
          </a:p>
        </p:txBody>
      </p:sp>
    </p:spTree>
    <p:extLst>
      <p:ext uri="{BB962C8B-B14F-4D97-AF65-F5344CB8AC3E}">
        <p14:creationId xmlns:p14="http://schemas.microsoft.com/office/powerpoint/2010/main" val="3780916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98D751-D7E7-9C49-9738-9C448500810B}"/>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17" name="Text Placeholder 16">
            <a:extLst>
              <a:ext uri="{FF2B5EF4-FFF2-40B4-BE49-F238E27FC236}">
                <a16:creationId xmlns:a16="http://schemas.microsoft.com/office/drawing/2014/main" id="{E27436DB-3651-E842-9FB7-13DA5BE2FAED}"/>
              </a:ext>
            </a:extLst>
          </p:cNvPr>
          <p:cNvSpPr>
            <a:spLocks noGrp="1"/>
          </p:cNvSpPr>
          <p:nvPr>
            <p:ph type="body" sz="quarter" idx="12"/>
          </p:nvPr>
        </p:nvSpPr>
        <p:spPr/>
        <p:txBody>
          <a:bodyPr/>
          <a:lstStyle/>
          <a:p>
            <a:r>
              <a:rPr lang="en-US"/>
              <a:t>Management summary</a:t>
            </a:r>
            <a:endParaRPr lang="en-US">
              <a:solidFill>
                <a:schemeClr val="accent3"/>
              </a:solidFill>
            </a:endParaRPr>
          </a:p>
        </p:txBody>
      </p:sp>
      <p:sp>
        <p:nvSpPr>
          <p:cNvPr id="16" name="Title 15">
            <a:extLst>
              <a:ext uri="{FF2B5EF4-FFF2-40B4-BE49-F238E27FC236}">
                <a16:creationId xmlns:a16="http://schemas.microsoft.com/office/drawing/2014/main" id="{D763C605-75CA-DC4D-AE17-D3F134A4147B}"/>
              </a:ext>
            </a:extLst>
          </p:cNvPr>
          <p:cNvSpPr>
            <a:spLocks noGrp="1"/>
          </p:cNvSpPr>
          <p:nvPr>
            <p:ph type="title"/>
          </p:nvPr>
        </p:nvSpPr>
        <p:spPr>
          <a:xfrm>
            <a:off x="1935667" y="391823"/>
            <a:ext cx="10023452" cy="313412"/>
          </a:xfrm>
        </p:spPr>
        <p:txBody>
          <a:bodyPr/>
          <a:lstStyle/>
          <a:p>
            <a:r>
              <a:rPr lang="en-US" dirty="0" err="1"/>
              <a:t>Twitter Algorithm technical quality: management summary</a:t>
            </a:r>
          </a:p>
        </p:txBody>
      </p:sp>
      <p:sp>
        <p:nvSpPr>
          <p:cNvPr id="18" name="Content Placeholder 17">
            <a:extLst>
              <a:ext uri="{FF2B5EF4-FFF2-40B4-BE49-F238E27FC236}">
                <a16:creationId xmlns:a16="http://schemas.microsoft.com/office/drawing/2014/main" id="{39348AE8-5FBC-0E41-B4E0-8BE6CD80C03F}"/>
              </a:ext>
            </a:extLst>
          </p:cNvPr>
          <p:cNvSpPr>
            <a:spLocks noGrp="1"/>
          </p:cNvSpPr>
          <p:nvPr>
            <p:ph sz="quarter" idx="13"/>
          </p:nvPr>
        </p:nvSpPr>
        <p:spPr>
          <a:xfrm>
            <a:off x="855878" y="1363330"/>
            <a:ext cx="10889789" cy="5185729"/>
          </a:xfrm>
        </p:spPr>
        <p:txBody>
          <a:bodyPr/>
          <a:lstStyle/>
          <a:p>
            <a:pPr marL="0" indent="0">
              <a:lnSpc>
                <a:spcPct val="100000"/>
              </a:lnSpc>
              <a:buNone/>
            </a:pPr>
            <a:r>
              <a:rPr lang="en-US" sz="1800" b="1" dirty="0">
                <a:solidFill>
                  <a:schemeClr val="accent3"/>
                </a:solidFill>
              </a:rPr>
              <a:t>[Maintainability]</a:t>
            </a:r>
            <a:r>
              <a:rPr lang="en-US" sz="1800" dirty="0"/>
              <a:t> The system scores at the market average with 3.1 stars (★★★☆☆) on the SIG maintainability model. This indicates average maintenance costs and time to market for functional changes. The system shows high risk in units with large interfaces</a:t>
            </a:r>
            <a:endParaRPr lang="en-US" sz="1800" dirty="0"/>
          </a:p>
          <a:p>
            <a:pPr marL="0" indent="0">
              <a:lnSpc>
                <a:spcPct val="100000"/>
              </a:lnSpc>
              <a:buNone/>
            </a:pPr>
            <a:r>
              <a:rPr lang="en-US" sz="1800" b="1" dirty="0">
                <a:solidFill>
                  <a:schemeClr val="accent3"/>
                </a:solidFill>
              </a:rPr>
              <a:t>[Technology choice]</a:t>
            </a:r>
            <a:r>
              <a:rPr lang="en-US" sz="1800" dirty="0"/>
              <a:t> The system is 39.7 PY (292,692 LOC) large. The system is built using mostly modern technologies, and has no or minimal technologies that should be phased out. Its main technology is Scala.</a:t>
            </a:r>
          </a:p>
          <a:p>
            <a:pPr marL="0" indent="0">
              <a:lnSpc>
                <a:spcPct val="100000"/>
              </a:lnSpc>
              <a:buNone/>
            </a:pPr>
            <a:r>
              <a:rPr lang="en-US" sz="1800" b="1" dirty="0">
                <a:solidFill>
                  <a:schemeClr val="accent3"/>
                </a:solidFill>
              </a:rPr>
              <a:t>[Test code] </a:t>
            </a:r>
            <a:r>
              <a:rPr lang="en-US" sz="1800" dirty="0"/>
              <a:t>The system has a test/code ratio of 0%. This indicates the system does not have an automated testing suite in place. This decreases developer velocity and can increase bugs in production. This can be partially compensated by increased manual testing.</a:t>
            </a:r>
            <a:endParaRPr lang="en-US" sz="1800" dirty="0"/>
          </a:p>
          <a:p>
            <a:pPr marL="0" indent="0">
              <a:lnSpc>
                <a:spcPct val="100000"/>
              </a:lnSpc>
              <a:buNone/>
            </a:pPr>
            <a:r>
              <a:rPr kumimoji="0" lang="en-US" sz="1800" b="1" i="0" u="none" strike="noStrike" kern="1200" cap="none" spc="0" normalizeH="0" baseline="0" noProof="0" dirty="0">
                <a:ln>
                  <a:noFill/>
                </a:ln>
                <a:solidFill>
                  <a:srgbClr val="04ABC8"/>
                </a:solidFill>
                <a:effectLst/>
                <a:uLnTx/>
                <a:uFillTx/>
                <a:latin typeface="Calibri" panose="020F0502020204030204"/>
                <a:ea typeface="+mn-ea"/>
                <a:cs typeface="+mn-cs"/>
              </a:rPr>
              <a:t>[Architecture Quality] </a:t>
            </a:r>
            <a:r>
              <a:rPr lang="en-US" sz="1800" dirty="0"/>
              <a:t>The system rates 3.9 stars (</a:t>
            </a:r>
            <a:r>
              <a:rPr lang="en-US" sz="1800" dirty="0" err="1">
                <a:latin typeface="+mj-lt"/>
              </a:rPr>
              <a:t>★★★★☆</a:t>
            </a:r>
            <a:r>
              <a:rPr lang="en-US" sz="1800" dirty="0">
                <a:latin typeface="Calibri" panose="020F0502020204030204" pitchFamily="34" charset="0"/>
              </a:rPr>
              <a:t>)</a:t>
            </a:r>
            <a:r>
              <a:rPr lang="en-US" sz="1800" dirty="0"/>
              <a:t> on the SIG Architecture Quality model, above the market average. </a:t>
            </a:r>
            <a:endParaRPr lang="en-US" sz="1800" dirty="0"/>
          </a:p>
          <a:p>
            <a:pPr marL="0" indent="0">
              <a:lnSpc>
                <a:spcPct val="100000"/>
              </a:lnSpc>
              <a:buNone/>
            </a:pPr>
            <a:r>
              <a:rPr lang="en-US" sz="1800" b="1" dirty="0">
                <a:solidFill>
                  <a:schemeClr val="accent3"/>
                </a:solidFill>
              </a:rPr>
              <a:t>[Open-source health]</a:t>
            </a:r>
            <a:r>
              <a:rPr lang="en-US" sz="1800" dirty="0"/>
              <a:t> This system has 1 medium or higher risk vulnerable libraries and 1 licenses with potential legal risks that should be investigated.</a:t>
            </a:r>
          </a:p>
          <a:p>
            <a:pPr marL="0" indent="0">
              <a:lnSpc>
                <a:spcPct val="100000"/>
              </a:lnSpc>
              <a:buNone/>
            </a:pPr>
            <a:endParaRPr lang="en-US" sz="1800" dirty="0">
              <a:solidFill>
                <a:schemeClr val="accent1"/>
              </a:solidFill>
              <a:highlight>
                <a:srgbClr val="FF00FF"/>
              </a:highlight>
            </a:endParaRPr>
          </a:p>
        </p:txBody>
      </p:sp>
      <p:grpSp>
        <p:nvGrpSpPr>
          <p:cNvPr id="3" name="Group 2">
            <a:extLst>
              <a:ext uri="{FF2B5EF4-FFF2-40B4-BE49-F238E27FC236}">
                <a16:creationId xmlns:a16="http://schemas.microsoft.com/office/drawing/2014/main" id="{5343D544-1328-F0BC-2B01-FA489ECF0038}"/>
              </a:ext>
            </a:extLst>
          </p:cNvPr>
          <p:cNvGrpSpPr/>
          <p:nvPr/>
        </p:nvGrpSpPr>
        <p:grpSpPr>
          <a:xfrm>
            <a:off x="3447975" y="6529101"/>
            <a:ext cx="3073536" cy="256609"/>
            <a:chOff x="8280472" y="6533991"/>
            <a:chExt cx="3073536" cy="256609"/>
          </a:xfrm>
        </p:grpSpPr>
        <p:sp>
          <p:nvSpPr>
            <p:cNvPr id="4" name="TextBox 3">
              <a:extLst>
                <a:ext uri="{FF2B5EF4-FFF2-40B4-BE49-F238E27FC236}">
                  <a16:creationId xmlns:a16="http://schemas.microsoft.com/office/drawing/2014/main" id="{D64B3137-0ADF-0C01-58A6-4DC8AAE543B6}"/>
                </a:ext>
              </a:extLst>
            </p:cNvPr>
            <p:cNvSpPr txBox="1"/>
            <p:nvPr/>
          </p:nvSpPr>
          <p:spPr>
            <a:xfrm>
              <a:off x="8280472" y="6533991"/>
              <a:ext cx="3073536" cy="256609"/>
            </a:xfrm>
            <a:prstGeom prst="rect">
              <a:avLst/>
            </a:prstGeom>
            <a:noFill/>
          </p:spPr>
          <p:txBody>
            <a:bodyPr wrap="square" lIns="90000" rtlCol="0" anchor="t">
              <a:spAutoFit/>
            </a:bodyPr>
            <a:lstStyle/>
            <a:p>
              <a:pPr>
                <a:lnSpc>
                  <a:spcPct val="113000"/>
                </a:lnSpc>
              </a:pPr>
              <a:r>
                <a:rPr lang="en-US" sz="1000" b="1">
                  <a:solidFill>
                    <a:schemeClr val="accent1"/>
                  </a:solidFill>
                </a:rPr>
                <a:t>LEGEND</a:t>
              </a:r>
              <a:r>
                <a:rPr lang="en-US" sz="1000">
                  <a:solidFill>
                    <a:schemeClr val="accent1"/>
                  </a:solidFill>
                </a:rPr>
                <a:t>:    Low/no risk                                           High risk</a:t>
              </a:r>
            </a:p>
          </p:txBody>
        </p:sp>
        <p:cxnSp>
          <p:nvCxnSpPr>
            <p:cNvPr id="7" name="Straight Connector 6">
              <a:extLst>
                <a:ext uri="{FF2B5EF4-FFF2-40B4-BE49-F238E27FC236}">
                  <a16:creationId xmlns:a16="http://schemas.microsoft.com/office/drawing/2014/main" id="{3CA0954F-6B17-F07B-256E-572A096BF3BE}"/>
                </a:ext>
              </a:extLst>
            </p:cNvPr>
            <p:cNvCxnSpPr/>
            <p:nvPr/>
          </p:nvCxnSpPr>
          <p:spPr>
            <a:xfrm>
              <a:off x="9631624" y="6670459"/>
              <a:ext cx="1023457" cy="0"/>
            </a:xfrm>
            <a:prstGeom prst="line">
              <a:avLst/>
            </a:prstGeom>
            <a:ln w="63500" cap="rnd">
              <a:gradFill>
                <a:gsLst>
                  <a:gs pos="0">
                    <a:srgbClr val="57C968"/>
                  </a:gs>
                  <a:gs pos="33000">
                    <a:srgbClr val="F8C740"/>
                  </a:gs>
                  <a:gs pos="66000">
                    <a:srgbClr val="EF981A"/>
                  </a:gs>
                  <a:gs pos="100000">
                    <a:srgbClr val="DB493D"/>
                  </a:gs>
                </a:gsLst>
                <a:lin ang="0" scaled="0"/>
              </a:gradFill>
              <a:prstDash val="solid"/>
            </a:ln>
          </p:spPr>
          <p:style>
            <a:lnRef idx="1">
              <a:schemeClr val="accent1"/>
            </a:lnRef>
            <a:fillRef idx="0">
              <a:schemeClr val="accent1"/>
            </a:fillRef>
            <a:effectRef idx="0">
              <a:schemeClr val="accent1"/>
            </a:effectRef>
            <a:fontRef idx="minor">
              <a:schemeClr val="tx1"/>
            </a:fontRef>
          </p:style>
        </p:cxnSp>
      </p:grpSp>
      <p:sp>
        <p:nvSpPr>
          <p:cNvPr id="8" name="TextBox 7">
            <a:extLst>
              <a:ext uri="{FF2B5EF4-FFF2-40B4-BE49-F238E27FC236}">
                <a16:creationId xmlns:a16="http://schemas.microsoft.com/office/drawing/2014/main" id="{374B119E-D97B-2CBE-3AAC-33962491AA02}"/>
              </a:ext>
            </a:extLst>
          </p:cNvPr>
          <p:cNvSpPr txBox="1"/>
          <p:nvPr/>
        </p:nvSpPr>
        <p:spPr>
          <a:xfrm>
            <a:off x="6445572" y="6528939"/>
            <a:ext cx="2996384" cy="256597"/>
          </a:xfrm>
          <a:prstGeom prst="rect">
            <a:avLst/>
          </a:prstGeom>
          <a:noFill/>
        </p:spPr>
        <p:txBody>
          <a:bodyPr wrap="square" lIns="90000" rtlCol="0" anchor="t">
            <a:spAutoFit/>
          </a:bodyPr>
          <a:lstStyle/>
          <a:p>
            <a:pPr algn="l">
              <a:lnSpc>
                <a:spcPct val="113000"/>
              </a:lnSpc>
            </a:pPr>
            <a:r>
              <a:rPr lang="en-NL" sz="1000">
                <a:solidFill>
                  <a:schemeClr val="accent1"/>
                </a:solidFill>
              </a:rPr>
              <a:t>L = No/Low | M = Moderate | </a:t>
            </a:r>
            <a:r>
              <a:rPr lang="en-GB" sz="1000">
                <a:solidFill>
                  <a:schemeClr val="accent1"/>
                </a:solidFill>
              </a:rPr>
              <a:t>H</a:t>
            </a:r>
            <a:r>
              <a:rPr lang="en-NL" sz="1000">
                <a:solidFill>
                  <a:schemeClr val="accent1"/>
                </a:solidFill>
              </a:rPr>
              <a:t> = High | C = Critical</a:t>
            </a:r>
          </a:p>
        </p:txBody>
      </p:sp>
    </p:spTree>
    <p:extLst>
      <p:ext uri="{BB962C8B-B14F-4D97-AF65-F5344CB8AC3E}">
        <p14:creationId xmlns:p14="http://schemas.microsoft.com/office/powerpoint/2010/main" val="183515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1F449F31-3719-D447-B334-2BA3512A2A58}"/>
              </a:ext>
            </a:extLst>
          </p:cNvPr>
          <p:cNvSpPr/>
          <p:nvPr/>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57" name="Slide Number Placeholder 1">
            <a:extLst>
              <a:ext uri="{FF2B5EF4-FFF2-40B4-BE49-F238E27FC236}">
                <a16:creationId xmlns:a16="http://schemas.microsoft.com/office/drawing/2014/main" id="{43010B43-E6A1-0A42-81DC-A2705ED0D801}"/>
              </a:ext>
            </a:extLst>
          </p:cNvPr>
          <p:cNvSpPr>
            <a:spLocks noGrp="1"/>
          </p:cNvSpPr>
          <p:nvPr>
            <p:ph type="sldNum" sz="quarter" idx="4"/>
          </p:nvPr>
        </p:nvSpPr>
        <p:spPr/>
        <p:txBody>
          <a:bodyPr/>
          <a:lstStyle/>
          <a:p>
            <a:fld id="{E242BD21-9B61-2246-BCB1-4BE5E1BEBE1C}" type="slidenum">
              <a:rPr lang="en-US" smtClean="0"/>
              <a:pPr/>
              <a:t>3</a:t>
            </a:fld>
            <a:endParaRPr lang="en-US"/>
          </a:p>
        </p:txBody>
      </p:sp>
      <p:sp>
        <p:nvSpPr>
          <p:cNvPr id="35" name="Text Placeholder 34">
            <a:extLst>
              <a:ext uri="{FF2B5EF4-FFF2-40B4-BE49-F238E27FC236}">
                <a16:creationId xmlns:a16="http://schemas.microsoft.com/office/drawing/2014/main" id="{72F5A018-2E28-3A48-A092-0C11E2399227}"/>
              </a:ext>
            </a:extLst>
          </p:cNvPr>
          <p:cNvSpPr>
            <a:spLocks noGrp="1"/>
          </p:cNvSpPr>
          <p:nvPr>
            <p:ph type="body" sz="quarter" idx="12"/>
          </p:nvPr>
        </p:nvSpPr>
        <p:spPr/>
        <p:txBody>
          <a:bodyPr/>
          <a:lstStyle/>
          <a:p>
            <a:r>
              <a:rPr lang="da-DK" dirty="0"/>
              <a:t>Key </a:t>
            </a:r>
            <a:r>
              <a:rPr lang="da-DK" dirty="0" err="1"/>
              <a:t>findings</a:t>
            </a:r>
            <a:r>
              <a:rPr lang="da-DK" dirty="0"/>
              <a:t> – </a:t>
            </a:r>
            <a:r>
              <a:rPr lang="da-DK" dirty="0" err="1">
                <a:solidFill>
                  <a:schemeClr val="accent3"/>
                </a:solidFill>
              </a:rPr>
              <a:t>technology</a:t>
            </a:r>
            <a:endParaRPr lang="da-DK" dirty="0">
              <a:solidFill>
                <a:schemeClr val="accent3"/>
              </a:solidFill>
            </a:endParaRPr>
          </a:p>
        </p:txBody>
      </p:sp>
      <p:sp>
        <p:nvSpPr>
          <p:cNvPr id="3" name="Title 2">
            <a:extLst>
              <a:ext uri="{FF2B5EF4-FFF2-40B4-BE49-F238E27FC236}">
                <a16:creationId xmlns:a16="http://schemas.microsoft.com/office/drawing/2014/main" id="{21196999-2FDC-B64D-87C7-CBB95F403705}"/>
              </a:ext>
            </a:extLst>
          </p:cNvPr>
          <p:cNvSpPr>
            <a:spLocks noGrp="1"/>
          </p:cNvSpPr>
          <p:nvPr>
            <p:ph type="title"/>
          </p:nvPr>
        </p:nvSpPr>
        <p:spPr/>
        <p:txBody>
          <a:bodyPr/>
          <a:lstStyle/>
          <a:p>
            <a:r>
              <a:rPr lang="en-US" dirty="0"/>
              <a:t>The system is large in size and is built primarily in Scala</a:t>
            </a:r>
          </a:p>
        </p:txBody>
      </p:sp>
      <p:sp>
        <p:nvSpPr>
          <p:cNvPr id="4" name="Content Placeholder 3">
            <a:extLst>
              <a:ext uri="{FF2B5EF4-FFF2-40B4-BE49-F238E27FC236}">
                <a16:creationId xmlns:a16="http://schemas.microsoft.com/office/drawing/2014/main" id="{0BE97E62-871D-ED41-BB4A-23A54EDA32B5}"/>
              </a:ext>
            </a:extLst>
          </p:cNvPr>
          <p:cNvSpPr>
            <a:spLocks noGrp="1"/>
          </p:cNvSpPr>
          <p:nvPr>
            <p:ph sz="quarter" idx="13"/>
          </p:nvPr>
        </p:nvSpPr>
        <p:spPr>
          <a:xfrm>
            <a:off x="514800" y="1368000"/>
            <a:ext cx="3297764" cy="4950000"/>
          </a:xfrm>
        </p:spPr>
        <p:txBody>
          <a:bodyPr/>
          <a:lstStyle/>
          <a:p>
            <a:r>
              <a:rPr lang="en-US" dirty="0" err="1"/>
              <a:t>The system is built using mostly modern technologies, and has no or minimal technologies that should be phased out.</a:t>
            </a:r>
            <a:endParaRPr lang="en-US" dirty="0"/>
          </a:p>
          <a:p>
            <a:r>
              <a:rPr lang="en-US" dirty="0" err="1"/>
              <a:t>The system is mainly built using 2 different technologies: Scala, Java</a:t>
            </a:r>
            <a:endParaRPr lang="en-US" dirty="0"/>
          </a:p>
        </p:txBody>
      </p:sp>
      <p:sp>
        <p:nvSpPr>
          <p:cNvPr id="18" name="Text Placeholder 29">
            <a:extLst>
              <a:ext uri="{FF2B5EF4-FFF2-40B4-BE49-F238E27FC236}">
                <a16:creationId xmlns:a16="http://schemas.microsoft.com/office/drawing/2014/main" id="{B95F9BC0-7330-914B-8E9E-94AD448E4FBA}"/>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39.7 PY</a:t>
            </a:r>
            <a:endParaRPr lang="en-US" b="0" dirty="0"/>
          </a:p>
        </p:txBody>
      </p:sp>
      <p:graphicFrame>
        <p:nvGraphicFramePr>
          <p:cNvPr id="2" name="Chart 1">
            <a:extLst>
              <a:ext uri="{FF2B5EF4-FFF2-40B4-BE49-F238E27FC236}">
                <a16:creationId xmlns:a16="http://schemas.microsoft.com/office/drawing/2014/main" id="{2F056781-96E5-A84E-9B0E-0816F0C0E537}"/>
              </a:ext>
            </a:extLst>
          </p:cNvPr>
          <p:cNvGraphicFramePr/>
          <p:nvPr>
            <p:extLst>
              <p:ext uri="{D42A27DB-BD31-4B8C-83A1-F6EECF244321}">
                <p14:modId xmlns:p14="http://schemas.microsoft.com/office/powerpoint/2010/main" val="2838478197"/>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10">
            <a:extLst>
              <a:ext uri="{FF2B5EF4-FFF2-40B4-BE49-F238E27FC236}">
                <a16:creationId xmlns:a16="http://schemas.microsoft.com/office/drawing/2014/main" id="{47602722-FBEA-F24D-A573-D8200328D213}"/>
              </a:ext>
            </a:extLst>
          </p:cNvPr>
          <p:cNvGraphicFramePr>
            <a:graphicFrameLocks noGrp="1"/>
          </p:cNvGraphicFramePr>
          <p:nvPr>
            <p:extLst>
              <p:ext uri="{D42A27DB-BD31-4B8C-83A1-F6EECF244321}">
                <p14:modId xmlns:p14="http://schemas.microsoft.com/office/powerpoint/2010/main" val="681163907"/>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Technology</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noProof="0">
                          <a:solidFill>
                            <a:schemeClr val="bg1"/>
                          </a:solidFill>
                          <a:latin typeface="+mn-lt"/>
                        </a:rPr>
                        <a:t>LOC</a:t>
                      </a: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i="0" noProof="0" err="1">
                          <a:solidFill>
                            <a:schemeClr val="bg1"/>
                          </a:solidFill>
                          <a:latin typeface="+mn-lt"/>
                          <a:cs typeface="TheSans B4 SemiLight"/>
                        </a:rPr>
                        <a:t>Rebuild</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size</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PY</a:t>
                      </a:r>
                      <a:r>
                        <a:rPr lang="nl-NL" sz="1400" b="1" i="0" noProof="0">
                          <a:solidFill>
                            <a:schemeClr val="bg1"/>
                          </a:solidFill>
                          <a:latin typeface="+mn-lt"/>
                          <a:cs typeface="TheSans B4 SemiLight"/>
                        </a:rPr>
                        <a: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2"/>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4606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0.5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7" name="Text Placeholder 29">
            <a:extLst>
              <a:ext uri="{FF2B5EF4-FFF2-40B4-BE49-F238E27FC236}">
                <a16:creationId xmlns:a16="http://schemas.microsoft.com/office/drawing/2014/main" id="{34953B0A-BA73-504C-811A-B3CDE825A186}"/>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dirty="0"/>
              <a:t>Total system volume:</a:t>
            </a:r>
            <a:endParaRPr lang="en-US" b="0" dirty="0"/>
          </a:p>
        </p:txBody>
      </p:sp>
      <p:sp>
        <p:nvSpPr>
          <p:cNvPr id="21" name="Text Placeholder 29">
            <a:extLst>
              <a:ext uri="{FF2B5EF4-FFF2-40B4-BE49-F238E27FC236}">
                <a16:creationId xmlns:a16="http://schemas.microsoft.com/office/drawing/2014/main" id="{9EA93C31-7D02-A448-9A77-0EEE72037098}"/>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292,692 LOC</a:t>
            </a:r>
            <a:endParaRPr lang="en-US" b="0" dirty="0"/>
          </a:p>
        </p:txBody>
      </p:sp>
      <p:sp>
        <p:nvSpPr>
          <p:cNvPr id="22" name="TextBox 21">
            <a:extLst>
              <a:ext uri="{FF2B5EF4-FFF2-40B4-BE49-F238E27FC236}">
                <a16:creationId xmlns:a16="http://schemas.microsoft.com/office/drawing/2014/main" id="{5C0C1FDA-5A36-AF44-81EB-8575C7793171}"/>
              </a:ext>
            </a:extLst>
          </p:cNvPr>
          <p:cNvSpPr txBox="1"/>
          <p:nvPr/>
        </p:nvSpPr>
        <p:spPr>
          <a:xfrm>
            <a:off x="3588669" y="6539325"/>
            <a:ext cx="7345448" cy="246221"/>
          </a:xfrm>
          <a:prstGeom prst="rect">
            <a:avLst/>
          </a:prstGeom>
          <a:noFill/>
        </p:spPr>
        <p:txBody>
          <a:bodyPr wrap="square" lIns="90000" rtlCol="0" anchor="t">
            <a:spAutoFit/>
          </a:bodyPr>
          <a:lstStyle/>
          <a:p>
            <a:r>
              <a:rPr lang="en-US" sz="1000" b="1">
                <a:solidFill>
                  <a:schemeClr val="accent1"/>
                </a:solidFill>
              </a:rPr>
              <a:t>PM</a:t>
            </a:r>
            <a:r>
              <a:rPr lang="en-US" sz="1000">
                <a:solidFill>
                  <a:schemeClr val="accent1"/>
                </a:solidFill>
              </a:rPr>
              <a:t> = Person Months (rebuild size), </a:t>
            </a:r>
            <a:r>
              <a:rPr lang="en-US" sz="1000" b="1" err="1">
                <a:solidFill>
                  <a:schemeClr val="accent1"/>
                </a:solidFill>
              </a:rPr>
              <a:t>PY</a:t>
            </a:r>
            <a:r>
              <a:rPr lang="en-US" sz="1000">
                <a:solidFill>
                  <a:schemeClr val="accent1"/>
                </a:solidFill>
              </a:rPr>
              <a:t> = Person Years (rebuild size) </a:t>
            </a:r>
          </a:p>
        </p:txBody>
      </p:sp>
      <p:sp>
        <p:nvSpPr>
          <p:cNvPr id="7" name="TextBox 6">
            <a:extLst>
              <a:ext uri="{FF2B5EF4-FFF2-40B4-BE49-F238E27FC236}">
                <a16:creationId xmlns:a16="http://schemas.microsoft.com/office/drawing/2014/main" id="{B118CFB0-8BED-E2AA-7F87-EA8A27DA4B79}"/>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TECHNOLOGY_CHART</a:t>
            </a:r>
            <a:endParaRPr lang="en-US" sz="1600" dirty="0">
              <a:solidFill>
                <a:schemeClr val="tx2"/>
              </a:solidFill>
            </a:endParaRPr>
          </a:p>
        </p:txBody>
      </p:sp>
    </p:spTree>
    <p:extLst>
      <p:ext uri="{BB962C8B-B14F-4D97-AF65-F5344CB8AC3E}">
        <p14:creationId xmlns:p14="http://schemas.microsoft.com/office/powerpoint/2010/main" val="2203006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18A21A-24C5-40C5-4CDB-EA624C29AA9E}"/>
              </a:ext>
            </a:extLst>
          </p:cNvPr>
          <p:cNvSpPr>
            <a:spLocks noGrp="1"/>
          </p:cNvSpPr>
          <p:nvPr>
            <p:ph type="sldNum" sz="quarter" idx="4"/>
          </p:nvPr>
        </p:nvSpPr>
        <p:spPr/>
        <p:txBody>
          <a:body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5D433BDC-89A5-E3A4-AEC7-4B221AF3E3BF}"/>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TEST CODE</a:t>
            </a:r>
          </a:p>
        </p:txBody>
      </p:sp>
      <p:sp>
        <p:nvSpPr>
          <p:cNvPr id="4" name="Title 3">
            <a:extLst>
              <a:ext uri="{FF2B5EF4-FFF2-40B4-BE49-F238E27FC236}">
                <a16:creationId xmlns:a16="http://schemas.microsoft.com/office/drawing/2014/main" id="{1F0EBEF5-DCD9-FC37-4864-9AD952D15128}"/>
              </a:ext>
            </a:extLst>
          </p:cNvPr>
          <p:cNvSpPr>
            <a:spLocks noGrp="1"/>
          </p:cNvSpPr>
          <p:nvPr>
            <p:ph type="title"/>
          </p:nvPr>
        </p:nvSpPr>
        <p:spPr/>
        <p:txBody>
          <a:bodyPr/>
          <a:lstStyle/>
          <a:p>
            <a:r>
              <a:rPr lang="en-US" dirty="0" err="1"/>
              <a:t>Twitter Algorithm has an below market average test/code ratio</a:t>
            </a:r>
          </a:p>
        </p:txBody>
      </p:sp>
      <p:sp>
        <p:nvSpPr>
          <p:cNvPr id="13" name="TextBox 12">
            <a:extLst>
              <a:ext uri="{FF2B5EF4-FFF2-40B4-BE49-F238E27FC236}">
                <a16:creationId xmlns:a16="http://schemas.microsoft.com/office/drawing/2014/main" id="{A467E356-2302-043B-D4F1-18D148D4F0C8}"/>
              </a:ext>
            </a:extLst>
          </p:cNvPr>
          <p:cNvSpPr txBox="1"/>
          <p:nvPr/>
        </p:nvSpPr>
        <p:spPr>
          <a:xfrm>
            <a:off x="7118733" y="1234521"/>
            <a:ext cx="4376866" cy="388055"/>
          </a:xfrm>
          <a:prstGeom prst="rect">
            <a:avLst/>
          </a:prstGeom>
          <a:noFill/>
        </p:spPr>
        <p:txBody>
          <a:bodyPr wrap="square" lIns="90000" rtlCol="0" anchor="t">
            <a:spAutoFit/>
          </a:bodyPr>
          <a:lstStyle/>
          <a:p>
            <a:pPr algn="ctr">
              <a:lnSpc>
                <a:spcPct val="113000"/>
              </a:lnSpc>
            </a:pPr>
            <a:r>
              <a:rPr lang="en-US" b="1" dirty="0" err="1">
                <a:solidFill>
                  <a:schemeClr val="tx2"/>
                </a:solidFill>
              </a:rPr>
              <a:t>0% overall Test/code ratio</a:t>
            </a:r>
          </a:p>
        </p:txBody>
      </p:sp>
      <p:pic>
        <p:nvPicPr>
          <p:cNvPr id="14" name="Picture 13">
            <a:extLst>
              <a:ext uri="{FF2B5EF4-FFF2-40B4-BE49-F238E27FC236}">
                <a16:creationId xmlns:a16="http://schemas.microsoft.com/office/drawing/2014/main" id="{AC4A68CB-2FEE-81FD-058E-2E5AD8DB5C6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468932" y="5953982"/>
            <a:ext cx="4758570" cy="307564"/>
          </a:xfrm>
          <a:prstGeom prst="rect">
            <a:avLst/>
          </a:prstGeom>
        </p:spPr>
      </p:pic>
      <p:graphicFrame>
        <p:nvGraphicFramePr>
          <p:cNvPr id="18" name="Content Placeholder 17">
            <a:extLst>
              <a:ext uri="{FF2B5EF4-FFF2-40B4-BE49-F238E27FC236}">
                <a16:creationId xmlns:a16="http://schemas.microsoft.com/office/drawing/2014/main" id="{AC1B7746-944D-B669-0A8D-A3370AB580DF}"/>
              </a:ext>
            </a:extLst>
          </p:cNvPr>
          <p:cNvGraphicFramePr>
            <a:graphicFrameLocks noGrp="1"/>
          </p:cNvGraphicFramePr>
          <p:nvPr>
            <p:ph sz="quarter" idx="13"/>
            <p:extLst>
              <p:ext uri="{D42A27DB-BD31-4B8C-83A1-F6EECF244321}">
                <p14:modId xmlns:p14="http://schemas.microsoft.com/office/powerpoint/2010/main" val="3718654622"/>
              </p:ext>
            </p:extLst>
          </p:nvPr>
        </p:nvGraphicFramePr>
        <p:xfrm>
          <a:off x="6957718" y="1622576"/>
          <a:ext cx="4537881" cy="433140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a:extLst>
              <a:ext uri="{FF2B5EF4-FFF2-40B4-BE49-F238E27FC236}">
                <a16:creationId xmlns:a16="http://schemas.microsoft.com/office/drawing/2014/main" id="{FAA0E6AF-E77A-4F4C-45E8-1299E5B1FD0B}"/>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TEST_CODE_RATIO_CHART</a:t>
            </a:r>
            <a:endParaRPr lang="en-US" sz="1600" dirty="0">
              <a:solidFill>
                <a:schemeClr val="tx2"/>
              </a:solidFill>
            </a:endParaRPr>
          </a:p>
        </p:txBody>
      </p:sp>
      <p:sp>
        <p:nvSpPr>
          <p:cNvPr id="20" name="TextBox 19">
            <a:extLst>
              <a:ext uri="{FF2B5EF4-FFF2-40B4-BE49-F238E27FC236}">
                <a16:creationId xmlns:a16="http://schemas.microsoft.com/office/drawing/2014/main" id="{0193147D-DFE7-6BE7-7441-6D385DFAA343}"/>
              </a:ext>
            </a:extLst>
          </p:cNvPr>
          <p:cNvSpPr txBox="1"/>
          <p:nvPr/>
        </p:nvSpPr>
        <p:spPr>
          <a:xfrm>
            <a:off x="553154" y="1444963"/>
            <a:ext cx="4989689" cy="1189878"/>
          </a:xfrm>
          <a:prstGeom prst="rect">
            <a:avLst/>
          </a:prstGeom>
          <a:noFill/>
        </p:spPr>
        <p:txBody>
          <a:bodyPr wrap="square" lIns="90000" rtlCol="0" anchor="t">
            <a:spAutoFit/>
          </a:bodyPr>
          <a:lstStyle/>
          <a:p>
            <a:pPr algn="l">
              <a:lnSpc>
                <a:spcPct val="113000"/>
              </a:lnSpc>
            </a:pPr>
            <a:r>
              <a:rPr lang="en-US" sz="1600" dirty="0" err="1">
                <a:solidFill>
                  <a:schemeClr val="tx2"/>
                </a:solidFill>
              </a:rPr>
              <a:t>Twitter Algorithm scores below market average, with 0% test/production code ratio. </a:t>
            </a:r>
          </a:p>
          <a:p>
            <a:pPr algn="l">
              <a:lnSpc>
                <a:spcPct val="113000"/>
              </a:lnSpc>
            </a:pPr>
            <a:endParaRPr lang="en-US" sz="1600" dirty="0">
              <a:solidFill>
                <a:schemeClr val="tx2"/>
              </a:solidFill>
            </a:endParaRPr>
          </a:p>
          <a:p>
            <a:pPr algn="l">
              <a:lnSpc>
                <a:spcPct val="113000"/>
              </a:lnSpc>
            </a:pPr>
            <a:r>
              <a:rPr lang="en-US" sz="160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sz="1600" dirty="0">
              <a:solidFill>
                <a:schemeClr val="tx2"/>
              </a:solidFill>
            </a:endParaRPr>
          </a:p>
        </p:txBody>
      </p:sp>
    </p:spTree>
    <p:extLst>
      <p:ext uri="{BB962C8B-B14F-4D97-AF65-F5344CB8AC3E}">
        <p14:creationId xmlns:p14="http://schemas.microsoft.com/office/powerpoint/2010/main" val="102671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6A1C3D-3AA8-834F-A994-FA0207D36413}"/>
              </a:ext>
            </a:extLst>
          </p:cNvPr>
          <p:cNvPicPr>
            <a:picLocks noChangeAspect="1"/>
          </p:cNvPicPr>
          <p:nvPr/>
        </p:nvPicPr>
        <p:blipFill>
          <a:blip r:embed="rId3"/>
          <a:stretch>
            <a:fillRect/>
          </a:stretch>
        </p:blipFill>
        <p:spPr>
          <a:xfrm>
            <a:off x="1" y="1010101"/>
            <a:ext cx="12192000" cy="5390415"/>
          </a:xfrm>
          <a:prstGeom prst="rect">
            <a:avLst/>
          </a:prstGeom>
          <a:noFill/>
          <a:ln>
            <a:noFill/>
          </a:ln>
        </p:spPr>
      </p:pic>
      <p:sp>
        <p:nvSpPr>
          <p:cNvPr id="8" name="Text Placeholder 7">
            <a:extLst>
              <a:ext uri="{FF2B5EF4-FFF2-40B4-BE49-F238E27FC236}">
                <a16:creationId xmlns:a16="http://schemas.microsoft.com/office/drawing/2014/main" id="{1D99F1CB-7901-D148-8851-054AF6F7AB3C}"/>
              </a:ext>
            </a:extLst>
          </p:cNvPr>
          <p:cNvSpPr>
            <a:spLocks noGrp="1"/>
          </p:cNvSpPr>
          <p:nvPr>
            <p:ph type="body" sz="quarter" idx="12"/>
          </p:nvPr>
        </p:nvSpPr>
        <p:spPr>
          <a:xfrm>
            <a:off x="2105790" y="169213"/>
            <a:ext cx="9639877" cy="216756"/>
          </a:xfrm>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7" name="TITLE">
            <a:extLst>
              <a:ext uri="{FF2B5EF4-FFF2-40B4-BE49-F238E27FC236}">
                <a16:creationId xmlns:a16="http://schemas.microsoft.com/office/drawing/2014/main" id="{ADE34061-4828-C24F-8E69-8233C2B42F3F}"/>
              </a:ext>
            </a:extLst>
          </p:cNvPr>
          <p:cNvSpPr>
            <a:spLocks noGrp="1"/>
          </p:cNvSpPr>
          <p:nvPr>
            <p:ph type="title"/>
          </p:nvPr>
        </p:nvSpPr>
        <p:spPr/>
        <p:txBody>
          <a:bodyPr/>
          <a:lstStyle/>
          <a:p>
            <a:r>
              <a:rPr lang="en-US" dirty="0" err="1"/>
              <a:t>Twitter Algorithm is a large system of 39.7 PY which scores 3.1 for maintainability </a:t>
            </a:r>
            <a:endParaRPr dirty="0"/>
          </a:p>
        </p:txBody>
      </p:sp>
      <p:sp>
        <p:nvSpPr>
          <p:cNvPr id="12" name="Rectangle 11">
            <a:extLst>
              <a:ext uri="{FF2B5EF4-FFF2-40B4-BE49-F238E27FC236}">
                <a16:creationId xmlns:a16="http://schemas.microsoft.com/office/drawing/2014/main" id="{15A22FF7-2BA3-1F40-8DD0-DE0D3F1EF364}"/>
              </a:ext>
            </a:extLst>
          </p:cNvPr>
          <p:cNvSpPr/>
          <p:nvPr/>
        </p:nvSpPr>
        <p:spPr>
          <a:xfrm>
            <a:off x="0" y="856385"/>
            <a:ext cx="12192001" cy="940610"/>
          </a:xfrm>
          <a:prstGeom prst="rect">
            <a:avLst/>
          </a:prstGeom>
          <a:gradFill>
            <a:gsLst>
              <a:gs pos="100000">
                <a:schemeClr val="tx2">
                  <a:alpha val="0"/>
                </a:schemeClr>
              </a:gs>
              <a:gs pos="5000">
                <a:schemeClr val="tx2"/>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3" name="Rectangle 42">
            <a:extLst>
              <a:ext uri="{FF2B5EF4-FFF2-40B4-BE49-F238E27FC236}">
                <a16:creationId xmlns:a16="http://schemas.microsoft.com/office/drawing/2014/main" id="{14B5C55A-0F65-334C-BA45-7E6C78227CA0}"/>
              </a:ext>
            </a:extLst>
          </p:cNvPr>
          <p:cNvSpPr/>
          <p:nvPr/>
        </p:nvSpPr>
        <p:spPr>
          <a:xfrm>
            <a:off x="634296" y="856385"/>
            <a:ext cx="9349048" cy="6001615"/>
          </a:xfrm>
          <a:prstGeom prst="rect">
            <a:avLst/>
          </a:prstGeom>
          <a:gradFill>
            <a:gsLst>
              <a:gs pos="38000">
                <a:schemeClr val="accent2">
                  <a:alpha val="0"/>
                </a:schemeClr>
              </a:gs>
              <a:gs pos="62000">
                <a:schemeClr val="accent1"/>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2" name="Slide Number Placeholder 1">
            <a:extLst>
              <a:ext uri="{FF2B5EF4-FFF2-40B4-BE49-F238E27FC236}">
                <a16:creationId xmlns:a16="http://schemas.microsoft.com/office/drawing/2014/main" id="{03CE94B3-7184-6F49-9E35-6B595DC2D44F}"/>
              </a:ext>
            </a:extLst>
          </p:cNvPr>
          <p:cNvSpPr>
            <a:spLocks noGrp="1"/>
          </p:cNvSpPr>
          <p:nvPr>
            <p:ph type="sldNum" sz="quarter" idx="4"/>
          </p:nvPr>
        </p:nvSpPr>
        <p:spPr/>
        <p:txBody>
          <a:bodyPr/>
          <a:lstStyle/>
          <a:p>
            <a:fld id="{E242BD21-9B61-2246-BCB1-4BE5E1BEBE1C}" type="slidenum">
              <a:rPr lang="en-US" smtClean="0"/>
              <a:pPr/>
              <a:t>5</a:t>
            </a:fld>
            <a:endParaRPr lang="en-US"/>
          </a:p>
        </p:txBody>
      </p:sp>
      <p:sp>
        <p:nvSpPr>
          <p:cNvPr id="19" name="TextBox 18">
            <a:extLst>
              <a:ext uri="{FF2B5EF4-FFF2-40B4-BE49-F238E27FC236}">
                <a16:creationId xmlns:a16="http://schemas.microsoft.com/office/drawing/2014/main" id="{AB2C3C6B-FDFF-1D49-A1BC-305B68E0B083}"/>
              </a:ext>
            </a:extLst>
          </p:cNvPr>
          <p:cNvSpPr txBox="1"/>
          <p:nvPr/>
        </p:nvSpPr>
        <p:spPr>
          <a:xfrm>
            <a:off x="719304" y="1798115"/>
            <a:ext cx="1040819" cy="3653501"/>
          </a:xfrm>
          <a:prstGeom prst="rect">
            <a:avLst/>
          </a:prstGeom>
          <a:noFill/>
        </p:spPr>
        <p:txBody>
          <a:bodyPr wrap="none" lIns="90000" rtlCol="0" anchor="t">
            <a:spAutoFit/>
          </a:bodyPr>
          <a:lstStyle/>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74159" y="3637528"/>
            <a:ext cx="1247606"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27385" y="5971218"/>
            <a:ext cx="2826564"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SYSTEM REBUILD VOLUME</a:t>
            </a:r>
            <a:r>
              <a:rPr lang="en-NL" sz="1100" dirty="0">
                <a:solidFill>
                  <a:schemeClr val="accent2"/>
                </a:solidFill>
              </a:rPr>
              <a:t>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p:nvPr/>
        </p:nvCxnSpPr>
        <p:spPr>
          <a:xfrm flipV="1">
            <a:off x="723627" y="3154373"/>
            <a:ext cx="0" cy="1245793"/>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p:nvPr/>
        </p:nvCxnSpPr>
        <p:spPr>
          <a:xfrm>
            <a:off x="5427385" y="6293337"/>
            <a:ext cx="2826564"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3593780878"/>
              </p:ext>
            </p:extLst>
          </p:nvPr>
        </p:nvGraphicFramePr>
        <p:xfrm>
          <a:off x="1477919" y="1834937"/>
          <a:ext cx="10279108" cy="4131132"/>
        </p:xfrm>
        <a:graphic>
          <a:graphicData uri="http://schemas.openxmlformats.org/drawingml/2006/chart">
            <c:chart xmlns:c="http://schemas.openxmlformats.org/drawingml/2006/chart" xmlns:r="http://schemas.openxmlformats.org/officeDocument/2006/relationships" r:id="rId5"/>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245200" y="1363956"/>
            <a:ext cx="3091908" cy="388055"/>
            <a:chOff x="4652159" y="1363956"/>
            <a:chExt cx="3091908"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6">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56480" cy="388055"/>
            </a:xfrm>
            <a:prstGeom prst="rect">
              <a:avLst/>
            </a:prstGeom>
            <a:noFill/>
          </p:spPr>
          <p:txBody>
            <a:bodyPr wrap="none" lIns="90000" rtlCol="0" anchor="t">
              <a:spAutoFit/>
            </a:bodyPr>
            <a:lstStyle/>
            <a:p>
              <a:pPr algn="l">
                <a:lnSpc>
                  <a:spcPct val="113000"/>
                </a:lnSpc>
              </a:pPr>
              <a:r>
                <a:rPr lang="en-NL" b="1" dirty="0">
                  <a:solidFill>
                    <a:schemeClr val="bg1"/>
                  </a:solidFill>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54803"/>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NL" sz="1200" dirty="0">
                  <a:solidFill>
                    <a:schemeClr val="bg1"/>
                  </a:solidFill>
                </a:rPr>
                <a:t>System in SIG benchmark</a:t>
              </a:r>
            </a:p>
          </p:txBody>
        </p:sp>
      </p:grpSp>
      <p:sp>
        <p:nvSpPr>
          <p:cNvPr id="3" name="TextBox 2">
            <a:extLst>
              <a:ext uri="{FF2B5EF4-FFF2-40B4-BE49-F238E27FC236}">
                <a16:creationId xmlns:a16="http://schemas.microsoft.com/office/drawing/2014/main" id="{5E6F0224-6430-EFA1-D313-482D221B7593}"/>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6</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nl-NL" dirty="0"/>
              <a:t>Twitter Algorithm scores at market average for maintainability</a:t>
            </a:r>
            <a:endParaRPr lang="en-NL"/>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03</a:t>
            </a:r>
            <a:endParaRPr lang="en-NL"/>
          </a:p>
        </p:txBody>
      </p:sp>
      <p:sp>
        <p:nvSpPr>
          <p:cNvPr id="227" name="Text Placeholder 226">
            <a:extLst>
              <a:ext uri="{FF2B5EF4-FFF2-40B4-BE49-F238E27FC236}">
                <a16:creationId xmlns:a16="http://schemas.microsoft.com/office/drawing/2014/main" id="{FAAA969D-31E3-621C-FDF8-31749FD317AA}"/>
              </a:ext>
            </a:extLst>
          </p:cNvPr>
          <p:cNvSpPr>
            <a:spLocks noGrp="1"/>
          </p:cNvSpPr>
          <p:nvPr>
            <p:ph type="body" sz="quarter" idx="20"/>
          </p:nvPr>
        </p:nvSpPr>
        <p:spPr/>
        <p:txBody>
          <a:bodyPr/>
          <a:lstStyle/>
          <a:p>
            <a:r>
              <a:rPr lang="en-US" dirty="0" err="1"/>
              <a:t>APR</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2023</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229" name="Text Placeholder 228">
            <a:extLst>
              <a:ext uri="{FF2B5EF4-FFF2-40B4-BE49-F238E27FC236}">
                <a16:creationId xmlns:a16="http://schemas.microsoft.com/office/drawing/2014/main" id="{D6184AC1-2E4A-66F7-C655-6901112147F1}"/>
              </a:ext>
            </a:extLst>
          </p:cNvPr>
          <p:cNvSpPr>
            <a:spLocks noGrp="1"/>
          </p:cNvSpPr>
          <p:nvPr>
            <p:ph type="body" sz="quarter" idx="22"/>
          </p:nvPr>
        </p:nvSpPr>
        <p:spPr>
          <a:xfrm>
            <a:off x="9151220" y="914509"/>
            <a:ext cx="984245" cy="257763"/>
          </a:xfrm>
        </p:spPr>
        <p:txBody>
          <a:bodyPr/>
          <a:lstStyle/>
          <a:p>
            <a:r>
              <a:rPr lang="en-GB"/>
              <a:t>Maintainability</a:t>
            </a:r>
            <a:endParaRPr lang="en-NL"/>
          </a:p>
        </p:txBody>
      </p:sp>
      <p:grpSp>
        <p:nvGrpSpPr>
          <p:cNvPr id="50" name="Group 49">
            <a:extLst>
              <a:ext uri="{FF2B5EF4-FFF2-40B4-BE49-F238E27FC236}">
                <a16:creationId xmlns:a16="http://schemas.microsoft.com/office/drawing/2014/main" id="{B0227ECC-F4D1-7273-A4F6-58B0F444DF23}"/>
              </a:ext>
            </a:extLst>
          </p:cNvPr>
          <p:cNvGrpSpPr/>
          <p:nvPr/>
        </p:nvGrpSpPr>
        <p:grpSpPr>
          <a:xfrm>
            <a:off x="6091997" y="1568465"/>
            <a:ext cx="373034" cy="430054"/>
            <a:chOff x="5730574" y="2099850"/>
            <a:chExt cx="373034" cy="430054"/>
          </a:xfrm>
        </p:grpSpPr>
        <p:sp>
          <p:nvSpPr>
            <p:cNvPr id="51" name="Rectangle 50">
              <a:extLst>
                <a:ext uri="{FF2B5EF4-FFF2-40B4-BE49-F238E27FC236}">
                  <a16:creationId xmlns:a16="http://schemas.microsoft.com/office/drawing/2014/main" id="{22A6F0A6-4311-08D2-8340-B7A7C7FB136C}"/>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3.1</a:t>
              </a:r>
              <a:endParaRPr lang="en-US" sz="1400" b="1" dirty="0"/>
            </a:p>
          </p:txBody>
        </p:sp>
        <p:sp>
          <p:nvSpPr>
            <p:cNvPr id="52" name="Pentagon 51">
              <a:extLst>
                <a:ext uri="{FF2B5EF4-FFF2-40B4-BE49-F238E27FC236}">
                  <a16:creationId xmlns:a16="http://schemas.microsoft.com/office/drawing/2014/main" id="{D6282190-CB5E-00CF-1108-FD64568BF250}"/>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6" name="Group 52">
            <a:extLst>
              <a:ext uri="{FF2B5EF4-FFF2-40B4-BE49-F238E27FC236}">
                <a16:creationId xmlns:a16="http://schemas.microsoft.com/office/drawing/2014/main" id="{CEEF6B38-33C1-7E86-53F1-3C2F6EBBC26A}"/>
              </a:ext>
            </a:extLst>
          </p:cNvPr>
          <p:cNvGraphicFramePr>
            <a:graphicFrameLocks noGrp="1"/>
          </p:cNvGraphicFramePr>
          <p:nvPr>
            <p:extLst>
              <p:ext uri="{D42A27DB-BD31-4B8C-83A1-F6EECF244321}">
                <p14:modId xmlns:p14="http://schemas.microsoft.com/office/powerpoint/2010/main" val="1052945820"/>
              </p:ext>
            </p:extLst>
          </p:nvPr>
        </p:nvGraphicFramePr>
        <p:xfrm>
          <a:off x="7984631" y="3243717"/>
          <a:ext cx="3755424" cy="115488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Volume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3.3</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Unit size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52530004"/>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Component entanglement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8207179"/>
                  </a:ext>
                </a:extLst>
              </a:tr>
            </a:tbl>
          </a:graphicData>
        </a:graphic>
      </p:graphicFrame>
      <p:sp>
        <p:nvSpPr>
          <p:cNvPr id="6" name="TextBox 5">
            <a:extLst>
              <a:ext uri="{FF2B5EF4-FFF2-40B4-BE49-F238E27FC236}">
                <a16:creationId xmlns:a16="http://schemas.microsoft.com/office/drawing/2014/main" id="{83720861-DD0F-D566-06AC-40B24CCB06F1}"/>
              </a:ext>
            </a:extLst>
          </p:cNvPr>
          <p:cNvSpPr txBox="1"/>
          <p:nvPr/>
        </p:nvSpPr>
        <p:spPr>
          <a:xfrm>
            <a:off x="436369" y="3344081"/>
            <a:ext cx="6811819" cy="1569660"/>
          </a:xfrm>
          <a:prstGeom prst="rect">
            <a:avLst/>
          </a:prstGeom>
          <a:noFill/>
        </p:spPr>
        <p:txBody>
          <a:bodyPr wrap="square">
            <a:spAutoFit/>
          </a:bodyPr>
          <a:lstStyle/>
          <a:p>
            <a:r>
              <a:rPr kumimoji="0" lang="en-US" sz="1600" b="0" i="0" u="none" strike="noStrike" kern="1200" cap="none" spc="0" normalizeH="0" baseline="0" noProof="0" dirty="0" err="1">
                <a:ln>
                  <a:noFill/>
                </a:ln>
                <a:solidFill>
                  <a:srgbClr val="173241"/>
                </a:solidFill>
                <a:effectLst/>
                <a:uLnTx/>
                <a:uFillTx/>
                <a:latin typeface="Calibri" panose="020F0502020204030204"/>
                <a:ea typeface="+mn-ea"/>
                <a:cs typeface="+mn-cs"/>
              </a:rPr>
              <a:t>Twitter Algorithm scores at market average for maintainability. </a:t>
            </a:r>
            <a:r>
              <a:rPr lang="en-US" sz="1600" dirty="0">
                <a:solidFill>
                  <a:schemeClr val="accent1"/>
                </a:solidFill>
              </a:rPr>
              <a:t>This indicates average maintenance costs and time to market for functional changes. </a:t>
            </a:r>
          </a:p>
          <a:p>
            <a:endParaRPr lang="en-US" sz="1600" dirty="0">
              <a:solidFill>
                <a:schemeClr val="accent1"/>
              </a:solidFill>
            </a:endParaRPr>
          </a:p>
          <a:p>
            <a:r>
              <a:rPr lang="en-US" sz="1600" b="1" dirty="0">
                <a:solidFill>
                  <a:schemeClr val="accent1"/>
                </a:solidFill>
              </a:rPr>
              <a:t>Notable Metrics</a:t>
            </a:r>
          </a:p>
          <a:p>
            <a:r>
              <a:rPr lang="en-US" sz="1600" dirty="0" err="1">
                <a:solidFill>
                  <a:schemeClr val="accent1"/>
                </a:solidFill>
              </a:rPr>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600" dirty="0">
              <a:solidFill>
                <a:schemeClr val="accent1"/>
              </a:solidFill>
              <a:highlight>
                <a:srgbClr val="FF00FF"/>
              </a:highlight>
            </a:endParaRPr>
          </a:p>
        </p:txBody>
      </p:sp>
    </p:spTree>
    <p:extLst>
      <p:ext uri="{BB962C8B-B14F-4D97-AF65-F5344CB8AC3E}">
        <p14:creationId xmlns:p14="http://schemas.microsoft.com/office/powerpoint/2010/main" val="245630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2148743-6952-3E41-9EAE-79445DBE18D5}"/>
              </a:ext>
            </a:extLst>
          </p:cNvPr>
          <p:cNvSpPr/>
          <p:nvPr/>
        </p:nvSpPr>
        <p:spPr>
          <a:xfrm>
            <a:off x="540685" y="1890851"/>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1" name="Rectangle 40">
            <a:extLst>
              <a:ext uri="{FF2B5EF4-FFF2-40B4-BE49-F238E27FC236}">
                <a16:creationId xmlns:a16="http://schemas.microsoft.com/office/drawing/2014/main" id="{EC80031D-8002-E744-BAAA-BC5222DA882B}"/>
              </a:ext>
            </a:extLst>
          </p:cNvPr>
          <p:cNvSpPr/>
          <p:nvPr/>
        </p:nvSpPr>
        <p:spPr>
          <a:xfrm>
            <a:off x="525694" y="1816445"/>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 name="Slide Number Placeholder 1">
            <a:extLst>
              <a:ext uri="{FF2B5EF4-FFF2-40B4-BE49-F238E27FC236}">
                <a16:creationId xmlns:a16="http://schemas.microsoft.com/office/drawing/2014/main" id="{8A8A220B-CADA-304A-81AB-5E5350C66517}"/>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70" name="Text Placeholder 69">
            <a:extLst>
              <a:ext uri="{FF2B5EF4-FFF2-40B4-BE49-F238E27FC236}">
                <a16:creationId xmlns:a16="http://schemas.microsoft.com/office/drawing/2014/main" id="{25AB7FEC-3C4E-3747-B264-B25107669B8D}"/>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ARCHITECTURE</a:t>
            </a:r>
          </a:p>
        </p:txBody>
      </p:sp>
      <p:sp>
        <p:nvSpPr>
          <p:cNvPr id="20" name="Title 19">
            <a:extLst>
              <a:ext uri="{FF2B5EF4-FFF2-40B4-BE49-F238E27FC236}">
                <a16:creationId xmlns:a16="http://schemas.microsoft.com/office/drawing/2014/main" id="{3F01D3E4-9AF7-134E-86FD-74CBA97999FD}"/>
              </a:ext>
            </a:extLst>
          </p:cNvPr>
          <p:cNvSpPr>
            <a:spLocks noGrp="1"/>
          </p:cNvSpPr>
          <p:nvPr>
            <p:ph type="title"/>
          </p:nvPr>
        </p:nvSpPr>
        <p:spPr/>
        <p:txBody>
          <a:bodyPr/>
          <a:lstStyle/>
          <a:p>
            <a:pPr>
              <a:lnSpc>
                <a:spcPct val="113000"/>
              </a:lnSpc>
            </a:pPr>
            <a:r>
              <a:rPr lang="en-US" sz="2000" b="1" dirty="0" err="1">
                <a:solidFill>
                  <a:schemeClr val="tx2"/>
                </a:solidFill>
              </a:rPr>
              <a:t>Twitter Algorithm scores above average (3.9 </a:t>
            </a:r>
            <a:r>
              <a:rPr lang="en-US" b="0" dirty="0">
                <a:latin typeface="Calibri" panose="020F0502020204030204" pitchFamily="34" charset="0"/>
              </a:rPr>
              <a:t>★</a:t>
            </a:r>
            <a:r>
              <a:rPr lang="en-US" dirty="0">
                <a:latin typeface="Calibri" panose="020F0502020204030204" pitchFamily="34" charset="0"/>
                <a:cs typeface="Calibri" panose="020F0502020204030204" pitchFamily="34" charset="0"/>
              </a:rPr>
              <a:t>)</a:t>
            </a:r>
            <a:r>
              <a:rPr lang="en-US" b="0" dirty="0">
                <a:latin typeface="Calibri" panose="020F0502020204030204" pitchFamily="34" charset="0"/>
              </a:rPr>
              <a:t> </a:t>
            </a:r>
            <a:r>
              <a:rPr lang="en-US" sz="2000" b="1" dirty="0">
                <a:solidFill>
                  <a:schemeClr val="tx2"/>
                </a:solidFill>
              </a:rPr>
              <a:t>for Architecture Quality</a:t>
            </a:r>
          </a:p>
        </p:txBody>
      </p:sp>
      <p:sp>
        <p:nvSpPr>
          <p:cNvPr id="48" name="Rectangle 47">
            <a:extLst>
              <a:ext uri="{FF2B5EF4-FFF2-40B4-BE49-F238E27FC236}">
                <a16:creationId xmlns:a16="http://schemas.microsoft.com/office/drawing/2014/main" id="{2D53A69D-5850-064B-9D98-63B4E85002D6}"/>
              </a:ext>
            </a:extLst>
          </p:cNvPr>
          <p:cNvSpPr/>
          <p:nvPr/>
        </p:nvSpPr>
        <p:spPr bwMode="auto">
          <a:xfrm rot="5400000">
            <a:off x="1548588" y="747406"/>
            <a:ext cx="195321" cy="2211125"/>
          </a:xfrm>
          <a:prstGeom prst="rect">
            <a:avLst/>
          </a:prstGeom>
          <a:solidFill>
            <a:srgbClr val="C0000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1" name="Rectangle 70">
            <a:extLst>
              <a:ext uri="{FF2B5EF4-FFF2-40B4-BE49-F238E27FC236}">
                <a16:creationId xmlns:a16="http://schemas.microsoft.com/office/drawing/2014/main" id="{C154D7DA-B6A3-D942-A52D-6155C32505BF}"/>
              </a:ext>
            </a:extLst>
          </p:cNvPr>
          <p:cNvSpPr/>
          <p:nvPr/>
        </p:nvSpPr>
        <p:spPr>
          <a:xfrm>
            <a:off x="543839" y="1944661"/>
            <a:ext cx="2210009" cy="307777"/>
          </a:xfrm>
          <a:prstGeom prst="rect">
            <a:avLst/>
          </a:prstGeom>
        </p:spPr>
        <p:txBody>
          <a:bodyPr wrap="square" anchor="t">
            <a:spAutoFit/>
          </a:bodyPr>
          <a:lstStyle/>
          <a:p>
            <a:pPr algn="ctr"/>
            <a:r>
              <a:rPr lang="en-GB" sz="1400" dirty="0">
                <a:solidFill>
                  <a:srgbClr val="C5CCD5"/>
                </a:solidFill>
                <a:latin typeface="Calibri" panose="020F0502020204030204" pitchFamily="34" charset="0"/>
                <a:cs typeface="Calibri" panose="020F0502020204030204" pitchFamily="34" charset="0"/>
              </a:rPr>
              <a:t>★☆☆☆☆</a:t>
            </a:r>
            <a:endParaRPr lang="en-GB" sz="1400" dirty="0">
              <a:solidFill>
                <a:srgbClr val="C5CCD5"/>
              </a:solidFill>
            </a:endParaRPr>
          </a:p>
        </p:txBody>
      </p:sp>
      <p:sp>
        <p:nvSpPr>
          <p:cNvPr id="72" name="Rectangle 71">
            <a:extLst>
              <a:ext uri="{FF2B5EF4-FFF2-40B4-BE49-F238E27FC236}">
                <a16:creationId xmlns:a16="http://schemas.microsoft.com/office/drawing/2014/main" id="{5AEF5B18-A22E-6343-80E5-093226C827C2}"/>
              </a:ext>
            </a:extLst>
          </p:cNvPr>
          <p:cNvSpPr/>
          <p:nvPr/>
        </p:nvSpPr>
        <p:spPr bwMode="auto">
          <a:xfrm rot="5400000">
            <a:off x="3758269" y="748848"/>
            <a:ext cx="195321" cy="2208241"/>
          </a:xfrm>
          <a:prstGeom prst="rect">
            <a:avLst/>
          </a:prstGeom>
          <a:solidFill>
            <a:srgbClr val="F09819"/>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73" name="Rectangle 72">
            <a:extLst>
              <a:ext uri="{FF2B5EF4-FFF2-40B4-BE49-F238E27FC236}">
                <a16:creationId xmlns:a16="http://schemas.microsoft.com/office/drawing/2014/main" id="{F23583C2-7594-FB4E-9EFE-2945BE5C3270}"/>
              </a:ext>
            </a:extLst>
          </p:cNvPr>
          <p:cNvSpPr/>
          <p:nvPr/>
        </p:nvSpPr>
        <p:spPr bwMode="auto">
          <a:xfrm rot="5400000">
            <a:off x="8182546" y="741445"/>
            <a:ext cx="195321" cy="2223047"/>
          </a:xfrm>
          <a:prstGeom prst="rect">
            <a:avLst/>
          </a:prstGeom>
          <a:solidFill>
            <a:srgbClr val="57C968"/>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4" name="Rectangle 73">
            <a:extLst>
              <a:ext uri="{FF2B5EF4-FFF2-40B4-BE49-F238E27FC236}">
                <a16:creationId xmlns:a16="http://schemas.microsoft.com/office/drawing/2014/main" id="{21F2ABEA-AB21-6942-81B5-0EE77F28BD5C}"/>
              </a:ext>
            </a:extLst>
          </p:cNvPr>
          <p:cNvSpPr/>
          <p:nvPr/>
        </p:nvSpPr>
        <p:spPr bwMode="auto">
          <a:xfrm rot="5400000">
            <a:off x="10398054" y="748983"/>
            <a:ext cx="195321" cy="2207971"/>
          </a:xfrm>
          <a:prstGeom prst="rect">
            <a:avLst/>
          </a:prstGeom>
          <a:solidFill>
            <a:srgbClr val="2C963F"/>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83" name="Rectangle 82">
            <a:extLst>
              <a:ext uri="{FF2B5EF4-FFF2-40B4-BE49-F238E27FC236}">
                <a16:creationId xmlns:a16="http://schemas.microsoft.com/office/drawing/2014/main" id="{91167323-04D1-624D-AA3F-325DB698FE8C}"/>
              </a:ext>
            </a:extLst>
          </p:cNvPr>
          <p:cNvSpPr/>
          <p:nvPr/>
        </p:nvSpPr>
        <p:spPr>
          <a:xfrm>
            <a:off x="2748924" y="1941933"/>
            <a:ext cx="2209087" cy="307777"/>
          </a:xfrm>
          <a:prstGeom prst="rect">
            <a:avLst/>
          </a:prstGeom>
        </p:spPr>
        <p:txBody>
          <a:bodyPr wrap="square" anchor="t">
            <a:spAutoFit/>
          </a:bodyPr>
          <a:lstStyle/>
          <a:p>
            <a:pPr algn="ctr"/>
            <a:r>
              <a:rPr lang="en-GB" sz="1400" dirty="0">
                <a:solidFill>
                  <a:srgbClr val="9AA6B0"/>
                </a:solidFill>
                <a:latin typeface="Calibri" panose="020F0502020204030204" pitchFamily="34" charset="0"/>
                <a:cs typeface="Calibri" panose="020F0502020204030204" pitchFamily="34" charset="0"/>
              </a:rPr>
              <a:t>★★☆☆☆</a:t>
            </a:r>
            <a:endParaRPr lang="en-GB" sz="1400" dirty="0">
              <a:solidFill>
                <a:srgbClr val="9AA6B0"/>
              </a:solidFill>
            </a:endParaRPr>
          </a:p>
        </p:txBody>
      </p:sp>
      <p:sp>
        <p:nvSpPr>
          <p:cNvPr id="84" name="Rectangle 83">
            <a:extLst>
              <a:ext uri="{FF2B5EF4-FFF2-40B4-BE49-F238E27FC236}">
                <a16:creationId xmlns:a16="http://schemas.microsoft.com/office/drawing/2014/main" id="{4805C056-85E7-EC47-8F2C-9FFBD30C699B}"/>
              </a:ext>
            </a:extLst>
          </p:cNvPr>
          <p:cNvSpPr/>
          <p:nvPr/>
        </p:nvSpPr>
        <p:spPr>
          <a:xfrm>
            <a:off x="4956896" y="1939205"/>
            <a:ext cx="2213826" cy="307777"/>
          </a:xfrm>
          <a:prstGeom prst="rect">
            <a:avLst/>
          </a:prstGeom>
        </p:spPr>
        <p:txBody>
          <a:bodyPr wrap="square" anchor="t">
            <a:spAutoFit/>
          </a:bodyPr>
          <a:lstStyle/>
          <a:p>
            <a:pPr algn="ctr"/>
            <a:r>
              <a:rPr lang="en-GB" sz="1400" dirty="0">
                <a:solidFill>
                  <a:srgbClr val="6E7F8B"/>
                </a:solidFill>
                <a:latin typeface="Calibri" panose="020F0502020204030204" pitchFamily="34" charset="0"/>
                <a:cs typeface="Calibri" panose="020F0502020204030204" pitchFamily="34" charset="0"/>
              </a:rPr>
              <a:t>★★★☆☆</a:t>
            </a:r>
            <a:endParaRPr lang="en-GB" sz="1400" dirty="0">
              <a:solidFill>
                <a:srgbClr val="6E7F8B"/>
              </a:solidFill>
            </a:endParaRPr>
          </a:p>
        </p:txBody>
      </p:sp>
      <p:sp>
        <p:nvSpPr>
          <p:cNvPr id="85" name="Rectangle 84">
            <a:extLst>
              <a:ext uri="{FF2B5EF4-FFF2-40B4-BE49-F238E27FC236}">
                <a16:creationId xmlns:a16="http://schemas.microsoft.com/office/drawing/2014/main" id="{62DF8940-DBDE-D04A-9416-03F980EE69A6}"/>
              </a:ext>
            </a:extLst>
          </p:cNvPr>
          <p:cNvSpPr/>
          <p:nvPr/>
        </p:nvSpPr>
        <p:spPr>
          <a:xfrm>
            <a:off x="7181055" y="1947724"/>
            <a:ext cx="2210672" cy="307777"/>
          </a:xfrm>
          <a:prstGeom prst="rect">
            <a:avLst/>
          </a:prstGeom>
        </p:spPr>
        <p:txBody>
          <a:bodyPr wrap="square" anchor="t">
            <a:spAutoFit/>
          </a:bodyPr>
          <a:lstStyle/>
          <a:p>
            <a:pPr algn="ctr"/>
            <a:r>
              <a:rPr lang="en-GB" sz="1400" dirty="0">
                <a:solidFill>
                  <a:srgbClr val="425966"/>
                </a:solidFill>
                <a:latin typeface="Calibri" panose="020F0502020204030204" pitchFamily="34" charset="0"/>
                <a:cs typeface="Calibri" panose="020F0502020204030204" pitchFamily="34" charset="0"/>
              </a:rPr>
              <a:t>★★★★☆</a:t>
            </a:r>
            <a:endParaRPr lang="en-GB" sz="1400" dirty="0">
              <a:solidFill>
                <a:srgbClr val="425966"/>
              </a:solidFill>
            </a:endParaRPr>
          </a:p>
        </p:txBody>
      </p:sp>
      <p:sp>
        <p:nvSpPr>
          <p:cNvPr id="86" name="Rectangle 85">
            <a:extLst>
              <a:ext uri="{FF2B5EF4-FFF2-40B4-BE49-F238E27FC236}">
                <a16:creationId xmlns:a16="http://schemas.microsoft.com/office/drawing/2014/main" id="{A0972461-B2E3-3A46-92A9-AEE23A81F3B9}"/>
              </a:ext>
            </a:extLst>
          </p:cNvPr>
          <p:cNvSpPr/>
          <p:nvPr/>
        </p:nvSpPr>
        <p:spPr>
          <a:xfrm>
            <a:off x="9402060" y="1947724"/>
            <a:ext cx="2193832" cy="307777"/>
          </a:xfrm>
          <a:prstGeom prst="rect">
            <a:avLst/>
          </a:prstGeom>
        </p:spPr>
        <p:txBody>
          <a:bodyPr wrap="square" anchor="t">
            <a:spAutoFit/>
          </a:bodyPr>
          <a:lstStyle/>
          <a:p>
            <a:pPr algn="ctr"/>
            <a:r>
              <a:rPr lang="en-GB" sz="1400" dirty="0">
                <a:solidFill>
                  <a:srgbClr val="173240"/>
                </a:solidFill>
                <a:latin typeface="Calibri" panose="020F0502020204030204" pitchFamily="34" charset="0"/>
                <a:cs typeface="Calibri" panose="020F0502020204030204" pitchFamily="34" charset="0"/>
              </a:rPr>
              <a:t>★★★★★</a:t>
            </a:r>
            <a:endParaRPr lang="en-GB" sz="1400" dirty="0">
              <a:solidFill>
                <a:srgbClr val="173240"/>
              </a:solidFill>
            </a:endParaRPr>
          </a:p>
        </p:txBody>
      </p:sp>
      <p:sp>
        <p:nvSpPr>
          <p:cNvPr id="87" name="Rectangle 86">
            <a:extLst>
              <a:ext uri="{FF2B5EF4-FFF2-40B4-BE49-F238E27FC236}">
                <a16:creationId xmlns:a16="http://schemas.microsoft.com/office/drawing/2014/main" id="{31FB0B4A-6F6E-BF47-8527-15F1086A865F}"/>
              </a:ext>
            </a:extLst>
          </p:cNvPr>
          <p:cNvSpPr/>
          <p:nvPr/>
        </p:nvSpPr>
        <p:spPr bwMode="auto">
          <a:xfrm rot="5400000">
            <a:off x="5966706" y="748650"/>
            <a:ext cx="195321" cy="2208636"/>
          </a:xfrm>
          <a:prstGeom prst="rect">
            <a:avLst/>
          </a:prstGeom>
          <a:solidFill>
            <a:srgbClr val="F8C64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89" name="TextBox 88">
            <a:extLst>
              <a:ext uri="{FF2B5EF4-FFF2-40B4-BE49-F238E27FC236}">
                <a16:creationId xmlns:a16="http://schemas.microsoft.com/office/drawing/2014/main" id="{796768F9-6045-AE49-B24D-F61166D3EB6D}"/>
              </a:ext>
            </a:extLst>
          </p:cNvPr>
          <p:cNvSpPr txBox="1"/>
          <p:nvPr/>
        </p:nvSpPr>
        <p:spPr>
          <a:xfrm>
            <a:off x="381410" y="2177114"/>
            <a:ext cx="11429587" cy="246221"/>
          </a:xfrm>
          <a:prstGeom prst="rect">
            <a:avLst/>
          </a:prstGeom>
          <a:noFill/>
        </p:spPr>
        <p:txBody>
          <a:bodyPr wrap="square" rtlCol="0">
            <a:spAutoFit/>
          </a:bodyPr>
          <a:lstStyle/>
          <a:p>
            <a:r>
              <a:rPr lang="en-US" sz="1000">
                <a:solidFill>
                  <a:schemeClr val="tx1">
                    <a:lumMod val="60000"/>
                    <a:lumOff val="40000"/>
                  </a:schemeClr>
                </a:solidFill>
              </a:rPr>
              <a:t>0.5		             1.5		                           2.5		        3.5		                      4.5			   5.5</a:t>
            </a:r>
          </a:p>
        </p:txBody>
      </p:sp>
      <p:sp>
        <p:nvSpPr>
          <p:cNvPr id="90" name="TextBox 89">
            <a:extLst>
              <a:ext uri="{FF2B5EF4-FFF2-40B4-BE49-F238E27FC236}">
                <a16:creationId xmlns:a16="http://schemas.microsoft.com/office/drawing/2014/main" id="{045F6BC3-0EC2-7742-9CCE-F275883089E5}"/>
              </a:ext>
            </a:extLst>
          </p:cNvPr>
          <p:cNvSpPr txBox="1"/>
          <p:nvPr/>
        </p:nvSpPr>
        <p:spPr>
          <a:xfrm>
            <a:off x="5471355" y="2251908"/>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77" name="Straight Connector 76">
            <a:extLst>
              <a:ext uri="{FF2B5EF4-FFF2-40B4-BE49-F238E27FC236}">
                <a16:creationId xmlns:a16="http://schemas.microsoft.com/office/drawing/2014/main" id="{F0A3DFED-AEF8-2B48-A242-97EAC1EC9E77}"/>
              </a:ext>
            </a:extLst>
          </p:cNvPr>
          <p:cNvCxnSpPr/>
          <p:nvPr/>
        </p:nvCxnSpPr>
        <p:spPr>
          <a:xfrm>
            <a:off x="496005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CEFB4D89-3B68-844D-9BCE-97B6664582B2}"/>
              </a:ext>
            </a:extLst>
          </p:cNvPr>
          <p:cNvCxnSpPr/>
          <p:nvPr/>
        </p:nvCxnSpPr>
        <p:spPr>
          <a:xfrm>
            <a:off x="542723"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8634D086-5422-2B4D-B0DA-75470D69BF18}"/>
              </a:ext>
            </a:extLst>
          </p:cNvPr>
          <p:cNvCxnSpPr/>
          <p:nvPr/>
        </p:nvCxnSpPr>
        <p:spPr>
          <a:xfrm>
            <a:off x="2751812" y="1501261"/>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A9B24B0A-42B5-9D43-B1B4-4891FD4D24FB}"/>
              </a:ext>
            </a:extLst>
          </p:cNvPr>
          <p:cNvCxnSpPr/>
          <p:nvPr/>
        </p:nvCxnSpPr>
        <p:spPr>
          <a:xfrm>
            <a:off x="11599702"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E288335-AA5C-8049-8C30-11DD52E4CE4F}"/>
              </a:ext>
            </a:extLst>
          </p:cNvPr>
          <p:cNvCxnSpPr>
            <a:cxnSpLocks/>
          </p:cNvCxnSpPr>
          <p:nvPr/>
        </p:nvCxnSpPr>
        <p:spPr>
          <a:xfrm>
            <a:off x="540689" y="2667186"/>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9F12CB44-B742-314A-8BD1-F77760810CC6}"/>
              </a:ext>
            </a:extLst>
          </p:cNvPr>
          <p:cNvCxnSpPr/>
          <p:nvPr/>
        </p:nvCxnSpPr>
        <p:spPr>
          <a:xfrm>
            <a:off x="7168686"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96551C5D-577A-B242-A077-085BBF0F9CF1}"/>
              </a:ext>
            </a:extLst>
          </p:cNvPr>
          <p:cNvCxnSpPr/>
          <p:nvPr/>
        </p:nvCxnSpPr>
        <p:spPr>
          <a:xfrm>
            <a:off x="939173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grpSp>
        <p:nvGrpSpPr>
          <p:cNvPr id="91" name="Group 90">
            <a:extLst>
              <a:ext uri="{FF2B5EF4-FFF2-40B4-BE49-F238E27FC236}">
                <a16:creationId xmlns:a16="http://schemas.microsoft.com/office/drawing/2014/main" id="{407D88E2-A714-4442-8CAB-278792CDA698}"/>
              </a:ext>
            </a:extLst>
          </p:cNvPr>
          <p:cNvGrpSpPr/>
          <p:nvPr/>
        </p:nvGrpSpPr>
        <p:grpSpPr>
          <a:xfrm>
            <a:off x="7840604" y="1256023"/>
            <a:ext cx="392906" cy="538322"/>
            <a:chOff x="5720628" y="1991582"/>
            <a:chExt cx="392906" cy="538322"/>
          </a:xfrm>
        </p:grpSpPr>
        <p:sp>
          <p:nvSpPr>
            <p:cNvPr id="100" name="Rectangle 99">
              <a:extLst>
                <a:ext uri="{FF2B5EF4-FFF2-40B4-BE49-F238E27FC236}">
                  <a16:creationId xmlns:a16="http://schemas.microsoft.com/office/drawing/2014/main" id="{B65E9EFF-1361-6C4B-A578-9931A723E5EC}"/>
                </a:ext>
              </a:extLst>
            </p:cNvPr>
            <p:cNvSpPr/>
            <p:nvPr/>
          </p:nvSpPr>
          <p:spPr>
            <a:xfrm>
              <a:off x="5720628" y="1991582"/>
              <a:ext cx="392906" cy="392906"/>
            </a:xfrm>
            <a:prstGeom prst="rect">
              <a:avLst/>
            </a:prstGeom>
            <a:gradFill>
              <a:gsLst>
                <a:gs pos="0">
                  <a:srgbClr val="6076BA"/>
                </a:gs>
                <a:gs pos="100000">
                  <a:srgbClr val="AA98C3"/>
                </a:gs>
              </a:gsLst>
              <a:lin ang="2700000" scaled="0"/>
            </a:gra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b="1" dirty="0" err="1"/>
                <a:t>3.9</a:t>
              </a:r>
              <a:endParaRPr lang="en-US" sz="1600" b="1" dirty="0"/>
            </a:p>
          </p:txBody>
        </p:sp>
        <p:sp>
          <p:nvSpPr>
            <p:cNvPr id="101" name="Pentagon 100">
              <a:extLst>
                <a:ext uri="{FF2B5EF4-FFF2-40B4-BE49-F238E27FC236}">
                  <a16:creationId xmlns:a16="http://schemas.microsoft.com/office/drawing/2014/main" id="{69444AF9-F134-CB44-B4A1-AD9EA6C48B83}"/>
                </a:ext>
              </a:extLst>
            </p:cNvPr>
            <p:cNvSpPr/>
            <p:nvPr/>
          </p:nvSpPr>
          <p:spPr>
            <a:xfrm rot="5400000">
              <a:off x="5846487" y="2410820"/>
              <a:ext cx="146814" cy="91353"/>
            </a:xfrm>
            <a:prstGeom prst="homePlate">
              <a:avLst/>
            </a:prstGeom>
            <a:solidFill>
              <a:srgbClr val="A396C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BD5C319F-00F9-D84E-9758-0206A067742F}"/>
              </a:ext>
            </a:extLst>
          </p:cNvPr>
          <p:cNvGrpSpPr/>
          <p:nvPr/>
        </p:nvGrpSpPr>
        <p:grpSpPr>
          <a:xfrm>
            <a:off x="11006327" y="810077"/>
            <a:ext cx="594110" cy="850933"/>
            <a:chOff x="10569980" y="810077"/>
            <a:chExt cx="594110" cy="850933"/>
          </a:xfrm>
        </p:grpSpPr>
        <p:sp>
          <p:nvSpPr>
            <p:cNvPr id="109" name="Oval 108">
              <a:extLst>
                <a:ext uri="{FF2B5EF4-FFF2-40B4-BE49-F238E27FC236}">
                  <a16:creationId xmlns:a16="http://schemas.microsoft.com/office/drawing/2014/main" id="{B7A71700-E7F8-F045-988D-31CE9EE100F4}"/>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0" name="Freeform 109">
              <a:extLst>
                <a:ext uri="{FF2B5EF4-FFF2-40B4-BE49-F238E27FC236}">
                  <a16:creationId xmlns:a16="http://schemas.microsoft.com/office/drawing/2014/main" id="{8952E0C5-7D84-894C-9033-F1BE52A32BA6}"/>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1" name="Freeform 110">
              <a:extLst>
                <a:ext uri="{FF2B5EF4-FFF2-40B4-BE49-F238E27FC236}">
                  <a16:creationId xmlns:a16="http://schemas.microsoft.com/office/drawing/2014/main" id="{36719CF2-01EC-8046-823F-BB3A6315099E}"/>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112" name="TextBox 111">
            <a:extLst>
              <a:ext uri="{FF2B5EF4-FFF2-40B4-BE49-F238E27FC236}">
                <a16:creationId xmlns:a16="http://schemas.microsoft.com/office/drawing/2014/main" id="{B063D054-D822-7C4A-AE2D-EF657B0A353A}"/>
              </a:ext>
            </a:extLst>
          </p:cNvPr>
          <p:cNvSpPr txBox="1"/>
          <p:nvPr/>
        </p:nvSpPr>
        <p:spPr>
          <a:xfrm>
            <a:off x="10647927" y="863629"/>
            <a:ext cx="1353769" cy="539187"/>
          </a:xfrm>
          <a:prstGeom prst="rect">
            <a:avLst/>
          </a:prstGeom>
          <a:noFill/>
        </p:spPr>
        <p:txBody>
          <a:bodyPr wrap="none" lIns="0" rIns="0" rtlCol="0">
            <a:spAutoFit/>
          </a:bodyPr>
          <a:lstStyle/>
          <a:p>
            <a:pPr algn="ctr">
              <a:lnSpc>
                <a:spcPct val="80000"/>
              </a:lnSpc>
            </a:pPr>
            <a:r>
              <a:rPr lang="en-US" sz="1200" b="1" dirty="0" err="1">
                <a:solidFill>
                  <a:schemeClr val="bg1"/>
                </a:solidFill>
              </a:rPr>
              <a:t>03</a:t>
            </a:r>
            <a:endParaRPr lang="en-US" sz="1200" b="1" dirty="0">
              <a:solidFill>
                <a:schemeClr val="bg1"/>
              </a:solidFill>
            </a:endParaRPr>
          </a:p>
          <a:p>
            <a:pPr algn="ctr">
              <a:lnSpc>
                <a:spcPct val="80000"/>
              </a:lnSpc>
            </a:pPr>
            <a:r>
              <a:rPr lang="en-US" sz="1200" b="1" dirty="0" err="1">
                <a:solidFill>
                  <a:schemeClr val="bg1"/>
                </a:solidFill>
              </a:rPr>
              <a:t>APR</a:t>
            </a:r>
            <a:endParaRPr lang="en-US" sz="1200" b="1" dirty="0">
              <a:solidFill>
                <a:schemeClr val="bg1"/>
              </a:solidFill>
            </a:endParaRPr>
          </a:p>
          <a:p>
            <a:pPr algn="ctr">
              <a:lnSpc>
                <a:spcPct val="80000"/>
              </a:lnSpc>
            </a:pPr>
            <a:r>
              <a:rPr lang="en-US" sz="1200" dirty="0" err="1">
                <a:solidFill>
                  <a:srgbClr val="B3BECD"/>
                </a:solidFill>
              </a:rPr>
              <a:t>2023</a:t>
            </a:r>
            <a:endParaRPr lang="en-US" sz="1200" dirty="0">
              <a:solidFill>
                <a:srgbClr val="B3BECD"/>
              </a:solidFill>
            </a:endParaRPr>
          </a:p>
        </p:txBody>
      </p:sp>
      <p:sp>
        <p:nvSpPr>
          <p:cNvPr id="113" name="TextBox 112">
            <a:extLst>
              <a:ext uri="{FF2B5EF4-FFF2-40B4-BE49-F238E27FC236}">
                <a16:creationId xmlns:a16="http://schemas.microsoft.com/office/drawing/2014/main" id="{93AA5BC7-B715-604A-9B9D-83B2DC4945D4}"/>
              </a:ext>
            </a:extLst>
          </p:cNvPr>
          <p:cNvSpPr txBox="1"/>
          <p:nvPr/>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graphicFrame>
        <p:nvGraphicFramePr>
          <p:cNvPr id="14" name="Group 52">
            <a:extLst>
              <a:ext uri="{FF2B5EF4-FFF2-40B4-BE49-F238E27FC236}">
                <a16:creationId xmlns:a16="http://schemas.microsoft.com/office/drawing/2014/main" id="{48544E3C-8AC7-A154-122B-7281D42AE324}"/>
              </a:ext>
            </a:extLst>
          </p:cNvPr>
          <p:cNvGraphicFramePr>
            <a:graphicFrameLocks noGrp="1"/>
          </p:cNvGraphicFramePr>
          <p:nvPr>
            <p:extLst>
              <p:ext uri="{D42A27DB-BD31-4B8C-83A1-F6EECF244321}">
                <p14:modId xmlns:p14="http://schemas.microsoft.com/office/powerpoint/2010/main" val="2376346694"/>
              </p:ext>
            </p:extLst>
          </p:nvPr>
        </p:nvGraphicFramePr>
        <p:xfrm>
          <a:off x="8124539" y="3092432"/>
          <a:ext cx="3589609" cy="24220080"/>
        </p:xfrm>
        <a:graphic>
          <a:graphicData uri="http://schemas.openxmlformats.org/drawingml/2006/table">
            <a:tbl>
              <a:tblPr>
                <a:tableStyleId>{5940675A-B579-460E-94D1-54222C63F5DA}</a:tableStyleId>
              </a:tblPr>
              <a:tblGrid>
                <a:gridCol w="2197007">
                  <a:extLst>
                    <a:ext uri="{9D8B030D-6E8A-4147-A177-3AD203B41FA5}">
                      <a16:colId xmlns:a16="http://schemas.microsoft.com/office/drawing/2014/main" val="20000"/>
                    </a:ext>
                  </a:extLst>
                </a:gridCol>
                <a:gridCol w="951100">
                  <a:extLst>
                    <a:ext uri="{9D8B030D-6E8A-4147-A177-3AD203B41FA5}">
                      <a16:colId xmlns:a16="http://schemas.microsoft.com/office/drawing/2014/main" val="335839943"/>
                    </a:ext>
                  </a:extLst>
                </a:gridCol>
                <a:gridCol w="441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2"/>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8504466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2"/>
                          </a:solidFill>
                          <a:effectLst/>
                          <a:latin typeface="+mn-lt"/>
                        </a:rPr>
                        <a:t>Component Cohesion</a:t>
                      </a:r>
                      <a:endParaRPr kumimoji="0" lang="en-US" sz="1200" b="0" i="0" u="none" strike="noStrike" cap="none" normalizeH="0" baseline="0" noProof="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69963878"/>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Technology Prevalence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217488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GB" sz="1200" b="0" i="0" u="none" strike="noStrike" kern="1200" cap="none" normalizeH="0" baseline="0" dirty="0">
                          <a:ln>
                            <a:noFill/>
                          </a:ln>
                          <a:solidFill>
                            <a:schemeClr val="tx2"/>
                          </a:solidFill>
                          <a:effectLst/>
                          <a:latin typeface="+mn-lt"/>
                          <a:ea typeface="ＭＳ Ｐゴシック" charset="0"/>
                          <a:cs typeface="+mn-cs"/>
                        </a:rPr>
                        <a:t>Knowledge Distribution</a:t>
                      </a:r>
                      <a:endParaRPr kumimoji="0" lang="en-US" sz="1200" b="0" i="0" u="none" strike="noStrike" kern="1200"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130053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kern="1200" cap="none" normalizeH="0" baseline="0" noProof="0">
                          <a:ln>
                            <a:noFill/>
                          </a:ln>
                          <a:solidFill>
                            <a:schemeClr val="tx2"/>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72674231"/>
                  </a:ext>
                </a:extLst>
              </a:tr>
            </a:tbl>
          </a:graphicData>
        </a:graphic>
      </p:graphicFrame>
      <p:sp>
        <p:nvSpPr>
          <p:cNvPr id="3" name="Hexagon 2">
            <a:extLst>
              <a:ext uri="{FF2B5EF4-FFF2-40B4-BE49-F238E27FC236}">
                <a16:creationId xmlns:a16="http://schemas.microsoft.com/office/drawing/2014/main" id="{D5CD9305-CCE9-EA52-C836-9AE14A1102F2}"/>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dirty="0">
                <a:solidFill>
                  <a:schemeClr val="bg1"/>
                </a:solidFill>
              </a:rPr>
              <a:t>Knowledge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panose="020F0502020204030204"/>
                <a:ea typeface="+mn-ea"/>
                <a:cs typeface="+mn-cs"/>
              </a:rPr>
              <a:t>N/A </a:t>
            </a:r>
            <a:r>
              <a:rPr kumimoji="0" lang="en-US" sz="1200" u="none" strike="noStrike" kern="1200" cap="none" spc="0" normalizeH="0" baseline="0" noProof="0" dirty="0">
                <a:ln>
                  <a:noFill/>
                </a:ln>
                <a:solidFill>
                  <a:srgbClr val="FFFFFF"/>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FFFFFF"/>
              </a:solidFill>
              <a:effectLst/>
              <a:uLnTx/>
              <a:uFillTx/>
              <a:latin typeface="Calibri" panose="020F0502020204030204" pitchFamily="34" charset="0"/>
              <a:ea typeface="+mn-ea"/>
              <a:cs typeface="+mn-cs"/>
            </a:endParaRPr>
          </a:p>
        </p:txBody>
      </p:sp>
      <p:sp>
        <p:nvSpPr>
          <p:cNvPr id="13" name="Hexagon 12">
            <a:extLst>
              <a:ext uri="{FF2B5EF4-FFF2-40B4-BE49-F238E27FC236}">
                <a16:creationId xmlns:a16="http://schemas.microsoft.com/office/drawing/2014/main" id="{D204D0A0-23BA-8D4D-D1F0-AD503F0745FC}"/>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dirty="0">
                <a:solidFill>
                  <a:srgbClr val="1E354B"/>
                </a:solidFill>
              </a:rPr>
              <a:t>Communication</a:t>
            </a:r>
          </a:p>
          <a:p>
            <a:pPr algn="ctr">
              <a:defRPr/>
            </a:pPr>
            <a:r>
              <a:rPr lang="en-US" sz="1200" dirty="0" err="1">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5" name="Hexagon 14">
            <a:extLst>
              <a:ext uri="{FF2B5EF4-FFF2-40B4-BE49-F238E27FC236}">
                <a16:creationId xmlns:a16="http://schemas.microsoft.com/office/drawing/2014/main" id="{BB2CEEEE-E9A9-1416-5AAD-D972DDBE5A93}"/>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Structure</a:t>
            </a:r>
          </a:p>
          <a:p>
            <a:pPr algn="ctr"/>
            <a:r>
              <a:rPr lang="en-US" sz="1200" dirty="0" err="1">
                <a:solidFill>
                  <a:srgbClr val="1E354B"/>
                </a:solidFill>
              </a:rPr>
              <a:t>4.0 </a:t>
            </a:r>
            <a:r>
              <a:rPr lang="en-US" sz="1200" dirty="0">
                <a:solidFill>
                  <a:srgbClr val="1E354B"/>
                </a:solidFill>
                <a:latin typeface="Calibri" panose="020F0502020204030204" pitchFamily="34" charset="0"/>
              </a:rPr>
              <a:t>★</a:t>
            </a:r>
            <a:endParaRPr lang="en-US" sz="1050" dirty="0">
              <a:solidFill>
                <a:srgbClr val="1E354B"/>
              </a:solidFill>
              <a:latin typeface="Calibri" panose="020F0502020204030204" pitchFamily="34" charset="0"/>
            </a:endParaRPr>
          </a:p>
        </p:txBody>
      </p:sp>
      <p:sp>
        <p:nvSpPr>
          <p:cNvPr id="17" name="Hexagon 16">
            <a:extLst>
              <a:ext uri="{FF2B5EF4-FFF2-40B4-BE49-F238E27FC236}">
                <a16:creationId xmlns:a16="http://schemas.microsoft.com/office/drawing/2014/main" id="{E28EB117-3C52-28E2-1D2F-E7E5DFD59278}"/>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Evolution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1E354B"/>
                </a:solidFill>
                <a:effectLst/>
                <a:uLnTx/>
                <a:uFillTx/>
                <a:latin typeface="Calibri" panose="020F0502020204030204"/>
                <a:ea typeface="+mn-ea"/>
                <a:cs typeface="+mn-cs"/>
              </a:rPr>
              <a:t>3.7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8" name="Hexagon 17">
            <a:extLst>
              <a:ext uri="{FF2B5EF4-FFF2-40B4-BE49-F238E27FC236}">
                <a16:creationId xmlns:a16="http://schemas.microsoft.com/office/drawing/2014/main" id="{0235E037-9510-428B-E797-FFDB9B2A8BDD}"/>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Data Access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9" name="Hexagon 18">
            <a:extLst>
              <a:ext uri="{FF2B5EF4-FFF2-40B4-BE49-F238E27FC236}">
                <a16:creationId xmlns:a16="http://schemas.microsoft.com/office/drawing/2014/main" id="{44A085BF-41DC-A529-9DF1-2914BA7DD84E}"/>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Technology Stack</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6" name="TextBox 5">
            <a:extLst>
              <a:ext uri="{FF2B5EF4-FFF2-40B4-BE49-F238E27FC236}">
                <a16:creationId xmlns:a16="http://schemas.microsoft.com/office/drawing/2014/main" id="{FFFF41BB-98C2-A0F0-E38F-BD2708718FCB}"/>
              </a:ext>
            </a:extLst>
          </p:cNvPr>
          <p:cNvSpPr txBox="1"/>
          <p:nvPr/>
        </p:nvSpPr>
        <p:spPr>
          <a:xfrm>
            <a:off x="4651513" y="3050651"/>
            <a:ext cx="3288794" cy="830997"/>
          </a:xfrm>
          <a:prstGeom prst="rect">
            <a:avLst/>
          </a:prstGeom>
          <a:noFill/>
        </p:spPr>
        <p:txBody>
          <a:bodyPr wrap="square">
            <a:spAutoFit/>
          </a:bodyPr>
          <a:lstStyle/>
          <a:p>
            <a:r>
              <a:rPr lang="en-US" sz="1600" dirty="0" err="1">
                <a:solidFill>
                  <a:schemeClr val="accent1"/>
                </a:solidFill>
                <a:latin typeface="Calibri" panose="020F0502020204030204"/>
              </a:rPr>
              <a:t/>
            </a:r>
            <a:endParaRPr lang="en-US" sz="1600" dirty="0">
              <a:solidFill>
                <a:schemeClr val="accent1"/>
              </a:solidFill>
              <a:latin typeface="Calibri" panose="020F0502020204030204"/>
            </a:endParaRPr>
          </a:p>
          <a:p>
            <a:br>
              <a:rPr lang="en-US" sz="1600" dirty="0">
                <a:solidFill>
                  <a:schemeClr val="accent1"/>
                </a:solidFill>
                <a:latin typeface="Calibri" panose="020F0502020204030204"/>
              </a:rPr>
            </a:br>
            <a:r>
              <a:rPr lang="en-US" sz="1600" dirty="0" err="1">
                <a:solidFill>
                  <a:schemeClr val="accent1"/>
                </a:solidFill>
                <a:latin typeface="Calibri" panose="020F0502020204030204"/>
              </a:rPr>
              <a:t>The system's high score in Component Cohesion means highly reusable and replaceable components with focused internal logic. This minimizes external dependencies and references from other external components.</a:t>
            </a:r>
            <a:endParaRPr lang="en-US" sz="2400" dirty="0">
              <a:solidFill>
                <a:schemeClr val="accent1"/>
              </a:solidFill>
            </a:endParaRPr>
          </a:p>
        </p:txBody>
      </p:sp>
    </p:spTree>
    <p:extLst>
      <p:ext uri="{BB962C8B-B14F-4D97-AF65-F5344CB8AC3E}">
        <p14:creationId xmlns:p14="http://schemas.microsoft.com/office/powerpoint/2010/main" val="3867994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_NUMBER">
            <a:extLst>
              <a:ext uri="{FF2B5EF4-FFF2-40B4-BE49-F238E27FC236}">
                <a16:creationId xmlns:a16="http://schemas.microsoft.com/office/drawing/2014/main" id="{7E702EAD-0EDF-F14B-BCF1-3374C48973C2}"/>
              </a:ext>
            </a:extLst>
          </p:cNvPr>
          <p:cNvSpPr>
            <a:spLocks noGrp="1"/>
          </p:cNvSpPr>
          <p:nvPr>
            <p:ph type="sldNum" sz="quarter" idx="4"/>
          </p:nvPr>
        </p:nvSpPr>
        <p:spPr/>
        <p:txBody>
          <a:bodyPr/>
          <a:lstStyle/>
          <a:p>
            <a:fld id="{E242BD21-9B61-2246-BCB1-4BE5E1BEBE1C}" type="slidenum">
              <a:rPr lang="en-US" smtClean="0"/>
              <a:pPr/>
              <a:t>8</a:t>
            </a:fld>
            <a:endParaRPr lang="en-US"/>
          </a:p>
        </p:txBody>
      </p:sp>
      <p:sp>
        <p:nvSpPr>
          <p:cNvPr id="30" name="SUBTITLE">
            <a:extLst>
              <a:ext uri="{FF2B5EF4-FFF2-40B4-BE49-F238E27FC236}">
                <a16:creationId xmlns:a16="http://schemas.microsoft.com/office/drawing/2014/main" id="{EB811218-1F4C-A74F-B046-57C38BEBF2C0}"/>
              </a:ext>
            </a:extLst>
          </p:cNvPr>
          <p:cNvSpPr>
            <a:spLocks noGrp="1"/>
          </p:cNvSpPr>
          <p:nvPr>
            <p:ph type="body" sz="quarter" idx="12"/>
          </p:nvPr>
        </p:nvSpPr>
        <p:spPr/>
        <p:txBody>
          <a:bodyPr/>
          <a:lstStyle/>
          <a:p>
            <a:r>
              <a:rPr lang="da-DK" dirty="0" err="1"/>
              <a:t>Key</a:t>
            </a:r>
            <a:r>
              <a:rPr lang="da-DK" dirty="0"/>
              <a:t> </a:t>
            </a:r>
            <a:r>
              <a:rPr lang="da-DK" dirty="0" err="1"/>
              <a:t>findings</a:t>
            </a:r>
            <a:r>
              <a:rPr lang="da-DK" dirty="0"/>
              <a:t> – </a:t>
            </a:r>
            <a:r>
              <a:rPr lang="da-DK" dirty="0">
                <a:solidFill>
                  <a:schemeClr val="accent3"/>
                </a:solidFill>
              </a:rPr>
              <a:t>Open source and IP</a:t>
            </a:r>
          </a:p>
        </p:txBody>
      </p:sp>
      <p:sp>
        <p:nvSpPr>
          <p:cNvPr id="68" name="TITLE">
            <a:extLst>
              <a:ext uri="{FF2B5EF4-FFF2-40B4-BE49-F238E27FC236}">
                <a16:creationId xmlns:a16="http://schemas.microsoft.com/office/drawing/2014/main" id="{819D60A3-E539-D240-8F7B-2E33400530E0}"/>
              </a:ext>
            </a:extLst>
          </p:cNvPr>
          <p:cNvSpPr>
            <a:spLocks noGrp="1"/>
          </p:cNvSpPr>
          <p:nvPr>
            <p:ph type="title"/>
          </p:nvPr>
        </p:nvSpPr>
        <p:spPr/>
        <p:txBody>
          <a:bodyPr/>
          <a:lstStyle/>
          <a:p>
            <a:r>
              <a:rPr lang="en-US" dirty="0" err="1"/>
              <a:t>1 vulnerable 3rd party open-source dependencies were identified</a:t>
            </a:r>
          </a:p>
        </p:txBody>
      </p:sp>
      <p:sp>
        <p:nvSpPr>
          <p:cNvPr id="70" name="CONTENT">
            <a:extLst>
              <a:ext uri="{FF2B5EF4-FFF2-40B4-BE49-F238E27FC236}">
                <a16:creationId xmlns:a16="http://schemas.microsoft.com/office/drawing/2014/main" id="{35382002-BD0E-6D41-9C6F-BAEA966CEA5D}"/>
              </a:ext>
            </a:extLst>
          </p:cNvPr>
          <p:cNvSpPr>
            <a:spLocks noGrp="1"/>
          </p:cNvSpPr>
          <p:nvPr>
            <p:ph sz="quarter" idx="13"/>
          </p:nvPr>
        </p:nvSpPr>
        <p:spPr/>
        <p:txBody>
          <a:bodyPr/>
          <a:lstStyle/>
          <a:p>
            <a:pPr marL="0" indent="0">
              <a:buNone/>
            </a:pPr>
            <a:r>
              <a:rPr lang="en-US" dirty="0" err="1"/>
              <a:t>2% of dependencies (1 in total) used in the system contain one or more known vulnerabilities.</a:t>
            </a:r>
            <a:endParaRPr lang="en-US" dirty="0"/>
          </a:p>
          <a:p>
            <a:pPr marL="0" indent="0">
              <a:buNone/>
            </a:pPr>
            <a:r>
              <a:rPr lang="en-US" dirty="0" err="1"/>
              <a:t>All dependencies in the system use relatively liberal open-source licenses.</a:t>
            </a:r>
            <a:endParaRPr lang="en-US" dirty="0"/>
          </a:p>
          <a:p>
            <a:pPr marL="0" indent="0">
              <a:buNone/>
            </a:pPr>
            <a:r>
              <a:rPr lang="en-US" dirty="0" err="1"/>
              <a:t>39% of dependencies (16 in total) used in the system have not been updated for over 2 years.</a:t>
            </a:r>
            <a:endParaRPr lang="en-US" dirty="0"/>
          </a:p>
          <a:p>
            <a:pPr marL="0" indent="0">
              <a:buNone/>
            </a:pPr>
            <a:r>
              <a:rPr lang="en-US" dirty="0" err="1"/>
              <a:t>All dependencies in the system are managed by a package manager.</a:t>
            </a:r>
            <a:endParaRPr lang="en-US" dirty="0"/>
          </a:p>
          <a:p>
            <a:pPr marL="0" indent="0">
              <a:buNone/>
            </a:pPr>
            <a:endParaRPr lang="en-US" dirty="0"/>
          </a:p>
        </p:txBody>
      </p:sp>
      <p:sp>
        <p:nvSpPr>
          <p:cNvPr id="71" name="TOTAL_DEPS">
            <a:extLst>
              <a:ext uri="{FF2B5EF4-FFF2-40B4-BE49-F238E27FC236}">
                <a16:creationId xmlns:a16="http://schemas.microsoft.com/office/drawing/2014/main" id="{8FE61D71-5271-124A-B53B-13F22C55A383}"/>
              </a:ext>
            </a:extLst>
          </p:cNvPr>
          <p:cNvSpPr>
            <a:spLocks noGrp="1"/>
          </p:cNvSpPr>
          <p:nvPr>
            <p:ph type="body" sz="quarter" idx="14"/>
          </p:nvPr>
        </p:nvSpPr>
        <p:spPr/>
        <p:txBody>
          <a:bodyPr/>
          <a:lstStyle/>
          <a:p>
            <a:r>
              <a:rPr lang="en-US" dirty="0" err="1"/>
              <a:t>41</a:t>
            </a:r>
            <a:endParaRPr lang="en-US" dirty="0"/>
          </a:p>
        </p:txBody>
      </p:sp>
      <p:sp>
        <p:nvSpPr>
          <p:cNvPr id="57" name="TEXT">
            <a:extLst>
              <a:ext uri="{FF2B5EF4-FFF2-40B4-BE49-F238E27FC236}">
                <a16:creationId xmlns:a16="http://schemas.microsoft.com/office/drawing/2014/main" id="{9D7B5685-CC33-754B-82BD-27D4B80A0CE2}"/>
              </a:ext>
            </a:extLst>
          </p:cNvPr>
          <p:cNvSpPr txBox="1"/>
          <p:nvPr/>
        </p:nvSpPr>
        <p:spPr>
          <a:xfrm>
            <a:off x="4564120" y="924589"/>
            <a:ext cx="813017" cy="415498"/>
          </a:xfrm>
          <a:prstGeom prst="rect">
            <a:avLst/>
          </a:prstGeom>
          <a:noFill/>
        </p:spPr>
        <p:txBody>
          <a:bodyPr wrap="square" rtlCol="0">
            <a:spAutoFit/>
          </a:bodyPr>
          <a:lstStyle/>
          <a:p>
            <a:pPr algn="r"/>
            <a:r>
              <a:rPr lang="en-US" sz="1000" b="1" dirty="0"/>
              <a:t>SNAPSHOT DATE</a:t>
            </a:r>
          </a:p>
        </p:txBody>
      </p:sp>
      <p:grpSp>
        <p:nvGrpSpPr>
          <p:cNvPr id="58" name="Group 57">
            <a:extLst>
              <a:ext uri="{FF2B5EF4-FFF2-40B4-BE49-F238E27FC236}">
                <a16:creationId xmlns:a16="http://schemas.microsoft.com/office/drawing/2014/main" id="{4FCD4EA4-8E29-274C-9606-88147EEF45EE}"/>
              </a:ext>
            </a:extLst>
          </p:cNvPr>
          <p:cNvGrpSpPr/>
          <p:nvPr/>
        </p:nvGrpSpPr>
        <p:grpSpPr>
          <a:xfrm>
            <a:off x="5354172" y="806776"/>
            <a:ext cx="594110" cy="850933"/>
            <a:chOff x="10569980" y="810077"/>
            <a:chExt cx="594110" cy="850933"/>
          </a:xfrm>
        </p:grpSpPr>
        <p:sp>
          <p:nvSpPr>
            <p:cNvPr id="59" name="Oval 58">
              <a:extLst>
                <a:ext uri="{FF2B5EF4-FFF2-40B4-BE49-F238E27FC236}">
                  <a16:creationId xmlns:a16="http://schemas.microsoft.com/office/drawing/2014/main" id="{709A7ED2-A2F9-034C-B120-790832D15299}"/>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0" name="Freeform 59">
              <a:extLst>
                <a:ext uri="{FF2B5EF4-FFF2-40B4-BE49-F238E27FC236}">
                  <a16:creationId xmlns:a16="http://schemas.microsoft.com/office/drawing/2014/main" id="{2E632EFC-37E4-9B4A-B654-C53AB5D4C9C4}"/>
                </a:ext>
              </a:extLst>
            </p:cNvPr>
            <p:cNvSpPr/>
            <p:nvPr/>
          </p:nvSpPr>
          <p:spPr>
            <a:xfrm>
              <a:off x="10569980" y="813438"/>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1" name="Freeform 60">
              <a:extLst>
                <a:ext uri="{FF2B5EF4-FFF2-40B4-BE49-F238E27FC236}">
                  <a16:creationId xmlns:a16="http://schemas.microsoft.com/office/drawing/2014/main" id="{91E1648D-EC62-F54D-A2A0-57CEE34B1C8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bg1"/>
                </a:gs>
                <a:gs pos="55000">
                  <a:schemeClr val="bg2"/>
                </a:gs>
                <a:gs pos="0">
                  <a:schemeClr val="tx1">
                    <a:lumMod val="20000"/>
                    <a:lumOff val="80000"/>
                  </a:schemeClr>
                </a:gs>
                <a:gs pos="13000">
                  <a:schemeClr val="bg1"/>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dirty="0" err="1">
                <a:solidFill>
                  <a:schemeClr val="bg1"/>
                </a:solidFill>
              </a:endParaRPr>
            </a:p>
          </p:txBody>
        </p:sp>
      </p:grpSp>
      <p:sp>
        <p:nvSpPr>
          <p:cNvPr id="62" name="DATE_BOX">
            <a:extLst>
              <a:ext uri="{FF2B5EF4-FFF2-40B4-BE49-F238E27FC236}">
                <a16:creationId xmlns:a16="http://schemas.microsoft.com/office/drawing/2014/main" id="{99EAEF4D-487F-7E40-988B-DD1B4BDB1B42}"/>
              </a:ext>
            </a:extLst>
          </p:cNvPr>
          <p:cNvSpPr txBox="1"/>
          <p:nvPr/>
        </p:nvSpPr>
        <p:spPr>
          <a:xfrm>
            <a:off x="5037678" y="863629"/>
            <a:ext cx="1269963" cy="539250"/>
          </a:xfrm>
          <a:prstGeom prst="rect">
            <a:avLst/>
          </a:prstGeom>
          <a:noFill/>
        </p:spPr>
        <p:txBody>
          <a:bodyPr wrap="none" lIns="0" rIns="0" rtlCol="0">
            <a:spAutoFit/>
          </a:bodyPr>
          <a:lstStyle/>
          <a:p>
            <a:pPr algn="ctr">
              <a:lnSpc>
                <a:spcPct val="80000"/>
              </a:lnSpc>
            </a:pPr>
            <a:r>
              <a:rPr lang="en-US" sz="1200" b="1" dirty="0" err="1">
                <a:solidFill>
                  <a:schemeClr val="tx2">
                    <a:alpha val="70000"/>
                  </a:schemeClr>
                </a:solidFill>
              </a:rPr>
              <a:t>11</a:t>
            </a:r>
            <a:endParaRPr lang="en-US" sz="1200" b="1" dirty="0">
              <a:solidFill>
                <a:schemeClr val="tx2">
                  <a:alpha val="70000"/>
                </a:schemeClr>
              </a:solidFill>
            </a:endParaRPr>
          </a:p>
          <a:p>
            <a:pPr algn="ctr">
              <a:lnSpc>
                <a:spcPct val="80000"/>
              </a:lnSpc>
            </a:pPr>
            <a:r>
              <a:rPr lang="en-US" sz="1200" b="1" dirty="0" err="1">
                <a:solidFill>
                  <a:schemeClr val="tx2">
                    <a:alpha val="70000"/>
                  </a:schemeClr>
                </a:solidFill>
              </a:rPr>
              <a:t>FEB</a:t>
            </a:r>
            <a:endParaRPr lang="en-US" sz="1200" b="1" dirty="0">
              <a:solidFill>
                <a:schemeClr val="tx2">
                  <a:alpha val="70000"/>
                </a:schemeClr>
              </a:solidFill>
            </a:endParaRPr>
          </a:p>
          <a:p>
            <a:pPr algn="ctr">
              <a:lnSpc>
                <a:spcPct val="80000"/>
              </a:lnSpc>
            </a:pPr>
            <a:r>
              <a:rPr lang="en-US" sz="1200" dirty="0" err="1">
                <a:solidFill>
                  <a:schemeClr val="tx1">
                    <a:alpha val="60000"/>
                  </a:schemeClr>
                </a:solidFill>
              </a:rPr>
              <a:t>2026</a:t>
            </a:r>
            <a:endParaRPr lang="en-US" sz="1200" dirty="0">
              <a:solidFill>
                <a:schemeClr val="tx1">
                  <a:alpha val="60000"/>
                </a:schemeClr>
              </a:solidFill>
            </a:endParaRPr>
          </a:p>
        </p:txBody>
      </p:sp>
      <p:graphicFrame>
        <p:nvGraphicFramePr>
          <p:cNvPr id="6" name="CHART_1">
            <a:extLst>
              <a:ext uri="{FF2B5EF4-FFF2-40B4-BE49-F238E27FC236}">
                <a16:creationId xmlns:a16="http://schemas.microsoft.com/office/drawing/2014/main" id="{C04CE8AB-B4BC-90F2-0ABA-6641978088A2}"/>
              </a:ext>
            </a:extLst>
          </p:cNvPr>
          <p:cNvGraphicFramePr>
            <a:graphicFrameLocks/>
          </p:cNvGraphicFramePr>
          <p:nvPr>
            <p:extLst>
              <p:ext uri="{D42A27DB-BD31-4B8C-83A1-F6EECF244321}">
                <p14:modId xmlns:p14="http://schemas.microsoft.com/office/powerpoint/2010/main" val="1486656831"/>
              </p:ext>
            </p:extLst>
          </p:nvPr>
        </p:nvGraphicFramePr>
        <p:xfrm>
          <a:off x="2366249" y="2825980"/>
          <a:ext cx="3240000" cy="147582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_2">
            <a:extLst>
              <a:ext uri="{FF2B5EF4-FFF2-40B4-BE49-F238E27FC236}">
                <a16:creationId xmlns:a16="http://schemas.microsoft.com/office/drawing/2014/main" id="{81D6CA2D-63F4-2ADE-B0B2-80AF25FA20DA}"/>
              </a:ext>
            </a:extLst>
          </p:cNvPr>
          <p:cNvGraphicFramePr>
            <a:graphicFrameLocks/>
          </p:cNvGraphicFramePr>
          <p:nvPr>
            <p:extLst>
              <p:ext uri="{D42A27DB-BD31-4B8C-83A1-F6EECF244321}">
                <p14:modId xmlns:p14="http://schemas.microsoft.com/office/powerpoint/2010/main" val="97294388"/>
              </p:ext>
            </p:extLst>
          </p:nvPr>
        </p:nvGraphicFramePr>
        <p:xfrm>
          <a:off x="2365814" y="4021134"/>
          <a:ext cx="3240000" cy="2520721"/>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A6D0A0AD-8EC9-4B45-9E7B-B0715AA85681}"/>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OSH_SLIDE</a:t>
            </a:r>
            <a:endParaRPr lang="en-US" sz="1600" dirty="0">
              <a:solidFill>
                <a:schemeClr val="tx2"/>
              </a:solidFill>
            </a:endParaRPr>
          </a:p>
        </p:txBody>
      </p:sp>
    </p:spTree>
    <p:extLst>
      <p:ext uri="{BB962C8B-B14F-4D97-AF65-F5344CB8AC3E}">
        <p14:creationId xmlns:p14="http://schemas.microsoft.com/office/powerpoint/2010/main" val="15485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9</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Open source and IP</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en-US" dirty="0" err="1"/>
              <a:t>Twitter Algorithm rates above market average in Open-Source health</a:t>
            </a:r>
          </a:p>
        </p:txBody>
      </p:sp>
      <p:sp>
        <p:nvSpPr>
          <p:cNvPr id="5" name="Footer Placeholder 4">
            <a:extLst>
              <a:ext uri="{FF2B5EF4-FFF2-40B4-BE49-F238E27FC236}">
                <a16:creationId xmlns:a16="http://schemas.microsoft.com/office/drawing/2014/main" id="{64E03FAA-8831-A561-22BE-0BD6A7F10B6D}"/>
              </a:ext>
            </a:extLst>
          </p:cNvPr>
          <p:cNvSpPr>
            <a:spLocks noGrp="1"/>
          </p:cNvSpPr>
          <p:nvPr>
            <p:ph type="ftr" sz="quarter" idx="3"/>
          </p:nvPr>
        </p:nvSpPr>
        <p:spPr/>
        <p:txBody>
          <a:bodyPr/>
          <a:lstStyle/>
          <a:p>
            <a:r>
              <a:rPr lang="en-US" dirty="0"/>
              <a:t>Confidential</a:t>
            </a:r>
          </a:p>
        </p:txBody>
      </p:sp>
      <p:sp>
        <p:nvSpPr>
          <p:cNvPr id="11" name="Text Placeholder 10">
            <a:extLst>
              <a:ext uri="{FF2B5EF4-FFF2-40B4-BE49-F238E27FC236}">
                <a16:creationId xmlns:a16="http://schemas.microsoft.com/office/drawing/2014/main" id="{7386256E-1079-FD76-4125-F912312BA9CB}"/>
              </a:ext>
            </a:extLst>
          </p:cNvPr>
          <p:cNvSpPr>
            <a:spLocks noGrp="1"/>
          </p:cNvSpPr>
          <p:nvPr>
            <p:ph sz="quarter" idx="13"/>
          </p:nvPr>
        </p:nvSpPr>
        <p:spPr>
          <a:xfrm>
            <a:off x="517525" y="2955487"/>
            <a:ext cx="7135680" cy="3304980"/>
          </a:xfrm>
        </p:spPr>
        <p:txBody>
          <a:bodyPr/>
          <a:lstStyle/>
          <a:p>
            <a:pPr marL="0" indent="0">
              <a:buNone/>
            </a:pPr>
            <a:r>
              <a:rPr lang="en-US" sz="1400" dirty="0" err="1"/>
              <a:t>2% of dependencies (1 in total) used in the system contain one or more known vulnerabilities.</a:t>
            </a:r>
            <a:endParaRPr lang="en-US" sz="1400" dirty="0"/>
          </a:p>
          <a:p>
            <a:pPr marL="0" indent="0">
              <a:buNone/>
            </a:pPr>
            <a:r>
              <a:rPr lang="en-US" sz="1400" dirty="0" err="1"/>
              <a:t>All dependencies in the system use relatively liberal open-source licenses.</a:t>
            </a:r>
            <a:endParaRPr lang="en-US" sz="1400" dirty="0"/>
          </a:p>
          <a:p>
            <a:pPr marL="0" indent="0">
              <a:buNone/>
            </a:pPr>
            <a:r>
              <a:rPr lang="en-US" sz="1400" dirty="0" err="1"/>
              <a:t>39% of dependencies (16 in total) used in the system have not been updated for over 2 years.</a:t>
            </a:r>
            <a:endParaRPr lang="en-US" sz="1400" dirty="0"/>
          </a:p>
          <a:p>
            <a:pPr marL="0" indent="0">
              <a:buNone/>
            </a:pPr>
            <a:r>
              <a:rPr lang="en-US" sz="1400" dirty="0" err="1"/>
              <a:t>All dependencies in the system are managed by a package manager.</a:t>
            </a:r>
            <a:endParaRPr lang="en-US" sz="1400" dirty="0"/>
          </a:p>
          <a:p>
            <a:pPr marL="0" indent="0">
              <a:buNone/>
            </a:pPr>
            <a:endParaRPr lang="en-US" sz="1400" dirty="0"/>
          </a:p>
          <a:p>
            <a:pPr marL="0" indent="0">
              <a:buNone/>
            </a:pPr>
            <a:endParaRPr lang="en-US" sz="1400" dirty="0"/>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11</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2026</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8" name="Text Placeholder 228">
            <a:extLst>
              <a:ext uri="{FF2B5EF4-FFF2-40B4-BE49-F238E27FC236}">
                <a16:creationId xmlns:a16="http://schemas.microsoft.com/office/drawing/2014/main" id="{EA58BDC9-A65D-1EF9-C06F-B133B2334169}"/>
              </a:ext>
            </a:extLst>
          </p:cNvPr>
          <p:cNvSpPr>
            <a:spLocks noGrp="1"/>
          </p:cNvSpPr>
          <p:nvPr>
            <p:ph type="body" sz="quarter" idx="22"/>
          </p:nvPr>
        </p:nvSpPr>
        <p:spPr>
          <a:xfrm>
            <a:off x="8923595" y="914509"/>
            <a:ext cx="1211870" cy="257763"/>
          </a:xfrm>
        </p:spPr>
        <p:txBody>
          <a:bodyPr/>
          <a:lstStyle/>
          <a:p>
            <a:r>
              <a:rPr lang="en-NL"/>
              <a:t>Open source health</a:t>
            </a:r>
          </a:p>
        </p:txBody>
      </p:sp>
      <p:sp>
        <p:nvSpPr>
          <p:cNvPr id="4" name="Text Placeholder 3">
            <a:extLst>
              <a:ext uri="{FF2B5EF4-FFF2-40B4-BE49-F238E27FC236}">
                <a16:creationId xmlns:a16="http://schemas.microsoft.com/office/drawing/2014/main" id="{4649D8E7-562C-3F83-EDA5-551D478BD8AC}"/>
              </a:ext>
            </a:extLst>
          </p:cNvPr>
          <p:cNvSpPr>
            <a:spLocks noGrp="1"/>
          </p:cNvSpPr>
          <p:nvPr>
            <p:ph type="body" sz="quarter" idx="20"/>
          </p:nvPr>
        </p:nvSpPr>
        <p:spPr/>
        <p:txBody>
          <a:bodyPr/>
          <a:lstStyle/>
          <a:p>
            <a:r>
              <a:rPr lang="en-US" dirty="0" err="1"/>
              <a:t>FEB</a:t>
            </a:r>
            <a:endParaRPr lang="en-US" dirty="0"/>
          </a:p>
        </p:txBody>
      </p:sp>
      <p:grpSp>
        <p:nvGrpSpPr>
          <p:cNvPr id="3" name="Group 2">
            <a:extLst>
              <a:ext uri="{FF2B5EF4-FFF2-40B4-BE49-F238E27FC236}">
                <a16:creationId xmlns:a16="http://schemas.microsoft.com/office/drawing/2014/main" id="{E408717E-20F8-B094-F836-3F06B295F0CF}"/>
              </a:ext>
            </a:extLst>
          </p:cNvPr>
          <p:cNvGrpSpPr/>
          <p:nvPr/>
        </p:nvGrpSpPr>
        <p:grpSpPr>
          <a:xfrm>
            <a:off x="8951997" y="1568465"/>
            <a:ext cx="373034" cy="430054"/>
            <a:chOff x="5730574" y="2099850"/>
            <a:chExt cx="373034" cy="430054"/>
          </a:xfrm>
        </p:grpSpPr>
        <p:sp>
          <p:nvSpPr>
            <p:cNvPr id="6" name="Rectangle 5">
              <a:extLst>
                <a:ext uri="{FF2B5EF4-FFF2-40B4-BE49-F238E27FC236}">
                  <a16:creationId xmlns:a16="http://schemas.microsoft.com/office/drawing/2014/main" id="{D52849B8-61B3-C046-18A7-A21F353E4A0E}"/>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4.4</a:t>
              </a:r>
              <a:endParaRPr lang="en-US" sz="1400" b="1" dirty="0"/>
            </a:p>
          </p:txBody>
        </p:sp>
        <p:sp>
          <p:nvSpPr>
            <p:cNvPr id="7" name="Pentagon 6">
              <a:extLst>
                <a:ext uri="{FF2B5EF4-FFF2-40B4-BE49-F238E27FC236}">
                  <a16:creationId xmlns:a16="http://schemas.microsoft.com/office/drawing/2014/main" id="{3E78CEEB-4204-7EE6-1D31-1B8DC2596A01}"/>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Group 52">
            <a:extLst>
              <a:ext uri="{FF2B5EF4-FFF2-40B4-BE49-F238E27FC236}">
                <a16:creationId xmlns:a16="http://schemas.microsoft.com/office/drawing/2014/main" id="{9BEC8872-3FB6-1910-ED65-16029E5B2A69}"/>
              </a:ext>
            </a:extLst>
          </p:cNvPr>
          <p:cNvGraphicFramePr>
            <a:graphicFrameLocks noGrp="1"/>
          </p:cNvGraphicFramePr>
          <p:nvPr>
            <p:extLst>
              <p:ext uri="{D42A27DB-BD31-4B8C-83A1-F6EECF244321}">
                <p14:modId xmlns:p14="http://schemas.microsoft.com/office/powerpoint/2010/main" val="2068767665"/>
              </p:ext>
            </p:extLst>
          </p:nvPr>
        </p:nvGraphicFramePr>
        <p:xfrm>
          <a:off x="7984631" y="3243717"/>
          <a:ext cx="3755424" cy="552636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Vulnerability</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Freshness</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1.4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bl>
          </a:graphicData>
        </a:graphic>
      </p:graphicFrame>
    </p:spTree>
    <p:extLst>
      <p:ext uri="{BB962C8B-B14F-4D97-AF65-F5344CB8AC3E}">
        <p14:creationId xmlns:p14="http://schemas.microsoft.com/office/powerpoint/2010/main" val="251637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4AF23F-0AD1-0347-BF7F-1B20660C75EF}"/>
              </a:ext>
            </a:extLst>
          </p:cNvPr>
          <p:cNvSpPr>
            <a:spLocks noGrp="1"/>
          </p:cNvSpPr>
          <p:nvPr>
            <p:ph type="sldNum" sz="quarter" idx="4"/>
          </p:nvPr>
        </p:nvSpPr>
        <p:spPr/>
        <p:txBody>
          <a:bodyPr/>
          <a:lstStyle/>
          <a:p>
            <a:fld id="{E242BD21-9B61-2246-BCB1-4BE5E1BEBE1C}" type="slidenum">
              <a:rPr lang="en-US" smtClean="0"/>
              <a:pPr/>
              <a:t>10</a:t>
            </a:fld>
            <a:endParaRPr lang="en-US"/>
          </a:p>
        </p:txBody>
      </p:sp>
      <p:sp>
        <p:nvSpPr>
          <p:cNvPr id="10" name="Text Placeholder 9">
            <a:extLst>
              <a:ext uri="{FF2B5EF4-FFF2-40B4-BE49-F238E27FC236}">
                <a16:creationId xmlns:a16="http://schemas.microsoft.com/office/drawing/2014/main" id="{E150B659-F724-1B47-9AC0-0C9C91F9FEC4}"/>
              </a:ext>
            </a:extLst>
          </p:cNvPr>
          <p:cNvSpPr>
            <a:spLocks noGrp="1"/>
          </p:cNvSpPr>
          <p:nvPr>
            <p:ph type="body" sz="quarter" idx="12"/>
          </p:nvPr>
        </p:nvSpPr>
        <p:spPr/>
        <p:txBody>
          <a:bodyPr/>
          <a:lstStyle/>
          <a:p>
            <a:r>
              <a:rPr lang="en-US" dirty="0"/>
              <a:t>Refactoring Candidates – DUPLICATION</a:t>
            </a:r>
          </a:p>
        </p:txBody>
      </p:sp>
      <p:sp>
        <p:nvSpPr>
          <p:cNvPr id="5" name="Title 4">
            <a:extLst>
              <a:ext uri="{FF2B5EF4-FFF2-40B4-BE49-F238E27FC236}">
                <a16:creationId xmlns:a16="http://schemas.microsoft.com/office/drawing/2014/main" id="{9FFB116C-E601-C24A-9C7F-0F5295238258}"/>
              </a:ext>
            </a:extLst>
          </p:cNvPr>
          <p:cNvSpPr>
            <a:spLocks noGrp="1"/>
          </p:cNvSpPr>
          <p:nvPr>
            <p:ph type="title"/>
          </p:nvPr>
        </p:nvSpPr>
        <p:spPr/>
        <p:txBody>
          <a:bodyPr/>
          <a:lstStyle/>
          <a:p>
            <a:r>
              <a:rPr lang="en-US" dirty="0"/>
              <a:t>An overview of the longest duplicates</a:t>
            </a:r>
          </a:p>
        </p:txBody>
      </p:sp>
      <p:sp>
        <p:nvSpPr>
          <p:cNvPr id="6" name="Footer Placeholder 5">
            <a:extLst>
              <a:ext uri="{FF2B5EF4-FFF2-40B4-BE49-F238E27FC236}">
                <a16:creationId xmlns:a16="http://schemas.microsoft.com/office/drawing/2014/main" id="{2BFA917F-83E5-5E45-B28C-D0C1B781495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sp>
        <p:nvSpPr>
          <p:cNvPr id="3" name="Content Placeholder 2">
            <a:extLst>
              <a:ext uri="{FF2B5EF4-FFF2-40B4-BE49-F238E27FC236}">
                <a16:creationId xmlns:a16="http://schemas.microsoft.com/office/drawing/2014/main" id="{E0EB1030-EE41-F840-9218-1CBC03600234}"/>
              </a:ext>
            </a:extLst>
          </p:cNvPr>
          <p:cNvSpPr>
            <a:spLocks noGrp="1"/>
          </p:cNvSpPr>
          <p:nvPr>
            <p:ph sz="quarter" idx="13"/>
          </p:nvPr>
        </p:nvSpPr>
        <p:spPr/>
        <p:txBody>
          <a:bodyPr/>
          <a:lstStyle/>
          <a:p>
            <a:endParaRPr lang="en-US"/>
          </a:p>
        </p:txBody>
      </p:sp>
      <p:graphicFrame>
        <p:nvGraphicFramePr>
          <p:cNvPr id="7" name="REFACTORING_CANDIDATES_TABLE_DUPLICATION">
            <a:extLst>
              <a:ext uri="{FF2B5EF4-FFF2-40B4-BE49-F238E27FC236}">
                <a16:creationId xmlns:a16="http://schemas.microsoft.com/office/drawing/2014/main" id="{6D18B547-BA3F-1046-9F1B-A8CA602DA83E}"/>
              </a:ext>
            </a:extLst>
          </p:cNvPr>
          <p:cNvGraphicFramePr>
            <a:graphicFrameLocks noGrp="1"/>
          </p:cNvGraphicFramePr>
          <p:nvPr/>
        </p:nvGraphicFramePr>
        <p:xfrm>
          <a:off x="514373" y="1366988"/>
          <a:ext cx="11231294" cy="4933680"/>
        </p:xfrm>
        <a:graphic>
          <a:graphicData uri="http://schemas.openxmlformats.org/drawingml/2006/table">
            <a:tbl>
              <a:tblPr firstRow="1" bandRow="1">
                <a:effectLst/>
                <a:tableStyleId>{F2DE63D5-997A-4646-A377-4702673A728D}</a:tableStyleId>
              </a:tblPr>
              <a:tblGrid>
                <a:gridCol w="7004027">
                  <a:extLst>
                    <a:ext uri="{9D8B030D-6E8A-4147-A177-3AD203B41FA5}">
                      <a16:colId xmlns:a16="http://schemas.microsoft.com/office/drawing/2014/main" val="20000"/>
                    </a:ext>
                  </a:extLst>
                </a:gridCol>
                <a:gridCol w="1410957">
                  <a:extLst>
                    <a:ext uri="{9D8B030D-6E8A-4147-A177-3AD203B41FA5}">
                      <a16:colId xmlns:a16="http://schemas.microsoft.com/office/drawing/2014/main" val="20001"/>
                    </a:ext>
                  </a:extLst>
                </a:gridCol>
                <a:gridCol w="1211322">
                  <a:extLst>
                    <a:ext uri="{9D8B030D-6E8A-4147-A177-3AD203B41FA5}">
                      <a16:colId xmlns:a16="http://schemas.microsoft.com/office/drawing/2014/main" val="20002"/>
                    </a:ext>
                  </a:extLst>
                </a:gridCol>
                <a:gridCol w="1604988">
                  <a:extLst>
                    <a:ext uri="{9D8B030D-6E8A-4147-A177-3AD203B41FA5}">
                      <a16:colId xmlns:a16="http://schemas.microsoft.com/office/drawing/2014/main" val="2857446439"/>
                    </a:ext>
                  </a:extLst>
                </a:gridCol>
              </a:tblGrid>
              <a:tr h="30582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nchor="b">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marR="0" indent="0" algn="r" defTabSz="457200" rtl="0" eaLnBrk="1" fontAlgn="auto" latinLnBrk="0" hangingPunct="1">
                        <a:lnSpc>
                          <a:spcPct val="100000"/>
                        </a:lnSpc>
                        <a:spcBef>
                          <a:spcPts val="0"/>
                        </a:spcBef>
                        <a:spcAft>
                          <a:spcPts val="0"/>
                        </a:spcAft>
                        <a:buClrTx/>
                        <a:buSzTx/>
                        <a:buFontTx/>
                        <a:buNone/>
                        <a:tabLst/>
                        <a:defRPr/>
                      </a:pPr>
                      <a:r>
                        <a:rPr b="1" i="0" sz="1400">
                          <a:solidFill>
                            <a:schemeClr val="bg1"/>
                          </a:solidFill>
                          <a:latin typeface="+mn-lt"/>
                        </a:rPr>
                        <a:t>Redundant LOC</a:t>
                      </a:r>
                    </a:p>
                  </a:txBody>
                  <a:tcPr marL="108000" marR="108000" marT="72000" marB="72000" anchor="b">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1"/>
                    </a:solidFill>
                  </a:tcPr>
                </a:tc>
                <a:tc>
                  <a:txBody>
                    <a:bodyPr/>
                    <a:lstStyle/>
                    <a:p>
                      <a:pPr algn="l"/>
                      <a:r>
                        <a:rPr b="1" sz="1400">
                          <a:solidFill>
                            <a:schemeClr val="bg1"/>
                          </a:solidFill>
                          <a:latin typeface="+mn-lt"/>
                        </a:rPr>
                        <a:t>Level</a:t>
                      </a:r>
                      <a:endParaRPr lang="en-US" sz="1400" b="1" i="0" noProof="0" dirty="0">
                        <a:solidFill>
                          <a:schemeClr val="bg1"/>
                        </a:solidFill>
                        <a:latin typeface="+mn-lt"/>
                        <a:cs typeface="TheSans B4 SemiLight"/>
                      </a:endParaRP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0633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13 lines occurring 31 times in CandidatePipelineResult.scala, ContentFeatures.scala, MixerPipelineResult.scala, RecommendationPipelineResult.scala, UpdateTimelinesPersistenceStoreSideEffect.scala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390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9736">
                <a:tc>
                  <a:txBody>
                    <a:bodyPr/>
                    <a:lstStyle/>
                    <a:p>
                      <a:pPr algn="l" fontAlgn="b"/>
                      <a:r>
                        <a:rPr b="0" i="0" sz="1200" u="none">
                          <a:solidFill>
                            <a:schemeClr val="tx2"/>
                          </a:solidFill>
                          <a:latin typeface="Calibri Bold"/>
                        </a:rPr>
                        <a:t>19 lines occurring 21 times in ContentFeatures.scala, RecommendationPipelineResult.scala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79736">
                <a:tc>
                  <a:txBody>
                    <a:bodyPr/>
                    <a:lstStyle/>
                    <a:p>
                      <a:pPr algn="l" fontAlgn="b"/>
                      <a:r>
                        <a:rPr b="0" i="0" sz="1200" u="none">
                          <a:solidFill>
                            <a:schemeClr val="tx2"/>
                          </a:solidFill>
                          <a:latin typeface="Calibri Bold"/>
                        </a:rPr>
                        <a:t>14 lines occurring 27 times in ContentFeatures.scala,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364</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9736">
                <a:tc>
                  <a:txBody>
                    <a:bodyPr/>
                    <a:lstStyle/>
                    <a:p>
                      <a:pPr algn="l" fontAlgn="b"/>
                      <a:r>
                        <a:rPr b="0" i="0" sz="1200" u="none">
                          <a:solidFill>
                            <a:schemeClr val="tx2"/>
                          </a:solidFill>
                          <a:latin typeface="Calibri Bold"/>
                        </a:rPr>
                        <a:t>50 lines occurring 4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150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Component</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79736">
                <a:tc>
                  <a:txBody>
                    <a:bodyPr/>
                    <a:lstStyle/>
                    <a:p>
                      <a:pPr algn="l" fontAlgn="b"/>
                      <a:r>
                        <a:rPr b="0" i="0" sz="1200" u="none">
                          <a:solidFill>
                            <a:schemeClr val="tx2"/>
                          </a:solidFill>
                          <a:latin typeface="Calibri Bold"/>
                        </a:rPr>
                        <a:t>8 lines occurring 57 times in CandidatePipelineResult.scala, ContentFeatures.scala, MixerPipelineResult.scala, ProductPipelineResult.scala,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448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279736">
                <a:tc>
                  <a:txBody>
                    <a:bodyPr/>
                    <a:lstStyle/>
                    <a:p>
                      <a:pPr algn="l" fontAlgn="b"/>
                      <a:r>
                        <a:rPr b="0" i="0" sz="1200" u="none">
                          <a:solidFill>
                            <a:schemeClr val="tx2"/>
                          </a:solidFill>
                          <a:latin typeface="Calibri Bold"/>
                        </a:rPr>
                        <a:t>61 lines occurring 3 times in FeatureStoreGizmoduckSource.scala, FeatureStoreTimelinesAuthorSource.scala, FeatureStoreUserMetricCountsSource.scala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122</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279736">
                <a:tc>
                  <a:txBody>
                    <a:bodyPr/>
                    <a:lstStyle/>
                    <a:p>
                      <a:pPr algn="l" fontAlgn="b"/>
                      <a:r>
                        <a:rPr b="0" i="0" sz="1200" u="none">
                          <a:solidFill>
                            <a:schemeClr val="tx2"/>
                          </a:solidFill>
                          <a:latin typeface="Calibri Bold"/>
                        </a:rPr>
                        <a:t>12 lines occurring 10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108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279736">
                <a:tc>
                  <a:txBody>
                    <a:bodyPr/>
                    <a:lstStyle/>
                    <a:p>
                      <a:pPr algn="l" fontAlgn="b"/>
                      <a:r>
                        <a:rPr b="0" i="0" sz="1200" u="none">
                          <a:solidFill>
                            <a:schemeClr val="tx2"/>
                          </a:solidFill>
                          <a:latin typeface="Calibri Bold"/>
                        </a:rPr>
                        <a:t>25 lines occurring 5 times in AggregatableFavBasedProducerEmbeddings.scala, AggregatableFollowBasedProducerEmbeddings.scala, AggregatableLogFavBasedProducerEmbeddings.scala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100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279736">
                <a:tc>
                  <a:txBody>
                    <a:bodyPr/>
                    <a:lstStyle/>
                    <a:p>
                      <a:pPr algn="l" fontAlgn="b"/>
                      <a:r>
                        <a:rPr b="0" i="0" sz="1200" u="none">
                          <a:solidFill>
                            <a:schemeClr val="tx2"/>
                          </a:solidFill>
                          <a:latin typeface="Calibri Bold"/>
                        </a:rPr>
                        <a:t>20 lines occurring 5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279736">
                <a:tc>
                  <a:txBody>
                    <a:bodyPr/>
                    <a:lstStyle/>
                    <a:p>
                      <a:pPr algn="l" fontAlgn="b"/>
                      <a:r>
                        <a:rPr b="0" i="0" sz="1200" u="none">
                          <a:solidFill>
                            <a:schemeClr val="tx2"/>
                          </a:solidFill>
                          <a:latin typeface="Calibri Bold"/>
                        </a:rPr>
                        <a:t>15 lines occurring 6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75</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279736">
                <a:tc>
                  <a:txBody>
                    <a:bodyPr/>
                    <a:lstStyle/>
                    <a:p>
                      <a:pPr algn="l" fontAlgn="b"/>
                      <a:r>
                        <a:rPr b="0" i="0" sz="1200" u="none">
                          <a:solidFill>
                            <a:schemeClr val="tx2"/>
                          </a:solidFill>
                          <a:latin typeface="Calibri Bold"/>
                        </a:rPr>
                        <a:t>68 lines occurring 2 times in TweetMediaFeatureExtractor.scala, TweetMediaFeaturesExtractor.scala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279736">
                <a:tc>
                  <a:txBody>
                    <a:bodyPr/>
                    <a:lstStyle/>
                    <a:p>
                      <a:pPr algn="l" fontAlgn="b"/>
                      <a:r>
                        <a:rPr b="0" i="0" sz="1200" u="none">
                          <a:solidFill>
                            <a:schemeClr val="tx2"/>
                          </a:solidFill>
                          <a:latin typeface="Calibri Bold"/>
                        </a:rPr>
                        <a:t>66 lines occurring 2 times in ProducerBasedUnifiedSimilarityEngine.scala, TweetBasedUnifiedSimilarityEngine.scala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 lines occurring 2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11 lines occurring 7 times in FreedomOfSpeechNotReach.scala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700129"/>
                  </a:ext>
                </a:extLst>
              </a:tr>
            </a:tbl>
          </a:graphicData>
        </a:graphic>
      </p:graphicFrame>
    </p:spTree>
    <p:extLst>
      <p:ext uri="{BB962C8B-B14F-4D97-AF65-F5344CB8AC3E}">
        <p14:creationId xmlns:p14="http://schemas.microsoft.com/office/powerpoint/2010/main" val="2630202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0E241-59C2-6F55-4707-FD2CC82A6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97773-E61A-9D94-159E-FE176D511F7A}"/>
              </a:ext>
            </a:extLst>
          </p:cNvPr>
          <p:cNvSpPr>
            <a:spLocks noGrp="1"/>
          </p:cNvSpPr>
          <p:nvPr>
            <p:ph type="sldNum" sz="quarter" idx="4"/>
          </p:nvPr>
        </p:nvSpPr>
        <p:spPr/>
        <p:txBody>
          <a:bodyPr/>
          <a:lstStyle/>
          <a:p>
            <a:fld id="{E242BD21-9B61-2246-BCB1-4BE5E1BEBE1C}" type="slidenum">
              <a:rPr lang="en-US" smtClean="0"/>
              <a:pPr/>
              <a:t>11</a:t>
            </a:fld>
            <a:endParaRPr lang="en-US"/>
          </a:p>
        </p:txBody>
      </p:sp>
      <p:sp>
        <p:nvSpPr>
          <p:cNvPr id="10" name="Text Placeholder 9">
            <a:extLst>
              <a:ext uri="{FF2B5EF4-FFF2-40B4-BE49-F238E27FC236}">
                <a16:creationId xmlns:a16="http://schemas.microsoft.com/office/drawing/2014/main" id="{C070E2EE-7B25-5041-16B6-A6265C553E99}"/>
              </a:ext>
            </a:extLst>
          </p:cNvPr>
          <p:cNvSpPr>
            <a:spLocks noGrp="1"/>
          </p:cNvSpPr>
          <p:nvPr>
            <p:ph type="body" sz="quarter" idx="12"/>
          </p:nvPr>
        </p:nvSpPr>
        <p:spPr/>
        <p:txBody>
          <a:bodyPr/>
          <a:lstStyle/>
          <a:p>
            <a:r>
              <a:rPr lang="en-US" dirty="0"/>
              <a:t>Refactoring Candidates – Unit Size</a:t>
            </a:r>
          </a:p>
        </p:txBody>
      </p:sp>
      <p:sp>
        <p:nvSpPr>
          <p:cNvPr id="5" name="Title 4">
            <a:extLst>
              <a:ext uri="{FF2B5EF4-FFF2-40B4-BE49-F238E27FC236}">
                <a16:creationId xmlns:a16="http://schemas.microsoft.com/office/drawing/2014/main" id="{7E6AFEFE-FA0F-CDBD-40F1-A3FF99211BA2}"/>
              </a:ext>
            </a:extLst>
          </p:cNvPr>
          <p:cNvSpPr>
            <a:spLocks noGrp="1"/>
          </p:cNvSpPr>
          <p:nvPr>
            <p:ph type="title"/>
          </p:nvPr>
        </p:nvSpPr>
        <p:spPr/>
        <p:txBody>
          <a:bodyPr/>
          <a:lstStyle/>
          <a:p>
            <a:r>
              <a:rPr lang="en-US" dirty="0"/>
              <a:t>An overview of the longest units</a:t>
            </a:r>
          </a:p>
        </p:txBody>
      </p:sp>
      <p:sp>
        <p:nvSpPr>
          <p:cNvPr id="6" name="Footer Placeholder 5">
            <a:extLst>
              <a:ext uri="{FF2B5EF4-FFF2-40B4-BE49-F238E27FC236}">
                <a16:creationId xmlns:a16="http://schemas.microsoft.com/office/drawing/2014/main" id="{6476392F-4A8E-477A-00F5-76B3207433B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SIZE">
            <a:extLst>
              <a:ext uri="{FF2B5EF4-FFF2-40B4-BE49-F238E27FC236}">
                <a16:creationId xmlns:a16="http://schemas.microsoft.com/office/drawing/2014/main" id="{6526472F-557C-F0F9-9AC9-DA0F1F07D816}"/>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CandidatePipelineBuilder.build(ComponentIdentifierStack,BaseCandidatePipelineConfig)</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557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product-mixer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UUABasedClusterToTweetIndexGenerationJob.convertActionTypesSeqToString(Seq)</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468</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argument_parser.py:get_trainer_parser()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386</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EarlybirdAdapter.setFeatures(Option,RichDataRecord)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303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home-mixer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283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nsfw_media.py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273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18</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trust_and_safety_models</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TombstoneVisibilityLibrary.apply(TombstoneVisibilityRequest)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257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ScoringPipelineBuilder.build(ComponentIdentifierStack,ScoringPipelineConfig)</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255</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9</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ftr_tweet_embeddings.sql.$defaultUnit1</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247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PL/SQL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220</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EarlybirdServerFactory.makeEarlybirdServer(EarlybirdWireModule)</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212</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SimClustersInterestedInCandidateGeneration.fromParams(InternalId,configapi.Params)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209</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SimClustersInterestedInCandidateGeneration.get(SimClustersInterestedInCandidateGeneration.Query)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208</a:t>
                      </a:r>
                      <a:endParaRPr lang="en-US" sz="1200" b="0" i="0" u="none" strike="noStrike" noProof="0" dirty="0">
                        <a:solidFill>
                          <a:schemeClr val="tx2"/>
                        </a:solidFill>
                        <a:effectLst/>
                        <a:latin typeface="+mn-lt"/>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44</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848876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C50C-D5AC-B980-57E1-AB9740C2FB7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C47716-66EC-A5D9-AE7C-3AF047ABA03E}"/>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10" name="Text Placeholder 9">
            <a:extLst>
              <a:ext uri="{FF2B5EF4-FFF2-40B4-BE49-F238E27FC236}">
                <a16:creationId xmlns:a16="http://schemas.microsoft.com/office/drawing/2014/main" id="{B7D58E3A-84C6-E394-9DB2-843E3C2B420F}"/>
              </a:ext>
            </a:extLst>
          </p:cNvPr>
          <p:cNvSpPr>
            <a:spLocks noGrp="1"/>
          </p:cNvSpPr>
          <p:nvPr>
            <p:ph type="body" sz="quarter" idx="12"/>
          </p:nvPr>
        </p:nvSpPr>
        <p:spPr/>
        <p:txBody>
          <a:bodyPr/>
          <a:lstStyle/>
          <a:p>
            <a:r>
              <a:rPr lang="en-US" dirty="0"/>
              <a:t>Refactoring Candidates – Unit COMPLEXITY</a:t>
            </a:r>
          </a:p>
        </p:txBody>
      </p:sp>
      <p:sp>
        <p:nvSpPr>
          <p:cNvPr id="5" name="Title 4">
            <a:extLst>
              <a:ext uri="{FF2B5EF4-FFF2-40B4-BE49-F238E27FC236}">
                <a16:creationId xmlns:a16="http://schemas.microsoft.com/office/drawing/2014/main" id="{C1B683A4-1422-9996-73B9-EDF74B14BF70}"/>
              </a:ext>
            </a:extLst>
          </p:cNvPr>
          <p:cNvSpPr>
            <a:spLocks noGrp="1"/>
          </p:cNvSpPr>
          <p:nvPr>
            <p:ph type="title"/>
          </p:nvPr>
        </p:nvSpPr>
        <p:spPr/>
        <p:txBody>
          <a:bodyPr/>
          <a:lstStyle/>
          <a:p>
            <a:r>
              <a:rPr lang="en-US" dirty="0"/>
              <a:t>An overview of the most complex units</a:t>
            </a:r>
          </a:p>
        </p:txBody>
      </p:sp>
      <p:sp>
        <p:nvSpPr>
          <p:cNvPr id="6" name="Footer Placeholder 5">
            <a:extLst>
              <a:ext uri="{FF2B5EF4-FFF2-40B4-BE49-F238E27FC236}">
                <a16:creationId xmlns:a16="http://schemas.microsoft.com/office/drawing/2014/main" id="{088D24E3-806B-1789-735C-FD0762CEDC5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COMPLEXITY">
            <a:extLst>
              <a:ext uri="{FF2B5EF4-FFF2-40B4-BE49-F238E27FC236}">
                <a16:creationId xmlns:a16="http://schemas.microsoft.com/office/drawing/2014/main" id="{B2AD6F83-29C1-E9BE-13AF-24963E398AE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SimClustersInterestedInCandidateGeneration.get(SimClustersInterestedInCandidateGeneration.Query)</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208</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44</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cr-mixer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FeatureBasedScoringFunction.updateLinearScoringData(float)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EarlybirdLuceneQueryVisitor.visit(SearchOperator)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63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FeatureBasedScoringFunction.generateExplanationForBoosts(LinearScoringData,boolean)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LinearScoringParams.LinearScoringParams(ThriftSearchQuery,ThriftRankingParams)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FeatureBasedScoringFunction.applyBoosts(LinearScoringData,double,boolean,boolean)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134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TweetEventParseHelper.getTwitterMessageFromCreationEvent(TweetCreateEvent,List&lt;PenguinVersion&gt;,DebugEvents)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131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FacetResponseMerger.fillFacetFieldResults(FacetsResultsUtils.FacetFieldInfo,Map,ThriftFacetFieldResults)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129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src/java/com/twitter/search/earlybird_root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LinearScoringData.getPropertyExplanation()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TimelineItemContentMarshaller.apply(TimelineItem)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334173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DF8-42C2-D9A0-C581-926F88850E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84C2E-E259-D449-D3FC-4501B83DD586}"/>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10" name="Text Placeholder 9">
            <a:extLst>
              <a:ext uri="{FF2B5EF4-FFF2-40B4-BE49-F238E27FC236}">
                <a16:creationId xmlns:a16="http://schemas.microsoft.com/office/drawing/2014/main" id="{192E8F9D-227D-DE48-28FD-49E58F9EE84A}"/>
              </a:ext>
            </a:extLst>
          </p:cNvPr>
          <p:cNvSpPr>
            <a:spLocks noGrp="1"/>
          </p:cNvSpPr>
          <p:nvPr>
            <p:ph type="body" sz="quarter" idx="12"/>
          </p:nvPr>
        </p:nvSpPr>
        <p:spPr/>
        <p:txBody>
          <a:bodyPr/>
          <a:lstStyle/>
          <a:p>
            <a:r>
              <a:rPr lang="en-US" dirty="0"/>
              <a:t>Refactoring Candidates – Unit INTERFACING</a:t>
            </a:r>
          </a:p>
        </p:txBody>
      </p:sp>
      <p:sp>
        <p:nvSpPr>
          <p:cNvPr id="5" name="Title 4">
            <a:extLst>
              <a:ext uri="{FF2B5EF4-FFF2-40B4-BE49-F238E27FC236}">
                <a16:creationId xmlns:a16="http://schemas.microsoft.com/office/drawing/2014/main" id="{936CF5EF-9D37-AF0B-8482-89079D5C2E29}"/>
              </a:ext>
            </a:extLst>
          </p:cNvPr>
          <p:cNvSpPr>
            <a:spLocks noGrp="1"/>
          </p:cNvSpPr>
          <p:nvPr>
            <p:ph type="title"/>
          </p:nvPr>
        </p:nvSpPr>
        <p:spPr/>
        <p:txBody>
          <a:bodyPr/>
          <a:lstStyle/>
          <a:p>
            <a:r>
              <a:rPr lang="en-US" dirty="0"/>
              <a:t>An overview of the units with the largest interfaces</a:t>
            </a:r>
          </a:p>
        </p:txBody>
      </p:sp>
      <p:sp>
        <p:nvSpPr>
          <p:cNvPr id="6" name="Footer Placeholder 5">
            <a:extLst>
              <a:ext uri="{FF2B5EF4-FFF2-40B4-BE49-F238E27FC236}">
                <a16:creationId xmlns:a16="http://schemas.microsoft.com/office/drawing/2014/main" id="{0B3E2457-37D9-7B56-B0F1-9C62576D55BE}"/>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INTERFACING">
            <a:extLst>
              <a:ext uri="{FF2B5EF4-FFF2-40B4-BE49-F238E27FC236}">
                <a16:creationId xmlns:a16="http://schemas.microsoft.com/office/drawing/2014/main" id="{886DDEFD-B6CA-D10A-3710-9F71507BA75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UtegLikedByTweetsSource.UtegLikedByTweetsSource(UserTweetEntityGraphClient,GizmoduckClient,SearchClient,TweetyPieClient,UserMetadataClient,FollowGraphDataProvider,Store,StatsReceiver)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timelineranker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InNetworkTweetSource.InNetworkTweetSource(GizmoduckClient,SearchClient,SearchClient,TweetyPieClient,UserMetadataClient,FollowGraphDataProvider,Store,VisibilityEnforcer,StatsReceiver)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TweetVisibilityLibrary.apply(VisibilityLibrary,UserSource,UserRelationshipSource,KeywordMatcher.Matcher,InvitedToConversationRepo,Decider,StratoClient,LocalizationSource,TweetPerspectiveSource,TweetMediaMetadataSource,TombstoneGenerator,LocalizedInterstit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186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14</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TweetJob.generate(SimClustersTweetProfile,Producer,P#Service,P#Store,P#Store,P#Store,Option,JobId)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150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6</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EarlybirdWireModule.provideEarlybirdStartup(PartitionManager,UserUpdatesStreamIndexer,UserScrubGeoEventStreamIndexer,AudioSpaceEventsStreamIndexer,DynamicPartitionConfig,CriticalExceptionHandler,SegmentManager,MultiSegmentTermDictionaryManager,QueryCacheM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UpdateKnownForApps.runUpdateKnownForGeneric(Args,TypedPipe,TypedPipe,String,TypedPipe=&gt;Execution,=&gt;TypedPipe,Boolean,DateRange,UniqueID)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TweetInfoStoreModule.providesTweetInfoStore(StatsReceiver,ServiceIdentifier,StratoClient,MemcachedClient,ManhattanKVClientMtlsParams,TweetService.MethodPerEndpoint,UserTweetGraphPlus.MethodPerEndpoint,ReadableStore,CrMixerDecider)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127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PushServiceVisibilityLibrary.apply(VisibilityLibrary,UserSource,UserRelationshipSource,StratoClient,Gate,ReadableStore,ReadableStore,-,StatsReceiver)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RecapAuthorSource.RecapAuthorSource(GizmoduckClient,SearchClient,TweetyPieClient,UserMetadataClient,FollowGraphDataProvider,Store,VisibilityEnforcer,StatsReceiver)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ClusterDetailsJob.run(TypedPipe,Int,String,TypedPipe,TypedPipe,Option,Option,Option,Double,UniqueID)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InterestedInTwiceBaseApp.getMultiEmbeddingPerUser(TypedPipe,TypedPipe,ClusteringMethod,Int,ClusterRepresentativeSelectionMethod,Int,UniqueID)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33</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37820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2D5C-3E5F-6B9D-908E-50F0A86AC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ED10E3-5A1E-EB42-A8DD-8C3EA6AFCB41}"/>
              </a:ext>
            </a:extLst>
          </p:cNvPr>
          <p:cNvSpPr>
            <a:spLocks noGrp="1"/>
          </p:cNvSpPr>
          <p:nvPr>
            <p:ph type="sldNum" sz="quarter" idx="4"/>
          </p:nvPr>
        </p:nvSpPr>
        <p:spPr/>
        <p:txBody>
          <a:bodyPr/>
          <a:lstStyle/>
          <a:p>
            <a:fld id="{E242BD21-9B61-2246-BCB1-4BE5E1BEBE1C}" type="slidenum">
              <a:rPr lang="en-US" smtClean="0"/>
              <a:pPr/>
              <a:t>14</a:t>
            </a:fld>
            <a:endParaRPr lang="en-US"/>
          </a:p>
        </p:txBody>
      </p:sp>
      <p:sp>
        <p:nvSpPr>
          <p:cNvPr id="10" name="Text Placeholder 9">
            <a:extLst>
              <a:ext uri="{FF2B5EF4-FFF2-40B4-BE49-F238E27FC236}">
                <a16:creationId xmlns:a16="http://schemas.microsoft.com/office/drawing/2014/main" id="{C2401406-73FA-D043-F4F9-83583AFBBF7D}"/>
              </a:ext>
            </a:extLst>
          </p:cNvPr>
          <p:cNvSpPr>
            <a:spLocks noGrp="1"/>
          </p:cNvSpPr>
          <p:nvPr>
            <p:ph type="body" sz="quarter" idx="12"/>
          </p:nvPr>
        </p:nvSpPr>
        <p:spPr/>
        <p:txBody>
          <a:bodyPr/>
          <a:lstStyle/>
          <a:p>
            <a:r>
              <a:rPr lang="en-US" dirty="0"/>
              <a:t>Refactoring Candidates – Module COUPLING</a:t>
            </a:r>
          </a:p>
        </p:txBody>
      </p:sp>
      <p:sp>
        <p:nvSpPr>
          <p:cNvPr id="5" name="Title 4">
            <a:extLst>
              <a:ext uri="{FF2B5EF4-FFF2-40B4-BE49-F238E27FC236}">
                <a16:creationId xmlns:a16="http://schemas.microsoft.com/office/drawing/2014/main" id="{16B4BED9-C15D-5B49-DC19-82A8E7339BC3}"/>
              </a:ext>
            </a:extLst>
          </p:cNvPr>
          <p:cNvSpPr>
            <a:spLocks noGrp="1"/>
          </p:cNvSpPr>
          <p:nvPr>
            <p:ph type="title"/>
          </p:nvPr>
        </p:nvSpPr>
        <p:spPr/>
        <p:txBody>
          <a:bodyPr/>
          <a:lstStyle/>
          <a:p>
            <a:r>
              <a:rPr lang="en-US" dirty="0"/>
              <a:t>An overview of the modules with the highest coupling</a:t>
            </a:r>
          </a:p>
        </p:txBody>
      </p:sp>
      <p:sp>
        <p:nvSpPr>
          <p:cNvPr id="6" name="Footer Placeholder 5">
            <a:extLst>
              <a:ext uri="{FF2B5EF4-FFF2-40B4-BE49-F238E27FC236}">
                <a16:creationId xmlns:a16="http://schemas.microsoft.com/office/drawing/2014/main" id="{C9B246FC-EA60-CE91-78AD-F329167484F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MODULE_COUPLING">
            <a:extLst>
              <a:ext uri="{FF2B5EF4-FFF2-40B4-BE49-F238E27FC236}">
                <a16:creationId xmlns:a16="http://schemas.microsoft.com/office/drawing/2014/main" id="{08CD0C1C-FF15-4288-5694-0C8CA50F5FE0}"/>
              </a:ext>
            </a:extLst>
          </p:cNvPr>
          <p:cNvGraphicFramePr>
            <a:graphicFrameLocks noGrp="1"/>
          </p:cNvGraphicFramePr>
          <p:nvPr/>
        </p:nvGraphicFramePr>
        <p:xfrm>
          <a:off x="514373" y="1366988"/>
          <a:ext cx="11231293" cy="4789680"/>
        </p:xfrm>
        <a:graphic>
          <a:graphicData uri="http://schemas.openxmlformats.org/drawingml/2006/table">
            <a:tbl>
              <a:tblPr firstRow="1" bandRow="1">
                <a:effectLst/>
                <a:tableStyleId>{F2DE63D5-997A-4646-A377-4702673A728D}</a:tableStyleId>
              </a:tblPr>
              <a:tblGrid>
                <a:gridCol w="6036552">
                  <a:extLst>
                    <a:ext uri="{9D8B030D-6E8A-4147-A177-3AD203B41FA5}">
                      <a16:colId xmlns:a16="http://schemas.microsoft.com/office/drawing/2014/main" val="20000"/>
                    </a:ext>
                  </a:extLst>
                </a:gridCol>
                <a:gridCol w="1064526">
                  <a:extLst>
                    <a:ext uri="{9D8B030D-6E8A-4147-A177-3AD203B41FA5}">
                      <a16:colId xmlns:a16="http://schemas.microsoft.com/office/drawing/2014/main" val="20001"/>
                    </a:ext>
                  </a:extLst>
                </a:gridCol>
                <a:gridCol w="957908">
                  <a:extLst>
                    <a:ext uri="{9D8B030D-6E8A-4147-A177-3AD203B41FA5}">
                      <a16:colId xmlns:a16="http://schemas.microsoft.com/office/drawing/2014/main" val="3286041723"/>
                    </a:ext>
                  </a:extLst>
                </a:gridCol>
                <a:gridCol w="1766924">
                  <a:extLst>
                    <a:ext uri="{9D8B030D-6E8A-4147-A177-3AD203B41FA5}">
                      <a16:colId xmlns:a16="http://schemas.microsoft.com/office/drawing/2014/main" val="4263492041"/>
                    </a:ext>
                  </a:extLst>
                </a:gridCol>
                <a:gridCol w="140538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i="0" sz="1400">
                          <a:solidFill>
                            <a:schemeClr val="bg1"/>
                          </a:solidFill>
                          <a:latin typeface="+mn-lt"/>
                        </a:rPr>
                        <a:t>Fan-in</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Condition.scala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63</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visibilitylib</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328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Action.scala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749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170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EarlybirdThriftDocumentBuilder.java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595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SchemaBuilder.java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508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InvertedRealtimeIndex.java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407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EarlybirdIndexSegmentData.java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EarlybirdProperty.java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324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SegmentInfo.java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317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TwitterBaseStage.java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259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168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Util.scala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EarlybirdConfig.java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143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EarlybirdDocumentFeatures.java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4128308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61DE-516A-2C47-C290-CC53EE2EC3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D025075-AF88-4ABD-0816-000FE85C61ED}"/>
              </a:ext>
            </a:extLst>
          </p:cNvPr>
          <p:cNvSpPr>
            <a:spLocks noGrp="1"/>
          </p:cNvSpPr>
          <p:nvPr>
            <p:ph type="sldNum" sz="quarter" idx="4"/>
          </p:nvPr>
        </p:nvSpPr>
        <p:spPr/>
        <p:txBody>
          <a:bodyPr/>
          <a:lstStyle/>
          <a:p>
            <a:fld id="{E242BD21-9B61-2246-BCB1-4BE5E1BEBE1C}" type="slidenum">
              <a:rPr lang="en-US" smtClean="0"/>
              <a:pPr/>
              <a:t>15</a:t>
            </a:fld>
            <a:endParaRPr lang="en-US"/>
          </a:p>
        </p:txBody>
      </p:sp>
      <p:sp>
        <p:nvSpPr>
          <p:cNvPr id="10" name="Text Placeholder 9">
            <a:extLst>
              <a:ext uri="{FF2B5EF4-FFF2-40B4-BE49-F238E27FC236}">
                <a16:creationId xmlns:a16="http://schemas.microsoft.com/office/drawing/2014/main" id="{86BA0A77-753D-20DB-3D53-A7D106A78F7E}"/>
              </a:ext>
            </a:extLst>
          </p:cNvPr>
          <p:cNvSpPr>
            <a:spLocks noGrp="1"/>
          </p:cNvSpPr>
          <p:nvPr>
            <p:ph type="body" sz="quarter" idx="12"/>
          </p:nvPr>
        </p:nvSpPr>
        <p:spPr/>
        <p:txBody>
          <a:bodyPr/>
          <a:lstStyle/>
          <a:p>
            <a:r>
              <a:rPr lang="en-US" dirty="0"/>
              <a:t>Refactoring Candidates – COMPONENT ENTANGLEMENT</a:t>
            </a:r>
          </a:p>
        </p:txBody>
      </p:sp>
      <p:sp>
        <p:nvSpPr>
          <p:cNvPr id="5" name="Title 4">
            <a:extLst>
              <a:ext uri="{FF2B5EF4-FFF2-40B4-BE49-F238E27FC236}">
                <a16:creationId xmlns:a16="http://schemas.microsoft.com/office/drawing/2014/main" id="{6362569B-8BFD-D308-A55E-04765D4E1392}"/>
              </a:ext>
            </a:extLst>
          </p:cNvPr>
          <p:cNvSpPr>
            <a:spLocks noGrp="1"/>
          </p:cNvSpPr>
          <p:nvPr>
            <p:ph type="title"/>
          </p:nvPr>
        </p:nvSpPr>
        <p:spPr/>
        <p:txBody>
          <a:bodyPr/>
          <a:lstStyle/>
          <a:p>
            <a:r>
              <a:rPr lang="en-US" dirty="0"/>
              <a:t>An overview of component entanglement related findings</a:t>
            </a:r>
          </a:p>
        </p:txBody>
      </p:sp>
      <p:sp>
        <p:nvSpPr>
          <p:cNvPr id="6" name="Footer Placeholder 5">
            <a:extLst>
              <a:ext uri="{FF2B5EF4-FFF2-40B4-BE49-F238E27FC236}">
                <a16:creationId xmlns:a16="http://schemas.microsoft.com/office/drawing/2014/main" id="{B2ED554A-888F-C192-ED2E-3071DD750EE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ENTANGLEMENT">
            <a:extLst>
              <a:ext uri="{FF2B5EF4-FFF2-40B4-BE49-F238E27FC236}">
                <a16:creationId xmlns:a16="http://schemas.microsoft.com/office/drawing/2014/main" id="{9838512D-A010-DDD6-1567-37B565CF5809}"/>
              </a:ext>
            </a:extLst>
          </p:cNvPr>
          <p:cNvGraphicFramePr>
            <a:graphicFrameLocks noGrp="1"/>
          </p:cNvGraphicFramePr>
          <p:nvPr/>
        </p:nvGraphicFramePr>
        <p:xfrm>
          <a:off x="514373" y="1351494"/>
          <a:ext cx="11231294" cy="4606800"/>
        </p:xfrm>
        <a:graphic>
          <a:graphicData uri="http://schemas.openxmlformats.org/drawingml/2006/table">
            <a:tbl>
              <a:tblPr firstRow="1" bandRow="1">
                <a:effectLst/>
                <a:tableStyleId>{F2DE63D5-997A-4646-A377-4702673A728D}</a:tableStyleId>
              </a:tblPr>
              <a:tblGrid>
                <a:gridCol w="9663297">
                  <a:extLst>
                    <a:ext uri="{9D8B030D-6E8A-4147-A177-3AD203B41FA5}">
                      <a16:colId xmlns:a16="http://schemas.microsoft.com/office/drawing/2014/main" val="20000"/>
                    </a:ext>
                  </a:extLst>
                </a:gridCol>
                <a:gridCol w="1567997">
                  <a:extLst>
                    <a:ext uri="{9D8B030D-6E8A-4147-A177-3AD203B41FA5}">
                      <a16:colId xmlns:a16="http://schemas.microsoft.com/office/drawing/2014/main" val="20001"/>
                    </a:ext>
                  </a:extLst>
                </a:gridCol>
              </a:tblGrid>
              <a:tr h="27853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Weight</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extLst>
                  <a:ext uri="{0D108BD9-81ED-4DB2-BD59-A6C34878D82A}">
                    <a16:rowId xmlns:a16="http://schemas.microsoft.com/office/drawing/2014/main" val="10000"/>
                  </a:ext>
                </a:extLst>
              </a:tr>
              <a:tr h="25477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Cyclic dependency between src/java/com/twitter/search/common and src/java/com/twitter/search/ingester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4774">
                <a:tc>
                  <a:txBody>
                    <a:bodyPr/>
                    <a:lstStyle/>
                    <a:p>
                      <a:pPr algn="l" fontAlgn="b"/>
                      <a:r>
                        <a:rPr b="0" i="0" sz="1200" u="none">
                          <a:solidFill>
                            <a:schemeClr val="tx2"/>
                          </a:solidFill>
                          <a:latin typeface="Calibri Bold"/>
                        </a:rPr>
                        <a:t>High communication density on src/java/com/twitter/search/common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4774">
                <a:tc>
                  <a:txBody>
                    <a:bodyPr/>
                    <a:lstStyle/>
                    <a:p>
                      <a:pPr algn="l" fontAlgn="b"/>
                      <a:r>
                        <a:rPr b="0" i="0" sz="1200" u="none">
                          <a:solidFill>
                            <a:schemeClr val="tx2"/>
                          </a:solidFill>
                          <a:latin typeface="Calibri Bold"/>
                        </a:rPr>
                        <a:t>Medium communication density on src/java/com/twitter/search/earlybird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4774">
                <a:tc>
                  <a:txBody>
                    <a:bodyPr/>
                    <a:lstStyle/>
                    <a:p>
                      <a:pPr algn="l" fontAlgn="b"/>
                      <a:r>
                        <a:rPr b="0" i="0" sz="1200" u="none">
                          <a:solidFill>
                            <a:schemeClr val="tx2"/>
                          </a:solidFill>
                          <a:latin typeface="Calibri Bold"/>
                        </a:rPr>
                        <a:t>Medium communication density on cr-mixer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54774">
                <a:tc>
                  <a:txBody>
                    <a:bodyPr/>
                    <a:lstStyle/>
                    <a:p>
                      <a:pPr algn="l" fontAlgn="b"/>
                      <a:r>
                        <a:rPr b="0" i="0" sz="1200" u="none">
                          <a:solidFill>
                            <a:schemeClr val="tx2"/>
                          </a:solidFill>
                          <a:latin typeface="Calibri Bold"/>
                        </a:rPr>
                        <a:t>Medium communication density on src/scala/com/twitter/simclusters_v2</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01900654"/>
                  </a:ext>
                </a:extLst>
              </a:tr>
              <a:tr h="254774">
                <a:tc>
                  <a:txBody>
                    <a:bodyPr/>
                    <a:lstStyle/>
                    <a:p>
                      <a:pPr algn="l" fontAlgn="b"/>
                      <a:r>
                        <a:rPr b="0" i="0" sz="1200" u="none">
                          <a:solidFill>
                            <a:schemeClr val="tx2"/>
                          </a:solidFill>
                          <a:latin typeface="Calibri Bold"/>
                        </a:rPr>
                        <a:t>Medium communication density on product-mixer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28811833"/>
                  </a:ext>
                </a:extLst>
              </a:tr>
            </a:tbl>
          </a:graphicData>
        </a:graphic>
      </p:graphicFrame>
    </p:spTree>
    <p:extLst>
      <p:ext uri="{BB962C8B-B14F-4D97-AF65-F5344CB8AC3E}">
        <p14:creationId xmlns:p14="http://schemas.microsoft.com/office/powerpoint/2010/main" val="3947627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2A1D-C398-FD00-A262-F1315FFA7F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62FCDF-5E0F-1700-45E3-65B5191C49DA}"/>
              </a:ext>
            </a:extLst>
          </p:cNvPr>
          <p:cNvSpPr>
            <a:spLocks noGrp="1"/>
          </p:cNvSpPr>
          <p:nvPr>
            <p:ph type="sldNum" sz="quarter" idx="4"/>
          </p:nvPr>
        </p:nvSpPr>
        <p:spPr/>
        <p:txBody>
          <a:bodyPr/>
          <a:lstStyle/>
          <a:p>
            <a:fld id="{E242BD21-9B61-2246-BCB1-4BE5E1BEBE1C}" type="slidenum">
              <a:rPr lang="en-US" smtClean="0"/>
              <a:pPr/>
              <a:t>16</a:t>
            </a:fld>
            <a:endParaRPr lang="en-US"/>
          </a:p>
        </p:txBody>
      </p:sp>
      <p:sp>
        <p:nvSpPr>
          <p:cNvPr id="10" name="Text Placeholder 9">
            <a:extLst>
              <a:ext uri="{FF2B5EF4-FFF2-40B4-BE49-F238E27FC236}">
                <a16:creationId xmlns:a16="http://schemas.microsoft.com/office/drawing/2014/main" id="{1F418E4D-4C1B-5CF0-D4B4-9BE92D28DF1E}"/>
              </a:ext>
            </a:extLst>
          </p:cNvPr>
          <p:cNvSpPr>
            <a:spLocks noGrp="1"/>
          </p:cNvSpPr>
          <p:nvPr>
            <p:ph type="body" sz="quarter" idx="12"/>
          </p:nvPr>
        </p:nvSpPr>
        <p:spPr/>
        <p:txBody>
          <a:bodyPr/>
          <a:lstStyle/>
          <a:p>
            <a:r>
              <a:rPr lang="en-US" dirty="0"/>
              <a:t>Refactoring Candidates – COMPONENT Independence</a:t>
            </a:r>
          </a:p>
        </p:txBody>
      </p:sp>
      <p:sp>
        <p:nvSpPr>
          <p:cNvPr id="5" name="Title 4">
            <a:extLst>
              <a:ext uri="{FF2B5EF4-FFF2-40B4-BE49-F238E27FC236}">
                <a16:creationId xmlns:a16="http://schemas.microsoft.com/office/drawing/2014/main" id="{FE4658BA-0814-EB54-4871-7EA3307973A8}"/>
              </a:ext>
            </a:extLst>
          </p:cNvPr>
          <p:cNvSpPr>
            <a:spLocks noGrp="1"/>
          </p:cNvSpPr>
          <p:nvPr>
            <p:ph type="title"/>
          </p:nvPr>
        </p:nvSpPr>
        <p:spPr/>
        <p:txBody>
          <a:bodyPr/>
          <a:lstStyle/>
          <a:p>
            <a:r>
              <a:rPr lang="en-US" dirty="0"/>
              <a:t>An overview of high impact communicating files</a:t>
            </a:r>
          </a:p>
        </p:txBody>
      </p:sp>
      <p:sp>
        <p:nvSpPr>
          <p:cNvPr id="6" name="Footer Placeholder 5">
            <a:extLst>
              <a:ext uri="{FF2B5EF4-FFF2-40B4-BE49-F238E27FC236}">
                <a16:creationId xmlns:a16="http://schemas.microsoft.com/office/drawing/2014/main" id="{D5FCF33D-A478-D36E-605A-D3A5163CFE9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INDEPENDENCE">
            <a:extLst>
              <a:ext uri="{FF2B5EF4-FFF2-40B4-BE49-F238E27FC236}">
                <a16:creationId xmlns:a16="http://schemas.microsoft.com/office/drawing/2014/main" id="{0354F911-27AA-DF84-8BBC-02F20E05B6DA}"/>
              </a:ext>
            </a:extLst>
          </p:cNvPr>
          <p:cNvGraphicFramePr>
            <a:graphicFrameLocks noGrp="1"/>
          </p:cNvGraphicFramePr>
          <p:nvPr/>
        </p:nvGraphicFramePr>
        <p:xfrm>
          <a:off x="514373" y="1366988"/>
          <a:ext cx="11231293" cy="4606800"/>
        </p:xfrm>
        <a:graphic>
          <a:graphicData uri="http://schemas.openxmlformats.org/drawingml/2006/table">
            <a:tbl>
              <a:tblPr firstRow="1" bandRow="1">
                <a:effectLst/>
                <a:tableStyleId>{F2DE63D5-997A-4646-A377-4702673A728D}</a:tableStyleId>
              </a:tblPr>
              <a:tblGrid>
                <a:gridCol w="6599411">
                  <a:extLst>
                    <a:ext uri="{9D8B030D-6E8A-4147-A177-3AD203B41FA5}">
                      <a16:colId xmlns:a16="http://schemas.microsoft.com/office/drawing/2014/main" val="20000"/>
                    </a:ext>
                  </a:extLst>
                </a:gridCol>
                <a:gridCol w="1163784">
                  <a:extLst>
                    <a:ext uri="{9D8B030D-6E8A-4147-A177-3AD203B41FA5}">
                      <a16:colId xmlns:a16="http://schemas.microsoft.com/office/drawing/2014/main" val="20001"/>
                    </a:ext>
                  </a:extLst>
                </a:gridCol>
                <a:gridCol w="1931675">
                  <a:extLst>
                    <a:ext uri="{9D8B030D-6E8A-4147-A177-3AD203B41FA5}">
                      <a16:colId xmlns:a16="http://schemas.microsoft.com/office/drawing/2014/main" val="4263492041"/>
                    </a:ext>
                  </a:extLst>
                </a:gridCol>
                <a:gridCol w="153642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EarlybirdIndexSegmentData.java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340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src/java/com/twitter/search/core</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EarlybirdRealtimeIndexSegmentData.java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EarlybirdLuceneIndexSegmentData.java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165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IndexOptimizer.java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AbstractFacetCountingArray.java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FacetIDMap.java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EarlybirdIndexSegmentAtomicReader.java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FacetCountState.java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QueryCostTracker.java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VisibleTokenRatioUtil.java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EarlybirdFieldConstants.java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ImmutableSchema.java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692</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06172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0D80B1-1DD7-236F-9B91-B3FA651A2395}"/>
              </a:ext>
            </a:extLst>
          </p:cNvPr>
          <p:cNvSpPr>
            <a:spLocks noGrp="1"/>
          </p:cNvSpPr>
          <p:nvPr>
            <p:ph type="sldNum" sz="quarter" idx="4"/>
          </p:nvPr>
        </p:nvSpPr>
        <p:spPr/>
        <p:txBody>
          <a:bodyPr/>
          <a:lstStyle/>
          <a:p>
            <a:fld id="{E242BD21-9B61-2246-BCB1-4BE5E1BEBE1C}" type="slidenum">
              <a:rPr lang="en-US" smtClean="0"/>
              <a:pPr/>
              <a:t>17</a:t>
            </a:fld>
            <a:endParaRPr lang="en-US"/>
          </a:p>
        </p:txBody>
      </p:sp>
      <p:sp>
        <p:nvSpPr>
          <p:cNvPr id="3" name="Text Placeholder 2">
            <a:extLst>
              <a:ext uri="{FF2B5EF4-FFF2-40B4-BE49-F238E27FC236}">
                <a16:creationId xmlns:a16="http://schemas.microsoft.com/office/drawing/2014/main" id="{E32392A5-169E-CF65-0C41-C1C81B8D0A2A}"/>
              </a:ext>
            </a:extLst>
          </p:cNvPr>
          <p:cNvSpPr>
            <a:spLocks noGrp="1"/>
          </p:cNvSpPr>
          <p:nvPr>
            <p:ph type="body" sz="quarter" idx="12"/>
          </p:nvPr>
        </p:nvSpPr>
        <p:spPr/>
        <p:txBody>
          <a:bodyPr/>
          <a:lstStyle/>
          <a:p>
            <a:endParaRPr lang="nl-NL"/>
          </a:p>
        </p:txBody>
      </p:sp>
      <p:sp>
        <p:nvSpPr>
          <p:cNvPr id="4" name="Title 3">
            <a:extLst>
              <a:ext uri="{FF2B5EF4-FFF2-40B4-BE49-F238E27FC236}">
                <a16:creationId xmlns:a16="http://schemas.microsoft.com/office/drawing/2014/main" id="{5CF5C235-EE43-F072-CFE2-8B3B48BA1604}"/>
              </a:ext>
            </a:extLst>
          </p:cNvPr>
          <p:cNvSpPr>
            <a:spLocks noGrp="1"/>
          </p:cNvSpPr>
          <p:nvPr>
            <p:ph type="title"/>
          </p:nvPr>
        </p:nvSpPr>
        <p:spPr/>
        <p:txBody>
          <a:bodyPr/>
          <a:lstStyle/>
          <a:p>
            <a:r>
              <a:rPr lang="nl-NL" dirty="0" err="1"/>
              <a:t>Other</a:t>
            </a:r>
            <a:r>
              <a:rPr lang="nl-NL" dirty="0"/>
              <a:t> </a:t>
            </a:r>
            <a:r>
              <a:rPr lang="nl-NL" dirty="0" err="1"/>
              <a:t>placeholders</a:t>
            </a:r>
            <a:endParaRPr lang="nl-NL" dirty="0"/>
          </a:p>
        </p:txBody>
      </p:sp>
      <p:sp>
        <p:nvSpPr>
          <p:cNvPr id="5" name="Content Placeholder 4">
            <a:extLst>
              <a:ext uri="{FF2B5EF4-FFF2-40B4-BE49-F238E27FC236}">
                <a16:creationId xmlns:a16="http://schemas.microsoft.com/office/drawing/2014/main" id="{D7FCCB3C-AEF5-844E-6965-1CDA93673B93}"/>
              </a:ext>
            </a:extLst>
          </p:cNvPr>
          <p:cNvSpPr>
            <a:spLocks noGrp="1"/>
          </p:cNvSpPr>
          <p:nvPr>
            <p:ph sz="quarter" idx="13"/>
          </p:nvPr>
        </p:nvSpPr>
        <p:spPr/>
        <p:txBody>
          <a:bodyPr/>
          <a:lstStyle/>
          <a:p>
            <a:pPr marL="0" indent="0">
              <a:buNone/>
            </a:pPr>
            <a:r>
              <a:rPr lang="nl-NL" dirty="0" err="1"/>
              <a:t>April</a:t>
            </a:r>
            <a:endParaRPr lang="nl-NL" dirty="0"/>
          </a:p>
          <a:p>
            <a:pPr marL="0" indent="0">
              <a:buNone/>
            </a:pPr>
            <a:r>
              <a:rPr lang="nl-NL"/>
              <a:t>April</a:t>
            </a:r>
            <a:endParaRPr lang="nl-NL" dirty="0"/>
          </a:p>
        </p:txBody>
      </p:sp>
    </p:spTree>
    <p:extLst>
      <p:ext uri="{BB962C8B-B14F-4D97-AF65-F5344CB8AC3E}">
        <p14:creationId xmlns:p14="http://schemas.microsoft.com/office/powerpoint/2010/main" val="1382071632"/>
      </p:ext>
    </p:extLst>
  </p:cSld>
  <p:clrMapOvr>
    <a:masterClrMapping/>
  </p:clrMapOvr>
</p:sld>
</file>

<file path=ppt/theme/theme1.xml><?xml version="1.0" encoding="utf-8"?>
<a:theme xmlns:a="http://schemas.openxmlformats.org/drawingml/2006/main" name="Office Theme">
  <a:themeElements>
    <a:clrScheme name="SIG 2020">
      <a:dk1>
        <a:srgbClr val="657484"/>
      </a:dk1>
      <a:lt1>
        <a:srgbClr val="FFFFFF"/>
      </a:lt1>
      <a:dk2>
        <a:srgbClr val="1F354B"/>
      </a:dk2>
      <a:lt2>
        <a:srgbClr val="EFF3F8"/>
      </a:lt2>
      <a:accent1>
        <a:srgbClr val="1F354B"/>
      </a:accent1>
      <a:accent2>
        <a:srgbClr val="DFC101"/>
      </a:accent2>
      <a:accent3>
        <a:srgbClr val="04ABC8"/>
      </a:accent3>
      <a:accent4>
        <a:srgbClr val="8269A4"/>
      </a:accent4>
      <a:accent5>
        <a:srgbClr val="C5CD58"/>
      </a:accent5>
      <a:accent6>
        <a:srgbClr val="D45200"/>
      </a:accent6>
      <a:hlink>
        <a:srgbClr val="08ACC8"/>
      </a:hlink>
      <a:folHlink>
        <a:srgbClr val="00ADC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B3BECD"/>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rtlCol="0" anchor="t">
        <a:spAutoFit/>
      </a:bodyPr>
      <a:lstStyle>
        <a:defPPr algn="l">
          <a:lnSpc>
            <a:spcPct val="113000"/>
          </a:lnSpc>
          <a:defRPr sz="1600" dirty="0" err="1" smtClean="0">
            <a:solidFill>
              <a:schemeClr val="tx2"/>
            </a:solidFill>
          </a:defRPr>
        </a:defPPr>
      </a:lstStyle>
    </a:txDef>
  </a:objectDefaults>
  <a:extraClrSchemeLst/>
  <a:extLst>
    <a:ext uri="{05A4C25C-085E-4340-85A3-A5531E510DB2}">
      <thm15:themeFamily xmlns:thm15="http://schemas.microsoft.com/office/thememl/2012/main" name="Presentation6" id="{87A88162-E9FA-E744-BFFA-BC08FDA9AD0B}" vid="{A5F00ED1-E9E7-C44B-A961-D0FA0EAA5A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3" ma:contentTypeDescription="Create a new document." ma:contentTypeScope="" ma:versionID="07d6997c7358ecc3b6f0d78039f1ac55">
  <xsd:schema xmlns:xsd="http://www.w3.org/2001/XMLSchema" xmlns:xs="http://www.w3.org/2001/XMLSchema" xmlns:p="http://schemas.microsoft.com/office/2006/metadata/properties" xmlns:ns2="fa937df2-abe2-4d38-b5f4-c228acba3827" xmlns:ns3="bc8ba18a-4a58-4ad2-bfc0-6516af8e7dc2" targetNamespace="http://schemas.microsoft.com/office/2006/metadata/properties" ma:root="true" ma:fieldsID="a7d20d2c9a349b6838acf4b79389f2fd" ns2:_="" ns3:_="">
    <xsd:import namespace="fa937df2-abe2-4d38-b5f4-c228acba3827"/>
    <xsd:import namespace="bc8ba18a-4a58-4ad2-bfc0-6516af8e7dc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element ref="ns2:lcf76f155ced4ddcb4097134ff3c332f" minOccurs="0"/>
                <xsd:element ref="ns3:TaxCatchAll"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119a7a8-86cc-43f5-a248-74259e6177ea}"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6E6923A-C221-4753-B75B-BA213EEB7564}">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B629362-CF15-4610-8FAC-A8E699942233}">
  <ds:schemaRefs>
    <ds:schemaRef ds:uri="http://schemas.microsoft.com/office/2006/documentManagement/types"/>
    <ds:schemaRef ds:uri="http://purl.org/dc/elements/1.1/"/>
    <ds:schemaRef ds:uri="bc8ba18a-4a58-4ad2-bfc0-6516af8e7dc2"/>
    <ds:schemaRef ds:uri="http://purl.org/dc/terms/"/>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fa937df2-abe2-4d38-b5f4-c228acba3827"/>
    <ds:schemaRef ds:uri="http://purl.org/dc/dcmitype/"/>
  </ds:schemaRefs>
</ds:datastoreItem>
</file>

<file path=customXml/itemProps3.xml><?xml version="1.0" encoding="utf-8"?>
<ds:datastoreItem xmlns:ds="http://schemas.openxmlformats.org/officeDocument/2006/customXml" ds:itemID="{570928F0-D7CA-4732-B7F3-1F945720D0A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22532</TotalTime>
  <Words>1393</Words>
  <Application>Microsoft Macintosh PowerPoint</Application>
  <PresentationFormat>Widescreen</PresentationFormat>
  <Paragraphs>351</Paragraphs>
  <Slides>17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Arial</vt:lpstr>
      <vt:lpstr>Calibri</vt:lpstr>
      <vt:lpstr>Calibri Bold</vt:lpstr>
      <vt:lpstr>Calibri Light</vt:lpstr>
      <vt:lpstr>Calibri Regular</vt:lpstr>
      <vt:lpstr>TheSans B5 Plain</vt:lpstr>
      <vt:lpstr>TheSansMono M5</vt:lpstr>
      <vt:lpstr>Wingdings</vt:lpstr>
      <vt:lpstr>Office Theme</vt:lpstr>
      <vt:lpstr>PowerPoint Presentation</vt:lpstr>
      <vt:lpstr>SYSTEM_NAME technical quality: management summary</vt:lpstr>
      <vt:lpstr>The system is VOLUME_RELATIVE in size and is built primarily in TECH_1_NAME</vt:lpstr>
      <vt:lpstr>SYSTEM_NAME has an TEST_CODE_RELATIVE test/code ratio</vt:lpstr>
      <vt:lpstr>SYSTEM_NAME is a MAINT_SIZE system of SYSTEM_PY PY which scores MAINT_RATING for maintainability </vt:lpstr>
      <vt:lpstr>SYSTEM_NAME scores MAINT_RELATIVE market average for maintainability</vt:lpstr>
      <vt:lpstr>SYSTEM_NAME scores ARCH_AT_BELOW average (ARCH_RATING ★) for Architecture Quality</vt:lpstr>
      <vt:lpstr>OSH_TOTAL_VULN vulnerable 3rd party open-source dependencies were identified</vt:lpstr>
      <vt:lpstr>SYSTEM_NAME rates OSH_RELATIVE in Open-Source health</vt:lpstr>
      <vt:lpstr>An overview of the longest duplicates</vt:lpstr>
      <vt:lpstr>An overview of the longest units</vt:lpstr>
      <vt:lpstr>An overview of the most complex units</vt:lpstr>
      <vt:lpstr>An overview of the units with the largest interfaces</vt:lpstr>
      <vt:lpstr>An overview of the modules with the highest coupling</vt:lpstr>
      <vt:lpstr>An overview of component entanglement related findings</vt:lpstr>
      <vt:lpstr>An overview of high impact communicating files</vt:lpstr>
      <vt:lpstr>Other placeholders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O'Brien</dc:creator>
  <cp:lastModifiedBy>Maxim Janssen</cp:lastModifiedBy>
  <cp:revision>128</cp:revision>
  <cp:lastPrinted>2020-07-02T15:41:27Z</cp:lastPrinted>
  <dcterms:created xsi:type="dcterms:W3CDTF">2024-01-03T15:04:34Z</dcterms:created>
  <dcterms:modified xsi:type="dcterms:W3CDTF">2026-03-20T08:49:35Z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0x010100398B4EB28540854BB4092730D7F67224</vt:lpwstr>
  </property>
  <property fmtid="{D5CDD505-2E9C-101B-9397-08002B2CF9AE}" pid="3" name="MediaServiceImageTags">
    <vt:lpwstr/>
  </property>
</Properties>
</file>